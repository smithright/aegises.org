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speak. Do not start on this slide. Let it sit for fifteen seconds while the room settles.
Open with the room, not the deck: "There are six disciplines in this room and every one of you has been in a meeting like this before. Most of them didn't ship. I want to tell you in the first ten minutes exactly what would make this one different — and exactly what would make us stop."
Say the timebox out loud: 90 minutes. 35 on architecture, 25 on your estate, 20 on the plan, 10 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job framing is the whole point of this slide. Kickoffs fail when they end in "great, send us the deck." This one ends in five named decisions.
Point at the right-hand column and say: "If we get to minute 90 and these five are still open, this session failed — and I'd rather find that out today than in week six."
Invite interruption explicitly: "Architecture questions land in section 2. Anything about your estate, hold for section 3 — but if I say something that is factually wrong about your environment, stop me immediately. I would rather be corrected in minute 12 than build on it for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buys you credibility with a mixed room. Six disciplines are sitting here and five of them are worried they are about to sit through someone else's meeting.
Say: "Everyone gets sections 1 and 4. Section 2 is for the architects. Section 3 has a page addressed to each of you by name. Nobody is decoration in this room."
If the CIO has to leave early, tell them now which four slides matter: 4, 8, 25,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engagement rests on. Slow down.
The move: do not argue that agents are dangerous. Argue that the authority already exists and is simply unattributed. That reframes the conversation from "should we allow this" — which invites a political fight — to "can we see what we already allowed," which nobody can argue against.
The question to ask the room, then wait: "If an agent took a consequential action in your estate last Tuesday, how long would it take to tell me which human that authority traces back to?" Let the silence do the work. Do not rescue them.
If someone says "we don't have agents in production yet" — that's the best possible answer. Say: "Then you get to build the boundary before the estate exists. That is the cheapest this will ever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Diagnose with it. Read the four tells aloud and ask the room which one they recognise. Someone always laughs at one of them — that is the one they have.
Each pattern's root cause maps to a specific plane of the architecture, which is how you earn the transition into section 2. Say the mapping out loud.
Watch for: the exec picking pattern 1 while the platform lead picks pattern 2. That disagreement is diagnostic gold — it means the AI team and the platform team have not spoken. Note it and raise it in the working-model slide.
Timing: 4 minutes. Do not let this become a war-story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Do not elaborate. The temptation is to explain it — don't. It is the sentence people will repeat in the meeting after this one, and explanation dilutes it.
If you say anything, say only: "Notice what that sentence does not say. It does not say 'safe'. It says governed with confidence — and confidence is a measurable property, which is what makes the next eighty minutes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and architectural position simultaneously. "Standardize the contract, keep the products replaceable" is what makes this survivable for a CIO who has three cloud vendors and a five-year Okta contract.
Say the loss-aversion line explicitly: "Nothing on this slide asks you to rip anything out. If your incumbent satisfies the responsibility, it stays. We are adding a contract, not an estate." Watch shoulders drop.
The right-hand list is the acceptance criteria for the architecture as a whole — every one of them reappears as a testable invariant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the executive sponsor. This is where a kickoff stops being a point of view and becomes a contract.
Land the last sentence hard and then stop talking: "If any one of the six fails to hold, the architecture is wrong and you should not scale it. We will tell you that ourselves, in week ten, in writing."
Consultancies do not usually pre-commit to the conditions of their own failure. That is precisely why it works. Expect the sponsor to look up from their phone here.
Likely challenge: "Six properties in twelve weeks is ambitious." Correct answer: "Six properties on one path is modest. Six properties across your estate would be fantasy. The scope discipline is the reason it is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Budget six minutes and use the build. Press → to reveal one plane at a time — do not show the whole stack at once, it reads as noise and the room stops listening.
Reveal order and the line for each:
- Experience — "where intent is expressed. You already have all five of these."
- Control — "this is the only genuinely new thing on the page. It is coloured differently because it is the argument."
- Knowledge — "drawn as a dashed outline on purpose. It is the destination, not a prerequisite, and it is explicitly out of POC scope."
- Execution / Platform / Resource — "these are yours. We are not touching them."
- Fabric — "and every one of those crossings emits evidence."
The sentence that makes the slide land: "Count the boxes you already own. Twenty-five of the thirty. We are adding one row and a contract."
Likely challenge — "isn't the control plane a bottleneck?" Answer now, don't defer: "Only if you make every request synchronous through one service. We don't — slide 15 lists that as an explicit non-goal, and slide 11 shows the local-verification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This is where architects decide whether you are serious.
Lead with the disarming line: "Four of these five you already have. We are not asking you to buy an identity provider." Then spend your time on capability grants — the one row that is genuinely unfamiliar in most enterprises.
The analogy that works: "A role says what you are. A grant says what you may do, to what, for how long, on whose behalf. Roles are the wrong shape for an actor that exists for ninety seconds."
Expect pushback from IAM: "This is just OAuth scopes." Fair — and the honest answer is: "Partly. The delta is attenuation and audience binding. A scope cannot narrow itself when it is handed to a sub-agent. That is the property we are testing in week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Walk the eight steps with your finger, then stop on the evidence record.
The evidence block at the bottom is the slide's real payload. Say: "That record is the deliverable. Not the demo — the record. If an auditor can read that without a human translating it, the architecture works."
Steps 4 and 5 are tinted because they are the crux — the decision and the conveyance of that decision. Everything before is discovery; everything after is consequence.
For the DevOps lane specifically: point at step 8 and say "this is emitted by the boundary, not by the service. Your teams do not write this instrumentation."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to protect the engagement from the ontology cathedral — pattern 03 on slide 5. If [CLIENT] has an ontology programme in flight, this is the slide where its owner decides whether you are an ally or a threat. Be an ally, explicitly.
Say: "We are not competing with the ontology programme and we are not waiting for it. The POC uses catalog metadata and curated sources. Everything we emit — capability semantics, provenance, ownership — is an input the ontology programme can consume later."
The critical separation box is the line to land: ontology describes meaning, policy determines authority, retrieval supplies evidence, models choose actions. Collapse those four into one "AI layer" and you have created an assurance problem no dashboard repairs.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This is the slide for the SRE and the observability owner.
Lead with reuse: "We are not building an observability estate. We are adding semantic conventions to the one you already run." Name their tool out loud if you know it.
The distinction that matters: telemetry is what you collect; evidence is telemetry that has been correlated well enough to answer a question under adversarial scrutiny. Most enterprises have the first and not the second.
The governed-reaction point is where security leans in: telemetry may trigger automation, but the reaction is itself a policy-bound action that crosses the same boundary. An auto-remediation with ambient authority is just a faster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present one slide well, make it this one. Principles are cheap; principles with a stated test are an engineering commitment.
Framing: "Every architecture deck has principles. Ours have tests, and we will run all five in front of your team in week ten. You are welcome to design the adversarial cases yourselves — in fact, we would prefer it."
Invite the security lead in by name here. Ask them directly: "Would you add a sixth?" If they propose one, write it down on the spot and put it in the week-1 note. That single act converts the most likely blocker into a co-author.
Test 3 is the one that most often fails in real estates. Flag it: "If your backend can be called directly and cannot be closed without a rewrite, we need to know that in week two, not week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buys more trust than any other in section 2. Naming what you will not do — and naming it before anyone has to ask — reads as confidence rather than defensiveness.
Deliver it briskly, one line each, no elaboration. The rhythm is the point.
Then the pivot line into section 3: "Which raises the obvious question — if we are not building any of that, what are we actually touching in your estate? That is the next twenty-five minutes."
If someone says "but our CISO will want a single choke point": the answer is item 3. One synchronous policy service in every request path is an availability incident waiting for a Tuesday. Risk tiering gives them the choke point where it matters and local verification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slide, not a presentation slide. The incumbent column is deliberately empty. Fill it live, on screen, with the room. Nothing builds joint ownership faster than watching their own tool names appear in your architecture.
Open with the count: "Eleven responsibilities. On our read, seven are reuse-first, two are extensions of something you already run, and two are genuine gaps. Let us find out how wrong that is."
If the room disagrees with a status — change it on the spot and note it. A contested status is a week-1 discovery item, not an argument to win here.
Timing: 6 minutes. This will want to run to fifteen. Cap it and push the remainder into the week-1 estate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do not read it out. Say: "This is the selection framework we will use in weeks two and three. It is in the leave-behind. I want to draw your attention to one column."
Then point only at the working-posture column. That column is the opinion; the options column is deliberately neutral. Naming products you do not sell is what makes the neutrality credible.
The line that matters: "We have no commercial relationship with anything named on this page. If your incumbent is not listed, that is a gap in our knowledge, not a judgement about your choice."
Timing: 3 minutes maximum. Architects will read it later; do not compete with their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platform lead by name. This lane decides whether the golden path gets adopted or quietly routed around, and they have veto power they will never announce.
Their real fear is not security — it is being handed something they have to operate at 3am that they did not design. Answer that directly: "You own the golden path after week twelve. Which means you get a vote on every one of these rows starting Monday."
The strongest line on the slide: "If adoption requires us in the room, the product is wrong — and that is a kill criterion, not an excuse."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on one page, and they need different reassurances.
Data governance is worried this is a shadow data programme that will make classification meaningless. Tell them the opposite is true: the boundary is where classification finally becomes enforceable at the moment of access rather than asserted in a catalog.
Data engineering is worried about being handed a retrieval layer to run. Tell them: no new pipelines in the POC. Curated sources only, provenance required, nothing new to operate.
The strongest line for governance: "A classification that cannot be enforced at the moment of access is a label, not a control. This is the first architecture in your estate where the label becomes a control."
Expect the memory question. Answer it before it is asked — narrow, task-bound, disposable, deletable on request. Memory is a governed service, never an automatic transcript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practice lead may hear this section as a constraint on their roadmap. Get ahead of that in the first sentence.
Say: "Everything here exists so that you can say yes more often. Today every consequential agent capability triggers a bespoke review. After this, tier-1 and tier-2 actions ship on a paved road and only tier-3 needs a conversation."
The reframe: governance is not the brake — it is the thing that makes the accelerator connected to anything. Practices without a control contract cap out at pilots.
Be direct about the model-agnostic point. Nothing in this architecture constrains which models they use, where they run, or how they are prompted. The boundary sits between the model's output and the world's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converts the security and audit lane from blocker to sponsor.
Framing: "We are not proposing a new control framework. We are proposing that the architecture emit evidence in a shape your existing frameworks already accept."
The crosswalk is the deliverable, not the architecture. Say it plainly: "In week nine you get a mapping document with sample evidence against each of these. Your audit team reviews it before the readout, not after."
Adjust the framework column to their reality. If they are FS, add SR 11-7 and DORA. If health, HIPAA. If EU exposure, the AI Act rows matter most. Ask which frameworks bind them and mark the ones that do.
Honest caveat to state aloud: a POC produces evidence samples, not a certified control. Do not let anyone leave thinking this is an audit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into the last section: "That was the architecture. Here is what we are actually going to do about it in the next twelve weeks, and what it would take for us to tell you to stop."
The three numbers are the whole scope discipline. One path. Six properties. Twelve weeks. Say them as three separate sentences with a beat between each.
If the sponsor tries to widen scope here — "could we also do procurement?" — the answer is: "Yes, in phase two. Widening now is how the six properties become zero properties. The scope discipline is the reason twelve weeks is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live exercise. Do not present it — run it. Put three candidate paths on the board and score them with the room. Fifteen minutes if you have them; eight if you do not.
The criterion nobody expects is the last one: boring. Say it out loud and let people laugh. "If a path is politically contested, we will spend twelve weeks in a negotiation instead of an engagement. Give us something nobody is defending."
The most common failure mode is a sponsor picking their most strategically important workflow. Push back gently: "That is the second path. Its owner will thank you for not being the one we learn on."
Whatever is chosen here becomes [FIRST PATH] throughout the rest of the deck. Write it down and repeat it back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out-of-scope column aloud, in full. Every line. Skipping it is how scope creep gets its foothold — an unread exclusion is not an exclusion.
Then ask the closing question and wait: "Is there anything in the right-hand column that you believed was in the left? Now is the cheapest possible moment to find that out."
Someone usually names one thing. If it is small, move it and note the trade. If it is large, say: "That is a real requirement and it is phase two. Adding it now costs us one of the six properties — which one would you like to drop?" That question ends the negotiation cleanly,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slide. The thresholds are the deal.
Say the honesty line first: "Every threshold in the target column is blank or bracketed on purpose. We will not invent numbers about an estate we have not measured. These get set with your team in week one and they are fixed after week two — nobody moves a goalpost in week nine."
The measurement column matters more than the target column. Point at it: "Every one of these is measured by instrumentation you keep, not by us asserting it in a slide."
If the sponsor asks 'what if we hit five of seven?' — that is exactly the conversation gate 3 exists for. Say so. Partial results are a legitimate outcome with a written recommendation; they are not a quiet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expects this slide. That is exactly why it works.
Deliver it without hedging: "These are the conditions under which we will tell you to stop paying us. Each one is checked at a specific gate, and each has a named owner on your side as well as ours."
The point to make explicit: "A kill criterion is not pessimism. It is what makes the success criteria mean something. Any programme that cannot fail cannot really succeed either."
Then ask for amendments and mean it: "Would you add a sixth? Would you tighten any of these?" If the security lead or the platform lead proposes one, accept it on the spot and write it in. That is decision 5 on the closing slide.
Sponsors occasionally try to soften these. Hold the line politely: "If we soften the kill criteria today, the week-ten conversation becomes a negotiation instead of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Walk the gates, not the phases. Phases are activity; gates are decisions, and the sponsor only cares about decisions.
Say for each gate: "Written go / no-go, one page, circulated 24 hours before the meeting so nobody is reading it in the room."
The phase-2 point deserves emphasis: "Weeks 3 to 5 are where we find out whether this works at all. If we are wrong, you find out in week five for a fifth of the cost, not in week twelve."
Watch for the holiday question. Ask directly: "What is in this twelve-week window on your side — freezes, audits, quarter close, holidays?" Change freezes around quarter end have derailed more POCs than any technical risk on slide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to stress is joint. "There is no delivery team and client team. There is one team with two employers."
The rigour argument is worth making explicitly: this work succeeds when different kinds of rigour challenge each other. A capability-security thinker and a platform product engineer will disagree — productively — about almost every design decision, and the architecture is better for it.
Then get names. Do not leave this slide with roles unfilled. "I need a name against each of these five rows before we leave, or a date by which I will have one." Unnamed roles are the single most reliable predictor of a slipped gate.
If they push back on the time commitment, be concrete: "Half a day a week for the data engineer. One day for platform. This fails if it is nobody's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where twelve-week engagements quietly become sixteen-week engagements. Every row here has a date, and the dates are not negotiable in the sense that slipping them slips the gate — not in the sense that we will be annoyed.
Say the arithmetic out loud: "If namespace access lands in week three instead of week one, gate 2 moves to week seven and the whole plan shifts. I am not being dramatic — that is just the arithmetic."
The environment question is the one people underestimate. Ask directly: "How long does a new namespace and an IdP tenant genuinely take here — not the SLA, the reality?" The honest answer is usually three to six weeks, which means it must start before the contract is signed.
Best possible outcome of this slide: someone says "I can get you that on Thursday" and you write their name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risks on the table before anyone has to go looking for them. A risk you name yourself is a risk you are managing; a risk they find is a risk you were hiding.
Note the pattern deliberately: five of the seven mitigations are "find out in week one or two." Say it: "Almost every mitigation here is early detection rather than clever engineering. Nearly all of these are cheap in week two and expensive in week nine."
The assumptions box is a request, not a statement. Read it and ask: "Is any one of these four false? If so, say it now — three of them change the plan materially."
Risk 3 is the one most often underestimated by the room. If the backend genuinely cannot enforce, that is kill criterion 3 and it is better known in week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executive's favourite slide, because it answers the only question they actually hold: "what will exist that does not exist now?"
Every item is a noun — an artefact, a document, a running thing. No verbs, no "workstreams," no "alignment." If it cannot be pointed at, it is not on this slide.
The day-90 line to land: "Everything in the third column is yours whether or not you continue with us. The instrumentation, the templates, the crosswalk, the evidence. That is deliberate — a capability you cannot operate without us is not a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Ten minutes, and work the room decision by decision.
Put the slide up and say: "I am going to ask for each of these individually. Where we cannot decide today, I want a name and a date rather than a maybe."
Go one at a time. Get an answer or a date. Write it on the slide. A "we'll come back to it" with no owner is a no, and it will surface as a slipped gate in week three.
Decision 5 is the one that tests whether the room believes you. If they engage seriously with amending the kill criteria — tightening them, adding one — you have a real partnership. If they wave it through, probe: "You are comfortable with all five as written? Genuinely?"
Close the section by reading back what was agreed, out loud, before anyone leaves. Then send it in writing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you say in the room. Fifteen seconds, then stop.
Do not add anything after this. Do not offer to take more questions from the front of the room — take them individually, afterwards, while people are packing up. That is where the real objections surface anyway.
If you want one closing line beyond the slide: "One useful service, governed properly, teaches you more about whether this works than a cathedral nobody has moved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This is the week-0 intake sheet that resolves every bracketed placeholder in the deck.
Send it ahead of the session where possible. Where it arrives filled in beforehand, the kickoff runs thirty minutes shorter and the estate map on slide 16 stops being a live exercise and becomes a review.
Press E on any slide to highlight every placeholder this sheet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terms this deck uses precisely and that are commonly used loosely elsewhere. Worth pointing at if a definitional argument starts — a shared vocabulary ends most of them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72A"/>
        </a:solidFill>
      </p:bgPr>
    </p:bg>
    <p:spTree>
      <p:nvGrpSpPr>
        <p:cNvPr id="1" name=""/>
        <p:cNvGrpSpPr/>
        <p:nvPr/>
      </p:nvGrpSpPr>
      <p:grpSpPr>
        <a:xfrm>
          <a:off x="0" y="0"/>
          <a:ext cx="0" cy="0"/>
          <a:chOff x="0" y="0"/>
          <a:chExt cx="0" cy="0"/>
        </a:xfrm>
      </p:grpSpPr>
      <p:sp>
        <p:nvSpPr>
          <p:cNvPr id="3" name="Shape 0"/>
          <p:cNvSpPr/>
          <p:nvPr/>
        </p:nvSpPr>
        <p:spPr>
          <a:xfrm>
            <a:off x="7955280" y="-1463040"/>
            <a:ext cx="6035040" cy="6035040"/>
          </a:xfrm>
          <a:prstGeom prst="ellipse">
            <a:avLst/>
          </a:prstGeom>
          <a:solidFill>
            <a:srgbClr val="08172A"/>
          </a:solidFill>
          <a:ln w="12700">
            <a:solidFill>
              <a:srgbClr val="15304A"/>
            </a:solidFill>
            <a:prstDash val="solid"/>
          </a:ln>
        </p:spPr>
      </p:sp>
      <p:sp>
        <p:nvSpPr>
          <p:cNvPr id="4" name="Shape 1"/>
          <p:cNvSpPr/>
          <p:nvPr/>
        </p:nvSpPr>
        <p:spPr>
          <a:xfrm>
            <a:off x="9692640" y="1691640"/>
            <a:ext cx="1371600" cy="1371600"/>
          </a:xfrm>
          <a:prstGeom prst="ellipse">
            <a:avLst/>
          </a:prstGeom>
          <a:solidFill>
            <a:srgbClr val="08172A"/>
          </a:solidFill>
          <a:ln w="12700">
            <a:solidFill>
              <a:srgbClr val="1E5A66"/>
            </a:solidFill>
            <a:prstDash val="solid"/>
          </a:ln>
        </p:spPr>
      </p:sp>
      <p:sp>
        <p:nvSpPr>
          <p:cNvPr id="5" name="Text 2"/>
          <p:cNvSpPr/>
          <p:nvPr/>
        </p:nvSpPr>
        <p:spPr>
          <a:xfrm>
            <a:off x="566928" y="1874520"/>
            <a:ext cx="7680960" cy="237744"/>
          </a:xfrm>
          <a:prstGeom prst="rect">
            <a:avLst/>
          </a:prstGeom>
          <a:noFill/>
          <a:ln/>
        </p:spPr>
        <p:txBody>
          <a:bodyPr wrap="square" lIns="0" tIns="0" rIns="0" bIns="0" rtlCol="0" anchor="ctr"/>
          <a:lstStyle/>
          <a:p>
            <a:pPr indent="0" marL="0">
              <a:buNone/>
            </a:pPr>
            <a:r>
              <a:rPr lang="en-US" sz="1050" b="1" spc="220" kern="0" dirty="0">
                <a:solidFill>
                  <a:srgbClr val="5FD8E6"/>
                </a:solidFill>
                <a:latin typeface="Consolas" pitchFamily="34" charset="0"/>
                <a:ea typeface="Consolas" pitchFamily="34" charset="-122"/>
                <a:cs typeface="Consolas" pitchFamily="34" charset="-120"/>
              </a:rPr>
              <a:t>FORWARD-DEPLOYED ENGAGEMENT  ·  PROOF OF CONCEPT KICKOFF</a:t>
            </a:r>
            <a:endParaRPr lang="en-US" sz="1050" dirty="0"/>
          </a:p>
        </p:txBody>
      </p:sp>
      <p:sp>
        <p:nvSpPr>
          <p:cNvPr id="6" name="Text 3"/>
          <p:cNvSpPr/>
          <p:nvPr/>
        </p:nvSpPr>
        <p:spPr>
          <a:xfrm>
            <a:off x="512064" y="2212848"/>
            <a:ext cx="7863840" cy="1737360"/>
          </a:xfrm>
          <a:prstGeom prst="rect">
            <a:avLst/>
          </a:prstGeom>
          <a:noFill/>
          <a:ln/>
        </p:spPr>
        <p:txBody>
          <a:bodyPr wrap="square" lIns="0" tIns="0" rIns="0" bIns="0" rtlCol="0" anchor="t"/>
          <a:lstStyle/>
          <a:p>
            <a:pPr indent="0" marL="0">
              <a:lnSpc>
                <a:spcPct val="94000"/>
              </a:lnSpc>
              <a:buNone/>
            </a:pPr>
            <a:r>
              <a:rPr lang="en-US" sz="5200" b="1" dirty="0">
                <a:solidFill>
                  <a:srgbClr val="FFFFFF"/>
                </a:solidFill>
                <a:latin typeface="Calibri" pitchFamily="34" charset="0"/>
                <a:ea typeface="Calibri" pitchFamily="34" charset="-122"/>
                <a:cs typeface="Calibri" pitchFamily="34" charset="-120"/>
              </a:rPr>
              <a:t>Enterprise AI</a:t>
            </a:r>
            <a:endParaRPr lang="en-US" sz="5200" dirty="0"/>
          </a:p>
          <a:p>
            <a:pPr indent="0" marL="0">
              <a:lnSpc>
                <a:spcPct val="94000"/>
              </a:lnSpc>
              <a:buNone/>
            </a:pPr>
            <a:r>
              <a:rPr lang="en-US" sz="5200" b="1" dirty="0">
                <a:solidFill>
                  <a:srgbClr val="FFFFFF"/>
                </a:solidFill>
                <a:latin typeface="Calibri" pitchFamily="34" charset="0"/>
                <a:ea typeface="Calibri" pitchFamily="34" charset="-122"/>
                <a:cs typeface="Calibri" pitchFamily="34" charset="-120"/>
              </a:rPr>
              <a:t>Operating Model</a:t>
            </a:r>
            <a:endParaRPr lang="en-US" sz="5200" dirty="0"/>
          </a:p>
        </p:txBody>
      </p:sp>
      <p:sp>
        <p:nvSpPr>
          <p:cNvPr id="7" name="Shape 4"/>
          <p:cNvSpPr/>
          <p:nvPr/>
        </p:nvSpPr>
        <p:spPr>
          <a:xfrm>
            <a:off x="566928" y="4114800"/>
            <a:ext cx="566928" cy="32004"/>
          </a:xfrm>
          <a:prstGeom prst="rect">
            <a:avLst/>
          </a:prstGeom>
          <a:solidFill>
            <a:srgbClr val="5FD8E6"/>
          </a:solidFill>
          <a:ln w="12700">
            <a:solidFill>
              <a:srgbClr val="333333"/>
            </a:solidFill>
            <a:prstDash val="solid"/>
          </a:ln>
        </p:spPr>
      </p:sp>
      <p:sp>
        <p:nvSpPr>
          <p:cNvPr id="8" name="Text 5"/>
          <p:cNvSpPr/>
          <p:nvPr/>
        </p:nvSpPr>
        <p:spPr>
          <a:xfrm>
            <a:off x="566928" y="4370832"/>
            <a:ext cx="6766560" cy="1005840"/>
          </a:xfrm>
          <a:prstGeom prst="rect">
            <a:avLst/>
          </a:prstGeom>
          <a:noFill/>
          <a:ln/>
        </p:spPr>
        <p:txBody>
          <a:bodyPr wrap="square" lIns="0" tIns="0" rIns="0" bIns="0" rtlCol="0" anchor="t"/>
          <a:lstStyle/>
          <a:p>
            <a:pPr indent="0" marL="0">
              <a:lnSpc>
                <a:spcPct val="120000"/>
              </a:lnSpc>
              <a:buNone/>
            </a:pPr>
            <a:r>
              <a:rPr lang="en-US" sz="1400" dirty="0">
                <a:solidFill>
                  <a:srgbClr val="C7D6E2"/>
                </a:solidFill>
                <a:latin typeface="Calibri" pitchFamily="34" charset="0"/>
                <a:ea typeface="Calibri" pitchFamily="34" charset="-122"/>
                <a:cs typeface="Calibri" pitchFamily="34" charset="-120"/>
              </a:rPr>
              <a:t>Giving enterprise agents useful freedom without granting ambient authority — and the twelve-week plan to prove it on one real path in [CLIENT]'s estate.</a:t>
            </a:r>
            <a:endParaRPr lang="en-US" sz="1400" dirty="0"/>
          </a:p>
        </p:txBody>
      </p:sp>
      <p:sp>
        <p:nvSpPr>
          <p:cNvPr id="9" name="Shape 6"/>
          <p:cNvSpPr/>
          <p:nvPr/>
        </p:nvSpPr>
        <p:spPr>
          <a:xfrm>
            <a:off x="566928" y="6382512"/>
            <a:ext cx="11057839" cy="0"/>
          </a:xfrm>
          <a:prstGeom prst="line">
            <a:avLst/>
          </a:prstGeom>
          <a:noFill/>
          <a:ln w="9525">
            <a:solidFill>
              <a:srgbClr val="20364C"/>
            </a:solidFill>
            <a:prstDash val="solid"/>
          </a:ln>
        </p:spPr>
      </p:sp>
      <p:sp>
        <p:nvSpPr>
          <p:cNvPr id="10" name="Text 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11" name="Text 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CLIENT · [CLIENT]  ·  KICKOFF · [DATE]  ·  REF · [ENGAGEMENT ID]  ·  CONFIDENTIAL</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00</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HOW THIS SESSION WORKS</a:t>
            </a:r>
            <a:endParaRPr lang="en-US" sz="1000" dirty="0"/>
          </a:p>
        </p:txBody>
      </p:sp>
      <p:sp>
        <p:nvSpPr>
          <p:cNvPr id="5" name="Text 2"/>
          <p:cNvSpPr/>
          <p:nvPr/>
        </p:nvSpPr>
        <p:spPr>
          <a:xfrm>
            <a:off x="1389888" y="621792"/>
            <a:ext cx="10234879" cy="8930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This session has one job: leave the room with five decisions made.</a:t>
            </a:r>
            <a:endParaRPr lang="en-US" sz="3000" dirty="0"/>
          </a:p>
        </p:txBody>
      </p:sp>
      <p:sp>
        <p:nvSpPr>
          <p:cNvPr id="6" name="Text 3"/>
          <p:cNvSpPr/>
          <p:nvPr/>
        </p:nvSpPr>
        <p:spPr>
          <a:xfrm>
            <a:off x="1389888" y="15697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Everything else is context for those five. If we run out of time, we cut architecture depth — not the decisions.</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6858000" cy="914400"/>
        </p:xfrm>
        <a:graphic>
          <a:graphicData uri="http://schemas.openxmlformats.org/drawingml/2006/table">
            <a:tbl>
              <a:tblPr/>
              <a:tblGrid>
                <a:gridCol w="640080"/>
                <a:gridCol w="4114800"/>
                <a:gridCol w="210312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TIME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SECTION</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PRIMARILY FOR</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50" dirty="0">
                          <a:solidFill>
                            <a:srgbClr val="0B1622"/>
                          </a:solidFill>
                          <a:latin typeface="Consolas" pitchFamily="34" charset="0"/>
                          <a:ea typeface="Consolas" pitchFamily="34" charset="-122"/>
                          <a:cs typeface="Consolas" pitchFamily="34" charset="-120"/>
                        </a:rPr>
                        <a:t>0:00</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The case — why the control problem is already live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Executives · AI practice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0B1622"/>
                          </a:solidFill>
                          <a:latin typeface="Consolas" pitchFamily="34" charset="0"/>
                          <a:ea typeface="Consolas" pitchFamily="34" charset="-122"/>
                          <a:cs typeface="Consolas" pitchFamily="34" charset="-120"/>
                        </a:rPr>
                        <a:t>0:12</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Reference architecture — six planes, one crossing fabric</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Architects · Platform</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0B1622"/>
                          </a:solidFill>
                          <a:latin typeface="Consolas" pitchFamily="34" charset="0"/>
                          <a:ea typeface="Consolas" pitchFamily="34" charset="-122"/>
                          <a:cs typeface="Consolas" pitchFamily="34" charset="-120"/>
                        </a:rPr>
                        <a:t>0:47</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Your estate — reuse, extend, gap by discipline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All lanes</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0B1622"/>
                          </a:solidFill>
                          <a:latin typeface="Consolas" pitchFamily="34" charset="0"/>
                          <a:ea typeface="Consolas" pitchFamily="34" charset="-122"/>
                          <a:cs typeface="Consolas" pitchFamily="34" charset="-120"/>
                        </a:rPr>
                        <a:t>1:12</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The proof of concept — scope, success, kill criteria, plan</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Everyone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0B1622"/>
                          </a:solidFill>
                          <a:latin typeface="Consolas" pitchFamily="34" charset="0"/>
                          <a:ea typeface="Consolas" pitchFamily="34" charset="-122"/>
                          <a:cs typeface="Consolas" pitchFamily="34" charset="-120"/>
                        </a:rPr>
                        <a:t>1:32</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Decisions</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Executive sponsor</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4828032"/>
            <a:ext cx="6858000" cy="658368"/>
          </a:xfrm>
          <a:prstGeom prst="roundRect">
            <a:avLst>
              <a:gd name="adj" fmla="val 11111"/>
            </a:avLst>
          </a:prstGeom>
          <a:solidFill>
            <a:srgbClr val="FFFFFF"/>
          </a:solidFill>
          <a:ln w="12700">
            <a:solidFill>
              <a:srgbClr val="E2E7EC"/>
            </a:solidFill>
            <a:prstDash val="solid"/>
          </a:ln>
        </p:spPr>
      </p:sp>
      <p:sp>
        <p:nvSpPr>
          <p:cNvPr id="9" name="Text 5"/>
          <p:cNvSpPr/>
          <p:nvPr/>
        </p:nvSpPr>
        <p:spPr>
          <a:xfrm>
            <a:off x="749808" y="4974336"/>
            <a:ext cx="6492240" cy="45720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Interrupt on facts, hold on opinions.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If we state something about your environment that is wrong, correct us immediately — we would rather be wrong in minute 12 than build on it for a month.</a:t>
            </a:r>
            <a:endParaRPr lang="en-US" sz="1050" dirty="0"/>
          </a:p>
        </p:txBody>
      </p:sp>
      <p:sp>
        <p:nvSpPr>
          <p:cNvPr id="10" name="Shape 6"/>
          <p:cNvSpPr/>
          <p:nvPr/>
        </p:nvSpPr>
        <p:spPr>
          <a:xfrm>
            <a:off x="7680960" y="1874520"/>
            <a:ext cx="3943807" cy="3611880"/>
          </a:xfrm>
          <a:prstGeom prst="roundRect">
            <a:avLst>
              <a:gd name="adj" fmla="val 2025"/>
            </a:avLst>
          </a:prstGeom>
          <a:solidFill>
            <a:srgbClr val="E6F4F6"/>
          </a:solidFill>
          <a:ln w="12700">
            <a:solidFill>
              <a:srgbClr val="9CCED6"/>
            </a:solidFill>
            <a:prstDash val="solid"/>
          </a:ln>
        </p:spPr>
      </p:sp>
      <p:sp>
        <p:nvSpPr>
          <p:cNvPr id="11" name="Text 7"/>
          <p:cNvSpPr/>
          <p:nvPr/>
        </p:nvSpPr>
        <p:spPr>
          <a:xfrm>
            <a:off x="7955280" y="2084832"/>
            <a:ext cx="3200400" cy="201168"/>
          </a:xfrm>
          <a:prstGeom prst="rect">
            <a:avLst/>
          </a:prstGeom>
          <a:noFill/>
          <a:ln/>
        </p:spPr>
        <p:txBody>
          <a:bodyPr wrap="square" lIns="0" tIns="0" rIns="0" bIns="0" rtlCol="0" anchor="ctr"/>
          <a:lstStyle/>
          <a:p>
            <a:pPr indent="0" marL="0">
              <a:buNone/>
            </a:pPr>
            <a:r>
              <a:rPr lang="en-US" sz="900" b="1" spc="180" kern="0" dirty="0">
                <a:solidFill>
                  <a:srgbClr val="0B6F7D"/>
                </a:solidFill>
                <a:latin typeface="Consolas" pitchFamily="34" charset="0"/>
                <a:ea typeface="Consolas" pitchFamily="34" charset="-122"/>
                <a:cs typeface="Consolas" pitchFamily="34" charset="-120"/>
              </a:rPr>
              <a:t>LEAVING WITH</a:t>
            </a:r>
            <a:endParaRPr lang="en-US" sz="900" dirty="0"/>
          </a:p>
        </p:txBody>
      </p:sp>
      <p:sp>
        <p:nvSpPr>
          <p:cNvPr id="12" name="Text 8"/>
          <p:cNvSpPr/>
          <p:nvPr/>
        </p:nvSpPr>
        <p:spPr>
          <a:xfrm>
            <a:off x="7955280" y="2340864"/>
            <a:ext cx="3200400" cy="274320"/>
          </a:xfrm>
          <a:prstGeom prst="rect">
            <a:avLst/>
          </a:prstGeom>
          <a:noFill/>
          <a:ln/>
        </p:spPr>
        <p:txBody>
          <a:bodyPr wrap="square" lIns="0" tIns="0" rIns="0" bIns="0" rtlCol="0" anchor="t"/>
          <a:lstStyle/>
          <a:p>
            <a:pPr indent="0" marL="0">
              <a:buNone/>
            </a:pPr>
            <a:r>
              <a:rPr lang="en-US" sz="1700" b="1" dirty="0">
                <a:solidFill>
                  <a:srgbClr val="0B1622"/>
                </a:solidFill>
                <a:latin typeface="Calibri" pitchFamily="34" charset="0"/>
                <a:ea typeface="Calibri" pitchFamily="34" charset="-122"/>
                <a:cs typeface="Calibri" pitchFamily="34" charset="-120"/>
              </a:rPr>
              <a:t>Five decisions</a:t>
            </a:r>
            <a:endParaRPr lang="en-US" sz="1700" dirty="0"/>
          </a:p>
        </p:txBody>
      </p:sp>
      <p:sp>
        <p:nvSpPr>
          <p:cNvPr id="13" name="Shape 9"/>
          <p:cNvSpPr/>
          <p:nvPr/>
        </p:nvSpPr>
        <p:spPr>
          <a:xfrm>
            <a:off x="7955280" y="2761488"/>
            <a:ext cx="237744" cy="237744"/>
          </a:xfrm>
          <a:prstGeom prst="ellipse">
            <a:avLst/>
          </a:prstGeom>
          <a:solidFill>
            <a:srgbClr val="0B6F7D"/>
          </a:solidFill>
          <a:ln w="12700">
            <a:solidFill>
              <a:srgbClr val="0B6F7D"/>
            </a:solidFill>
            <a:prstDash val="solid"/>
          </a:ln>
        </p:spPr>
      </p:sp>
      <p:sp>
        <p:nvSpPr>
          <p:cNvPr id="14" name="Text 10"/>
          <p:cNvSpPr/>
          <p:nvPr/>
        </p:nvSpPr>
        <p:spPr>
          <a:xfrm>
            <a:off x="7955280" y="276148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5" name="Text 11"/>
          <p:cNvSpPr/>
          <p:nvPr/>
        </p:nvSpPr>
        <p:spPr>
          <a:xfrm>
            <a:off x="8284464" y="2779776"/>
            <a:ext cx="2834640" cy="47548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first path</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its accountable owner</a:t>
            </a:r>
            <a:endParaRPr lang="en-US" sz="1050" dirty="0"/>
          </a:p>
        </p:txBody>
      </p:sp>
      <p:sp>
        <p:nvSpPr>
          <p:cNvPr id="16" name="Shape 12"/>
          <p:cNvSpPr/>
          <p:nvPr/>
        </p:nvSpPr>
        <p:spPr>
          <a:xfrm>
            <a:off x="7955280" y="3310128"/>
            <a:ext cx="237744" cy="237744"/>
          </a:xfrm>
          <a:prstGeom prst="ellipse">
            <a:avLst/>
          </a:prstGeom>
          <a:solidFill>
            <a:srgbClr val="0B6F7D"/>
          </a:solidFill>
          <a:ln w="12700">
            <a:solidFill>
              <a:srgbClr val="0B6F7D"/>
            </a:solidFill>
            <a:prstDash val="solid"/>
          </a:ln>
        </p:spPr>
      </p:sp>
      <p:sp>
        <p:nvSpPr>
          <p:cNvPr id="17" name="Text 13"/>
          <p:cNvSpPr/>
          <p:nvPr/>
        </p:nvSpPr>
        <p:spPr>
          <a:xfrm>
            <a:off x="7955280" y="33101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18" name="Text 14"/>
          <p:cNvSpPr/>
          <p:nvPr/>
        </p:nvSpPr>
        <p:spPr>
          <a:xfrm>
            <a:off x="8284464" y="3328416"/>
            <a:ext cx="2834640" cy="47548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risk tiers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who assigns them</a:t>
            </a:r>
            <a:endParaRPr lang="en-US" sz="1050" dirty="0"/>
          </a:p>
        </p:txBody>
      </p:sp>
      <p:sp>
        <p:nvSpPr>
          <p:cNvPr id="19" name="Shape 15"/>
          <p:cNvSpPr/>
          <p:nvPr/>
        </p:nvSpPr>
        <p:spPr>
          <a:xfrm>
            <a:off x="7955280" y="3858768"/>
            <a:ext cx="237744" cy="237744"/>
          </a:xfrm>
          <a:prstGeom prst="ellipse">
            <a:avLst/>
          </a:prstGeom>
          <a:solidFill>
            <a:srgbClr val="0B6F7D"/>
          </a:solidFill>
          <a:ln w="12700">
            <a:solidFill>
              <a:srgbClr val="0B6F7D"/>
            </a:solidFill>
            <a:prstDash val="solid"/>
          </a:ln>
        </p:spPr>
      </p:sp>
      <p:sp>
        <p:nvSpPr>
          <p:cNvPr id="20" name="Text 16"/>
          <p:cNvSpPr/>
          <p:nvPr/>
        </p:nvSpPr>
        <p:spPr>
          <a:xfrm>
            <a:off x="7955280" y="38587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1" name="Text 17"/>
          <p:cNvSpPr/>
          <p:nvPr/>
        </p:nvSpPr>
        <p:spPr>
          <a:xfrm>
            <a:off x="8284464" y="3877056"/>
            <a:ext cx="2834640" cy="47548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Reuse-first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incumbents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for identity, telemetry, gateway</a:t>
            </a:r>
            <a:endParaRPr lang="en-US" sz="1050" dirty="0"/>
          </a:p>
        </p:txBody>
      </p:sp>
      <p:sp>
        <p:nvSpPr>
          <p:cNvPr id="22" name="Shape 18"/>
          <p:cNvSpPr/>
          <p:nvPr/>
        </p:nvSpPr>
        <p:spPr>
          <a:xfrm>
            <a:off x="7955280" y="4407408"/>
            <a:ext cx="237744" cy="237744"/>
          </a:xfrm>
          <a:prstGeom prst="ellipse">
            <a:avLst/>
          </a:prstGeom>
          <a:solidFill>
            <a:srgbClr val="0B6F7D"/>
          </a:solidFill>
          <a:ln w="12700">
            <a:solidFill>
              <a:srgbClr val="0B6F7D"/>
            </a:solidFill>
            <a:prstDash val="solid"/>
          </a:ln>
        </p:spPr>
      </p:sp>
      <p:sp>
        <p:nvSpPr>
          <p:cNvPr id="23" name="Text 19"/>
          <p:cNvSpPr/>
          <p:nvPr/>
        </p:nvSpPr>
        <p:spPr>
          <a:xfrm>
            <a:off x="7955280" y="44074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24" name="Text 20"/>
          <p:cNvSpPr/>
          <p:nvPr/>
        </p:nvSpPr>
        <p:spPr>
          <a:xfrm>
            <a:off x="8284464" y="4425696"/>
            <a:ext cx="2834640" cy="47548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joint team</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weekly gate cadence</a:t>
            </a:r>
            <a:endParaRPr lang="en-US" sz="1050" dirty="0"/>
          </a:p>
        </p:txBody>
      </p:sp>
      <p:sp>
        <p:nvSpPr>
          <p:cNvPr id="25" name="Shape 21"/>
          <p:cNvSpPr/>
          <p:nvPr/>
        </p:nvSpPr>
        <p:spPr>
          <a:xfrm>
            <a:off x="7955280" y="4956048"/>
            <a:ext cx="237744" cy="237744"/>
          </a:xfrm>
          <a:prstGeom prst="ellipse">
            <a:avLst/>
          </a:prstGeom>
          <a:solidFill>
            <a:srgbClr val="0B6F7D"/>
          </a:solidFill>
          <a:ln w="12700">
            <a:solidFill>
              <a:srgbClr val="0B6F7D"/>
            </a:solidFill>
            <a:prstDash val="solid"/>
          </a:ln>
        </p:spPr>
      </p:sp>
      <p:sp>
        <p:nvSpPr>
          <p:cNvPr id="26" name="Text 22"/>
          <p:cNvSpPr/>
          <p:nvPr/>
        </p:nvSpPr>
        <p:spPr>
          <a:xfrm>
            <a:off x="7955280" y="495604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5</a:t>
            </a:r>
            <a:endParaRPr lang="en-US" sz="900" dirty="0"/>
          </a:p>
        </p:txBody>
      </p:sp>
      <p:sp>
        <p:nvSpPr>
          <p:cNvPr id="27" name="Text 23"/>
          <p:cNvSpPr/>
          <p:nvPr/>
        </p:nvSpPr>
        <p:spPr>
          <a:xfrm>
            <a:off x="8284464" y="4974336"/>
            <a:ext cx="2834640" cy="47548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kill criteria</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approved as written, or amended today</a:t>
            </a:r>
            <a:endParaRPr lang="en-US" sz="1050" dirty="0"/>
          </a:p>
        </p:txBody>
      </p:sp>
      <p:sp>
        <p:nvSpPr>
          <p:cNvPr id="28" name="Shape 24"/>
          <p:cNvSpPr/>
          <p:nvPr/>
        </p:nvSpPr>
        <p:spPr>
          <a:xfrm>
            <a:off x="566928" y="6382512"/>
            <a:ext cx="11057839" cy="0"/>
          </a:xfrm>
          <a:prstGeom prst="line">
            <a:avLst/>
          </a:prstGeom>
          <a:noFill/>
          <a:ln w="9525">
            <a:solidFill>
              <a:srgbClr val="E2E7EC"/>
            </a:solidFill>
            <a:prstDash val="solid"/>
          </a:ln>
        </p:spPr>
      </p:sp>
      <p:sp>
        <p:nvSpPr>
          <p:cNvPr id="29" name="Text 25"/>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0" name="Text 26"/>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00</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NAVIGATION</a:t>
            </a:r>
            <a:endParaRPr lang="en-US" sz="1000" dirty="0"/>
          </a:p>
        </p:txBody>
      </p:sp>
      <p:sp>
        <p:nvSpPr>
          <p:cNvPr id="5" name="Text 2"/>
          <p:cNvSpPr/>
          <p:nvPr/>
        </p:nvSpPr>
        <p:spPr>
          <a:xfrm>
            <a:off x="1389888" y="621792"/>
            <a:ext cx="10234879" cy="8930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Six disciplines are in this room. None of them is an audience.</a:t>
            </a:r>
            <a:endParaRPr lang="en-US" sz="3000" dirty="0"/>
          </a:p>
        </p:txBody>
      </p:sp>
      <p:sp>
        <p:nvSpPr>
          <p:cNvPr id="6" name="Text 3"/>
          <p:cNvSpPr/>
          <p:nvPr/>
        </p:nvSpPr>
        <p:spPr>
          <a:xfrm>
            <a:off x="1389888" y="15697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Each lane has a page written specifically for it. If you only have ten minutes, read slides 4, 8, 25 and 32 — that is the whole argument and the whole commitment.</a:t>
            </a:r>
            <a:endParaRPr lang="en-US" sz="1250" dirty="0"/>
          </a:p>
        </p:txBody>
      </p:sp>
      <p:sp>
        <p:nvSpPr>
          <p:cNvPr id="7" name="Shape 4"/>
          <p:cNvSpPr/>
          <p:nvPr/>
        </p:nvSpPr>
        <p:spPr>
          <a:xfrm>
            <a:off x="566928" y="2175764"/>
            <a:ext cx="3588410" cy="2651760"/>
          </a:xfrm>
          <a:prstGeom prst="roundRect">
            <a:avLst>
              <a:gd name="adj" fmla="val 2759"/>
            </a:avLst>
          </a:prstGeom>
          <a:solidFill>
            <a:srgbClr val="FFFFFF"/>
          </a:solidFill>
          <a:ln w="12700">
            <a:solidFill>
              <a:srgbClr val="E2E7EC"/>
            </a:solidFill>
            <a:prstDash val="solid"/>
          </a:ln>
        </p:spPr>
      </p:sp>
      <p:sp>
        <p:nvSpPr>
          <p:cNvPr id="8" name="Shape 5"/>
          <p:cNvSpPr/>
          <p:nvPr/>
        </p:nvSpPr>
        <p:spPr>
          <a:xfrm>
            <a:off x="749808" y="2358644"/>
            <a:ext cx="1417320" cy="182880"/>
          </a:xfrm>
          <a:prstGeom prst="roundRect">
            <a:avLst>
              <a:gd name="adj" fmla="val 50000"/>
            </a:avLst>
          </a:prstGeom>
          <a:solidFill>
            <a:srgbClr val="EFF2F5"/>
          </a:solidFill>
          <a:ln w="12700">
            <a:solidFill>
              <a:srgbClr val="EFF2F5"/>
            </a:solidFill>
            <a:prstDash val="solid"/>
          </a:ln>
        </p:spPr>
      </p:sp>
      <p:sp>
        <p:nvSpPr>
          <p:cNvPr id="9" name="Text 6"/>
          <p:cNvSpPr/>
          <p:nvPr/>
        </p:nvSpPr>
        <p:spPr>
          <a:xfrm>
            <a:off x="749808" y="2358644"/>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DEPTH 1 · 10 MIN</a:t>
            </a:r>
            <a:endParaRPr lang="en-US" sz="750" dirty="0"/>
          </a:p>
        </p:txBody>
      </p:sp>
      <p:sp>
        <p:nvSpPr>
          <p:cNvPr id="10" name="Text 7"/>
          <p:cNvSpPr/>
          <p:nvPr/>
        </p:nvSpPr>
        <p:spPr>
          <a:xfrm>
            <a:off x="749808" y="2669540"/>
            <a:ext cx="3222650" cy="402336"/>
          </a:xfrm>
          <a:prstGeom prst="rect">
            <a:avLst/>
          </a:prstGeom>
          <a:noFill/>
          <a:ln/>
        </p:spPr>
        <p:txBody>
          <a:bodyPr wrap="square" lIns="0" tIns="0" rIns="0" bIns="0" rtlCol="0" anchor="t"/>
          <a:lstStyle/>
          <a:p>
            <a:pPr indent="0" marL="0">
              <a:buNone/>
            </a:pPr>
            <a:r>
              <a:rPr lang="en-US" sz="1350" b="1" dirty="0">
                <a:solidFill>
                  <a:srgbClr val="0B1622"/>
                </a:solidFill>
                <a:latin typeface="Calibri" pitchFamily="34" charset="0"/>
                <a:ea typeface="Calibri" pitchFamily="34" charset="-122"/>
                <a:cs typeface="Calibri" pitchFamily="34" charset="-120"/>
              </a:rPr>
              <a:t>Executive</a:t>
            </a:r>
            <a:endParaRPr lang="en-US" sz="1350" dirty="0"/>
          </a:p>
        </p:txBody>
      </p:sp>
      <p:sp>
        <p:nvSpPr>
          <p:cNvPr id="11" name="Text 8"/>
          <p:cNvSpPr/>
          <p:nvPr/>
        </p:nvSpPr>
        <p:spPr>
          <a:xfrm>
            <a:off x="749808" y="310845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What is being claimed, what it costs, what would make us stop, and what you are deciding today.</a:t>
            </a:r>
            <a:endParaRPr lang="en-US" sz="1050" dirty="0"/>
          </a:p>
        </p:txBody>
      </p:sp>
      <p:sp>
        <p:nvSpPr>
          <p:cNvPr id="12" name="Text 9"/>
          <p:cNvSpPr/>
          <p:nvPr/>
        </p:nvSpPr>
        <p:spPr>
          <a:xfrm>
            <a:off x="749808" y="3602228"/>
            <a:ext cx="3222650"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Slides 04 · 08 · 25 · 26 · 32</a:t>
            </a:r>
            <a:pPr indent="0" marL="0">
              <a:lnSpc>
                <a:spcPct val="110000"/>
              </a:lnSpc>
              <a:buNone/>
            </a:pPr>
            <a:endParaRPr lang="en-US" sz="1050" dirty="0"/>
          </a:p>
        </p:txBody>
      </p:sp>
      <p:sp>
        <p:nvSpPr>
          <p:cNvPr id="13" name="Shape 10"/>
          <p:cNvSpPr/>
          <p:nvPr/>
        </p:nvSpPr>
        <p:spPr>
          <a:xfrm>
            <a:off x="4301642" y="2175764"/>
            <a:ext cx="3588410" cy="2651760"/>
          </a:xfrm>
          <a:prstGeom prst="roundRect">
            <a:avLst>
              <a:gd name="adj" fmla="val 2759"/>
            </a:avLst>
          </a:prstGeom>
          <a:solidFill>
            <a:srgbClr val="E6F4F6"/>
          </a:solidFill>
          <a:ln w="12700">
            <a:solidFill>
              <a:srgbClr val="9CCED6"/>
            </a:solidFill>
            <a:prstDash val="solid"/>
          </a:ln>
        </p:spPr>
      </p:sp>
      <p:sp>
        <p:nvSpPr>
          <p:cNvPr id="14" name="Shape 11"/>
          <p:cNvSpPr/>
          <p:nvPr/>
        </p:nvSpPr>
        <p:spPr>
          <a:xfrm>
            <a:off x="4484522" y="2358644"/>
            <a:ext cx="1417320" cy="182880"/>
          </a:xfrm>
          <a:prstGeom prst="roundRect">
            <a:avLst>
              <a:gd name="adj" fmla="val 50000"/>
            </a:avLst>
          </a:prstGeom>
          <a:solidFill>
            <a:srgbClr val="FFFFFF"/>
          </a:solidFill>
          <a:ln w="12700">
            <a:solidFill>
              <a:srgbClr val="FFFFFF"/>
            </a:solidFill>
            <a:prstDash val="solid"/>
          </a:ln>
        </p:spPr>
      </p:sp>
      <p:sp>
        <p:nvSpPr>
          <p:cNvPr id="15" name="Text 12"/>
          <p:cNvSpPr/>
          <p:nvPr/>
        </p:nvSpPr>
        <p:spPr>
          <a:xfrm>
            <a:off x="4484522" y="2358644"/>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DEPTH 2 · 35 MIN</a:t>
            </a:r>
            <a:endParaRPr lang="en-US" sz="750" dirty="0"/>
          </a:p>
        </p:txBody>
      </p:sp>
      <p:sp>
        <p:nvSpPr>
          <p:cNvPr id="16" name="Text 13"/>
          <p:cNvSpPr/>
          <p:nvPr/>
        </p:nvSpPr>
        <p:spPr>
          <a:xfrm>
            <a:off x="4484522" y="2669540"/>
            <a:ext cx="3222650" cy="402336"/>
          </a:xfrm>
          <a:prstGeom prst="rect">
            <a:avLst/>
          </a:prstGeom>
          <a:noFill/>
          <a:ln/>
        </p:spPr>
        <p:txBody>
          <a:bodyPr wrap="square" lIns="0" tIns="0" rIns="0" bIns="0" rtlCol="0" anchor="t"/>
          <a:lstStyle/>
          <a:p>
            <a:pPr indent="0" marL="0">
              <a:buNone/>
            </a:pPr>
            <a:r>
              <a:rPr lang="en-US" sz="1350" b="1" dirty="0">
                <a:solidFill>
                  <a:srgbClr val="0B1622"/>
                </a:solidFill>
                <a:latin typeface="Calibri" pitchFamily="34" charset="0"/>
                <a:ea typeface="Calibri" pitchFamily="34" charset="-122"/>
                <a:cs typeface="Calibri" pitchFamily="34" charset="-120"/>
              </a:rPr>
              <a:t>Architecture &amp; platform</a:t>
            </a:r>
            <a:endParaRPr lang="en-US" sz="1350" dirty="0"/>
          </a:p>
        </p:txBody>
      </p:sp>
      <p:sp>
        <p:nvSpPr>
          <p:cNvPr id="17" name="Text 14"/>
          <p:cNvSpPr/>
          <p:nvPr/>
        </p:nvSpPr>
        <p:spPr>
          <a:xfrm>
            <a:off x="4484522" y="310845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six planes, the runtime path every consequential call follows, the five invariants and how each one is tested.</a:t>
            </a:r>
            <a:endParaRPr lang="en-US" sz="1050" dirty="0"/>
          </a:p>
        </p:txBody>
      </p:sp>
      <p:sp>
        <p:nvSpPr>
          <p:cNvPr id="18" name="Text 15"/>
          <p:cNvSpPr/>
          <p:nvPr/>
        </p:nvSpPr>
        <p:spPr>
          <a:xfrm>
            <a:off x="4484522" y="3602228"/>
            <a:ext cx="3222650"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Slides 09 – 15 · 17</a:t>
            </a:r>
            <a:pPr indent="0" marL="0">
              <a:lnSpc>
                <a:spcPct val="110000"/>
              </a:lnSpc>
              <a:buNone/>
            </a:pPr>
            <a:endParaRPr lang="en-US" sz="1050" dirty="0"/>
          </a:p>
        </p:txBody>
      </p:sp>
      <p:sp>
        <p:nvSpPr>
          <p:cNvPr id="19" name="Shape 16"/>
          <p:cNvSpPr/>
          <p:nvPr/>
        </p:nvSpPr>
        <p:spPr>
          <a:xfrm>
            <a:off x="8036357" y="2175764"/>
            <a:ext cx="3588410" cy="2651760"/>
          </a:xfrm>
          <a:prstGeom prst="roundRect">
            <a:avLst>
              <a:gd name="adj" fmla="val 2759"/>
            </a:avLst>
          </a:prstGeom>
          <a:solidFill>
            <a:srgbClr val="FFFFFF"/>
          </a:solidFill>
          <a:ln w="12700">
            <a:solidFill>
              <a:srgbClr val="E2E7EC"/>
            </a:solidFill>
            <a:prstDash val="solid"/>
          </a:ln>
        </p:spPr>
      </p:sp>
      <p:sp>
        <p:nvSpPr>
          <p:cNvPr id="20" name="Shape 17"/>
          <p:cNvSpPr/>
          <p:nvPr/>
        </p:nvSpPr>
        <p:spPr>
          <a:xfrm>
            <a:off x="8219237" y="2358644"/>
            <a:ext cx="1417320" cy="182880"/>
          </a:xfrm>
          <a:prstGeom prst="roundRect">
            <a:avLst>
              <a:gd name="adj" fmla="val 50000"/>
            </a:avLst>
          </a:prstGeom>
          <a:solidFill>
            <a:srgbClr val="EFF2F5"/>
          </a:solidFill>
          <a:ln w="12700">
            <a:solidFill>
              <a:srgbClr val="EFF2F5"/>
            </a:solidFill>
            <a:prstDash val="solid"/>
          </a:ln>
        </p:spPr>
      </p:sp>
      <p:sp>
        <p:nvSpPr>
          <p:cNvPr id="21" name="Text 18"/>
          <p:cNvSpPr/>
          <p:nvPr/>
        </p:nvSpPr>
        <p:spPr>
          <a:xfrm>
            <a:off x="8219237" y="2358644"/>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DEPTH 3 · 25 MIN</a:t>
            </a:r>
            <a:endParaRPr lang="en-US" sz="750" dirty="0"/>
          </a:p>
        </p:txBody>
      </p:sp>
      <p:sp>
        <p:nvSpPr>
          <p:cNvPr id="22" name="Text 19"/>
          <p:cNvSpPr/>
          <p:nvPr/>
        </p:nvSpPr>
        <p:spPr>
          <a:xfrm>
            <a:off x="8219237" y="2669540"/>
            <a:ext cx="3222650" cy="402336"/>
          </a:xfrm>
          <a:prstGeom prst="rect">
            <a:avLst/>
          </a:prstGeom>
          <a:noFill/>
          <a:ln/>
        </p:spPr>
        <p:txBody>
          <a:bodyPr wrap="square" lIns="0" tIns="0" rIns="0" bIns="0" rtlCol="0" anchor="t"/>
          <a:lstStyle/>
          <a:p>
            <a:pPr indent="0" marL="0">
              <a:buNone/>
            </a:pPr>
            <a:r>
              <a:rPr lang="en-US" sz="1350" b="1" dirty="0">
                <a:solidFill>
                  <a:srgbClr val="0B1622"/>
                </a:solidFill>
                <a:latin typeface="Calibri" pitchFamily="34" charset="0"/>
                <a:ea typeface="Calibri" pitchFamily="34" charset="-122"/>
                <a:cs typeface="Calibri" pitchFamily="34" charset="-120"/>
              </a:rPr>
              <a:t>Discipline lanes</a:t>
            </a:r>
            <a:endParaRPr lang="en-US" sz="1350" dirty="0"/>
          </a:p>
        </p:txBody>
      </p:sp>
      <p:sp>
        <p:nvSpPr>
          <p:cNvPr id="23" name="Text 20"/>
          <p:cNvSpPr/>
          <p:nvPr/>
        </p:nvSpPr>
        <p:spPr>
          <a:xfrm>
            <a:off x="8219237" y="310845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One page each for platform &amp; DevOps, data governance, data engineering, AI practice, and security &amp; audit — what changes, and what does not.</a:t>
            </a:r>
            <a:endParaRPr lang="en-US" sz="1050" dirty="0"/>
          </a:p>
        </p:txBody>
      </p:sp>
      <p:sp>
        <p:nvSpPr>
          <p:cNvPr id="24" name="Text 21"/>
          <p:cNvSpPr/>
          <p:nvPr/>
        </p:nvSpPr>
        <p:spPr>
          <a:xfrm>
            <a:off x="8219237" y="3602228"/>
            <a:ext cx="3222650"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Slides 18 – 21</a:t>
            </a:r>
            <a:pPr indent="0" marL="0">
              <a:lnSpc>
                <a:spcPct val="110000"/>
              </a:lnSpc>
              <a:buNone/>
            </a:pPr>
            <a:endParaRPr lang="en-US" sz="1050" dirty="0"/>
          </a:p>
        </p:txBody>
      </p:sp>
      <p:sp>
        <p:nvSpPr>
          <p:cNvPr id="25" name="Shape 22"/>
          <p:cNvSpPr/>
          <p:nvPr/>
        </p:nvSpPr>
        <p:spPr>
          <a:xfrm>
            <a:off x="566928" y="4956048"/>
            <a:ext cx="11057839" cy="603504"/>
          </a:xfrm>
          <a:prstGeom prst="roundRect">
            <a:avLst>
              <a:gd name="adj" fmla="val 12121"/>
            </a:avLst>
          </a:prstGeom>
          <a:solidFill>
            <a:srgbClr val="FDF3DA"/>
          </a:solidFill>
          <a:ln w="12700">
            <a:solidFill>
              <a:srgbClr val="E8D5A8"/>
            </a:solidFill>
            <a:prstDash val="solid"/>
          </a:ln>
        </p:spPr>
      </p:sp>
      <p:sp>
        <p:nvSpPr>
          <p:cNvPr id="26" name="Shape 23"/>
          <p:cNvSpPr/>
          <p:nvPr/>
        </p:nvSpPr>
        <p:spPr>
          <a:xfrm>
            <a:off x="749808" y="5102352"/>
            <a:ext cx="868680" cy="182880"/>
          </a:xfrm>
          <a:prstGeom prst="roundRect">
            <a:avLst>
              <a:gd name="adj" fmla="val 50000"/>
            </a:avLst>
          </a:prstGeom>
          <a:solidFill>
            <a:srgbClr val="FFFFFF"/>
          </a:solidFill>
          <a:ln w="12700">
            <a:solidFill>
              <a:srgbClr val="FFFFFF"/>
            </a:solidFill>
            <a:prstDash val="solid"/>
          </a:ln>
        </p:spPr>
      </p:sp>
      <p:sp>
        <p:nvSpPr>
          <p:cNvPr id="27" name="Text 24"/>
          <p:cNvSpPr/>
          <p:nvPr/>
        </p:nvSpPr>
        <p:spPr>
          <a:xfrm>
            <a:off x="749808" y="5102352"/>
            <a:ext cx="868680" cy="182880"/>
          </a:xfrm>
          <a:prstGeom prst="rect">
            <a:avLst/>
          </a:prstGeom>
          <a:noFill/>
          <a:ln/>
        </p:spPr>
        <p:txBody>
          <a:bodyPr wrap="square" lIns="0" tIns="0" rIns="0" bIns="0" rtlCol="0" anchor="ctr"/>
          <a:lstStyle/>
          <a:p>
            <a:pPr algn="ctr" indent="0" marL="0">
              <a:buNone/>
            </a:pPr>
            <a:r>
              <a:rPr lang="en-US" sz="750" b="1" spc="100" kern="0" dirty="0">
                <a:solidFill>
                  <a:srgbClr val="8A6210"/>
                </a:solidFill>
                <a:latin typeface="Consolas" pitchFamily="34" charset="0"/>
                <a:ea typeface="Consolas" pitchFamily="34" charset="-122"/>
                <a:cs typeface="Consolas" pitchFamily="34" charset="-120"/>
              </a:rPr>
              <a:t>TEMPLATE</a:t>
            </a:r>
            <a:endParaRPr lang="en-US" sz="750" dirty="0"/>
          </a:p>
        </p:txBody>
      </p:sp>
      <p:sp>
        <p:nvSpPr>
          <p:cNvPr id="28" name="Text 25"/>
          <p:cNvSpPr/>
          <p:nvPr/>
        </p:nvSpPr>
        <p:spPr>
          <a:xfrm>
            <a:off x="1755648" y="5120640"/>
            <a:ext cx="9594799" cy="329184"/>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Fields in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[BRACKETS]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are discovery inputs, not claims — they are filled from the week-0 intake sheet in the appendix, which is the last slide of this deck.</a:t>
            </a:r>
            <a:endParaRPr lang="en-US" sz="1050" dirty="0"/>
          </a:p>
        </p:txBody>
      </p:sp>
      <p:sp>
        <p:nvSpPr>
          <p:cNvPr id="29" name="Shape 26"/>
          <p:cNvSpPr/>
          <p:nvPr/>
        </p:nvSpPr>
        <p:spPr>
          <a:xfrm>
            <a:off x="566928" y="6382512"/>
            <a:ext cx="11057839" cy="0"/>
          </a:xfrm>
          <a:prstGeom prst="line">
            <a:avLst/>
          </a:prstGeom>
          <a:noFill/>
          <a:ln w="9525">
            <a:solidFill>
              <a:srgbClr val="E2E7EC"/>
            </a:solidFill>
            <a:prstDash val="solid"/>
          </a:ln>
        </p:spPr>
      </p:sp>
      <p:sp>
        <p:nvSpPr>
          <p:cNvPr id="30" name="Text 2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1" name="Text 2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72A"/>
        </a:solidFill>
      </p:bgPr>
    </p:bg>
    <p:spTree>
      <p:nvGrpSpPr>
        <p:cNvPr id="1" name=""/>
        <p:cNvGrpSpPr/>
        <p:nvPr/>
      </p:nvGrpSpPr>
      <p:grpSpPr>
        <a:xfrm>
          <a:off x="0" y="0"/>
          <a:ext cx="0" cy="0"/>
          <a:chOff x="0" y="0"/>
          <a:chExt cx="0" cy="0"/>
        </a:xfrm>
      </p:grpSpPr>
      <p:sp>
        <p:nvSpPr>
          <p:cNvPr id="3" name="Text 0"/>
          <p:cNvSpPr/>
          <p:nvPr/>
        </p:nvSpPr>
        <p:spPr>
          <a:xfrm>
            <a:off x="566928" y="914400"/>
            <a:ext cx="5486400" cy="237744"/>
          </a:xfrm>
          <a:prstGeom prst="rect">
            <a:avLst/>
          </a:prstGeom>
          <a:noFill/>
          <a:ln/>
        </p:spPr>
        <p:txBody>
          <a:bodyPr wrap="square" lIns="0" tIns="0" rIns="0" bIns="0" rtlCol="0" anchor="ctr"/>
          <a:lstStyle/>
          <a:p>
            <a:pPr indent="0" marL="0">
              <a:buNone/>
            </a:pPr>
            <a:r>
              <a:rPr lang="en-US" sz="1050" b="1" spc="220" kern="0" dirty="0">
                <a:solidFill>
                  <a:srgbClr val="5FD8E6"/>
                </a:solidFill>
                <a:latin typeface="Consolas" pitchFamily="34" charset="0"/>
                <a:ea typeface="Consolas" pitchFamily="34" charset="-122"/>
                <a:cs typeface="Consolas" pitchFamily="34" charset="-120"/>
              </a:rPr>
              <a:t>01 / THE CASE</a:t>
            </a:r>
            <a:endParaRPr lang="en-US" sz="1050" dirty="0"/>
          </a:p>
        </p:txBody>
      </p:sp>
      <p:sp>
        <p:nvSpPr>
          <p:cNvPr id="4" name="Text 1"/>
          <p:cNvSpPr/>
          <p:nvPr/>
        </p:nvSpPr>
        <p:spPr>
          <a:xfrm>
            <a:off x="521208" y="1298448"/>
            <a:ext cx="10881360" cy="1920240"/>
          </a:xfrm>
          <a:prstGeom prst="rect">
            <a:avLst/>
          </a:prstGeom>
          <a:noFill/>
          <a:ln/>
        </p:spPr>
        <p:txBody>
          <a:bodyPr wrap="square" lIns="0" tIns="0" rIns="0" bIns="0" rtlCol="0" anchor="t"/>
          <a:lstStyle/>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Your agents already have authority.</a:t>
            </a:r>
            <a:endParaRPr lang="en-US" sz="3400" dirty="0"/>
          </a:p>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Today it is ambient, unattributable,</a:t>
            </a:r>
            <a:endParaRPr lang="en-US" sz="3400" dirty="0"/>
          </a:p>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and effectively un-revocable.</a:t>
            </a:r>
            <a:endParaRPr lang="en-US" sz="3400" dirty="0"/>
          </a:p>
        </p:txBody>
      </p:sp>
      <p:sp>
        <p:nvSpPr>
          <p:cNvPr id="5" name="Shape 2"/>
          <p:cNvSpPr/>
          <p:nvPr/>
        </p:nvSpPr>
        <p:spPr>
          <a:xfrm>
            <a:off x="566928" y="3401568"/>
            <a:ext cx="566928" cy="32004"/>
          </a:xfrm>
          <a:prstGeom prst="rect">
            <a:avLst/>
          </a:prstGeom>
          <a:solidFill>
            <a:srgbClr val="5FD8E6"/>
          </a:solidFill>
          <a:ln w="12700">
            <a:solidFill>
              <a:srgbClr val="333333"/>
            </a:solidFill>
            <a:prstDash val="solid"/>
          </a:ln>
        </p:spPr>
      </p:sp>
      <p:sp>
        <p:nvSpPr>
          <p:cNvPr id="6" name="Text 3"/>
          <p:cNvSpPr/>
          <p:nvPr/>
        </p:nvSpPr>
        <p:spPr>
          <a:xfrm>
            <a:off x="566928" y="3657600"/>
            <a:ext cx="9692640" cy="914400"/>
          </a:xfrm>
          <a:prstGeom prst="rect">
            <a:avLst/>
          </a:prstGeom>
          <a:noFill/>
          <a:ln/>
        </p:spPr>
        <p:txBody>
          <a:bodyPr wrap="square" lIns="0" tIns="0" rIns="0" bIns="0" rtlCol="0" anchor="t"/>
          <a:lstStyle/>
          <a:p>
            <a:pPr indent="0" marL="0">
              <a:lnSpc>
                <a:spcPct val="118000"/>
              </a:lnSpc>
              <a:buNone/>
            </a:pPr>
            <a:r>
              <a:rPr lang="en-US" sz="1300" dirty="0">
                <a:solidFill>
                  <a:srgbClr val="C7D6E2"/>
                </a:solidFill>
                <a:latin typeface="Calibri" pitchFamily="34" charset="0"/>
                <a:ea typeface="Calibri" pitchFamily="34" charset="-122"/>
                <a:cs typeface="Calibri" pitchFamily="34" charset="-120"/>
              </a:rPr>
              <a:t>Every service account, long-lived key and shared secret an agent can reach is a standing grant that no one issued, no one reviews, and no one can withdraw inside a day. The hard part was never making agents call tools. It is making every consequential action </a:t>
            </a:r>
            <a:pPr indent="0" marL="0">
              <a:lnSpc>
                <a:spcPct val="118000"/>
              </a:lnSpc>
              <a:buNone/>
            </a:pPr>
            <a:r>
              <a:rPr lang="en-US" sz="1300" b="1" dirty="0">
                <a:solidFill>
                  <a:srgbClr val="5FD8E6"/>
                </a:solidFill>
                <a:latin typeface="Calibri" pitchFamily="34" charset="0"/>
                <a:ea typeface="Calibri" pitchFamily="34" charset="-122"/>
                <a:cs typeface="Calibri" pitchFamily="34" charset="-120"/>
              </a:rPr>
              <a:t>discoverable, authorizable, constrainable, interruptible, observable and explainable</a:t>
            </a:r>
            <a:pPr indent="0" marL="0">
              <a:lnSpc>
                <a:spcPct val="118000"/>
              </a:lnSpc>
              <a:buNone/>
            </a:pPr>
            <a:r>
              <a:rPr lang="en-US" sz="1300" dirty="0">
                <a:solidFill>
                  <a:srgbClr val="C7D6E2"/>
                </a:solidFill>
                <a:latin typeface="Calibri" pitchFamily="34" charset="0"/>
                <a:ea typeface="Calibri" pitchFamily="34" charset="-122"/>
                <a:cs typeface="Calibri" pitchFamily="34" charset="-120"/>
              </a:rPr>
              <a:t>.</a:t>
            </a:r>
            <a:endParaRPr lang="en-US" sz="1300" dirty="0"/>
          </a:p>
        </p:txBody>
      </p:sp>
      <p:sp>
        <p:nvSpPr>
          <p:cNvPr id="7" name="Text 4"/>
          <p:cNvSpPr/>
          <p:nvPr/>
        </p:nvSpPr>
        <p:spPr>
          <a:xfrm>
            <a:off x="566928" y="4828032"/>
            <a:ext cx="2468880" cy="219456"/>
          </a:xfrm>
          <a:prstGeom prst="rect">
            <a:avLst/>
          </a:prstGeom>
          <a:noFill/>
          <a:ln/>
        </p:spPr>
        <p:txBody>
          <a:bodyPr wrap="square" lIns="0" tIns="0" rIns="0" bIns="0" rtlCol="0" anchor="ctr"/>
          <a:lstStyle/>
          <a:p>
            <a:pPr indent="0" marL="0">
              <a:buNone/>
            </a:pPr>
            <a:r>
              <a:rPr lang="en-US" sz="1000" b="1" spc="180" kern="0" dirty="0">
                <a:solidFill>
                  <a:srgbClr val="5FD8E6"/>
                </a:solidFill>
                <a:latin typeface="Consolas" pitchFamily="34" charset="0"/>
                <a:ea typeface="Consolas" pitchFamily="34" charset="-122"/>
                <a:cs typeface="Consolas" pitchFamily="34" charset="-120"/>
              </a:rPr>
              <a:t>DISCOVER</a:t>
            </a:r>
            <a:endParaRPr lang="en-US" sz="1000" dirty="0"/>
          </a:p>
        </p:txBody>
      </p:sp>
      <p:sp>
        <p:nvSpPr>
          <p:cNvPr id="8" name="Text 5"/>
          <p:cNvSpPr/>
          <p:nvPr/>
        </p:nvSpPr>
        <p:spPr>
          <a:xfrm>
            <a:off x="566928" y="5084064"/>
            <a:ext cx="2468880" cy="548640"/>
          </a:xfrm>
          <a:prstGeom prst="rect">
            <a:avLst/>
          </a:prstGeom>
          <a:noFill/>
          <a:ln/>
        </p:spPr>
        <p:txBody>
          <a:bodyPr wrap="square" lIns="0" tIns="0" rIns="0" bIns="0" rtlCol="0" anchor="t"/>
          <a:lstStyle/>
          <a:p>
            <a:pPr indent="0" marL="0">
              <a:lnSpc>
                <a:spcPct val="110000"/>
              </a:lnSpc>
              <a:buNone/>
            </a:pPr>
            <a:r>
              <a:rPr lang="en-US" sz="1050" dirty="0">
                <a:solidFill>
                  <a:srgbClr val="C7D6E2"/>
                </a:solidFill>
                <a:latin typeface="Calibri" pitchFamily="34" charset="0"/>
                <a:ea typeface="Calibri" pitchFamily="34" charset="-122"/>
                <a:cs typeface="Calibri" pitchFamily="34" charset="-120"/>
              </a:rPr>
              <a:t>Find capability, owner, health, version</a:t>
            </a:r>
            <a:endParaRPr lang="en-US" sz="1050" dirty="0"/>
          </a:p>
        </p:txBody>
      </p:sp>
      <p:sp>
        <p:nvSpPr>
          <p:cNvPr id="9" name="Text 6"/>
          <p:cNvSpPr/>
          <p:nvPr/>
        </p:nvSpPr>
        <p:spPr>
          <a:xfrm>
            <a:off x="3331388" y="4828032"/>
            <a:ext cx="2468880" cy="219456"/>
          </a:xfrm>
          <a:prstGeom prst="rect">
            <a:avLst/>
          </a:prstGeom>
          <a:noFill/>
          <a:ln/>
        </p:spPr>
        <p:txBody>
          <a:bodyPr wrap="square" lIns="0" tIns="0" rIns="0" bIns="0" rtlCol="0" anchor="ctr"/>
          <a:lstStyle/>
          <a:p>
            <a:pPr indent="0" marL="0">
              <a:buNone/>
            </a:pPr>
            <a:r>
              <a:rPr lang="en-US" sz="1000" b="1" spc="180" kern="0" dirty="0">
                <a:solidFill>
                  <a:srgbClr val="5FD8E6"/>
                </a:solidFill>
                <a:latin typeface="Consolas" pitchFamily="34" charset="0"/>
                <a:ea typeface="Consolas" pitchFamily="34" charset="-122"/>
                <a:cs typeface="Consolas" pitchFamily="34" charset="-120"/>
              </a:rPr>
              <a:t>GOVERN</a:t>
            </a:r>
            <a:endParaRPr lang="en-US" sz="1000" dirty="0"/>
          </a:p>
        </p:txBody>
      </p:sp>
      <p:sp>
        <p:nvSpPr>
          <p:cNvPr id="10" name="Text 7"/>
          <p:cNvSpPr/>
          <p:nvPr/>
        </p:nvSpPr>
        <p:spPr>
          <a:xfrm>
            <a:off x="3331388" y="5084064"/>
            <a:ext cx="2468880" cy="548640"/>
          </a:xfrm>
          <a:prstGeom prst="rect">
            <a:avLst/>
          </a:prstGeom>
          <a:noFill/>
          <a:ln/>
        </p:spPr>
        <p:txBody>
          <a:bodyPr wrap="square" lIns="0" tIns="0" rIns="0" bIns="0" rtlCol="0" anchor="t"/>
          <a:lstStyle/>
          <a:p>
            <a:pPr indent="0" marL="0">
              <a:lnSpc>
                <a:spcPct val="110000"/>
              </a:lnSpc>
              <a:buNone/>
            </a:pPr>
            <a:r>
              <a:rPr lang="en-US" sz="1050" dirty="0">
                <a:solidFill>
                  <a:srgbClr val="C7D6E2"/>
                </a:solidFill>
                <a:latin typeface="Calibri" pitchFamily="34" charset="0"/>
                <a:ea typeface="Calibri" pitchFamily="34" charset="-122"/>
                <a:cs typeface="Calibri" pitchFamily="34" charset="-120"/>
              </a:rPr>
              <a:t>Decide who may perform which action</a:t>
            </a:r>
            <a:endParaRPr lang="en-US" sz="1050" dirty="0"/>
          </a:p>
        </p:txBody>
      </p:sp>
      <p:sp>
        <p:nvSpPr>
          <p:cNvPr id="11" name="Text 8"/>
          <p:cNvSpPr/>
          <p:nvPr/>
        </p:nvSpPr>
        <p:spPr>
          <a:xfrm>
            <a:off x="6095848" y="4828032"/>
            <a:ext cx="2468880" cy="219456"/>
          </a:xfrm>
          <a:prstGeom prst="rect">
            <a:avLst/>
          </a:prstGeom>
          <a:noFill/>
          <a:ln/>
        </p:spPr>
        <p:txBody>
          <a:bodyPr wrap="square" lIns="0" tIns="0" rIns="0" bIns="0" rtlCol="0" anchor="ctr"/>
          <a:lstStyle/>
          <a:p>
            <a:pPr indent="0" marL="0">
              <a:buNone/>
            </a:pPr>
            <a:r>
              <a:rPr lang="en-US" sz="1000" b="1" spc="180" kern="0" dirty="0">
                <a:solidFill>
                  <a:srgbClr val="5FD8E6"/>
                </a:solidFill>
                <a:latin typeface="Consolas" pitchFamily="34" charset="0"/>
                <a:ea typeface="Consolas" pitchFamily="34" charset="-122"/>
                <a:cs typeface="Consolas" pitchFamily="34" charset="-120"/>
              </a:rPr>
              <a:t>EXECUTE</a:t>
            </a:r>
            <a:endParaRPr lang="en-US" sz="1000" dirty="0"/>
          </a:p>
        </p:txBody>
      </p:sp>
      <p:sp>
        <p:nvSpPr>
          <p:cNvPr id="12" name="Text 9"/>
          <p:cNvSpPr/>
          <p:nvPr/>
        </p:nvSpPr>
        <p:spPr>
          <a:xfrm>
            <a:off x="6095848" y="5084064"/>
            <a:ext cx="2468880" cy="548640"/>
          </a:xfrm>
          <a:prstGeom prst="rect">
            <a:avLst/>
          </a:prstGeom>
          <a:noFill/>
          <a:ln/>
        </p:spPr>
        <p:txBody>
          <a:bodyPr wrap="square" lIns="0" tIns="0" rIns="0" bIns="0" rtlCol="0" anchor="t"/>
          <a:lstStyle/>
          <a:p>
            <a:pPr indent="0" marL="0">
              <a:lnSpc>
                <a:spcPct val="110000"/>
              </a:lnSpc>
              <a:buNone/>
            </a:pPr>
            <a:r>
              <a:rPr lang="en-US" sz="1050" dirty="0">
                <a:solidFill>
                  <a:srgbClr val="C7D6E2"/>
                </a:solidFill>
                <a:latin typeface="Calibri" pitchFamily="34" charset="0"/>
                <a:ea typeface="Calibri" pitchFamily="34" charset="-122"/>
                <a:cs typeface="Calibri" pitchFamily="34" charset="-120"/>
              </a:rPr>
              <a:t>Run inside a bounded, observable path</a:t>
            </a:r>
            <a:endParaRPr lang="en-US" sz="1050" dirty="0"/>
          </a:p>
        </p:txBody>
      </p:sp>
      <p:sp>
        <p:nvSpPr>
          <p:cNvPr id="13" name="Text 10"/>
          <p:cNvSpPr/>
          <p:nvPr/>
        </p:nvSpPr>
        <p:spPr>
          <a:xfrm>
            <a:off x="8860307" y="4828032"/>
            <a:ext cx="2468880" cy="219456"/>
          </a:xfrm>
          <a:prstGeom prst="rect">
            <a:avLst/>
          </a:prstGeom>
          <a:noFill/>
          <a:ln/>
        </p:spPr>
        <p:txBody>
          <a:bodyPr wrap="square" lIns="0" tIns="0" rIns="0" bIns="0" rtlCol="0" anchor="ctr"/>
          <a:lstStyle/>
          <a:p>
            <a:pPr indent="0" marL="0">
              <a:buNone/>
            </a:pPr>
            <a:r>
              <a:rPr lang="en-US" sz="1000" b="1" spc="180" kern="0" dirty="0">
                <a:solidFill>
                  <a:srgbClr val="5FD8E6"/>
                </a:solidFill>
                <a:latin typeface="Consolas" pitchFamily="34" charset="0"/>
                <a:ea typeface="Consolas" pitchFamily="34" charset="-122"/>
                <a:cs typeface="Consolas" pitchFamily="34" charset="-120"/>
              </a:rPr>
              <a:t>REACT</a:t>
            </a:r>
            <a:endParaRPr lang="en-US" sz="1000" dirty="0"/>
          </a:p>
        </p:txBody>
      </p:sp>
      <p:sp>
        <p:nvSpPr>
          <p:cNvPr id="14" name="Text 11"/>
          <p:cNvSpPr/>
          <p:nvPr/>
        </p:nvSpPr>
        <p:spPr>
          <a:xfrm>
            <a:off x="8860307" y="5084064"/>
            <a:ext cx="2468880" cy="548640"/>
          </a:xfrm>
          <a:prstGeom prst="rect">
            <a:avLst/>
          </a:prstGeom>
          <a:noFill/>
          <a:ln/>
        </p:spPr>
        <p:txBody>
          <a:bodyPr wrap="square" lIns="0" tIns="0" rIns="0" bIns="0" rtlCol="0" anchor="t"/>
          <a:lstStyle/>
          <a:p>
            <a:pPr indent="0" marL="0">
              <a:lnSpc>
                <a:spcPct val="110000"/>
              </a:lnSpc>
              <a:buNone/>
            </a:pPr>
            <a:r>
              <a:rPr lang="en-US" sz="1050" dirty="0">
                <a:solidFill>
                  <a:srgbClr val="C7D6E2"/>
                </a:solidFill>
                <a:latin typeface="Calibri" pitchFamily="34" charset="0"/>
                <a:ea typeface="Calibri" pitchFamily="34" charset="-122"/>
                <a:cs typeface="Calibri" pitchFamily="34" charset="-120"/>
              </a:rPr>
              <a:t>Turn evidence into governed automation</a:t>
            </a:r>
            <a:endParaRPr lang="en-US" sz="1050" dirty="0"/>
          </a:p>
        </p:txBody>
      </p:sp>
      <p:sp>
        <p:nvSpPr>
          <p:cNvPr id="15" name="Shape 12"/>
          <p:cNvSpPr/>
          <p:nvPr/>
        </p:nvSpPr>
        <p:spPr>
          <a:xfrm>
            <a:off x="566928" y="6382512"/>
            <a:ext cx="11057839" cy="0"/>
          </a:xfrm>
          <a:prstGeom prst="line">
            <a:avLst/>
          </a:prstGeom>
          <a:noFill/>
          <a:ln w="9525">
            <a:solidFill>
              <a:srgbClr val="20364C"/>
            </a:solidFill>
            <a:prstDash val="solid"/>
          </a:ln>
        </p:spPr>
      </p:sp>
      <p:sp>
        <p:nvSpPr>
          <p:cNvPr id="16" name="Text 1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17" name="Text 1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01</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CASE</a:t>
            </a:r>
            <a:endParaRPr lang="en-US" sz="1000" dirty="0"/>
          </a:p>
        </p:txBody>
      </p:sp>
      <p:sp>
        <p:nvSpPr>
          <p:cNvPr id="5" name="Text 2"/>
          <p:cNvSpPr/>
          <p:nvPr/>
        </p:nvSpPr>
        <p:spPr>
          <a:xfrm>
            <a:off x="1389888" y="621792"/>
            <a:ext cx="10234879" cy="8930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Enterprise agent programs stall in four recognisable ways.</a:t>
            </a:r>
            <a:endParaRPr lang="en-US" sz="3000" dirty="0"/>
          </a:p>
        </p:txBody>
      </p:sp>
      <p:sp>
        <p:nvSpPr>
          <p:cNvPr id="6" name="Text 3"/>
          <p:cNvSpPr/>
          <p:nvPr/>
        </p:nvSpPr>
        <p:spPr>
          <a:xfrm>
            <a:off x="1389888" y="15697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Not one of these is a model problem. Each is an operating-model problem wearing a model problem’s clothes. Which of these four sounds most like [CLIENT] today?</a:t>
            </a:r>
            <a:endParaRPr lang="en-US" sz="1250" dirty="0"/>
          </a:p>
        </p:txBody>
      </p:sp>
      <p:sp>
        <p:nvSpPr>
          <p:cNvPr id="7" name="Shape 4"/>
          <p:cNvSpPr/>
          <p:nvPr/>
        </p:nvSpPr>
        <p:spPr>
          <a:xfrm>
            <a:off x="566928" y="2120900"/>
            <a:ext cx="2654732" cy="2615184"/>
          </a:xfrm>
          <a:prstGeom prst="roundRect">
            <a:avLst>
              <a:gd name="adj" fmla="val 2797"/>
            </a:avLst>
          </a:prstGeom>
          <a:solidFill>
            <a:srgbClr val="FFFFFF"/>
          </a:solidFill>
          <a:ln w="12700">
            <a:solidFill>
              <a:srgbClr val="E2E7EC"/>
            </a:solidFill>
            <a:prstDash val="solid"/>
          </a:ln>
        </p:spPr>
      </p:sp>
      <p:sp>
        <p:nvSpPr>
          <p:cNvPr id="8" name="Shape 5"/>
          <p:cNvSpPr/>
          <p:nvPr/>
        </p:nvSpPr>
        <p:spPr>
          <a:xfrm>
            <a:off x="749808" y="2303780"/>
            <a:ext cx="1417320" cy="182880"/>
          </a:xfrm>
          <a:prstGeom prst="roundRect">
            <a:avLst>
              <a:gd name="adj" fmla="val 50000"/>
            </a:avLst>
          </a:prstGeom>
          <a:solidFill>
            <a:srgbClr val="FAE6E6"/>
          </a:solidFill>
          <a:ln w="12700">
            <a:solidFill>
              <a:srgbClr val="FAE6E6"/>
            </a:solidFill>
            <a:prstDash val="solid"/>
          </a:ln>
        </p:spPr>
      </p:sp>
      <p:sp>
        <p:nvSpPr>
          <p:cNvPr id="9" name="Text 6"/>
          <p:cNvSpPr/>
          <p:nvPr/>
        </p:nvSpPr>
        <p:spPr>
          <a:xfrm>
            <a:off x="749808" y="2303780"/>
            <a:ext cx="1417320" cy="182880"/>
          </a:xfrm>
          <a:prstGeom prst="rect">
            <a:avLst/>
          </a:prstGeom>
          <a:noFill/>
          <a:ln/>
        </p:spPr>
        <p:txBody>
          <a:bodyPr wrap="square" lIns="0" tIns="0" rIns="0" bIns="0" rtlCol="0" anchor="ctr"/>
          <a:lstStyle/>
          <a:p>
            <a:pPr algn="ctr" indent="0" marL="0">
              <a:buNone/>
            </a:pPr>
            <a:r>
              <a:rPr lang="en-US" sz="750" b="1" spc="100" kern="0" dirty="0">
                <a:solidFill>
                  <a:srgbClr val="B32D2D"/>
                </a:solidFill>
                <a:latin typeface="Consolas" pitchFamily="34" charset="0"/>
                <a:ea typeface="Consolas" pitchFamily="34" charset="-122"/>
                <a:cs typeface="Consolas" pitchFamily="34" charset="-120"/>
              </a:rPr>
              <a:t>PATTERN 01</a:t>
            </a:r>
            <a:endParaRPr lang="en-US" sz="750" dirty="0"/>
          </a:p>
        </p:txBody>
      </p:sp>
      <p:sp>
        <p:nvSpPr>
          <p:cNvPr id="10" name="Text 7"/>
          <p:cNvSpPr/>
          <p:nvPr/>
        </p:nvSpPr>
        <p:spPr>
          <a:xfrm>
            <a:off x="749808" y="2614676"/>
            <a:ext cx="2288972" cy="566928"/>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The pilot that cannot graduate</a:t>
            </a:r>
            <a:endParaRPr lang="en-US" sz="1250" dirty="0"/>
          </a:p>
        </p:txBody>
      </p:sp>
      <p:sp>
        <p:nvSpPr>
          <p:cNvPr id="11" name="Text 8"/>
          <p:cNvSpPr/>
          <p:nvPr/>
        </p:nvSpPr>
        <p:spPr>
          <a:xfrm>
            <a:off x="749808" y="3218180"/>
            <a:ext cx="2288972"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Tell:</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“We have forty pilots and nothing in production.”</a:t>
            </a:r>
            <a:endParaRPr lang="en-US" sz="980" dirty="0"/>
          </a:p>
        </p:txBody>
      </p:sp>
      <p:sp>
        <p:nvSpPr>
          <p:cNvPr id="12" name="Text 9"/>
          <p:cNvSpPr/>
          <p:nvPr/>
        </p:nvSpPr>
        <p:spPr>
          <a:xfrm>
            <a:off x="749808" y="3711956"/>
            <a:ext cx="2288972" cy="576072"/>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Root cause:</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no control contract, so every promotion triggers a bespoke security review that never finishes.</a:t>
            </a:r>
            <a:endParaRPr lang="en-US" sz="980" dirty="0"/>
          </a:p>
        </p:txBody>
      </p:sp>
      <p:sp>
        <p:nvSpPr>
          <p:cNvPr id="13" name="Text 10"/>
          <p:cNvSpPr/>
          <p:nvPr/>
        </p:nvSpPr>
        <p:spPr>
          <a:xfrm>
            <a:off x="749808" y="4352036"/>
            <a:ext cx="2288972"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 Control plane</a:t>
            </a:r>
            <a:pPr indent="0" marL="0">
              <a:lnSpc>
                <a:spcPct val="110000"/>
              </a:lnSpc>
              <a:buNone/>
            </a:pPr>
            <a:endParaRPr lang="en-US" sz="980" dirty="0"/>
          </a:p>
        </p:txBody>
      </p:sp>
      <p:sp>
        <p:nvSpPr>
          <p:cNvPr id="14" name="Shape 11"/>
          <p:cNvSpPr/>
          <p:nvPr/>
        </p:nvSpPr>
        <p:spPr>
          <a:xfrm>
            <a:off x="3367964" y="2120900"/>
            <a:ext cx="2654732" cy="2615184"/>
          </a:xfrm>
          <a:prstGeom prst="roundRect">
            <a:avLst>
              <a:gd name="adj" fmla="val 2797"/>
            </a:avLst>
          </a:prstGeom>
          <a:solidFill>
            <a:srgbClr val="FFFFFF"/>
          </a:solidFill>
          <a:ln w="12700">
            <a:solidFill>
              <a:srgbClr val="E2E7EC"/>
            </a:solidFill>
            <a:prstDash val="solid"/>
          </a:ln>
        </p:spPr>
      </p:sp>
      <p:sp>
        <p:nvSpPr>
          <p:cNvPr id="15" name="Shape 12"/>
          <p:cNvSpPr/>
          <p:nvPr/>
        </p:nvSpPr>
        <p:spPr>
          <a:xfrm>
            <a:off x="3550844" y="2303780"/>
            <a:ext cx="1417320" cy="182880"/>
          </a:xfrm>
          <a:prstGeom prst="roundRect">
            <a:avLst>
              <a:gd name="adj" fmla="val 50000"/>
            </a:avLst>
          </a:prstGeom>
          <a:solidFill>
            <a:srgbClr val="FAE6E6"/>
          </a:solidFill>
          <a:ln w="12700">
            <a:solidFill>
              <a:srgbClr val="FAE6E6"/>
            </a:solidFill>
            <a:prstDash val="solid"/>
          </a:ln>
        </p:spPr>
      </p:sp>
      <p:sp>
        <p:nvSpPr>
          <p:cNvPr id="16" name="Text 13"/>
          <p:cNvSpPr/>
          <p:nvPr/>
        </p:nvSpPr>
        <p:spPr>
          <a:xfrm>
            <a:off x="3550844" y="2303780"/>
            <a:ext cx="1417320" cy="182880"/>
          </a:xfrm>
          <a:prstGeom prst="rect">
            <a:avLst/>
          </a:prstGeom>
          <a:noFill/>
          <a:ln/>
        </p:spPr>
        <p:txBody>
          <a:bodyPr wrap="square" lIns="0" tIns="0" rIns="0" bIns="0" rtlCol="0" anchor="ctr"/>
          <a:lstStyle/>
          <a:p>
            <a:pPr algn="ctr" indent="0" marL="0">
              <a:buNone/>
            </a:pPr>
            <a:r>
              <a:rPr lang="en-US" sz="750" b="1" spc="100" kern="0" dirty="0">
                <a:solidFill>
                  <a:srgbClr val="B32D2D"/>
                </a:solidFill>
                <a:latin typeface="Consolas" pitchFamily="34" charset="0"/>
                <a:ea typeface="Consolas" pitchFamily="34" charset="-122"/>
                <a:cs typeface="Consolas" pitchFamily="34" charset="-120"/>
              </a:rPr>
              <a:t>PATTERN 02</a:t>
            </a:r>
            <a:endParaRPr lang="en-US" sz="750" dirty="0"/>
          </a:p>
        </p:txBody>
      </p:sp>
      <p:sp>
        <p:nvSpPr>
          <p:cNvPr id="17" name="Text 14"/>
          <p:cNvSpPr/>
          <p:nvPr/>
        </p:nvSpPr>
        <p:spPr>
          <a:xfrm>
            <a:off x="3550844" y="2614676"/>
            <a:ext cx="2288972" cy="566928"/>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The parallel estate</a:t>
            </a:r>
            <a:endParaRPr lang="en-US" sz="1250" dirty="0"/>
          </a:p>
        </p:txBody>
      </p:sp>
      <p:sp>
        <p:nvSpPr>
          <p:cNvPr id="18" name="Text 15"/>
          <p:cNvSpPr/>
          <p:nvPr/>
        </p:nvSpPr>
        <p:spPr>
          <a:xfrm>
            <a:off x="3550844" y="3218180"/>
            <a:ext cx="2288972"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Tell:</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the AI team has stood up its own identity, secrets and logging.</a:t>
            </a:r>
            <a:endParaRPr lang="en-US" sz="980" dirty="0"/>
          </a:p>
        </p:txBody>
      </p:sp>
      <p:sp>
        <p:nvSpPr>
          <p:cNvPr id="19" name="Text 16"/>
          <p:cNvSpPr/>
          <p:nvPr/>
        </p:nvSpPr>
        <p:spPr>
          <a:xfrm>
            <a:off x="3550844" y="3711956"/>
            <a:ext cx="2288972" cy="576072"/>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Root cause:</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agents treated as a new platform rather than a new class of actor inside the platform you already run.</a:t>
            </a:r>
            <a:endParaRPr lang="en-US" sz="980" dirty="0"/>
          </a:p>
        </p:txBody>
      </p:sp>
      <p:sp>
        <p:nvSpPr>
          <p:cNvPr id="20" name="Text 17"/>
          <p:cNvSpPr/>
          <p:nvPr/>
        </p:nvSpPr>
        <p:spPr>
          <a:xfrm>
            <a:off x="3550844" y="4352036"/>
            <a:ext cx="2288972"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 Platform plane</a:t>
            </a:r>
            <a:pPr indent="0" marL="0">
              <a:lnSpc>
                <a:spcPct val="110000"/>
              </a:lnSpc>
              <a:buNone/>
            </a:pPr>
            <a:endParaRPr lang="en-US" sz="980" dirty="0"/>
          </a:p>
        </p:txBody>
      </p:sp>
      <p:sp>
        <p:nvSpPr>
          <p:cNvPr id="21" name="Shape 18"/>
          <p:cNvSpPr/>
          <p:nvPr/>
        </p:nvSpPr>
        <p:spPr>
          <a:xfrm>
            <a:off x="6169000" y="2120900"/>
            <a:ext cx="2654732" cy="2615184"/>
          </a:xfrm>
          <a:prstGeom prst="roundRect">
            <a:avLst>
              <a:gd name="adj" fmla="val 2797"/>
            </a:avLst>
          </a:prstGeom>
          <a:solidFill>
            <a:srgbClr val="FFFFFF"/>
          </a:solidFill>
          <a:ln w="12700">
            <a:solidFill>
              <a:srgbClr val="E2E7EC"/>
            </a:solidFill>
            <a:prstDash val="solid"/>
          </a:ln>
        </p:spPr>
      </p:sp>
      <p:sp>
        <p:nvSpPr>
          <p:cNvPr id="22" name="Shape 19"/>
          <p:cNvSpPr/>
          <p:nvPr/>
        </p:nvSpPr>
        <p:spPr>
          <a:xfrm>
            <a:off x="6351880" y="2303780"/>
            <a:ext cx="1417320" cy="182880"/>
          </a:xfrm>
          <a:prstGeom prst="roundRect">
            <a:avLst>
              <a:gd name="adj" fmla="val 50000"/>
            </a:avLst>
          </a:prstGeom>
          <a:solidFill>
            <a:srgbClr val="FEF3DC"/>
          </a:solidFill>
          <a:ln w="12700">
            <a:solidFill>
              <a:srgbClr val="FEF3DC"/>
            </a:solidFill>
            <a:prstDash val="solid"/>
          </a:ln>
        </p:spPr>
      </p:sp>
      <p:sp>
        <p:nvSpPr>
          <p:cNvPr id="23" name="Text 20"/>
          <p:cNvSpPr/>
          <p:nvPr/>
        </p:nvSpPr>
        <p:spPr>
          <a:xfrm>
            <a:off x="6351880" y="2303780"/>
            <a:ext cx="1417320" cy="182880"/>
          </a:xfrm>
          <a:prstGeom prst="rect">
            <a:avLst/>
          </a:prstGeom>
          <a:noFill/>
          <a:ln/>
        </p:spPr>
        <p:txBody>
          <a:bodyPr wrap="square" lIns="0" tIns="0" rIns="0" bIns="0" rtlCol="0" anchor="ctr"/>
          <a:lstStyle/>
          <a:p>
            <a:pPr algn="ctr" indent="0" marL="0">
              <a:buNone/>
            </a:pPr>
            <a:r>
              <a:rPr lang="en-US" sz="750" b="1" spc="100" kern="0" dirty="0">
                <a:solidFill>
                  <a:srgbClr val="7A5510"/>
                </a:solidFill>
                <a:latin typeface="Consolas" pitchFamily="34" charset="0"/>
                <a:ea typeface="Consolas" pitchFamily="34" charset="-122"/>
                <a:cs typeface="Consolas" pitchFamily="34" charset="-120"/>
              </a:rPr>
              <a:t>PATTERN 03</a:t>
            </a:r>
            <a:endParaRPr lang="en-US" sz="750" dirty="0"/>
          </a:p>
        </p:txBody>
      </p:sp>
      <p:sp>
        <p:nvSpPr>
          <p:cNvPr id="24" name="Text 21"/>
          <p:cNvSpPr/>
          <p:nvPr/>
        </p:nvSpPr>
        <p:spPr>
          <a:xfrm>
            <a:off x="6351880" y="2614676"/>
            <a:ext cx="2288972" cy="566928"/>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The ontology cathedral</a:t>
            </a:r>
            <a:endParaRPr lang="en-US" sz="1250" dirty="0"/>
          </a:p>
        </p:txBody>
      </p:sp>
      <p:sp>
        <p:nvSpPr>
          <p:cNvPr id="25" name="Text 22"/>
          <p:cNvSpPr/>
          <p:nvPr/>
        </p:nvSpPr>
        <p:spPr>
          <a:xfrm>
            <a:off x="6351880" y="3218180"/>
            <a:ext cx="2288972"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Tell:</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“We are fourteen months into the enterprise data model.”</a:t>
            </a:r>
            <a:endParaRPr lang="en-US" sz="980" dirty="0"/>
          </a:p>
        </p:txBody>
      </p:sp>
      <p:sp>
        <p:nvSpPr>
          <p:cNvPr id="26" name="Text 23"/>
          <p:cNvSpPr/>
          <p:nvPr/>
        </p:nvSpPr>
        <p:spPr>
          <a:xfrm>
            <a:off x="6351880" y="3711956"/>
            <a:ext cx="2288972" cy="576072"/>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Root cause:</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shared semantics made a prerequisite instead of a destination, so nothing consequential ships.</a:t>
            </a:r>
            <a:endParaRPr lang="en-US" sz="980" dirty="0"/>
          </a:p>
        </p:txBody>
      </p:sp>
      <p:sp>
        <p:nvSpPr>
          <p:cNvPr id="27" name="Text 24"/>
          <p:cNvSpPr/>
          <p:nvPr/>
        </p:nvSpPr>
        <p:spPr>
          <a:xfrm>
            <a:off x="6351880" y="4352036"/>
            <a:ext cx="2288972"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 Knowledge plane</a:t>
            </a:r>
            <a:pPr indent="0" marL="0">
              <a:lnSpc>
                <a:spcPct val="110000"/>
              </a:lnSpc>
              <a:buNone/>
            </a:pPr>
            <a:endParaRPr lang="en-US" sz="980" dirty="0"/>
          </a:p>
        </p:txBody>
      </p:sp>
      <p:sp>
        <p:nvSpPr>
          <p:cNvPr id="28" name="Shape 25"/>
          <p:cNvSpPr/>
          <p:nvPr/>
        </p:nvSpPr>
        <p:spPr>
          <a:xfrm>
            <a:off x="8970035" y="2120900"/>
            <a:ext cx="2654732" cy="2615184"/>
          </a:xfrm>
          <a:prstGeom prst="roundRect">
            <a:avLst>
              <a:gd name="adj" fmla="val 2797"/>
            </a:avLst>
          </a:prstGeom>
          <a:solidFill>
            <a:srgbClr val="FFFFFF"/>
          </a:solidFill>
          <a:ln w="12700">
            <a:solidFill>
              <a:srgbClr val="E2E7EC"/>
            </a:solidFill>
            <a:prstDash val="solid"/>
          </a:ln>
        </p:spPr>
      </p:sp>
      <p:sp>
        <p:nvSpPr>
          <p:cNvPr id="29" name="Shape 26"/>
          <p:cNvSpPr/>
          <p:nvPr/>
        </p:nvSpPr>
        <p:spPr>
          <a:xfrm>
            <a:off x="9152915" y="2303780"/>
            <a:ext cx="1417320" cy="182880"/>
          </a:xfrm>
          <a:prstGeom prst="roundRect">
            <a:avLst>
              <a:gd name="adj" fmla="val 50000"/>
            </a:avLst>
          </a:prstGeom>
          <a:solidFill>
            <a:srgbClr val="FAE6E6"/>
          </a:solidFill>
          <a:ln w="12700">
            <a:solidFill>
              <a:srgbClr val="FAE6E6"/>
            </a:solidFill>
            <a:prstDash val="solid"/>
          </a:ln>
        </p:spPr>
      </p:sp>
      <p:sp>
        <p:nvSpPr>
          <p:cNvPr id="30" name="Text 27"/>
          <p:cNvSpPr/>
          <p:nvPr/>
        </p:nvSpPr>
        <p:spPr>
          <a:xfrm>
            <a:off x="9152915" y="2303780"/>
            <a:ext cx="1417320" cy="182880"/>
          </a:xfrm>
          <a:prstGeom prst="rect">
            <a:avLst/>
          </a:prstGeom>
          <a:noFill/>
          <a:ln/>
        </p:spPr>
        <p:txBody>
          <a:bodyPr wrap="square" lIns="0" tIns="0" rIns="0" bIns="0" rtlCol="0" anchor="ctr"/>
          <a:lstStyle/>
          <a:p>
            <a:pPr algn="ctr" indent="0" marL="0">
              <a:buNone/>
            </a:pPr>
            <a:r>
              <a:rPr lang="en-US" sz="750" b="1" spc="100" kern="0" dirty="0">
                <a:solidFill>
                  <a:srgbClr val="B32D2D"/>
                </a:solidFill>
                <a:latin typeface="Consolas" pitchFamily="34" charset="0"/>
                <a:ea typeface="Consolas" pitchFamily="34" charset="-122"/>
                <a:cs typeface="Consolas" pitchFamily="34" charset="-120"/>
              </a:rPr>
              <a:t>PATTERN 04</a:t>
            </a:r>
            <a:endParaRPr lang="en-US" sz="750" dirty="0"/>
          </a:p>
        </p:txBody>
      </p:sp>
      <p:sp>
        <p:nvSpPr>
          <p:cNvPr id="31" name="Text 28"/>
          <p:cNvSpPr/>
          <p:nvPr/>
        </p:nvSpPr>
        <p:spPr>
          <a:xfrm>
            <a:off x="9152915" y="2614676"/>
            <a:ext cx="2288972" cy="566928"/>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The unauditable win</a:t>
            </a:r>
            <a:endParaRPr lang="en-US" sz="1250" dirty="0"/>
          </a:p>
        </p:txBody>
      </p:sp>
      <p:sp>
        <p:nvSpPr>
          <p:cNvPr id="32" name="Text 29"/>
          <p:cNvSpPr/>
          <p:nvPr/>
        </p:nvSpPr>
        <p:spPr>
          <a:xfrm>
            <a:off x="9152915" y="3218180"/>
            <a:ext cx="2288972"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Tell:</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“It works, but Risk will not sign it off.”</a:t>
            </a:r>
            <a:endParaRPr lang="en-US" sz="980" dirty="0"/>
          </a:p>
        </p:txBody>
      </p:sp>
      <p:sp>
        <p:nvSpPr>
          <p:cNvPr id="33" name="Text 30"/>
          <p:cNvSpPr/>
          <p:nvPr/>
        </p:nvSpPr>
        <p:spPr>
          <a:xfrm>
            <a:off x="9152915" y="3565652"/>
            <a:ext cx="2288972" cy="576072"/>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Root cause:</a:t>
            </a:r>
            <a:pPr indent="0" marL="0">
              <a:lnSpc>
                <a:spcPct val="110000"/>
              </a:lnSpc>
              <a:buNone/>
            </a:pPr>
            <a:r>
              <a:rPr lang="en-US" sz="980" dirty="0">
                <a:solidFill>
                  <a:srgbClr val="46586B"/>
                </a:solidFill>
                <a:latin typeface="Calibri" pitchFamily="34" charset="0"/>
                <a:ea typeface="Calibri" pitchFamily="34" charset="-122"/>
                <a:cs typeface="Calibri" pitchFamily="34" charset="-120"/>
              </a:rPr>
              <a:t> “the model decided” offered as an audit explanation, which no dashboard repairs after the fact.</a:t>
            </a:r>
            <a:endParaRPr lang="en-US" sz="980" dirty="0"/>
          </a:p>
        </p:txBody>
      </p:sp>
      <p:sp>
        <p:nvSpPr>
          <p:cNvPr id="34" name="Text 31"/>
          <p:cNvSpPr/>
          <p:nvPr/>
        </p:nvSpPr>
        <p:spPr>
          <a:xfrm>
            <a:off x="9152915" y="4205732"/>
            <a:ext cx="2288972"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80" b="1" dirty="0">
                <a:solidFill>
                  <a:srgbClr val="0B1622"/>
                </a:solidFill>
                <a:latin typeface="Calibri" pitchFamily="34" charset="0"/>
                <a:ea typeface="Calibri" pitchFamily="34" charset="-122"/>
                <a:cs typeface="Calibri" pitchFamily="34" charset="-120"/>
              </a:rPr>
              <a:t>→ Telemetry fabric</a:t>
            </a:r>
            <a:pPr indent="0" marL="0">
              <a:lnSpc>
                <a:spcPct val="110000"/>
              </a:lnSpc>
              <a:buNone/>
            </a:pPr>
            <a:endParaRPr lang="en-US" sz="980" dirty="0"/>
          </a:p>
        </p:txBody>
      </p:sp>
      <p:sp>
        <p:nvSpPr>
          <p:cNvPr id="35" name="Shape 32"/>
          <p:cNvSpPr/>
          <p:nvPr/>
        </p:nvSpPr>
        <p:spPr>
          <a:xfrm>
            <a:off x="566928" y="5029200"/>
            <a:ext cx="11057839" cy="530352"/>
          </a:xfrm>
          <a:prstGeom prst="roundRect">
            <a:avLst>
              <a:gd name="adj" fmla="val 13793"/>
            </a:avLst>
          </a:prstGeom>
          <a:solidFill>
            <a:srgbClr val="E6F4F6"/>
          </a:solidFill>
          <a:ln w="12700">
            <a:solidFill>
              <a:srgbClr val="9CCED6"/>
            </a:solidFill>
            <a:prstDash val="solid"/>
          </a:ln>
        </p:spPr>
      </p:sp>
      <p:sp>
        <p:nvSpPr>
          <p:cNvPr id="36" name="Text 33"/>
          <p:cNvSpPr/>
          <p:nvPr/>
        </p:nvSpPr>
        <p:spPr>
          <a:xfrm>
            <a:off x="749808" y="5157216"/>
            <a:ext cx="10692079" cy="31089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The common root: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all four begin by choosing products, then discover the responsibilities afterwards. This architecture inverts that order — and that inversion is the entire proposition.</a:t>
            </a:r>
            <a:endParaRPr lang="en-US" sz="1050" dirty="0"/>
          </a:p>
        </p:txBody>
      </p:sp>
      <p:sp>
        <p:nvSpPr>
          <p:cNvPr id="37" name="Shape 34"/>
          <p:cNvSpPr/>
          <p:nvPr/>
        </p:nvSpPr>
        <p:spPr>
          <a:xfrm>
            <a:off x="566928" y="6382512"/>
            <a:ext cx="11057839" cy="0"/>
          </a:xfrm>
          <a:prstGeom prst="line">
            <a:avLst/>
          </a:prstGeom>
          <a:noFill/>
          <a:ln w="9525">
            <a:solidFill>
              <a:srgbClr val="E2E7EC"/>
            </a:solidFill>
            <a:prstDash val="solid"/>
          </a:ln>
        </p:spPr>
      </p:sp>
      <p:sp>
        <p:nvSpPr>
          <p:cNvPr id="38" name="Text 35"/>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9" name="Text 36"/>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72A"/>
        </a:solidFill>
      </p:bgPr>
    </p:bg>
    <p:spTree>
      <p:nvGrpSpPr>
        <p:cNvPr id="1" name=""/>
        <p:cNvGrpSpPr/>
        <p:nvPr/>
      </p:nvGrpSpPr>
      <p:grpSpPr>
        <a:xfrm>
          <a:off x="0" y="0"/>
          <a:ext cx="0" cy="0"/>
          <a:chOff x="0" y="0"/>
          <a:chExt cx="0" cy="0"/>
        </a:xfrm>
      </p:grpSpPr>
      <p:sp>
        <p:nvSpPr>
          <p:cNvPr id="3" name="Shape 0"/>
          <p:cNvSpPr/>
          <p:nvPr/>
        </p:nvSpPr>
        <p:spPr>
          <a:xfrm>
            <a:off x="566928" y="2212848"/>
            <a:ext cx="41148" cy="2286000"/>
          </a:xfrm>
          <a:prstGeom prst="rect">
            <a:avLst/>
          </a:prstGeom>
          <a:solidFill>
            <a:srgbClr val="5FD8E6"/>
          </a:solidFill>
          <a:ln w="12700">
            <a:solidFill>
              <a:srgbClr val="333333"/>
            </a:solidFill>
            <a:prstDash val="solid"/>
          </a:ln>
        </p:spPr>
      </p:sp>
      <p:sp>
        <p:nvSpPr>
          <p:cNvPr id="4" name="Text 1"/>
          <p:cNvSpPr/>
          <p:nvPr/>
        </p:nvSpPr>
        <p:spPr>
          <a:xfrm>
            <a:off x="896112" y="2212848"/>
            <a:ext cx="10424160" cy="2286000"/>
          </a:xfrm>
          <a:prstGeom prst="rect">
            <a:avLst/>
          </a:prstGeom>
          <a:noFill/>
          <a:ln/>
        </p:spPr>
        <p:txBody>
          <a:bodyPr wrap="square" lIns="0" tIns="0" rIns="0" bIns="0" rtlCol="0" anchor="ctr"/>
          <a:lstStyle/>
          <a:p>
            <a:pPr indent="0" marL="0">
              <a:lnSpc>
                <a:spcPct val="122000"/>
              </a:lnSpc>
              <a:buNone/>
            </a:pPr>
            <a:r>
              <a:rPr lang="en-US" sz="3000" b="1" dirty="0">
                <a:solidFill>
                  <a:srgbClr val="FFFFFF"/>
                </a:solidFill>
                <a:latin typeface="Calibri" pitchFamily="34" charset="0"/>
                <a:ea typeface="Calibri" pitchFamily="34" charset="-122"/>
                <a:cs typeface="Calibri" pitchFamily="34" charset="-120"/>
              </a:rPr>
              <a:t>The goal is not maximum autonomy.</a:t>
            </a:r>
            <a:endParaRPr lang="en-US" sz="3000" dirty="0"/>
          </a:p>
          <a:p>
            <a:pPr indent="0" marL="0">
              <a:lnSpc>
                <a:spcPct val="122000"/>
              </a:lnSpc>
              <a:buNone/>
            </a:pPr>
            <a:r>
              <a:rPr lang="en-US" sz="3000" b="1" dirty="0">
                <a:solidFill>
                  <a:srgbClr val="FFFFFF"/>
                </a:solidFill>
                <a:latin typeface="Calibri" pitchFamily="34" charset="0"/>
                <a:ea typeface="Calibri" pitchFamily="34" charset="-122"/>
                <a:cs typeface="Calibri" pitchFamily="34" charset="-120"/>
              </a:rPr>
              <a:t>It is the maximum useful autonomy</a:t>
            </a:r>
            <a:endParaRPr lang="en-US" sz="3000" dirty="0"/>
          </a:p>
          <a:p>
            <a:pPr indent="0" marL="0">
              <a:lnSpc>
                <a:spcPct val="122000"/>
              </a:lnSpc>
              <a:buNone/>
            </a:pPr>
            <a:r>
              <a:rPr lang="en-US" sz="3000" b="1" dirty="0">
                <a:solidFill>
                  <a:srgbClr val="FFFFFF"/>
                </a:solidFill>
                <a:latin typeface="Calibri" pitchFamily="34" charset="0"/>
                <a:ea typeface="Calibri" pitchFamily="34" charset="-122"/>
                <a:cs typeface="Calibri" pitchFamily="34" charset="-120"/>
              </a:rPr>
              <a:t>an organization can govern</a:t>
            </a:r>
            <a:endParaRPr lang="en-US" sz="3000" dirty="0"/>
          </a:p>
          <a:p>
            <a:pPr indent="0" marL="0">
              <a:lnSpc>
                <a:spcPct val="122000"/>
              </a:lnSpc>
              <a:buNone/>
            </a:pPr>
            <a:r>
              <a:rPr lang="en-US" sz="3000" b="1" dirty="0">
                <a:solidFill>
                  <a:srgbClr val="FFFFFF"/>
                </a:solidFill>
                <a:latin typeface="Calibri" pitchFamily="34" charset="0"/>
                <a:ea typeface="Calibri" pitchFamily="34" charset="-122"/>
                <a:cs typeface="Calibri" pitchFamily="34" charset="-120"/>
              </a:rPr>
              <a:t>with confidence.</a:t>
            </a:r>
            <a:endParaRPr lang="en-US" sz="3000" dirty="0"/>
          </a:p>
        </p:txBody>
      </p:sp>
      <p:sp>
        <p:nvSpPr>
          <p:cNvPr id="5" name="Shape 2"/>
          <p:cNvSpPr/>
          <p:nvPr/>
        </p:nvSpPr>
        <p:spPr>
          <a:xfrm>
            <a:off x="566928" y="6382512"/>
            <a:ext cx="11057839" cy="0"/>
          </a:xfrm>
          <a:prstGeom prst="line">
            <a:avLst/>
          </a:prstGeom>
          <a:noFill/>
          <a:ln w="9525">
            <a:solidFill>
              <a:srgbClr val="20364C"/>
            </a:solidFill>
            <a:prstDash val="solid"/>
          </a:ln>
        </p:spPr>
      </p:sp>
      <p:sp>
        <p:nvSpPr>
          <p:cNvPr id="6" name="Text 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7" name="Text 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01</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CASE</a:t>
            </a:r>
            <a:endParaRPr lang="en-US" sz="1000" dirty="0"/>
          </a:p>
        </p:txBody>
      </p:sp>
      <p:sp>
        <p:nvSpPr>
          <p:cNvPr id="5" name="Text 2"/>
          <p:cNvSpPr/>
          <p:nvPr/>
        </p:nvSpPr>
        <p:spPr>
          <a:xfrm>
            <a:off x="1389888" y="621792"/>
            <a:ext cx="10234879" cy="8930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Standardize the control contract. Keep every product replaceable.</a:t>
            </a:r>
            <a:endParaRPr lang="en-US" sz="3000" dirty="0"/>
          </a:p>
        </p:txBody>
      </p:sp>
      <p:sp>
        <p:nvSpPr>
          <p:cNvPr id="6" name="Text 3"/>
          <p:cNvSpPr/>
          <p:nvPr/>
        </p:nvSpPr>
        <p:spPr>
          <a:xfrm>
            <a:off x="1389888" y="15697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We treat this as an operating-model problem before it becomes a product-selection problem. The enterprise needs stable responsibilities and contracts; the technologies underneath them should stay swappable.</a:t>
            </a:r>
            <a:endParaRPr lang="en-US" sz="1250" dirty="0"/>
          </a:p>
        </p:txBody>
      </p:sp>
      <p:sp>
        <p:nvSpPr>
          <p:cNvPr id="7" name="Text 4"/>
          <p:cNvSpPr/>
          <p:nvPr/>
        </p:nvSpPr>
        <p:spPr>
          <a:xfrm>
            <a:off x="566928" y="2120900"/>
            <a:ext cx="6217920" cy="914400"/>
          </a:xfrm>
          <a:prstGeom prst="rect">
            <a:avLst/>
          </a:prstGeom>
          <a:noFill/>
          <a:ln/>
        </p:spPr>
        <p:txBody>
          <a:bodyPr wrap="square" lIns="0" tIns="0" rIns="0" bIns="0" rtlCol="0" anchor="t"/>
          <a:lstStyle/>
          <a:p>
            <a:pPr indent="0" marL="0">
              <a:lnSpc>
                <a:spcPct val="116000"/>
              </a:lnSpc>
              <a:buNone/>
            </a:pPr>
            <a:r>
              <a:rPr lang="en-US" sz="1300" dirty="0">
                <a:solidFill>
                  <a:srgbClr val="46586B"/>
                </a:solidFill>
                <a:latin typeface="Calibri" pitchFamily="34" charset="0"/>
                <a:ea typeface="Calibri" pitchFamily="34" charset="-122"/>
                <a:cs typeface="Calibri" pitchFamily="34" charset="-120"/>
              </a:rPr>
              <a:t>Five responsibilities make up the contract: </a:t>
            </a:r>
            <a:pPr indent="0" marL="0">
              <a:lnSpc>
                <a:spcPct val="116000"/>
              </a:lnSpc>
              <a:buNone/>
            </a:pPr>
            <a:r>
              <a:rPr lang="en-US" sz="1300" b="1" dirty="0">
                <a:solidFill>
                  <a:srgbClr val="0B1622"/>
                </a:solidFill>
                <a:latin typeface="Calibri" pitchFamily="34" charset="0"/>
                <a:ea typeface="Calibri" pitchFamily="34" charset="-122"/>
                <a:cs typeface="Calibri" pitchFamily="34" charset="-120"/>
              </a:rPr>
              <a:t>identity, policy, capability, observability and evidence.</a:t>
            </a:r>
            <a:pPr indent="0" marL="0">
              <a:lnSpc>
                <a:spcPct val="116000"/>
              </a:lnSpc>
              <a:buNone/>
            </a:pPr>
            <a:r>
              <a:rPr lang="en-US" sz="1300" dirty="0">
                <a:solidFill>
                  <a:srgbClr val="46586B"/>
                </a:solidFill>
                <a:latin typeface="Calibri" pitchFamily="34" charset="0"/>
                <a:ea typeface="Calibri" pitchFamily="34" charset="-122"/>
                <a:cs typeface="Calibri" pitchFamily="34" charset="-120"/>
              </a:rPr>
              <a:t> Fix those, and organizations remain free to choose the products that implement each one — cloud by cloud, region by region, decade by decade.</a:t>
            </a:r>
            <a:endParaRPr lang="en-US" sz="1300" dirty="0"/>
          </a:p>
        </p:txBody>
      </p:sp>
      <p:sp>
        <p:nvSpPr>
          <p:cNvPr id="8" name="Text 5"/>
          <p:cNvSpPr/>
          <p:nvPr/>
        </p:nvSpPr>
        <p:spPr>
          <a:xfrm>
            <a:off x="566928" y="3199892"/>
            <a:ext cx="2926080" cy="201168"/>
          </a:xfrm>
          <a:prstGeom prst="rect">
            <a:avLst/>
          </a:prstGeom>
          <a:noFill/>
          <a:ln/>
        </p:spPr>
        <p:txBody>
          <a:bodyPr wrap="square" lIns="0" tIns="0" rIns="0" bIns="0" rtlCol="0" anchor="ctr"/>
          <a:lstStyle/>
          <a:p>
            <a:pPr indent="0" marL="0">
              <a:buNone/>
            </a:pPr>
            <a:r>
              <a:rPr lang="en-US" sz="850" b="1" spc="140" kern="0" dirty="0">
                <a:solidFill>
                  <a:srgbClr val="7E8C9B"/>
                </a:solidFill>
                <a:latin typeface="Consolas" pitchFamily="34" charset="0"/>
                <a:ea typeface="Consolas" pitchFamily="34" charset="-122"/>
                <a:cs typeface="Consolas" pitchFamily="34" charset="-120"/>
              </a:rPr>
              <a:t>FIXED FOR TEN YEARS</a:t>
            </a:r>
            <a:endParaRPr lang="en-US" sz="850" dirty="0"/>
          </a:p>
        </p:txBody>
      </p:sp>
      <p:sp>
        <p:nvSpPr>
          <p:cNvPr id="9" name="Text 6"/>
          <p:cNvSpPr/>
          <p:nvPr/>
        </p:nvSpPr>
        <p:spPr>
          <a:xfrm>
            <a:off x="566928" y="3437636"/>
            <a:ext cx="2926080" cy="548640"/>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Responsibilities · interfaces · evidence schema · the runtime path</a:t>
            </a:r>
            <a:endParaRPr lang="en-US" sz="1050" dirty="0"/>
          </a:p>
        </p:txBody>
      </p:sp>
      <p:sp>
        <p:nvSpPr>
          <p:cNvPr id="10" name="Text 7"/>
          <p:cNvSpPr/>
          <p:nvPr/>
        </p:nvSpPr>
        <p:spPr>
          <a:xfrm>
            <a:off x="3767328" y="3199892"/>
            <a:ext cx="2926080" cy="201168"/>
          </a:xfrm>
          <a:prstGeom prst="rect">
            <a:avLst/>
          </a:prstGeom>
          <a:noFill/>
          <a:ln/>
        </p:spPr>
        <p:txBody>
          <a:bodyPr wrap="square" lIns="0" tIns="0" rIns="0" bIns="0" rtlCol="0" anchor="ctr"/>
          <a:lstStyle/>
          <a:p>
            <a:pPr indent="0" marL="0">
              <a:buNone/>
            </a:pPr>
            <a:r>
              <a:rPr lang="en-US" sz="850" b="1" spc="140" kern="0" dirty="0">
                <a:solidFill>
                  <a:srgbClr val="7E8C9B"/>
                </a:solidFill>
                <a:latin typeface="Consolas" pitchFamily="34" charset="0"/>
                <a:ea typeface="Consolas" pitchFamily="34" charset="-122"/>
                <a:cs typeface="Consolas" pitchFamily="34" charset="-120"/>
              </a:rPr>
              <a:t>CHOSEN PER CONTEXT</a:t>
            </a:r>
            <a:endParaRPr lang="en-US" sz="850" dirty="0"/>
          </a:p>
        </p:txBody>
      </p:sp>
      <p:sp>
        <p:nvSpPr>
          <p:cNvPr id="11" name="Text 8"/>
          <p:cNvSpPr/>
          <p:nvPr/>
        </p:nvSpPr>
        <p:spPr>
          <a:xfrm>
            <a:off x="3767328" y="3437636"/>
            <a:ext cx="2926080" cy="548640"/>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Policy engine · gateway · runtime · mesh · store · model</a:t>
            </a:r>
            <a:endParaRPr lang="en-US" sz="1050" dirty="0"/>
          </a:p>
        </p:txBody>
      </p:sp>
      <p:sp>
        <p:nvSpPr>
          <p:cNvPr id="12" name="Shape 9"/>
          <p:cNvSpPr/>
          <p:nvPr/>
        </p:nvSpPr>
        <p:spPr>
          <a:xfrm>
            <a:off x="566928" y="4096004"/>
            <a:ext cx="6217920" cy="713232"/>
          </a:xfrm>
          <a:prstGeom prst="roundRect">
            <a:avLst>
              <a:gd name="adj" fmla="val 10256"/>
            </a:avLst>
          </a:prstGeom>
          <a:solidFill>
            <a:srgbClr val="E6F4F6"/>
          </a:solidFill>
          <a:ln w="12700">
            <a:solidFill>
              <a:srgbClr val="9CCED6"/>
            </a:solidFill>
            <a:prstDash val="solid"/>
          </a:ln>
        </p:spPr>
      </p:sp>
      <p:sp>
        <p:nvSpPr>
          <p:cNvPr id="13" name="Text 10"/>
          <p:cNvSpPr/>
          <p:nvPr/>
        </p:nvSpPr>
        <p:spPr>
          <a:xfrm>
            <a:off x="749808" y="4242308"/>
            <a:ext cx="5852160" cy="45720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What this buys the CIO:</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ability to change any single product in the stack without renegotiating the security posture of everything above it.</a:t>
            </a:r>
            <a:endParaRPr lang="en-US" sz="1050" dirty="0"/>
          </a:p>
        </p:txBody>
      </p:sp>
      <p:sp>
        <p:nvSpPr>
          <p:cNvPr id="14" name="Shape 11"/>
          <p:cNvSpPr/>
          <p:nvPr/>
        </p:nvSpPr>
        <p:spPr>
          <a:xfrm>
            <a:off x="7059168" y="2120900"/>
            <a:ext cx="4565599" cy="2688336"/>
          </a:xfrm>
          <a:prstGeom prst="roundRect">
            <a:avLst>
              <a:gd name="adj" fmla="val 2721"/>
            </a:avLst>
          </a:prstGeom>
          <a:solidFill>
            <a:srgbClr val="FFFFFF"/>
          </a:solidFill>
          <a:ln w="12700">
            <a:solidFill>
              <a:srgbClr val="E2E7EC"/>
            </a:solidFill>
            <a:prstDash val="solid"/>
          </a:ln>
        </p:spPr>
      </p:sp>
      <p:sp>
        <p:nvSpPr>
          <p:cNvPr id="15" name="Text 12"/>
          <p:cNvSpPr/>
          <p:nvPr/>
        </p:nvSpPr>
        <p:spPr>
          <a:xfrm>
            <a:off x="7296912" y="2303780"/>
            <a:ext cx="4206240" cy="201168"/>
          </a:xfrm>
          <a:prstGeom prst="rect">
            <a:avLst/>
          </a:prstGeom>
          <a:noFill/>
          <a:ln/>
        </p:spPr>
        <p:txBody>
          <a:bodyPr wrap="square" lIns="0" tIns="0" rIns="0" bIns="0" rtlCol="0" anchor="ctr"/>
          <a:lstStyle/>
          <a:p>
            <a:pPr indent="0" marL="0">
              <a:buNone/>
            </a:pPr>
            <a:r>
              <a:rPr lang="en-US" sz="850" b="1" spc="140" kern="0" dirty="0">
                <a:solidFill>
                  <a:srgbClr val="0B6F7D"/>
                </a:solidFill>
                <a:latin typeface="Consolas" pitchFamily="34" charset="0"/>
                <a:ea typeface="Consolas" pitchFamily="34" charset="-122"/>
                <a:cs typeface="Consolas" pitchFamily="34" charset="-120"/>
              </a:rPr>
              <a:t>WHAT THE ARCHITECTURE OPTIMIZES FOR</a:t>
            </a:r>
            <a:endParaRPr lang="en-US" sz="850" dirty="0"/>
          </a:p>
        </p:txBody>
      </p:sp>
      <p:sp>
        <p:nvSpPr>
          <p:cNvPr id="16" name="Text 13"/>
          <p:cNvSpPr/>
          <p:nvPr/>
        </p:nvSpPr>
        <p:spPr>
          <a:xfrm>
            <a:off x="7296912" y="2596388"/>
            <a:ext cx="4114800" cy="38404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Every action crosses an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explicit control boundary</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t>
            </a:r>
            <a:endParaRPr lang="en-US" sz="1050" dirty="0"/>
          </a:p>
        </p:txBody>
      </p:sp>
      <p:sp>
        <p:nvSpPr>
          <p:cNvPr id="17" name="Shape 14"/>
          <p:cNvSpPr/>
          <p:nvPr/>
        </p:nvSpPr>
        <p:spPr>
          <a:xfrm>
            <a:off x="7296912" y="2962148"/>
            <a:ext cx="4114800" cy="0"/>
          </a:xfrm>
          <a:prstGeom prst="line">
            <a:avLst/>
          </a:prstGeom>
          <a:noFill/>
          <a:ln w="9525">
            <a:solidFill>
              <a:srgbClr val="EFF2F5"/>
            </a:solidFill>
            <a:prstDash val="solid"/>
          </a:ln>
        </p:spPr>
      </p:sp>
      <p:sp>
        <p:nvSpPr>
          <p:cNvPr id="18" name="Text 15"/>
          <p:cNvSpPr/>
          <p:nvPr/>
        </p:nvSpPr>
        <p:spPr>
          <a:xfrm>
            <a:off x="7296912" y="3026156"/>
            <a:ext cx="4114800" cy="38404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Permissions can narrow through delegation but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never silently widen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t>
            </a:r>
            <a:endParaRPr lang="en-US" sz="1050" dirty="0"/>
          </a:p>
        </p:txBody>
      </p:sp>
      <p:sp>
        <p:nvSpPr>
          <p:cNvPr id="19" name="Shape 16"/>
          <p:cNvSpPr/>
          <p:nvPr/>
        </p:nvSpPr>
        <p:spPr>
          <a:xfrm>
            <a:off x="7296912" y="3391916"/>
            <a:ext cx="4114800" cy="0"/>
          </a:xfrm>
          <a:prstGeom prst="line">
            <a:avLst/>
          </a:prstGeom>
          <a:noFill/>
          <a:ln w="9525">
            <a:solidFill>
              <a:srgbClr val="EFF2F5"/>
            </a:solidFill>
            <a:prstDash val="solid"/>
          </a:ln>
        </p:spPr>
      </p:sp>
      <p:sp>
        <p:nvSpPr>
          <p:cNvPr id="20" name="Text 17"/>
          <p:cNvSpPr/>
          <p:nvPr/>
        </p:nvSpPr>
        <p:spPr>
          <a:xfrm>
            <a:off x="7296912" y="3455924"/>
            <a:ext cx="4114800" cy="38404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Services are discovered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by capability and policy context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not hard-coded endpoints alone.</a:t>
            </a:r>
            <a:endParaRPr lang="en-US" sz="1050" dirty="0"/>
          </a:p>
        </p:txBody>
      </p:sp>
      <p:sp>
        <p:nvSpPr>
          <p:cNvPr id="21" name="Shape 18"/>
          <p:cNvSpPr/>
          <p:nvPr/>
        </p:nvSpPr>
        <p:spPr>
          <a:xfrm>
            <a:off x="7296912" y="3821684"/>
            <a:ext cx="4114800" cy="0"/>
          </a:xfrm>
          <a:prstGeom prst="line">
            <a:avLst/>
          </a:prstGeom>
          <a:noFill/>
          <a:ln w="9525">
            <a:solidFill>
              <a:srgbClr val="EFF2F5"/>
            </a:solidFill>
            <a:prstDash val="solid"/>
          </a:ln>
        </p:spPr>
      </p:sp>
      <p:sp>
        <p:nvSpPr>
          <p:cNvPr id="22" name="Text 19"/>
          <p:cNvSpPr/>
          <p:nvPr/>
        </p:nvSpPr>
        <p:spPr>
          <a:xfrm>
            <a:off x="7296912" y="3885692"/>
            <a:ext cx="4114800" cy="38404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Operations hold health, version, ownership, evidence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and an off switch</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in one place.</a:t>
            </a:r>
            <a:endParaRPr lang="en-US" sz="1050" dirty="0"/>
          </a:p>
        </p:txBody>
      </p:sp>
      <p:sp>
        <p:nvSpPr>
          <p:cNvPr id="23" name="Shape 20"/>
          <p:cNvSpPr/>
          <p:nvPr/>
        </p:nvSpPr>
        <p:spPr>
          <a:xfrm>
            <a:off x="7296912" y="4251452"/>
            <a:ext cx="4114800" cy="0"/>
          </a:xfrm>
          <a:prstGeom prst="line">
            <a:avLst/>
          </a:prstGeom>
          <a:noFill/>
          <a:ln w="9525">
            <a:solidFill>
              <a:srgbClr val="EFF2F5"/>
            </a:solidFill>
            <a:prstDash val="solid"/>
          </a:ln>
        </p:spPr>
      </p:sp>
      <p:sp>
        <p:nvSpPr>
          <p:cNvPr id="24" name="Text 21"/>
          <p:cNvSpPr/>
          <p:nvPr/>
        </p:nvSpPr>
        <p:spPr>
          <a:xfrm>
            <a:off x="7296912" y="4315460"/>
            <a:ext cx="4114800" cy="38404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Existing enterprise investments are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reused wherever they satisfy the responsibility</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t>
            </a:r>
            <a:endParaRPr lang="en-US" sz="1050" dirty="0"/>
          </a:p>
        </p:txBody>
      </p:sp>
      <p:sp>
        <p:nvSpPr>
          <p:cNvPr id="25" name="Shape 22"/>
          <p:cNvSpPr/>
          <p:nvPr/>
        </p:nvSpPr>
        <p:spPr>
          <a:xfrm>
            <a:off x="566928" y="6382512"/>
            <a:ext cx="11057839" cy="0"/>
          </a:xfrm>
          <a:prstGeom prst="line">
            <a:avLst/>
          </a:prstGeom>
          <a:noFill/>
          <a:ln w="9525">
            <a:solidFill>
              <a:srgbClr val="E2E7EC"/>
            </a:solidFill>
            <a:prstDash val="solid"/>
          </a:ln>
        </p:spPr>
      </p:sp>
      <p:sp>
        <p:nvSpPr>
          <p:cNvPr id="26" name="Text 2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7" name="Text 2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72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5FD8E6"/>
                </a:solidFill>
                <a:latin typeface="Consolas" pitchFamily="34" charset="0"/>
                <a:ea typeface="Consolas" pitchFamily="34" charset="-122"/>
                <a:cs typeface="Consolas" pitchFamily="34" charset="-120"/>
              </a:rPr>
              <a:t>01</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5FD8E6"/>
                </a:solidFill>
                <a:latin typeface="Consolas" pitchFamily="34" charset="0"/>
                <a:ea typeface="Consolas" pitchFamily="34" charset="-122"/>
                <a:cs typeface="Consolas" pitchFamily="34" charset="-120"/>
              </a:rPr>
              <a:t>THE CASE · THE COMMITMENT</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What we are asking you to believe for twelve weeks.</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C7D6E2"/>
                </a:solidFill>
                <a:latin typeface="Calibri" pitchFamily="34" charset="0"/>
                <a:ea typeface="Calibri" pitchFamily="34" charset="-122"/>
                <a:cs typeface="Calibri" pitchFamily="34" charset="-120"/>
              </a:rPr>
              <a:t>Stated so that it can fail. Every one of these six is instrumented, and the instrumentation is yours to keep whatever the outcome.</a:t>
            </a:r>
            <a:endParaRPr lang="en-US" sz="1250" dirty="0"/>
          </a:p>
        </p:txBody>
      </p:sp>
      <p:sp>
        <p:nvSpPr>
          <p:cNvPr id="7" name="Text 4"/>
          <p:cNvSpPr/>
          <p:nvPr/>
        </p:nvSpPr>
        <p:spPr>
          <a:xfrm>
            <a:off x="566928" y="1828800"/>
            <a:ext cx="1060704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In twelve weeks we will place </a:t>
            </a:r>
            <a:pPr indent="0" marL="0">
              <a:buNone/>
            </a:pPr>
            <a:r>
              <a:rPr lang="en-US" sz="1500" b="1" dirty="0">
                <a:solidFill>
                  <a:srgbClr val="5FD8E6"/>
                </a:solidFill>
                <a:latin typeface="Calibri" pitchFamily="34" charset="0"/>
                <a:ea typeface="Calibri" pitchFamily="34" charset="-122"/>
                <a:cs typeface="Calibri" pitchFamily="34" charset="-120"/>
              </a:rPr>
              <a:t>one consequential action</a:t>
            </a:r>
            <a:pPr indent="0" marL="0">
              <a:buNone/>
            </a:pPr>
            <a:r>
              <a:rPr lang="en-US" sz="1500" dirty="0">
                <a:solidFill>
                  <a:srgbClr val="FFFFFF"/>
                </a:solidFill>
                <a:latin typeface="Calibri" pitchFamily="34" charset="0"/>
                <a:ea typeface="Calibri" pitchFamily="34" charset="-122"/>
                <a:cs typeface="Calibri" pitchFamily="34" charset="-120"/>
              </a:rPr>
              <a:t> behind an explicit control boundary and demonstrate six properties on it.</a:t>
            </a:r>
            <a:endParaRPr lang="en-US" sz="1500" dirty="0"/>
          </a:p>
        </p:txBody>
      </p:sp>
      <p:sp>
        <p:nvSpPr>
          <p:cNvPr id="8" name="Shape 5"/>
          <p:cNvSpPr/>
          <p:nvPr/>
        </p:nvSpPr>
        <p:spPr>
          <a:xfrm>
            <a:off x="566928" y="2340864"/>
            <a:ext cx="3588410" cy="969264"/>
          </a:xfrm>
          <a:prstGeom prst="roundRect">
            <a:avLst>
              <a:gd name="adj" fmla="val 7547"/>
            </a:avLst>
          </a:prstGeom>
          <a:solidFill>
            <a:srgbClr val="0E2437"/>
          </a:solidFill>
          <a:ln w="12700">
            <a:solidFill>
              <a:srgbClr val="1E3A52"/>
            </a:solidFill>
            <a:prstDash val="solid"/>
          </a:ln>
        </p:spPr>
      </p:sp>
      <p:sp>
        <p:nvSpPr>
          <p:cNvPr id="9" name="Text 6"/>
          <p:cNvSpPr/>
          <p:nvPr/>
        </p:nvSpPr>
        <p:spPr>
          <a:xfrm>
            <a:off x="731520" y="2487168"/>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01</a:t>
            </a:r>
            <a:endParaRPr lang="en-US" sz="800" dirty="0"/>
          </a:p>
        </p:txBody>
      </p:sp>
      <p:sp>
        <p:nvSpPr>
          <p:cNvPr id="10" name="Text 7"/>
          <p:cNvSpPr/>
          <p:nvPr/>
        </p:nvSpPr>
        <p:spPr>
          <a:xfrm>
            <a:off x="731520" y="2706624"/>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Attribution</a:t>
            </a:r>
            <a:endParaRPr lang="en-US" sz="1300" dirty="0"/>
          </a:p>
        </p:txBody>
      </p:sp>
      <p:sp>
        <p:nvSpPr>
          <p:cNvPr id="11" name="Text 8"/>
          <p:cNvSpPr/>
          <p:nvPr/>
        </p:nvSpPr>
        <p:spPr>
          <a:xfrm>
            <a:off x="731520" y="2962656"/>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Every action traces to a human, a workload and a decision.</a:t>
            </a:r>
            <a:endParaRPr lang="en-US" sz="950" dirty="0"/>
          </a:p>
        </p:txBody>
      </p:sp>
      <p:sp>
        <p:nvSpPr>
          <p:cNvPr id="12" name="Shape 9"/>
          <p:cNvSpPr/>
          <p:nvPr/>
        </p:nvSpPr>
        <p:spPr>
          <a:xfrm>
            <a:off x="4301642" y="2340864"/>
            <a:ext cx="3588410" cy="969264"/>
          </a:xfrm>
          <a:prstGeom prst="roundRect">
            <a:avLst>
              <a:gd name="adj" fmla="val 7547"/>
            </a:avLst>
          </a:prstGeom>
          <a:solidFill>
            <a:srgbClr val="0E2437"/>
          </a:solidFill>
          <a:ln w="12700">
            <a:solidFill>
              <a:srgbClr val="1E3A52"/>
            </a:solidFill>
            <a:prstDash val="solid"/>
          </a:ln>
        </p:spPr>
      </p:sp>
      <p:sp>
        <p:nvSpPr>
          <p:cNvPr id="13" name="Text 10"/>
          <p:cNvSpPr/>
          <p:nvPr/>
        </p:nvSpPr>
        <p:spPr>
          <a:xfrm>
            <a:off x="4466234" y="2487168"/>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02</a:t>
            </a:r>
            <a:endParaRPr lang="en-US" sz="800" dirty="0"/>
          </a:p>
        </p:txBody>
      </p:sp>
      <p:sp>
        <p:nvSpPr>
          <p:cNvPr id="14" name="Text 11"/>
          <p:cNvSpPr/>
          <p:nvPr/>
        </p:nvSpPr>
        <p:spPr>
          <a:xfrm>
            <a:off x="4466234" y="2706624"/>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Attenuation</a:t>
            </a:r>
            <a:endParaRPr lang="en-US" sz="1300" dirty="0"/>
          </a:p>
        </p:txBody>
      </p:sp>
      <p:sp>
        <p:nvSpPr>
          <p:cNvPr id="15" name="Text 12"/>
          <p:cNvSpPr/>
          <p:nvPr/>
        </p:nvSpPr>
        <p:spPr>
          <a:xfrm>
            <a:off x="4466234" y="2962656"/>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Delegated authority narrows; it never widens.</a:t>
            </a:r>
            <a:endParaRPr lang="en-US" sz="950" dirty="0"/>
          </a:p>
        </p:txBody>
      </p:sp>
      <p:sp>
        <p:nvSpPr>
          <p:cNvPr id="16" name="Shape 13"/>
          <p:cNvSpPr/>
          <p:nvPr/>
        </p:nvSpPr>
        <p:spPr>
          <a:xfrm>
            <a:off x="8036357" y="2340864"/>
            <a:ext cx="3588410" cy="969264"/>
          </a:xfrm>
          <a:prstGeom prst="roundRect">
            <a:avLst>
              <a:gd name="adj" fmla="val 7547"/>
            </a:avLst>
          </a:prstGeom>
          <a:solidFill>
            <a:srgbClr val="0E2437"/>
          </a:solidFill>
          <a:ln w="12700">
            <a:solidFill>
              <a:srgbClr val="1E3A52"/>
            </a:solidFill>
            <a:prstDash val="solid"/>
          </a:ln>
        </p:spPr>
      </p:sp>
      <p:sp>
        <p:nvSpPr>
          <p:cNvPr id="17" name="Text 14"/>
          <p:cNvSpPr/>
          <p:nvPr/>
        </p:nvSpPr>
        <p:spPr>
          <a:xfrm>
            <a:off x="8200949" y="2487168"/>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03</a:t>
            </a:r>
            <a:endParaRPr lang="en-US" sz="800" dirty="0"/>
          </a:p>
        </p:txBody>
      </p:sp>
      <p:sp>
        <p:nvSpPr>
          <p:cNvPr id="18" name="Text 15"/>
          <p:cNvSpPr/>
          <p:nvPr/>
        </p:nvSpPr>
        <p:spPr>
          <a:xfrm>
            <a:off x="8200949" y="2706624"/>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Revocation</a:t>
            </a:r>
            <a:endParaRPr lang="en-US" sz="1300" dirty="0"/>
          </a:p>
        </p:txBody>
      </p:sp>
      <p:sp>
        <p:nvSpPr>
          <p:cNvPr id="19" name="Text 16"/>
          <p:cNvSpPr/>
          <p:nvPr/>
        </p:nvSpPr>
        <p:spPr>
          <a:xfrm>
            <a:off x="8200949" y="2962656"/>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Authority can be withdrawn inside a bounded, measured window.</a:t>
            </a:r>
            <a:endParaRPr lang="en-US" sz="950" dirty="0"/>
          </a:p>
        </p:txBody>
      </p:sp>
      <p:sp>
        <p:nvSpPr>
          <p:cNvPr id="20" name="Shape 17"/>
          <p:cNvSpPr/>
          <p:nvPr/>
        </p:nvSpPr>
        <p:spPr>
          <a:xfrm>
            <a:off x="566928" y="3474720"/>
            <a:ext cx="3588410" cy="969264"/>
          </a:xfrm>
          <a:prstGeom prst="roundRect">
            <a:avLst>
              <a:gd name="adj" fmla="val 7547"/>
            </a:avLst>
          </a:prstGeom>
          <a:solidFill>
            <a:srgbClr val="0E2437"/>
          </a:solidFill>
          <a:ln w="12700">
            <a:solidFill>
              <a:srgbClr val="1E3A52"/>
            </a:solidFill>
            <a:prstDash val="solid"/>
          </a:ln>
        </p:spPr>
      </p:sp>
      <p:sp>
        <p:nvSpPr>
          <p:cNvPr id="21" name="Text 18"/>
          <p:cNvSpPr/>
          <p:nvPr/>
        </p:nvSpPr>
        <p:spPr>
          <a:xfrm>
            <a:off x="731520" y="3621024"/>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04</a:t>
            </a:r>
            <a:endParaRPr lang="en-US" sz="800" dirty="0"/>
          </a:p>
        </p:txBody>
      </p:sp>
      <p:sp>
        <p:nvSpPr>
          <p:cNvPr id="22" name="Text 19"/>
          <p:cNvSpPr/>
          <p:nvPr/>
        </p:nvSpPr>
        <p:spPr>
          <a:xfrm>
            <a:off x="731520" y="3840480"/>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Containment</a:t>
            </a:r>
            <a:endParaRPr lang="en-US" sz="1300" dirty="0"/>
          </a:p>
        </p:txBody>
      </p:sp>
      <p:sp>
        <p:nvSpPr>
          <p:cNvPr id="23" name="Text 20"/>
          <p:cNvSpPr/>
          <p:nvPr/>
        </p:nvSpPr>
        <p:spPr>
          <a:xfrm>
            <a:off x="731520" y="4096512"/>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The blast radius of a wrong action is bounded by construction.</a:t>
            </a:r>
            <a:endParaRPr lang="en-US" sz="950" dirty="0"/>
          </a:p>
        </p:txBody>
      </p:sp>
      <p:sp>
        <p:nvSpPr>
          <p:cNvPr id="24" name="Shape 21"/>
          <p:cNvSpPr/>
          <p:nvPr/>
        </p:nvSpPr>
        <p:spPr>
          <a:xfrm>
            <a:off x="4301642" y="3474720"/>
            <a:ext cx="3588410" cy="969264"/>
          </a:xfrm>
          <a:prstGeom prst="roundRect">
            <a:avLst>
              <a:gd name="adj" fmla="val 7547"/>
            </a:avLst>
          </a:prstGeom>
          <a:solidFill>
            <a:srgbClr val="0E2437"/>
          </a:solidFill>
          <a:ln w="12700">
            <a:solidFill>
              <a:srgbClr val="1E3A52"/>
            </a:solidFill>
            <a:prstDash val="solid"/>
          </a:ln>
        </p:spPr>
      </p:sp>
      <p:sp>
        <p:nvSpPr>
          <p:cNvPr id="25" name="Text 22"/>
          <p:cNvSpPr/>
          <p:nvPr/>
        </p:nvSpPr>
        <p:spPr>
          <a:xfrm>
            <a:off x="4466234" y="3621024"/>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05</a:t>
            </a:r>
            <a:endParaRPr lang="en-US" sz="800" dirty="0"/>
          </a:p>
        </p:txBody>
      </p:sp>
      <p:sp>
        <p:nvSpPr>
          <p:cNvPr id="26" name="Text 23"/>
          <p:cNvSpPr/>
          <p:nvPr/>
        </p:nvSpPr>
        <p:spPr>
          <a:xfrm>
            <a:off x="4466234" y="3840480"/>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p>
        </p:txBody>
      </p:sp>
      <p:sp>
        <p:nvSpPr>
          <p:cNvPr id="27" name="Text 24"/>
          <p:cNvSpPr/>
          <p:nvPr/>
        </p:nvSpPr>
        <p:spPr>
          <a:xfrm>
            <a:off x="4466234" y="4096512"/>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One correlated record answers an auditor without a human narrator.</a:t>
            </a:r>
            <a:endParaRPr lang="en-US" sz="950" dirty="0"/>
          </a:p>
        </p:txBody>
      </p:sp>
      <p:sp>
        <p:nvSpPr>
          <p:cNvPr id="28" name="Shape 25"/>
          <p:cNvSpPr/>
          <p:nvPr/>
        </p:nvSpPr>
        <p:spPr>
          <a:xfrm>
            <a:off x="8036357" y="3474720"/>
            <a:ext cx="3588410" cy="969264"/>
          </a:xfrm>
          <a:prstGeom prst="roundRect">
            <a:avLst>
              <a:gd name="adj" fmla="val 7547"/>
            </a:avLst>
          </a:prstGeom>
          <a:solidFill>
            <a:srgbClr val="0E2437"/>
          </a:solidFill>
          <a:ln w="12700">
            <a:solidFill>
              <a:srgbClr val="1E3A52"/>
            </a:solidFill>
            <a:prstDash val="solid"/>
          </a:ln>
        </p:spPr>
      </p:sp>
      <p:sp>
        <p:nvSpPr>
          <p:cNvPr id="29" name="Text 26"/>
          <p:cNvSpPr/>
          <p:nvPr/>
        </p:nvSpPr>
        <p:spPr>
          <a:xfrm>
            <a:off x="8200949" y="3621024"/>
            <a:ext cx="3259226" cy="182880"/>
          </a:xfrm>
          <a:prstGeom prst="rect">
            <a:avLst/>
          </a:prstGeom>
          <a:noFill/>
          <a:ln/>
        </p:spPr>
        <p:txBody>
          <a:bodyPr wrap="square" lIns="0" tIns="0" rIns="0" bIns="0" rtlCol="0" anchor="ctr"/>
          <a:lstStyle/>
          <a:p>
            <a:pPr indent="0" marL="0">
              <a:buNone/>
            </a:pPr>
            <a:r>
              <a:rPr lang="en-US" sz="800" b="1" spc="140" kern="0" dirty="0">
                <a:solidFill>
                  <a:srgbClr val="5FD8E6"/>
                </a:solidFill>
                <a:latin typeface="Consolas" pitchFamily="34" charset="0"/>
                <a:ea typeface="Consolas" pitchFamily="34" charset="-122"/>
                <a:cs typeface="Consolas" pitchFamily="34" charset="-120"/>
              </a:rPr>
              <a:t>PROPERTY 06</a:t>
            </a:r>
            <a:endParaRPr lang="en-US" sz="800" dirty="0"/>
          </a:p>
        </p:txBody>
      </p:sp>
      <p:sp>
        <p:nvSpPr>
          <p:cNvPr id="30" name="Text 27"/>
          <p:cNvSpPr/>
          <p:nvPr/>
        </p:nvSpPr>
        <p:spPr>
          <a:xfrm>
            <a:off x="8200949" y="3840480"/>
            <a:ext cx="3259226"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Bypass-resistance</a:t>
            </a:r>
            <a:endParaRPr lang="en-US" sz="1300" dirty="0"/>
          </a:p>
        </p:txBody>
      </p:sp>
      <p:sp>
        <p:nvSpPr>
          <p:cNvPr id="31" name="Text 28"/>
          <p:cNvSpPr/>
          <p:nvPr/>
        </p:nvSpPr>
        <p:spPr>
          <a:xfrm>
            <a:off x="8200949" y="4096512"/>
            <a:ext cx="3259226" cy="310896"/>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The registered path cannot be routed around at the resource.</a:t>
            </a:r>
            <a:endParaRPr lang="en-US" sz="950" dirty="0"/>
          </a:p>
        </p:txBody>
      </p:sp>
      <p:sp>
        <p:nvSpPr>
          <p:cNvPr id="32" name="Shape 29"/>
          <p:cNvSpPr/>
          <p:nvPr/>
        </p:nvSpPr>
        <p:spPr>
          <a:xfrm>
            <a:off x="566928" y="4754880"/>
            <a:ext cx="11057839" cy="713232"/>
          </a:xfrm>
          <a:prstGeom prst="roundRect">
            <a:avLst>
              <a:gd name="adj" fmla="val 10256"/>
            </a:avLst>
          </a:prstGeom>
          <a:solidFill>
            <a:srgbClr val="2A2413"/>
          </a:solidFill>
          <a:ln w="12700">
            <a:solidFill>
              <a:srgbClr val="6B5624"/>
            </a:solidFill>
            <a:prstDash val="solid"/>
          </a:ln>
        </p:spPr>
      </p:sp>
      <p:sp>
        <p:nvSpPr>
          <p:cNvPr id="33" name="Text 30"/>
          <p:cNvSpPr/>
          <p:nvPr/>
        </p:nvSpPr>
        <p:spPr>
          <a:xfrm>
            <a:off x="749808" y="4919472"/>
            <a:ext cx="10692079" cy="420624"/>
          </a:xfrm>
          <a:prstGeom prst="rect">
            <a:avLst/>
          </a:prstGeom>
          <a:noFill/>
          <a:ln/>
        </p:spPr>
        <p:txBody>
          <a:bodyPr wrap="square" lIns="0" tIns="0" rIns="0" bIns="0" rtlCol="0" anchor="t"/>
          <a:lstStyle/>
          <a:p>
            <a:pPr indent="0" marL="0">
              <a:lnSpc>
                <a:spcPct val="110000"/>
              </a:lnSpc>
              <a:buNone/>
            </a:pPr>
            <a:r>
              <a:rPr lang="en-US" sz="1150" b="1" dirty="0">
                <a:solidFill>
                  <a:srgbClr val="F5C451"/>
                </a:solidFill>
                <a:latin typeface="Calibri" pitchFamily="34" charset="0"/>
                <a:ea typeface="Calibri" pitchFamily="34" charset="-122"/>
                <a:cs typeface="Calibri" pitchFamily="34" charset="-120"/>
              </a:rPr>
              <a:t>And the counter-commitment: </a:t>
            </a:r>
            <a:pPr indent="0" marL="0">
              <a:lnSpc>
                <a:spcPct val="110000"/>
              </a:lnSpc>
              <a:buNone/>
            </a:pPr>
            <a:r>
              <a:rPr lang="en-US" sz="1150" dirty="0">
                <a:solidFill>
                  <a:srgbClr val="C7D6E2"/>
                </a:solidFill>
                <a:latin typeface="Calibri" pitchFamily="34" charset="0"/>
                <a:ea typeface="Calibri" pitchFamily="34" charset="-122"/>
                <a:cs typeface="Calibri" pitchFamily="34" charset="-120"/>
              </a:rPr>
              <a:t>if any one of the six fails to hold, the architecture is wrong for [CLIENT] and you should not scale it. We will say so ourselves, in week ten, in writing.</a:t>
            </a:r>
            <a:endParaRPr lang="en-US" sz="1150" dirty="0"/>
          </a:p>
        </p:txBody>
      </p:sp>
      <p:sp>
        <p:nvSpPr>
          <p:cNvPr id="34" name="Shape 31"/>
          <p:cNvSpPr/>
          <p:nvPr/>
        </p:nvSpPr>
        <p:spPr>
          <a:xfrm>
            <a:off x="566928" y="6382512"/>
            <a:ext cx="11057839" cy="0"/>
          </a:xfrm>
          <a:prstGeom prst="line">
            <a:avLst/>
          </a:prstGeom>
          <a:noFill/>
          <a:ln w="9525">
            <a:solidFill>
              <a:srgbClr val="20364C"/>
            </a:solidFill>
            <a:prstDash val="solid"/>
          </a:ln>
        </p:spPr>
      </p:sp>
      <p:sp>
        <p:nvSpPr>
          <p:cNvPr id="35" name="Text 32"/>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36" name="Text 33"/>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EXECUTIVE VIEW</a:t>
            </a:r>
            <a:endParaRPr lang="en-US" sz="1000" dirty="0"/>
          </a:p>
        </p:txBody>
      </p:sp>
      <p:sp>
        <p:nvSpPr>
          <p:cNvPr id="5" name="Text 2"/>
          <p:cNvSpPr/>
          <p:nvPr/>
        </p:nvSpPr>
        <p:spPr>
          <a:xfrm>
            <a:off x="1389888" y="621792"/>
            <a:ext cx="10234879" cy="432054"/>
          </a:xfrm>
          <a:prstGeom prst="rect">
            <a:avLst/>
          </a:prstGeom>
          <a:noFill/>
          <a:ln/>
        </p:spPr>
        <p:txBody>
          <a:bodyPr wrap="square" lIns="0" tIns="0" rIns="0" bIns="0" rtlCol="0" anchor="t"/>
          <a:lstStyle/>
          <a:p>
            <a:pPr indent="0" marL="0">
              <a:buNone/>
            </a:pPr>
            <a:r>
              <a:rPr lang="en-US" sz="2700" b="1" dirty="0">
                <a:solidFill>
                  <a:srgbClr val="0B1622"/>
                </a:solidFill>
                <a:latin typeface="Calibri" pitchFamily="34" charset="0"/>
                <a:ea typeface="Calibri" pitchFamily="34" charset="-122"/>
                <a:cs typeface="Calibri" pitchFamily="34" charset="-120"/>
              </a:rPr>
              <a:t>Six responsibility planes, one crossing fabric.</a:t>
            </a:r>
            <a:endParaRPr lang="en-US" sz="2700" dirty="0"/>
          </a:p>
        </p:txBody>
      </p:sp>
      <p:sp>
        <p:nvSpPr>
          <p:cNvPr id="6" name="Text 3"/>
          <p:cNvSpPr/>
          <p:nvPr/>
        </p:nvSpPr>
        <p:spPr>
          <a:xfrm>
            <a:off x="1389888" y="110871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Responsibilities are fixed. Product selections are contextual. The control plane is the only genuinely new layer — the knowledge plane is the destination, and is deliberately out of scope for this proof of concept.</a:t>
            </a:r>
            <a:endParaRPr lang="en-US" sz="1250" dirty="0"/>
          </a:p>
        </p:txBody>
      </p:sp>
      <p:sp>
        <p:nvSpPr>
          <p:cNvPr id="7" name="Shape 4"/>
          <p:cNvSpPr/>
          <p:nvPr/>
        </p:nvSpPr>
        <p:spPr>
          <a:xfrm>
            <a:off x="566928" y="1659890"/>
            <a:ext cx="1874520" cy="566928"/>
          </a:xfrm>
          <a:prstGeom prst="roundRect">
            <a:avLst>
              <a:gd name="adj" fmla="val 12903"/>
            </a:avLst>
          </a:prstGeom>
          <a:solidFill>
            <a:srgbClr val="256ABF"/>
          </a:solidFill>
          <a:ln w="12700">
            <a:solidFill>
              <a:srgbClr val="256ABF"/>
            </a:solidFill>
            <a:prstDash val="solid"/>
          </a:ln>
        </p:spPr>
      </p:sp>
      <p:sp>
        <p:nvSpPr>
          <p:cNvPr id="8" name="Text 5"/>
          <p:cNvSpPr/>
          <p:nvPr/>
        </p:nvSpPr>
        <p:spPr>
          <a:xfrm>
            <a:off x="676656" y="1723898"/>
            <a:ext cx="1655064"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Experience &amp; Business</a:t>
            </a:r>
            <a:endParaRPr lang="en-US" sz="1050" dirty="0"/>
          </a:p>
        </p:txBody>
      </p:sp>
      <p:sp>
        <p:nvSpPr>
          <p:cNvPr id="9" name="Text 6"/>
          <p:cNvSpPr/>
          <p:nvPr/>
        </p:nvSpPr>
        <p:spPr>
          <a:xfrm>
            <a:off x="676656" y="1915922"/>
            <a:ext cx="1655064" cy="219456"/>
          </a:xfrm>
          <a:prstGeom prst="rect">
            <a:avLst/>
          </a:prstGeom>
          <a:noFill/>
          <a:ln/>
        </p:spPr>
        <p:txBody>
          <a:bodyPr wrap="square" lIns="0" tIns="0" rIns="0" bIns="0" rtlCol="0" anchor="t"/>
          <a:lstStyle/>
          <a:p>
            <a:pPr indent="0" marL="0">
              <a:buNone/>
            </a:pPr>
            <a:r>
              <a:rPr lang="en-US" sz="780" dirty="0">
                <a:solidFill>
                  <a:srgbClr val="D6E4EE"/>
                </a:solidFill>
                <a:latin typeface="Calibri" pitchFamily="34" charset="0"/>
                <a:ea typeface="Calibri" pitchFamily="34" charset="-122"/>
                <a:cs typeface="Calibri" pitchFamily="34" charset="-120"/>
              </a:rPr>
              <a:t>How people and agents express intent</a:t>
            </a:r>
            <a:endParaRPr lang="en-US" sz="780" dirty="0"/>
          </a:p>
        </p:txBody>
      </p:sp>
      <p:sp>
        <p:nvSpPr>
          <p:cNvPr id="10" name="Shape 7"/>
          <p:cNvSpPr/>
          <p:nvPr/>
        </p:nvSpPr>
        <p:spPr>
          <a:xfrm>
            <a:off x="2514600" y="1659890"/>
            <a:ext cx="1763512" cy="566928"/>
          </a:xfrm>
          <a:prstGeom prst="roundRect">
            <a:avLst>
              <a:gd name="adj" fmla="val 12903"/>
            </a:avLst>
          </a:prstGeom>
          <a:solidFill>
            <a:srgbClr val="FFFFFF"/>
          </a:solidFill>
          <a:ln w="12700">
            <a:solidFill>
              <a:srgbClr val="E2E7EC"/>
            </a:solidFill>
            <a:prstDash val="solid"/>
          </a:ln>
        </p:spPr>
      </p:sp>
      <p:sp>
        <p:nvSpPr>
          <p:cNvPr id="11" name="Text 8"/>
          <p:cNvSpPr/>
          <p:nvPr/>
        </p:nvSpPr>
        <p:spPr>
          <a:xfrm>
            <a:off x="2596896" y="17238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Human interfaces</a:t>
            </a:r>
            <a:endParaRPr lang="en-US" sz="900" dirty="0"/>
          </a:p>
        </p:txBody>
      </p:sp>
      <p:sp>
        <p:nvSpPr>
          <p:cNvPr id="12" name="Text 9"/>
          <p:cNvSpPr/>
          <p:nvPr/>
        </p:nvSpPr>
        <p:spPr>
          <a:xfrm>
            <a:off x="2596896" y="19067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Portals, copilots, approvals</a:t>
            </a:r>
            <a:endParaRPr lang="en-US" sz="740" dirty="0"/>
          </a:p>
        </p:txBody>
      </p:sp>
      <p:sp>
        <p:nvSpPr>
          <p:cNvPr id="13" name="Shape 10"/>
          <p:cNvSpPr/>
          <p:nvPr/>
        </p:nvSpPr>
        <p:spPr>
          <a:xfrm>
            <a:off x="4351264" y="1659890"/>
            <a:ext cx="1763512" cy="566928"/>
          </a:xfrm>
          <a:prstGeom prst="roundRect">
            <a:avLst>
              <a:gd name="adj" fmla="val 12903"/>
            </a:avLst>
          </a:prstGeom>
          <a:solidFill>
            <a:srgbClr val="FFFFFF"/>
          </a:solidFill>
          <a:ln w="12700">
            <a:solidFill>
              <a:srgbClr val="E2E7EC"/>
            </a:solidFill>
            <a:prstDash val="solid"/>
          </a:ln>
        </p:spPr>
      </p:sp>
      <p:sp>
        <p:nvSpPr>
          <p:cNvPr id="14" name="Text 11"/>
          <p:cNvSpPr/>
          <p:nvPr/>
        </p:nvSpPr>
        <p:spPr>
          <a:xfrm>
            <a:off x="4433560" y="17238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Agent orchestrators</a:t>
            </a:r>
            <a:endParaRPr lang="en-US" sz="900" dirty="0"/>
          </a:p>
        </p:txBody>
      </p:sp>
      <p:sp>
        <p:nvSpPr>
          <p:cNvPr id="15" name="Text 12"/>
          <p:cNvSpPr/>
          <p:nvPr/>
        </p:nvSpPr>
        <p:spPr>
          <a:xfrm>
            <a:off x="4433560" y="19067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Planning, delegation</a:t>
            </a:r>
            <a:endParaRPr lang="en-US" sz="740" dirty="0"/>
          </a:p>
        </p:txBody>
      </p:sp>
      <p:sp>
        <p:nvSpPr>
          <p:cNvPr id="16" name="Shape 13"/>
          <p:cNvSpPr/>
          <p:nvPr/>
        </p:nvSpPr>
        <p:spPr>
          <a:xfrm>
            <a:off x="6187928" y="1659890"/>
            <a:ext cx="1763512" cy="566928"/>
          </a:xfrm>
          <a:prstGeom prst="roundRect">
            <a:avLst>
              <a:gd name="adj" fmla="val 12903"/>
            </a:avLst>
          </a:prstGeom>
          <a:solidFill>
            <a:srgbClr val="FFFFFF"/>
          </a:solidFill>
          <a:ln w="12700">
            <a:solidFill>
              <a:srgbClr val="E2E7EC"/>
            </a:solidFill>
            <a:prstDash val="solid"/>
          </a:ln>
        </p:spPr>
      </p:sp>
      <p:sp>
        <p:nvSpPr>
          <p:cNvPr id="17" name="Text 14"/>
          <p:cNvSpPr/>
          <p:nvPr/>
        </p:nvSpPr>
        <p:spPr>
          <a:xfrm>
            <a:off x="6270224" y="17238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Business workflows</a:t>
            </a:r>
            <a:endParaRPr lang="en-US" sz="900" dirty="0"/>
          </a:p>
        </p:txBody>
      </p:sp>
      <p:sp>
        <p:nvSpPr>
          <p:cNvPr id="18" name="Text 15"/>
          <p:cNvSpPr/>
          <p:nvPr/>
        </p:nvSpPr>
        <p:spPr>
          <a:xfrm>
            <a:off x="6270224" y="19067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Durable, deterministic process</a:t>
            </a:r>
            <a:endParaRPr lang="en-US" sz="740" dirty="0"/>
          </a:p>
        </p:txBody>
      </p:sp>
      <p:sp>
        <p:nvSpPr>
          <p:cNvPr id="19" name="Shape 16"/>
          <p:cNvSpPr/>
          <p:nvPr/>
        </p:nvSpPr>
        <p:spPr>
          <a:xfrm>
            <a:off x="8024592" y="1659890"/>
            <a:ext cx="1763512" cy="566928"/>
          </a:xfrm>
          <a:prstGeom prst="roundRect">
            <a:avLst>
              <a:gd name="adj" fmla="val 12903"/>
            </a:avLst>
          </a:prstGeom>
          <a:solidFill>
            <a:srgbClr val="FFFFFF"/>
          </a:solidFill>
          <a:ln w="12700">
            <a:solidFill>
              <a:srgbClr val="E2E7EC"/>
            </a:solidFill>
            <a:prstDash val="solid"/>
          </a:ln>
        </p:spPr>
      </p:sp>
      <p:sp>
        <p:nvSpPr>
          <p:cNvPr id="20" name="Text 17"/>
          <p:cNvSpPr/>
          <p:nvPr/>
        </p:nvSpPr>
        <p:spPr>
          <a:xfrm>
            <a:off x="8106888" y="17238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Scheduling</a:t>
            </a:r>
            <a:endParaRPr lang="en-US" sz="900" dirty="0"/>
          </a:p>
        </p:txBody>
      </p:sp>
      <p:sp>
        <p:nvSpPr>
          <p:cNvPr id="21" name="Text 18"/>
          <p:cNvSpPr/>
          <p:nvPr/>
        </p:nvSpPr>
        <p:spPr>
          <a:xfrm>
            <a:off x="8106888" y="19067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Time, recurrence, delay</a:t>
            </a:r>
            <a:endParaRPr lang="en-US" sz="740" dirty="0"/>
          </a:p>
        </p:txBody>
      </p:sp>
      <p:sp>
        <p:nvSpPr>
          <p:cNvPr id="22" name="Shape 19"/>
          <p:cNvSpPr/>
          <p:nvPr/>
        </p:nvSpPr>
        <p:spPr>
          <a:xfrm>
            <a:off x="9861255" y="1659890"/>
            <a:ext cx="1763512" cy="566928"/>
          </a:xfrm>
          <a:prstGeom prst="roundRect">
            <a:avLst>
              <a:gd name="adj" fmla="val 12903"/>
            </a:avLst>
          </a:prstGeom>
          <a:solidFill>
            <a:srgbClr val="FFFFFF"/>
          </a:solidFill>
          <a:ln w="12700">
            <a:solidFill>
              <a:srgbClr val="E2E7EC"/>
            </a:solidFill>
            <a:prstDash val="solid"/>
          </a:ln>
        </p:spPr>
      </p:sp>
      <p:sp>
        <p:nvSpPr>
          <p:cNvPr id="23" name="Text 20"/>
          <p:cNvSpPr/>
          <p:nvPr/>
        </p:nvSpPr>
        <p:spPr>
          <a:xfrm>
            <a:off x="9943551" y="17238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Service catalog</a:t>
            </a:r>
            <a:endParaRPr lang="en-US" sz="900" dirty="0"/>
          </a:p>
        </p:txBody>
      </p:sp>
      <p:sp>
        <p:nvSpPr>
          <p:cNvPr id="24" name="Text 21"/>
          <p:cNvSpPr/>
          <p:nvPr/>
        </p:nvSpPr>
        <p:spPr>
          <a:xfrm>
            <a:off x="9943551" y="19067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Capability, owner, health</a:t>
            </a:r>
            <a:endParaRPr lang="en-US" sz="740" dirty="0"/>
          </a:p>
        </p:txBody>
      </p:sp>
      <p:sp>
        <p:nvSpPr>
          <p:cNvPr id="25" name="Shape 22"/>
          <p:cNvSpPr/>
          <p:nvPr/>
        </p:nvSpPr>
        <p:spPr>
          <a:xfrm>
            <a:off x="566928" y="2299970"/>
            <a:ext cx="1874520" cy="566928"/>
          </a:xfrm>
          <a:prstGeom prst="roundRect">
            <a:avLst>
              <a:gd name="adj" fmla="val 12903"/>
            </a:avLst>
          </a:prstGeom>
          <a:solidFill>
            <a:srgbClr val="0B6F7D"/>
          </a:solidFill>
          <a:ln w="12700">
            <a:solidFill>
              <a:srgbClr val="0B6F7D"/>
            </a:solidFill>
            <a:prstDash val="solid"/>
          </a:ln>
        </p:spPr>
      </p:sp>
      <p:sp>
        <p:nvSpPr>
          <p:cNvPr id="26" name="Text 23"/>
          <p:cNvSpPr/>
          <p:nvPr/>
        </p:nvSpPr>
        <p:spPr>
          <a:xfrm>
            <a:off x="676656" y="2363978"/>
            <a:ext cx="1655064"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Control Plane</a:t>
            </a:r>
            <a:endParaRPr lang="en-US" sz="1050" dirty="0"/>
          </a:p>
        </p:txBody>
      </p:sp>
      <p:sp>
        <p:nvSpPr>
          <p:cNvPr id="27" name="Text 24"/>
          <p:cNvSpPr/>
          <p:nvPr/>
        </p:nvSpPr>
        <p:spPr>
          <a:xfrm>
            <a:off x="676656" y="2556002"/>
            <a:ext cx="1655064" cy="219456"/>
          </a:xfrm>
          <a:prstGeom prst="rect">
            <a:avLst/>
          </a:prstGeom>
          <a:noFill/>
          <a:ln/>
        </p:spPr>
        <p:txBody>
          <a:bodyPr wrap="square" lIns="0" tIns="0" rIns="0" bIns="0" rtlCol="0" anchor="t"/>
          <a:lstStyle/>
          <a:p>
            <a:pPr indent="0" marL="0">
              <a:buNone/>
            </a:pPr>
            <a:r>
              <a:rPr lang="en-US" sz="780" dirty="0">
                <a:solidFill>
                  <a:srgbClr val="D6E4EE"/>
                </a:solidFill>
                <a:latin typeface="Calibri" pitchFamily="34" charset="0"/>
                <a:ea typeface="Calibri" pitchFamily="34" charset="-122"/>
                <a:cs typeface="Calibri" pitchFamily="34" charset="-120"/>
              </a:rPr>
              <a:t>How authority is expressed and decided</a:t>
            </a:r>
            <a:endParaRPr lang="en-US" sz="780" dirty="0"/>
          </a:p>
        </p:txBody>
      </p:sp>
      <p:sp>
        <p:nvSpPr>
          <p:cNvPr id="28" name="Shape 25"/>
          <p:cNvSpPr/>
          <p:nvPr/>
        </p:nvSpPr>
        <p:spPr>
          <a:xfrm>
            <a:off x="2514600" y="2299970"/>
            <a:ext cx="1763512" cy="566928"/>
          </a:xfrm>
          <a:prstGeom prst="roundRect">
            <a:avLst>
              <a:gd name="adj" fmla="val 12903"/>
            </a:avLst>
          </a:prstGeom>
          <a:solidFill>
            <a:srgbClr val="E6F4F6"/>
          </a:solidFill>
          <a:ln w="12700">
            <a:solidFill>
              <a:srgbClr val="9CCED6"/>
            </a:solidFill>
            <a:prstDash val="solid"/>
          </a:ln>
        </p:spPr>
      </p:sp>
      <p:sp>
        <p:nvSpPr>
          <p:cNvPr id="29" name="Text 26"/>
          <p:cNvSpPr/>
          <p:nvPr/>
        </p:nvSpPr>
        <p:spPr>
          <a:xfrm>
            <a:off x="2596896" y="236397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Identity</a:t>
            </a:r>
            <a:endParaRPr lang="en-US" sz="900" dirty="0"/>
          </a:p>
        </p:txBody>
      </p:sp>
      <p:sp>
        <p:nvSpPr>
          <p:cNvPr id="30" name="Text 27"/>
          <p:cNvSpPr/>
          <p:nvPr/>
        </p:nvSpPr>
        <p:spPr>
          <a:xfrm>
            <a:off x="2596896" y="254685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Human, workload, agent</a:t>
            </a:r>
            <a:endParaRPr lang="en-US" sz="740" dirty="0"/>
          </a:p>
        </p:txBody>
      </p:sp>
      <p:sp>
        <p:nvSpPr>
          <p:cNvPr id="31" name="Shape 28"/>
          <p:cNvSpPr/>
          <p:nvPr/>
        </p:nvSpPr>
        <p:spPr>
          <a:xfrm>
            <a:off x="4351264" y="2299970"/>
            <a:ext cx="1763512" cy="566928"/>
          </a:xfrm>
          <a:prstGeom prst="roundRect">
            <a:avLst>
              <a:gd name="adj" fmla="val 12903"/>
            </a:avLst>
          </a:prstGeom>
          <a:solidFill>
            <a:srgbClr val="E6F4F6"/>
          </a:solidFill>
          <a:ln w="12700">
            <a:solidFill>
              <a:srgbClr val="9CCED6"/>
            </a:solidFill>
            <a:prstDash val="solid"/>
          </a:ln>
        </p:spPr>
      </p:sp>
      <p:sp>
        <p:nvSpPr>
          <p:cNvPr id="32" name="Text 29"/>
          <p:cNvSpPr/>
          <p:nvPr/>
        </p:nvSpPr>
        <p:spPr>
          <a:xfrm>
            <a:off x="4433560" y="236397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Policy decision</a:t>
            </a:r>
            <a:endParaRPr lang="en-US" sz="900" dirty="0"/>
          </a:p>
        </p:txBody>
      </p:sp>
      <p:sp>
        <p:nvSpPr>
          <p:cNvPr id="33" name="Text 30"/>
          <p:cNvSpPr/>
          <p:nvPr/>
        </p:nvSpPr>
        <p:spPr>
          <a:xfrm>
            <a:off x="4433560" y="254685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Actor × action × resource</a:t>
            </a:r>
            <a:endParaRPr lang="en-US" sz="740" dirty="0"/>
          </a:p>
        </p:txBody>
      </p:sp>
      <p:sp>
        <p:nvSpPr>
          <p:cNvPr id="34" name="Shape 31"/>
          <p:cNvSpPr/>
          <p:nvPr/>
        </p:nvSpPr>
        <p:spPr>
          <a:xfrm>
            <a:off x="6187928" y="2299970"/>
            <a:ext cx="1763512" cy="566928"/>
          </a:xfrm>
          <a:prstGeom prst="roundRect">
            <a:avLst>
              <a:gd name="adj" fmla="val 12903"/>
            </a:avLst>
          </a:prstGeom>
          <a:solidFill>
            <a:srgbClr val="E6F4F6"/>
          </a:solidFill>
          <a:ln w="12700">
            <a:solidFill>
              <a:srgbClr val="9CCED6"/>
            </a:solidFill>
            <a:prstDash val="solid"/>
          </a:ln>
        </p:spPr>
      </p:sp>
      <p:sp>
        <p:nvSpPr>
          <p:cNvPr id="35" name="Text 32"/>
          <p:cNvSpPr/>
          <p:nvPr/>
        </p:nvSpPr>
        <p:spPr>
          <a:xfrm>
            <a:off x="6270224" y="236397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Capability grants</a:t>
            </a:r>
            <a:endParaRPr lang="en-US" sz="900" dirty="0"/>
          </a:p>
        </p:txBody>
      </p:sp>
      <p:sp>
        <p:nvSpPr>
          <p:cNvPr id="36" name="Text 33"/>
          <p:cNvSpPr/>
          <p:nvPr/>
        </p:nvSpPr>
        <p:spPr>
          <a:xfrm>
            <a:off x="6270224" y="254685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Short-lived, scoped authority</a:t>
            </a:r>
            <a:endParaRPr lang="en-US" sz="740" dirty="0"/>
          </a:p>
        </p:txBody>
      </p:sp>
      <p:sp>
        <p:nvSpPr>
          <p:cNvPr id="37" name="Shape 34"/>
          <p:cNvSpPr/>
          <p:nvPr/>
        </p:nvSpPr>
        <p:spPr>
          <a:xfrm>
            <a:off x="8024592" y="2299970"/>
            <a:ext cx="1763512" cy="566928"/>
          </a:xfrm>
          <a:prstGeom prst="roundRect">
            <a:avLst>
              <a:gd name="adj" fmla="val 12903"/>
            </a:avLst>
          </a:prstGeom>
          <a:solidFill>
            <a:srgbClr val="E6F4F6"/>
          </a:solidFill>
          <a:ln w="12700">
            <a:solidFill>
              <a:srgbClr val="9CCED6"/>
            </a:solidFill>
            <a:prstDash val="solid"/>
          </a:ln>
        </p:spPr>
      </p:sp>
      <p:sp>
        <p:nvSpPr>
          <p:cNvPr id="38" name="Text 35"/>
          <p:cNvSpPr/>
          <p:nvPr/>
        </p:nvSpPr>
        <p:spPr>
          <a:xfrm>
            <a:off x="8106888" y="236397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Governance</a:t>
            </a:r>
            <a:endParaRPr lang="en-US" sz="900" dirty="0"/>
          </a:p>
        </p:txBody>
      </p:sp>
      <p:sp>
        <p:nvSpPr>
          <p:cNvPr id="39" name="Text 36"/>
          <p:cNvSpPr/>
          <p:nvPr/>
        </p:nvSpPr>
        <p:spPr>
          <a:xfrm>
            <a:off x="8106888" y="254685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Risk tiers, approvals</a:t>
            </a:r>
            <a:endParaRPr lang="en-US" sz="740" dirty="0"/>
          </a:p>
        </p:txBody>
      </p:sp>
      <p:sp>
        <p:nvSpPr>
          <p:cNvPr id="40" name="Shape 37"/>
          <p:cNvSpPr/>
          <p:nvPr/>
        </p:nvSpPr>
        <p:spPr>
          <a:xfrm>
            <a:off x="9861255" y="2299970"/>
            <a:ext cx="1763512" cy="566928"/>
          </a:xfrm>
          <a:prstGeom prst="roundRect">
            <a:avLst>
              <a:gd name="adj" fmla="val 12903"/>
            </a:avLst>
          </a:prstGeom>
          <a:solidFill>
            <a:srgbClr val="E6F4F6"/>
          </a:solidFill>
          <a:ln w="12700">
            <a:solidFill>
              <a:srgbClr val="9CCED6"/>
            </a:solidFill>
            <a:prstDash val="solid"/>
          </a:ln>
        </p:spPr>
      </p:sp>
      <p:sp>
        <p:nvSpPr>
          <p:cNvPr id="41" name="Text 38"/>
          <p:cNvSpPr/>
          <p:nvPr/>
        </p:nvSpPr>
        <p:spPr>
          <a:xfrm>
            <a:off x="9943551" y="236397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Lifecycle controls</a:t>
            </a:r>
            <a:endParaRPr lang="en-US" sz="900" dirty="0"/>
          </a:p>
        </p:txBody>
      </p:sp>
      <p:sp>
        <p:nvSpPr>
          <p:cNvPr id="42" name="Text 39"/>
          <p:cNvSpPr/>
          <p:nvPr/>
        </p:nvSpPr>
        <p:spPr>
          <a:xfrm>
            <a:off x="9943551" y="254685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Version, rollout, breaker</a:t>
            </a:r>
            <a:endParaRPr lang="en-US" sz="740" dirty="0"/>
          </a:p>
        </p:txBody>
      </p:sp>
      <p:sp>
        <p:nvSpPr>
          <p:cNvPr id="43" name="Shape 40"/>
          <p:cNvSpPr/>
          <p:nvPr/>
        </p:nvSpPr>
        <p:spPr>
          <a:xfrm>
            <a:off x="566928" y="2940050"/>
            <a:ext cx="1874520" cy="566928"/>
          </a:xfrm>
          <a:prstGeom prst="roundRect">
            <a:avLst>
              <a:gd name="adj" fmla="val 12903"/>
            </a:avLst>
          </a:prstGeom>
          <a:solidFill>
            <a:srgbClr val="F3F1FB"/>
          </a:solidFill>
          <a:ln w="12700">
            <a:solidFill>
              <a:srgbClr val="C9C1EA"/>
            </a:solidFill>
            <a:prstDash val="dash"/>
          </a:ln>
        </p:spPr>
      </p:sp>
      <p:sp>
        <p:nvSpPr>
          <p:cNvPr id="44" name="Text 41"/>
          <p:cNvSpPr/>
          <p:nvPr/>
        </p:nvSpPr>
        <p:spPr>
          <a:xfrm>
            <a:off x="676656" y="3004058"/>
            <a:ext cx="1655064" cy="182880"/>
          </a:xfrm>
          <a:prstGeom prst="rect">
            <a:avLst/>
          </a:prstGeom>
          <a:noFill/>
          <a:ln/>
        </p:spPr>
        <p:txBody>
          <a:bodyPr wrap="square" lIns="0" tIns="0" rIns="0" bIns="0" rtlCol="0" anchor="ctr"/>
          <a:lstStyle/>
          <a:p>
            <a:pPr indent="0" marL="0">
              <a:buNone/>
            </a:pPr>
            <a:r>
              <a:rPr lang="en-US" sz="1050" b="1" dirty="0">
                <a:solidFill>
                  <a:srgbClr val="4A3AA7"/>
                </a:solidFill>
                <a:latin typeface="Calibri" pitchFamily="34" charset="0"/>
                <a:ea typeface="Calibri" pitchFamily="34" charset="-122"/>
                <a:cs typeface="Calibri" pitchFamily="34" charset="-120"/>
              </a:rPr>
              <a:t>Knowledge &amp; Ontology</a:t>
            </a:r>
            <a:endParaRPr lang="en-US" sz="1050" dirty="0"/>
          </a:p>
        </p:txBody>
      </p:sp>
      <p:sp>
        <p:nvSpPr>
          <p:cNvPr id="45" name="Text 42"/>
          <p:cNvSpPr/>
          <p:nvPr/>
        </p:nvSpPr>
        <p:spPr>
          <a:xfrm>
            <a:off x="676656" y="3196082"/>
            <a:ext cx="1655064" cy="219456"/>
          </a:xfrm>
          <a:prstGeom prst="rect">
            <a:avLst/>
          </a:prstGeom>
          <a:noFill/>
          <a:ln/>
        </p:spPr>
        <p:txBody>
          <a:bodyPr wrap="square" lIns="0" tIns="0" rIns="0" bIns="0" rtlCol="0" anchor="t"/>
          <a:lstStyle/>
          <a:p>
            <a:pPr indent="0" marL="0">
              <a:buNone/>
            </a:pPr>
            <a:r>
              <a:rPr lang="en-US" sz="780" dirty="0">
                <a:solidFill>
                  <a:srgbClr val="6B5FB5"/>
                </a:solidFill>
                <a:latin typeface="Calibri" pitchFamily="34" charset="0"/>
                <a:ea typeface="Calibri" pitchFamily="34" charset="-122"/>
                <a:cs typeface="Calibri" pitchFamily="34" charset="-120"/>
              </a:rPr>
              <a:t>Out of POC scope · north star</a:t>
            </a:r>
            <a:endParaRPr lang="en-US" sz="780" dirty="0"/>
          </a:p>
        </p:txBody>
      </p:sp>
      <p:sp>
        <p:nvSpPr>
          <p:cNvPr id="46" name="Shape 43"/>
          <p:cNvSpPr/>
          <p:nvPr/>
        </p:nvSpPr>
        <p:spPr>
          <a:xfrm>
            <a:off x="2514600" y="2940050"/>
            <a:ext cx="1763512" cy="566928"/>
          </a:xfrm>
          <a:prstGeom prst="roundRect">
            <a:avLst>
              <a:gd name="adj" fmla="val 12903"/>
            </a:avLst>
          </a:prstGeom>
          <a:solidFill>
            <a:srgbClr val="F3F1FB"/>
          </a:solidFill>
          <a:ln w="12700">
            <a:solidFill>
              <a:srgbClr val="C9C1EA"/>
            </a:solidFill>
            <a:prstDash val="dash"/>
          </a:ln>
        </p:spPr>
      </p:sp>
      <p:sp>
        <p:nvSpPr>
          <p:cNvPr id="47" name="Text 44"/>
          <p:cNvSpPr/>
          <p:nvPr/>
        </p:nvSpPr>
        <p:spPr>
          <a:xfrm>
            <a:off x="2596896" y="3004058"/>
            <a:ext cx="1598920" cy="173736"/>
          </a:xfrm>
          <a:prstGeom prst="rect">
            <a:avLst/>
          </a:prstGeom>
          <a:noFill/>
          <a:ln/>
        </p:spPr>
        <p:txBody>
          <a:bodyPr wrap="square" lIns="0" tIns="0" rIns="0" bIns="0" rtlCol="0" anchor="ctr"/>
          <a:lstStyle/>
          <a:p>
            <a:pPr indent="0" marL="0">
              <a:buNone/>
            </a:pPr>
            <a:r>
              <a:rPr lang="en-US" sz="900" b="1" dirty="0">
                <a:solidFill>
                  <a:srgbClr val="4A3AA7"/>
                </a:solidFill>
                <a:latin typeface="Calibri" pitchFamily="34" charset="0"/>
                <a:ea typeface="Calibri" pitchFamily="34" charset="-122"/>
                <a:cs typeface="Calibri" pitchFamily="34" charset="-120"/>
              </a:rPr>
              <a:t>Enterprise ontology</a:t>
            </a:r>
            <a:endParaRPr lang="en-US" sz="900" dirty="0"/>
          </a:p>
        </p:txBody>
      </p:sp>
      <p:sp>
        <p:nvSpPr>
          <p:cNvPr id="48" name="Text 45"/>
          <p:cNvSpPr/>
          <p:nvPr/>
        </p:nvSpPr>
        <p:spPr>
          <a:xfrm>
            <a:off x="2596896" y="318693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Shared concepts</a:t>
            </a:r>
            <a:endParaRPr lang="en-US" sz="740" dirty="0"/>
          </a:p>
        </p:txBody>
      </p:sp>
      <p:sp>
        <p:nvSpPr>
          <p:cNvPr id="49" name="Shape 46"/>
          <p:cNvSpPr/>
          <p:nvPr/>
        </p:nvSpPr>
        <p:spPr>
          <a:xfrm>
            <a:off x="4351264" y="2940050"/>
            <a:ext cx="1763512" cy="566928"/>
          </a:xfrm>
          <a:prstGeom prst="roundRect">
            <a:avLst>
              <a:gd name="adj" fmla="val 12903"/>
            </a:avLst>
          </a:prstGeom>
          <a:solidFill>
            <a:srgbClr val="F3F1FB"/>
          </a:solidFill>
          <a:ln w="12700">
            <a:solidFill>
              <a:srgbClr val="C9C1EA"/>
            </a:solidFill>
            <a:prstDash val="dash"/>
          </a:ln>
        </p:spPr>
      </p:sp>
      <p:sp>
        <p:nvSpPr>
          <p:cNvPr id="50" name="Text 47"/>
          <p:cNvSpPr/>
          <p:nvPr/>
        </p:nvSpPr>
        <p:spPr>
          <a:xfrm>
            <a:off x="4433560" y="3004058"/>
            <a:ext cx="1598920" cy="173736"/>
          </a:xfrm>
          <a:prstGeom prst="rect">
            <a:avLst/>
          </a:prstGeom>
          <a:noFill/>
          <a:ln/>
        </p:spPr>
        <p:txBody>
          <a:bodyPr wrap="square" lIns="0" tIns="0" rIns="0" bIns="0" rtlCol="0" anchor="ctr"/>
          <a:lstStyle/>
          <a:p>
            <a:pPr indent="0" marL="0">
              <a:buNone/>
            </a:pPr>
            <a:r>
              <a:rPr lang="en-US" sz="900" b="1" dirty="0">
                <a:solidFill>
                  <a:srgbClr val="4A3AA7"/>
                </a:solidFill>
                <a:latin typeface="Calibri" pitchFamily="34" charset="0"/>
                <a:ea typeface="Calibri" pitchFamily="34" charset="-122"/>
                <a:cs typeface="Calibri" pitchFamily="34" charset="-120"/>
              </a:rPr>
              <a:t>Knowledge services</a:t>
            </a:r>
            <a:endParaRPr lang="en-US" sz="900" dirty="0"/>
          </a:p>
        </p:txBody>
      </p:sp>
      <p:sp>
        <p:nvSpPr>
          <p:cNvPr id="51" name="Text 48"/>
          <p:cNvSpPr/>
          <p:nvPr/>
        </p:nvSpPr>
        <p:spPr>
          <a:xfrm>
            <a:off x="4433560" y="318693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Search, retrieval, graphs</a:t>
            </a:r>
            <a:endParaRPr lang="en-US" sz="740" dirty="0"/>
          </a:p>
        </p:txBody>
      </p:sp>
      <p:sp>
        <p:nvSpPr>
          <p:cNvPr id="52" name="Shape 49"/>
          <p:cNvSpPr/>
          <p:nvPr/>
        </p:nvSpPr>
        <p:spPr>
          <a:xfrm>
            <a:off x="6187928" y="2940050"/>
            <a:ext cx="1763512" cy="566928"/>
          </a:xfrm>
          <a:prstGeom prst="roundRect">
            <a:avLst>
              <a:gd name="adj" fmla="val 12903"/>
            </a:avLst>
          </a:prstGeom>
          <a:solidFill>
            <a:srgbClr val="F3F1FB"/>
          </a:solidFill>
          <a:ln w="12700">
            <a:solidFill>
              <a:srgbClr val="C9C1EA"/>
            </a:solidFill>
            <a:prstDash val="dash"/>
          </a:ln>
        </p:spPr>
      </p:sp>
      <p:sp>
        <p:nvSpPr>
          <p:cNvPr id="53" name="Text 50"/>
          <p:cNvSpPr/>
          <p:nvPr/>
        </p:nvSpPr>
        <p:spPr>
          <a:xfrm>
            <a:off x="6270224" y="3004058"/>
            <a:ext cx="1598920" cy="173736"/>
          </a:xfrm>
          <a:prstGeom prst="rect">
            <a:avLst/>
          </a:prstGeom>
          <a:noFill/>
          <a:ln/>
        </p:spPr>
        <p:txBody>
          <a:bodyPr wrap="square" lIns="0" tIns="0" rIns="0" bIns="0" rtlCol="0" anchor="ctr"/>
          <a:lstStyle/>
          <a:p>
            <a:pPr indent="0" marL="0">
              <a:buNone/>
            </a:pPr>
            <a:r>
              <a:rPr lang="en-US" sz="900" b="1" dirty="0">
                <a:solidFill>
                  <a:srgbClr val="4A3AA7"/>
                </a:solidFill>
                <a:latin typeface="Calibri" pitchFamily="34" charset="0"/>
                <a:ea typeface="Calibri" pitchFamily="34" charset="-122"/>
                <a:cs typeface="Calibri" pitchFamily="34" charset="-120"/>
              </a:rPr>
              <a:t>Memory &amp; state</a:t>
            </a:r>
            <a:endParaRPr lang="en-US" sz="900" dirty="0"/>
          </a:p>
        </p:txBody>
      </p:sp>
      <p:sp>
        <p:nvSpPr>
          <p:cNvPr id="54" name="Text 51"/>
          <p:cNvSpPr/>
          <p:nvPr/>
        </p:nvSpPr>
        <p:spPr>
          <a:xfrm>
            <a:off x="6270224" y="318693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Session, task, durable</a:t>
            </a:r>
            <a:endParaRPr lang="en-US" sz="740" dirty="0"/>
          </a:p>
        </p:txBody>
      </p:sp>
      <p:sp>
        <p:nvSpPr>
          <p:cNvPr id="55" name="Shape 52"/>
          <p:cNvSpPr/>
          <p:nvPr/>
        </p:nvSpPr>
        <p:spPr>
          <a:xfrm>
            <a:off x="8024592" y="2940050"/>
            <a:ext cx="1763512" cy="566928"/>
          </a:xfrm>
          <a:prstGeom prst="roundRect">
            <a:avLst>
              <a:gd name="adj" fmla="val 12903"/>
            </a:avLst>
          </a:prstGeom>
          <a:solidFill>
            <a:srgbClr val="F3F1FB"/>
          </a:solidFill>
          <a:ln w="12700">
            <a:solidFill>
              <a:srgbClr val="C9C1EA"/>
            </a:solidFill>
            <a:prstDash val="dash"/>
          </a:ln>
        </p:spPr>
      </p:sp>
      <p:sp>
        <p:nvSpPr>
          <p:cNvPr id="56" name="Text 53"/>
          <p:cNvSpPr/>
          <p:nvPr/>
        </p:nvSpPr>
        <p:spPr>
          <a:xfrm>
            <a:off x="8106888" y="3004058"/>
            <a:ext cx="1598920" cy="173736"/>
          </a:xfrm>
          <a:prstGeom prst="rect">
            <a:avLst/>
          </a:prstGeom>
          <a:noFill/>
          <a:ln/>
        </p:spPr>
        <p:txBody>
          <a:bodyPr wrap="square" lIns="0" tIns="0" rIns="0" bIns="0" rtlCol="0" anchor="ctr"/>
          <a:lstStyle/>
          <a:p>
            <a:pPr indent="0" marL="0">
              <a:buNone/>
            </a:pPr>
            <a:r>
              <a:rPr lang="en-US" sz="900" b="1" dirty="0">
                <a:solidFill>
                  <a:srgbClr val="4A3AA7"/>
                </a:solidFill>
                <a:latin typeface="Calibri" pitchFamily="34" charset="0"/>
                <a:ea typeface="Calibri" pitchFamily="34" charset="-122"/>
                <a:cs typeface="Calibri" pitchFamily="34" charset="-120"/>
              </a:rPr>
              <a:t>Provenance &amp; lineage</a:t>
            </a:r>
            <a:endParaRPr lang="en-US" sz="900" dirty="0"/>
          </a:p>
        </p:txBody>
      </p:sp>
      <p:sp>
        <p:nvSpPr>
          <p:cNvPr id="57" name="Text 54"/>
          <p:cNvSpPr/>
          <p:nvPr/>
        </p:nvSpPr>
        <p:spPr>
          <a:xfrm>
            <a:off x="8106888" y="318693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Source, freshness, owner</a:t>
            </a:r>
            <a:endParaRPr lang="en-US" sz="740" dirty="0"/>
          </a:p>
        </p:txBody>
      </p:sp>
      <p:sp>
        <p:nvSpPr>
          <p:cNvPr id="58" name="Shape 55"/>
          <p:cNvSpPr/>
          <p:nvPr/>
        </p:nvSpPr>
        <p:spPr>
          <a:xfrm>
            <a:off x="9861255" y="2940050"/>
            <a:ext cx="1763512" cy="566928"/>
          </a:xfrm>
          <a:prstGeom prst="roundRect">
            <a:avLst>
              <a:gd name="adj" fmla="val 12903"/>
            </a:avLst>
          </a:prstGeom>
          <a:solidFill>
            <a:srgbClr val="F3F1FB"/>
          </a:solidFill>
          <a:ln w="12700">
            <a:solidFill>
              <a:srgbClr val="C9C1EA"/>
            </a:solidFill>
            <a:prstDash val="dash"/>
          </a:ln>
        </p:spPr>
      </p:sp>
      <p:sp>
        <p:nvSpPr>
          <p:cNvPr id="59" name="Text 56"/>
          <p:cNvSpPr/>
          <p:nvPr/>
        </p:nvSpPr>
        <p:spPr>
          <a:xfrm>
            <a:off x="9943551" y="3004058"/>
            <a:ext cx="1598920" cy="173736"/>
          </a:xfrm>
          <a:prstGeom prst="rect">
            <a:avLst/>
          </a:prstGeom>
          <a:noFill/>
          <a:ln/>
        </p:spPr>
        <p:txBody>
          <a:bodyPr wrap="square" lIns="0" tIns="0" rIns="0" bIns="0" rtlCol="0" anchor="ctr"/>
          <a:lstStyle/>
          <a:p>
            <a:pPr indent="0" marL="0">
              <a:buNone/>
            </a:pPr>
            <a:r>
              <a:rPr lang="en-US" sz="900" b="1" dirty="0">
                <a:solidFill>
                  <a:srgbClr val="4A3AA7"/>
                </a:solidFill>
                <a:latin typeface="Calibri" pitchFamily="34" charset="0"/>
                <a:ea typeface="Calibri" pitchFamily="34" charset="-122"/>
                <a:cs typeface="Calibri" pitchFamily="34" charset="-120"/>
              </a:rPr>
              <a:t>Semantic metadata</a:t>
            </a:r>
            <a:endParaRPr lang="en-US" sz="900" dirty="0"/>
          </a:p>
        </p:txBody>
      </p:sp>
      <p:sp>
        <p:nvSpPr>
          <p:cNvPr id="60" name="Text 57"/>
          <p:cNvSpPr/>
          <p:nvPr/>
        </p:nvSpPr>
        <p:spPr>
          <a:xfrm>
            <a:off x="9943551" y="318693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Schemas, policies</a:t>
            </a:r>
            <a:endParaRPr lang="en-US" sz="740" dirty="0"/>
          </a:p>
        </p:txBody>
      </p:sp>
      <p:sp>
        <p:nvSpPr>
          <p:cNvPr id="61" name="Shape 58"/>
          <p:cNvSpPr/>
          <p:nvPr/>
        </p:nvSpPr>
        <p:spPr>
          <a:xfrm>
            <a:off x="566928" y="3580130"/>
            <a:ext cx="1874520" cy="566928"/>
          </a:xfrm>
          <a:prstGeom prst="roundRect">
            <a:avLst>
              <a:gd name="adj" fmla="val 12903"/>
            </a:avLst>
          </a:prstGeom>
          <a:solidFill>
            <a:srgbClr val="184F95"/>
          </a:solidFill>
          <a:ln w="12700">
            <a:solidFill>
              <a:srgbClr val="184F95"/>
            </a:solidFill>
            <a:prstDash val="solid"/>
          </a:ln>
        </p:spPr>
      </p:sp>
      <p:sp>
        <p:nvSpPr>
          <p:cNvPr id="62" name="Text 59"/>
          <p:cNvSpPr/>
          <p:nvPr/>
        </p:nvSpPr>
        <p:spPr>
          <a:xfrm>
            <a:off x="676656" y="3644138"/>
            <a:ext cx="1655064"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Execution Plane</a:t>
            </a:r>
            <a:endParaRPr lang="en-US" sz="1050" dirty="0"/>
          </a:p>
        </p:txBody>
      </p:sp>
      <p:sp>
        <p:nvSpPr>
          <p:cNvPr id="63" name="Text 60"/>
          <p:cNvSpPr/>
          <p:nvPr/>
        </p:nvSpPr>
        <p:spPr>
          <a:xfrm>
            <a:off x="676656" y="3836162"/>
            <a:ext cx="1655064" cy="219456"/>
          </a:xfrm>
          <a:prstGeom prst="rect">
            <a:avLst/>
          </a:prstGeom>
          <a:noFill/>
          <a:ln/>
        </p:spPr>
        <p:txBody>
          <a:bodyPr wrap="square" lIns="0" tIns="0" rIns="0" bIns="0" rtlCol="0" anchor="t"/>
          <a:lstStyle/>
          <a:p>
            <a:pPr indent="0" marL="0">
              <a:buNone/>
            </a:pPr>
            <a:r>
              <a:rPr lang="en-US" sz="780" dirty="0">
                <a:solidFill>
                  <a:srgbClr val="D6E4EE"/>
                </a:solidFill>
                <a:latin typeface="Calibri" pitchFamily="34" charset="0"/>
                <a:ea typeface="Calibri" pitchFamily="34" charset="-122"/>
                <a:cs typeface="Calibri" pitchFamily="34" charset="-120"/>
              </a:rPr>
              <a:t>How authorized work is carried out</a:t>
            </a:r>
            <a:endParaRPr lang="en-US" sz="780" dirty="0"/>
          </a:p>
        </p:txBody>
      </p:sp>
      <p:sp>
        <p:nvSpPr>
          <p:cNvPr id="64" name="Shape 61"/>
          <p:cNvSpPr/>
          <p:nvPr/>
        </p:nvSpPr>
        <p:spPr>
          <a:xfrm>
            <a:off x="2514600" y="3580130"/>
            <a:ext cx="1763512" cy="566928"/>
          </a:xfrm>
          <a:prstGeom prst="roundRect">
            <a:avLst>
              <a:gd name="adj" fmla="val 12903"/>
            </a:avLst>
          </a:prstGeom>
          <a:solidFill>
            <a:srgbClr val="FFFFFF"/>
          </a:solidFill>
          <a:ln w="12700">
            <a:solidFill>
              <a:srgbClr val="E2E7EC"/>
            </a:solidFill>
            <a:prstDash val="solid"/>
          </a:ln>
        </p:spPr>
      </p:sp>
      <p:sp>
        <p:nvSpPr>
          <p:cNvPr id="65" name="Text 62"/>
          <p:cNvSpPr/>
          <p:nvPr/>
        </p:nvSpPr>
        <p:spPr>
          <a:xfrm>
            <a:off x="2596896" y="364413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Software calls</a:t>
            </a:r>
            <a:endParaRPr lang="en-US" sz="900" dirty="0"/>
          </a:p>
        </p:txBody>
      </p:sp>
      <p:sp>
        <p:nvSpPr>
          <p:cNvPr id="66" name="Text 63"/>
          <p:cNvSpPr/>
          <p:nvPr/>
        </p:nvSpPr>
        <p:spPr>
          <a:xfrm>
            <a:off x="2596896" y="382701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Deterministic request/response</a:t>
            </a:r>
            <a:endParaRPr lang="en-US" sz="740" dirty="0"/>
          </a:p>
        </p:txBody>
      </p:sp>
      <p:sp>
        <p:nvSpPr>
          <p:cNvPr id="67" name="Shape 64"/>
          <p:cNvSpPr/>
          <p:nvPr/>
        </p:nvSpPr>
        <p:spPr>
          <a:xfrm>
            <a:off x="4351264" y="3580130"/>
            <a:ext cx="1763512" cy="566928"/>
          </a:xfrm>
          <a:prstGeom prst="roundRect">
            <a:avLst>
              <a:gd name="adj" fmla="val 12903"/>
            </a:avLst>
          </a:prstGeom>
          <a:solidFill>
            <a:srgbClr val="FFFFFF"/>
          </a:solidFill>
          <a:ln w="12700">
            <a:solidFill>
              <a:srgbClr val="E2E7EC"/>
            </a:solidFill>
            <a:prstDash val="solid"/>
          </a:ln>
        </p:spPr>
      </p:sp>
      <p:sp>
        <p:nvSpPr>
          <p:cNvPr id="68" name="Text 65"/>
          <p:cNvSpPr/>
          <p:nvPr/>
        </p:nvSpPr>
        <p:spPr>
          <a:xfrm>
            <a:off x="4433560" y="364413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Agent calls</a:t>
            </a:r>
            <a:endParaRPr lang="en-US" sz="900" dirty="0"/>
          </a:p>
        </p:txBody>
      </p:sp>
      <p:sp>
        <p:nvSpPr>
          <p:cNvPr id="69" name="Text 66"/>
          <p:cNvSpPr/>
          <p:nvPr/>
        </p:nvSpPr>
        <p:spPr>
          <a:xfrm>
            <a:off x="4433560" y="382701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Delegated longer-running work</a:t>
            </a:r>
            <a:endParaRPr lang="en-US" sz="740" dirty="0"/>
          </a:p>
        </p:txBody>
      </p:sp>
      <p:sp>
        <p:nvSpPr>
          <p:cNvPr id="70" name="Shape 67"/>
          <p:cNvSpPr/>
          <p:nvPr/>
        </p:nvSpPr>
        <p:spPr>
          <a:xfrm>
            <a:off x="6187928" y="3580130"/>
            <a:ext cx="1763512" cy="566928"/>
          </a:xfrm>
          <a:prstGeom prst="roundRect">
            <a:avLst>
              <a:gd name="adj" fmla="val 12903"/>
            </a:avLst>
          </a:prstGeom>
          <a:solidFill>
            <a:srgbClr val="FFFFFF"/>
          </a:solidFill>
          <a:ln w="12700">
            <a:solidFill>
              <a:srgbClr val="E2E7EC"/>
            </a:solidFill>
            <a:prstDash val="solid"/>
          </a:ln>
        </p:spPr>
      </p:sp>
      <p:sp>
        <p:nvSpPr>
          <p:cNvPr id="71" name="Text 68"/>
          <p:cNvSpPr/>
          <p:nvPr/>
        </p:nvSpPr>
        <p:spPr>
          <a:xfrm>
            <a:off x="6270224" y="364413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Mediation boundary</a:t>
            </a:r>
            <a:endParaRPr lang="en-US" sz="900" dirty="0"/>
          </a:p>
        </p:txBody>
      </p:sp>
      <p:sp>
        <p:nvSpPr>
          <p:cNvPr id="72" name="Text 69"/>
          <p:cNvSpPr/>
          <p:nvPr/>
        </p:nvSpPr>
        <p:spPr>
          <a:xfrm>
            <a:off x="6270224" y="382701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Capability enforcement</a:t>
            </a:r>
            <a:endParaRPr lang="en-US" sz="740" dirty="0"/>
          </a:p>
        </p:txBody>
      </p:sp>
      <p:sp>
        <p:nvSpPr>
          <p:cNvPr id="73" name="Shape 70"/>
          <p:cNvSpPr/>
          <p:nvPr/>
        </p:nvSpPr>
        <p:spPr>
          <a:xfrm>
            <a:off x="8024592" y="3580130"/>
            <a:ext cx="1763512" cy="566928"/>
          </a:xfrm>
          <a:prstGeom prst="roundRect">
            <a:avLst>
              <a:gd name="adj" fmla="val 12903"/>
            </a:avLst>
          </a:prstGeom>
          <a:solidFill>
            <a:srgbClr val="FFFFFF"/>
          </a:solidFill>
          <a:ln w="12700">
            <a:solidFill>
              <a:srgbClr val="E2E7EC"/>
            </a:solidFill>
            <a:prstDash val="solid"/>
          </a:ln>
        </p:spPr>
      </p:sp>
      <p:sp>
        <p:nvSpPr>
          <p:cNvPr id="74" name="Text 71"/>
          <p:cNvSpPr/>
          <p:nvPr/>
        </p:nvSpPr>
        <p:spPr>
          <a:xfrm>
            <a:off x="8106888" y="364413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Workflow runtime</a:t>
            </a:r>
            <a:endParaRPr lang="en-US" sz="900" dirty="0"/>
          </a:p>
        </p:txBody>
      </p:sp>
      <p:sp>
        <p:nvSpPr>
          <p:cNvPr id="75" name="Text 72"/>
          <p:cNvSpPr/>
          <p:nvPr/>
        </p:nvSpPr>
        <p:spPr>
          <a:xfrm>
            <a:off x="8106888" y="382701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Durability, compensation</a:t>
            </a:r>
            <a:endParaRPr lang="en-US" sz="740" dirty="0"/>
          </a:p>
        </p:txBody>
      </p:sp>
      <p:sp>
        <p:nvSpPr>
          <p:cNvPr id="76" name="Shape 73"/>
          <p:cNvSpPr/>
          <p:nvPr/>
        </p:nvSpPr>
        <p:spPr>
          <a:xfrm>
            <a:off x="9861255" y="3580130"/>
            <a:ext cx="1763512" cy="566928"/>
          </a:xfrm>
          <a:prstGeom prst="roundRect">
            <a:avLst>
              <a:gd name="adj" fmla="val 12903"/>
            </a:avLst>
          </a:prstGeom>
          <a:solidFill>
            <a:srgbClr val="FFFFFF"/>
          </a:solidFill>
          <a:ln w="12700">
            <a:solidFill>
              <a:srgbClr val="E2E7EC"/>
            </a:solidFill>
            <a:prstDash val="solid"/>
          </a:ln>
        </p:spPr>
      </p:sp>
      <p:sp>
        <p:nvSpPr>
          <p:cNvPr id="77" name="Text 74"/>
          <p:cNvSpPr/>
          <p:nvPr/>
        </p:nvSpPr>
        <p:spPr>
          <a:xfrm>
            <a:off x="9943551" y="364413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Event processing</a:t>
            </a:r>
            <a:endParaRPr lang="en-US" sz="900" dirty="0"/>
          </a:p>
        </p:txBody>
      </p:sp>
      <p:sp>
        <p:nvSpPr>
          <p:cNvPr id="78" name="Text 75"/>
          <p:cNvSpPr/>
          <p:nvPr/>
        </p:nvSpPr>
        <p:spPr>
          <a:xfrm>
            <a:off x="9943551" y="382701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Streaming, reactions</a:t>
            </a:r>
            <a:endParaRPr lang="en-US" sz="740" dirty="0"/>
          </a:p>
        </p:txBody>
      </p:sp>
      <p:sp>
        <p:nvSpPr>
          <p:cNvPr id="79" name="Shape 76"/>
          <p:cNvSpPr/>
          <p:nvPr/>
        </p:nvSpPr>
        <p:spPr>
          <a:xfrm>
            <a:off x="566928" y="4220210"/>
            <a:ext cx="1874520" cy="566928"/>
          </a:xfrm>
          <a:prstGeom prst="roundRect">
            <a:avLst>
              <a:gd name="adj" fmla="val 12903"/>
            </a:avLst>
          </a:prstGeom>
          <a:solidFill>
            <a:srgbClr val="0D366B"/>
          </a:solidFill>
          <a:ln w="12700">
            <a:solidFill>
              <a:srgbClr val="0D366B"/>
            </a:solidFill>
            <a:prstDash val="solid"/>
          </a:ln>
        </p:spPr>
      </p:sp>
      <p:sp>
        <p:nvSpPr>
          <p:cNvPr id="80" name="Text 77"/>
          <p:cNvSpPr/>
          <p:nvPr/>
        </p:nvSpPr>
        <p:spPr>
          <a:xfrm>
            <a:off x="676656" y="4284218"/>
            <a:ext cx="1655064"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Platform Plane</a:t>
            </a:r>
            <a:endParaRPr lang="en-US" sz="1050" dirty="0"/>
          </a:p>
        </p:txBody>
      </p:sp>
      <p:sp>
        <p:nvSpPr>
          <p:cNvPr id="81" name="Text 78"/>
          <p:cNvSpPr/>
          <p:nvPr/>
        </p:nvSpPr>
        <p:spPr>
          <a:xfrm>
            <a:off x="676656" y="4476242"/>
            <a:ext cx="1655064" cy="219456"/>
          </a:xfrm>
          <a:prstGeom prst="rect">
            <a:avLst/>
          </a:prstGeom>
          <a:noFill/>
          <a:ln/>
        </p:spPr>
        <p:txBody>
          <a:bodyPr wrap="square" lIns="0" tIns="0" rIns="0" bIns="0" rtlCol="0" anchor="t"/>
          <a:lstStyle/>
          <a:p>
            <a:pPr indent="0" marL="0">
              <a:buNone/>
            </a:pPr>
            <a:r>
              <a:rPr lang="en-US" sz="780" dirty="0">
                <a:solidFill>
                  <a:srgbClr val="D6E4EE"/>
                </a:solidFill>
                <a:latin typeface="Calibri" pitchFamily="34" charset="0"/>
                <a:ea typeface="Calibri" pitchFamily="34" charset="-122"/>
                <a:cs typeface="Calibri" pitchFamily="34" charset="-120"/>
              </a:rPr>
              <a:t>How workloads scale and connect</a:t>
            </a:r>
            <a:endParaRPr lang="en-US" sz="780" dirty="0"/>
          </a:p>
        </p:txBody>
      </p:sp>
      <p:sp>
        <p:nvSpPr>
          <p:cNvPr id="82" name="Shape 79"/>
          <p:cNvSpPr/>
          <p:nvPr/>
        </p:nvSpPr>
        <p:spPr>
          <a:xfrm>
            <a:off x="2514600" y="4220210"/>
            <a:ext cx="1763512" cy="566928"/>
          </a:xfrm>
          <a:prstGeom prst="roundRect">
            <a:avLst>
              <a:gd name="adj" fmla="val 12903"/>
            </a:avLst>
          </a:prstGeom>
          <a:solidFill>
            <a:srgbClr val="FFFFFF"/>
          </a:solidFill>
          <a:ln w="12700">
            <a:solidFill>
              <a:srgbClr val="E2E7EC"/>
            </a:solidFill>
            <a:prstDash val="solid"/>
          </a:ln>
        </p:spPr>
      </p:sp>
      <p:sp>
        <p:nvSpPr>
          <p:cNvPr id="83" name="Text 80"/>
          <p:cNvSpPr/>
          <p:nvPr/>
        </p:nvSpPr>
        <p:spPr>
          <a:xfrm>
            <a:off x="2596896" y="428421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Compute platform</a:t>
            </a:r>
            <a:endParaRPr lang="en-US" sz="900" dirty="0"/>
          </a:p>
        </p:txBody>
      </p:sp>
      <p:sp>
        <p:nvSpPr>
          <p:cNvPr id="84" name="Text 81"/>
          <p:cNvSpPr/>
          <p:nvPr/>
        </p:nvSpPr>
        <p:spPr>
          <a:xfrm>
            <a:off x="2596896" y="446709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Kubernetes, edge, cloud</a:t>
            </a:r>
            <a:endParaRPr lang="en-US" sz="740" dirty="0"/>
          </a:p>
        </p:txBody>
      </p:sp>
      <p:sp>
        <p:nvSpPr>
          <p:cNvPr id="85" name="Shape 82"/>
          <p:cNvSpPr/>
          <p:nvPr/>
        </p:nvSpPr>
        <p:spPr>
          <a:xfrm>
            <a:off x="4351264" y="4220210"/>
            <a:ext cx="1763512" cy="566928"/>
          </a:xfrm>
          <a:prstGeom prst="roundRect">
            <a:avLst>
              <a:gd name="adj" fmla="val 12903"/>
            </a:avLst>
          </a:prstGeom>
          <a:solidFill>
            <a:srgbClr val="FFFFFF"/>
          </a:solidFill>
          <a:ln w="12700">
            <a:solidFill>
              <a:srgbClr val="E2E7EC"/>
            </a:solidFill>
            <a:prstDash val="solid"/>
          </a:ln>
        </p:spPr>
      </p:sp>
      <p:sp>
        <p:nvSpPr>
          <p:cNvPr id="86" name="Text 83"/>
          <p:cNvSpPr/>
          <p:nvPr/>
        </p:nvSpPr>
        <p:spPr>
          <a:xfrm>
            <a:off x="4433560" y="428421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Messaging fabric</a:t>
            </a:r>
            <a:endParaRPr lang="en-US" sz="900" dirty="0"/>
          </a:p>
        </p:txBody>
      </p:sp>
      <p:sp>
        <p:nvSpPr>
          <p:cNvPr id="87" name="Text 84"/>
          <p:cNvSpPr/>
          <p:nvPr/>
        </p:nvSpPr>
        <p:spPr>
          <a:xfrm>
            <a:off x="4433560" y="446709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Kafka, NATS, event mesh</a:t>
            </a:r>
            <a:endParaRPr lang="en-US" sz="740" dirty="0"/>
          </a:p>
        </p:txBody>
      </p:sp>
      <p:sp>
        <p:nvSpPr>
          <p:cNvPr id="88" name="Shape 85"/>
          <p:cNvSpPr/>
          <p:nvPr/>
        </p:nvSpPr>
        <p:spPr>
          <a:xfrm>
            <a:off x="6187928" y="4220210"/>
            <a:ext cx="1763512" cy="566928"/>
          </a:xfrm>
          <a:prstGeom prst="roundRect">
            <a:avLst>
              <a:gd name="adj" fmla="val 12903"/>
            </a:avLst>
          </a:prstGeom>
          <a:solidFill>
            <a:srgbClr val="FFFFFF"/>
          </a:solidFill>
          <a:ln w="12700">
            <a:solidFill>
              <a:srgbClr val="E2E7EC"/>
            </a:solidFill>
            <a:prstDash val="solid"/>
          </a:ln>
        </p:spPr>
      </p:sp>
      <p:sp>
        <p:nvSpPr>
          <p:cNvPr id="89" name="Text 86"/>
          <p:cNvSpPr/>
          <p:nvPr/>
        </p:nvSpPr>
        <p:spPr>
          <a:xfrm>
            <a:off x="6270224" y="428421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API management</a:t>
            </a:r>
            <a:endParaRPr lang="en-US" sz="900" dirty="0"/>
          </a:p>
        </p:txBody>
      </p:sp>
      <p:sp>
        <p:nvSpPr>
          <p:cNvPr id="90" name="Text 87"/>
          <p:cNvSpPr/>
          <p:nvPr/>
        </p:nvSpPr>
        <p:spPr>
          <a:xfrm>
            <a:off x="6270224" y="446709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Ingress, quotas, routing</a:t>
            </a:r>
            <a:endParaRPr lang="en-US" sz="740" dirty="0"/>
          </a:p>
        </p:txBody>
      </p:sp>
      <p:sp>
        <p:nvSpPr>
          <p:cNvPr id="91" name="Shape 88"/>
          <p:cNvSpPr/>
          <p:nvPr/>
        </p:nvSpPr>
        <p:spPr>
          <a:xfrm>
            <a:off x="8024592" y="4220210"/>
            <a:ext cx="1763512" cy="566928"/>
          </a:xfrm>
          <a:prstGeom prst="roundRect">
            <a:avLst>
              <a:gd name="adj" fmla="val 12903"/>
            </a:avLst>
          </a:prstGeom>
          <a:solidFill>
            <a:srgbClr val="FFFFFF"/>
          </a:solidFill>
          <a:ln w="12700">
            <a:solidFill>
              <a:srgbClr val="E2E7EC"/>
            </a:solidFill>
            <a:prstDash val="solid"/>
          </a:ln>
        </p:spPr>
      </p:sp>
      <p:sp>
        <p:nvSpPr>
          <p:cNvPr id="92" name="Text 89"/>
          <p:cNvSpPr/>
          <p:nvPr/>
        </p:nvSpPr>
        <p:spPr>
          <a:xfrm>
            <a:off x="8106888" y="428421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Network controls</a:t>
            </a:r>
            <a:endParaRPr lang="en-US" sz="900" dirty="0"/>
          </a:p>
        </p:txBody>
      </p:sp>
      <p:sp>
        <p:nvSpPr>
          <p:cNvPr id="93" name="Text 90"/>
          <p:cNvSpPr/>
          <p:nvPr/>
        </p:nvSpPr>
        <p:spPr>
          <a:xfrm>
            <a:off x="8106888" y="446709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Identity, egress, segmentation</a:t>
            </a:r>
            <a:endParaRPr lang="en-US" sz="740" dirty="0"/>
          </a:p>
        </p:txBody>
      </p:sp>
      <p:sp>
        <p:nvSpPr>
          <p:cNvPr id="94" name="Shape 91"/>
          <p:cNvSpPr/>
          <p:nvPr/>
        </p:nvSpPr>
        <p:spPr>
          <a:xfrm>
            <a:off x="9861255" y="4220210"/>
            <a:ext cx="1763512" cy="566928"/>
          </a:xfrm>
          <a:prstGeom prst="roundRect">
            <a:avLst>
              <a:gd name="adj" fmla="val 12903"/>
            </a:avLst>
          </a:prstGeom>
          <a:solidFill>
            <a:srgbClr val="FFFFFF"/>
          </a:solidFill>
          <a:ln w="12700">
            <a:solidFill>
              <a:srgbClr val="E2E7EC"/>
            </a:solidFill>
            <a:prstDash val="solid"/>
          </a:ln>
        </p:spPr>
      </p:sp>
      <p:sp>
        <p:nvSpPr>
          <p:cNvPr id="95" name="Text 92"/>
          <p:cNvSpPr/>
          <p:nvPr/>
        </p:nvSpPr>
        <p:spPr>
          <a:xfrm>
            <a:off x="9943551" y="428421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Runtime isolation</a:t>
            </a:r>
            <a:endParaRPr lang="en-US" sz="900" dirty="0"/>
          </a:p>
        </p:txBody>
      </p:sp>
      <p:sp>
        <p:nvSpPr>
          <p:cNvPr id="96" name="Text 93"/>
          <p:cNvSpPr/>
          <p:nvPr/>
        </p:nvSpPr>
        <p:spPr>
          <a:xfrm>
            <a:off x="9943551" y="446709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Containers, microVMs</a:t>
            </a:r>
            <a:endParaRPr lang="en-US" sz="740" dirty="0"/>
          </a:p>
        </p:txBody>
      </p:sp>
      <p:sp>
        <p:nvSpPr>
          <p:cNvPr id="97" name="Shape 94"/>
          <p:cNvSpPr/>
          <p:nvPr/>
        </p:nvSpPr>
        <p:spPr>
          <a:xfrm>
            <a:off x="566928" y="4860290"/>
            <a:ext cx="1874520" cy="566928"/>
          </a:xfrm>
          <a:prstGeom prst="roundRect">
            <a:avLst>
              <a:gd name="adj" fmla="val 12903"/>
            </a:avLst>
          </a:prstGeom>
          <a:solidFill>
            <a:srgbClr val="08223F"/>
          </a:solidFill>
          <a:ln w="12700">
            <a:solidFill>
              <a:srgbClr val="08223F"/>
            </a:solidFill>
            <a:prstDash val="solid"/>
          </a:ln>
        </p:spPr>
      </p:sp>
      <p:sp>
        <p:nvSpPr>
          <p:cNvPr id="98" name="Text 95"/>
          <p:cNvSpPr/>
          <p:nvPr/>
        </p:nvSpPr>
        <p:spPr>
          <a:xfrm>
            <a:off x="676656" y="4924298"/>
            <a:ext cx="1655064" cy="1828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Resource Plane</a:t>
            </a:r>
            <a:endParaRPr lang="en-US" sz="1050" dirty="0"/>
          </a:p>
        </p:txBody>
      </p:sp>
      <p:sp>
        <p:nvSpPr>
          <p:cNvPr id="99" name="Text 96"/>
          <p:cNvSpPr/>
          <p:nvPr/>
        </p:nvSpPr>
        <p:spPr>
          <a:xfrm>
            <a:off x="676656" y="5116322"/>
            <a:ext cx="1655064" cy="219456"/>
          </a:xfrm>
          <a:prstGeom prst="rect">
            <a:avLst/>
          </a:prstGeom>
          <a:noFill/>
          <a:ln/>
        </p:spPr>
        <p:txBody>
          <a:bodyPr wrap="square" lIns="0" tIns="0" rIns="0" bIns="0" rtlCol="0" anchor="t"/>
          <a:lstStyle/>
          <a:p>
            <a:pPr indent="0" marL="0">
              <a:buNone/>
            </a:pPr>
            <a:r>
              <a:rPr lang="en-US" sz="780" dirty="0">
                <a:solidFill>
                  <a:srgbClr val="D6E4EE"/>
                </a:solidFill>
                <a:latin typeface="Calibri" pitchFamily="34" charset="0"/>
                <a:ea typeface="Calibri" pitchFamily="34" charset="-122"/>
                <a:cs typeface="Calibri" pitchFamily="34" charset="-120"/>
              </a:rPr>
              <a:t>Where enterprise value and risk reside</a:t>
            </a:r>
            <a:endParaRPr lang="en-US" sz="780" dirty="0"/>
          </a:p>
        </p:txBody>
      </p:sp>
      <p:sp>
        <p:nvSpPr>
          <p:cNvPr id="100" name="Shape 97"/>
          <p:cNvSpPr/>
          <p:nvPr/>
        </p:nvSpPr>
        <p:spPr>
          <a:xfrm>
            <a:off x="2514600" y="4860290"/>
            <a:ext cx="1763512" cy="566928"/>
          </a:xfrm>
          <a:prstGeom prst="roundRect">
            <a:avLst>
              <a:gd name="adj" fmla="val 12903"/>
            </a:avLst>
          </a:prstGeom>
          <a:solidFill>
            <a:srgbClr val="FFFFFF"/>
          </a:solidFill>
          <a:ln w="12700">
            <a:solidFill>
              <a:srgbClr val="E2E7EC"/>
            </a:solidFill>
            <a:prstDash val="solid"/>
          </a:ln>
        </p:spPr>
      </p:sp>
      <p:sp>
        <p:nvSpPr>
          <p:cNvPr id="101" name="Text 98"/>
          <p:cNvSpPr/>
          <p:nvPr/>
        </p:nvSpPr>
        <p:spPr>
          <a:xfrm>
            <a:off x="2596896" y="49242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AI &amp; inference</a:t>
            </a:r>
            <a:endParaRPr lang="en-US" sz="900" dirty="0"/>
          </a:p>
        </p:txBody>
      </p:sp>
      <p:sp>
        <p:nvSpPr>
          <p:cNvPr id="102" name="Text 99"/>
          <p:cNvSpPr/>
          <p:nvPr/>
        </p:nvSpPr>
        <p:spPr>
          <a:xfrm>
            <a:off x="2596896" y="51071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Local, managed models, GPUs</a:t>
            </a:r>
            <a:endParaRPr lang="en-US" sz="740" dirty="0"/>
          </a:p>
        </p:txBody>
      </p:sp>
      <p:sp>
        <p:nvSpPr>
          <p:cNvPr id="103" name="Shape 100"/>
          <p:cNvSpPr/>
          <p:nvPr/>
        </p:nvSpPr>
        <p:spPr>
          <a:xfrm>
            <a:off x="4351264" y="4860290"/>
            <a:ext cx="1763512" cy="566928"/>
          </a:xfrm>
          <a:prstGeom prst="roundRect">
            <a:avLst>
              <a:gd name="adj" fmla="val 12903"/>
            </a:avLst>
          </a:prstGeom>
          <a:solidFill>
            <a:srgbClr val="FFFFFF"/>
          </a:solidFill>
          <a:ln w="12700">
            <a:solidFill>
              <a:srgbClr val="E2E7EC"/>
            </a:solidFill>
            <a:prstDash val="solid"/>
          </a:ln>
        </p:spPr>
      </p:sp>
      <p:sp>
        <p:nvSpPr>
          <p:cNvPr id="104" name="Text 101"/>
          <p:cNvSpPr/>
          <p:nvPr/>
        </p:nvSpPr>
        <p:spPr>
          <a:xfrm>
            <a:off x="4433560" y="49242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Enterprise SaaS</a:t>
            </a:r>
            <a:endParaRPr lang="en-US" sz="900" dirty="0"/>
          </a:p>
        </p:txBody>
      </p:sp>
      <p:sp>
        <p:nvSpPr>
          <p:cNvPr id="105" name="Text 102"/>
          <p:cNvSpPr/>
          <p:nvPr/>
        </p:nvSpPr>
        <p:spPr>
          <a:xfrm>
            <a:off x="4433560" y="51071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CRM, ERP, ITSM</a:t>
            </a:r>
            <a:endParaRPr lang="en-US" sz="740" dirty="0"/>
          </a:p>
        </p:txBody>
      </p:sp>
      <p:sp>
        <p:nvSpPr>
          <p:cNvPr id="106" name="Shape 103"/>
          <p:cNvSpPr/>
          <p:nvPr/>
        </p:nvSpPr>
        <p:spPr>
          <a:xfrm>
            <a:off x="6187928" y="4860290"/>
            <a:ext cx="1763512" cy="566928"/>
          </a:xfrm>
          <a:prstGeom prst="roundRect">
            <a:avLst>
              <a:gd name="adj" fmla="val 12903"/>
            </a:avLst>
          </a:prstGeom>
          <a:solidFill>
            <a:srgbClr val="FFFFFF"/>
          </a:solidFill>
          <a:ln w="12700">
            <a:solidFill>
              <a:srgbClr val="E2E7EC"/>
            </a:solidFill>
            <a:prstDash val="solid"/>
          </a:ln>
        </p:spPr>
      </p:sp>
      <p:sp>
        <p:nvSpPr>
          <p:cNvPr id="107" name="Text 104"/>
          <p:cNvSpPr/>
          <p:nvPr/>
        </p:nvSpPr>
        <p:spPr>
          <a:xfrm>
            <a:off x="6270224" y="49242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Data platforms</a:t>
            </a:r>
            <a:endParaRPr lang="en-US" sz="900" dirty="0"/>
          </a:p>
        </p:txBody>
      </p:sp>
      <p:sp>
        <p:nvSpPr>
          <p:cNvPr id="108" name="Text 105"/>
          <p:cNvSpPr/>
          <p:nvPr/>
        </p:nvSpPr>
        <p:spPr>
          <a:xfrm>
            <a:off x="6270224" y="51071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Databases, lakes, warehouses</a:t>
            </a:r>
            <a:endParaRPr lang="en-US" sz="740" dirty="0"/>
          </a:p>
        </p:txBody>
      </p:sp>
      <p:sp>
        <p:nvSpPr>
          <p:cNvPr id="109" name="Shape 106"/>
          <p:cNvSpPr/>
          <p:nvPr/>
        </p:nvSpPr>
        <p:spPr>
          <a:xfrm>
            <a:off x="8024592" y="4860290"/>
            <a:ext cx="1763512" cy="566928"/>
          </a:xfrm>
          <a:prstGeom prst="roundRect">
            <a:avLst>
              <a:gd name="adj" fmla="val 12903"/>
            </a:avLst>
          </a:prstGeom>
          <a:solidFill>
            <a:srgbClr val="FFFFFF"/>
          </a:solidFill>
          <a:ln w="12700">
            <a:solidFill>
              <a:srgbClr val="E2E7EC"/>
            </a:solidFill>
            <a:prstDash val="solid"/>
          </a:ln>
        </p:spPr>
      </p:sp>
      <p:sp>
        <p:nvSpPr>
          <p:cNvPr id="110" name="Text 107"/>
          <p:cNvSpPr/>
          <p:nvPr/>
        </p:nvSpPr>
        <p:spPr>
          <a:xfrm>
            <a:off x="8106888" y="49242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Cloud resources</a:t>
            </a:r>
            <a:endParaRPr lang="en-US" sz="900" dirty="0"/>
          </a:p>
        </p:txBody>
      </p:sp>
      <p:sp>
        <p:nvSpPr>
          <p:cNvPr id="111" name="Text 108"/>
          <p:cNvSpPr/>
          <p:nvPr/>
        </p:nvSpPr>
        <p:spPr>
          <a:xfrm>
            <a:off x="8106888" y="51071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Infrastructure, managed services</a:t>
            </a:r>
            <a:endParaRPr lang="en-US" sz="740" dirty="0"/>
          </a:p>
        </p:txBody>
      </p:sp>
      <p:sp>
        <p:nvSpPr>
          <p:cNvPr id="112" name="Shape 109"/>
          <p:cNvSpPr/>
          <p:nvPr/>
        </p:nvSpPr>
        <p:spPr>
          <a:xfrm>
            <a:off x="9861255" y="4860290"/>
            <a:ext cx="1763512" cy="566928"/>
          </a:xfrm>
          <a:prstGeom prst="roundRect">
            <a:avLst>
              <a:gd name="adj" fmla="val 12903"/>
            </a:avLst>
          </a:prstGeom>
          <a:solidFill>
            <a:srgbClr val="FFFFFF"/>
          </a:solidFill>
          <a:ln w="12700">
            <a:solidFill>
              <a:srgbClr val="E2E7EC"/>
            </a:solidFill>
            <a:prstDash val="solid"/>
          </a:ln>
        </p:spPr>
      </p:sp>
      <p:sp>
        <p:nvSpPr>
          <p:cNvPr id="113" name="Text 110"/>
          <p:cNvSpPr/>
          <p:nvPr/>
        </p:nvSpPr>
        <p:spPr>
          <a:xfrm>
            <a:off x="9943551" y="4924298"/>
            <a:ext cx="1598920" cy="173736"/>
          </a:xfrm>
          <a:prstGeom prst="rect">
            <a:avLst/>
          </a:prstGeom>
          <a:noFill/>
          <a:ln/>
        </p:spPr>
        <p:txBody>
          <a:bodyPr wrap="square" lIns="0" tIns="0" rIns="0" bIns="0" rtlCol="0" anchor="ctr"/>
          <a:lstStyle/>
          <a:p>
            <a:pPr indent="0" marL="0">
              <a:buNone/>
            </a:pPr>
            <a:r>
              <a:rPr lang="en-US" sz="900" b="1" dirty="0">
                <a:solidFill>
                  <a:srgbClr val="0B1622"/>
                </a:solidFill>
                <a:latin typeface="Calibri" pitchFamily="34" charset="0"/>
                <a:ea typeface="Calibri" pitchFamily="34" charset="-122"/>
                <a:cs typeface="Calibri" pitchFamily="34" charset="-120"/>
              </a:rPr>
              <a:t>Custom &amp; legacy</a:t>
            </a:r>
            <a:endParaRPr lang="en-US" sz="900" dirty="0"/>
          </a:p>
        </p:txBody>
      </p:sp>
      <p:sp>
        <p:nvSpPr>
          <p:cNvPr id="114" name="Text 111"/>
          <p:cNvSpPr/>
          <p:nvPr/>
        </p:nvSpPr>
        <p:spPr>
          <a:xfrm>
            <a:off x="9943551" y="5107178"/>
            <a:ext cx="1598920" cy="219456"/>
          </a:xfrm>
          <a:prstGeom prst="rect">
            <a:avLst/>
          </a:prstGeom>
          <a:noFill/>
          <a:ln/>
        </p:spPr>
        <p:txBody>
          <a:bodyPr wrap="square" lIns="0" tIns="0" rIns="0" bIns="0" rtlCol="0" anchor="t"/>
          <a:lstStyle/>
          <a:p>
            <a:pPr indent="0" marL="0">
              <a:buNone/>
            </a:pPr>
            <a:r>
              <a:rPr lang="en-US" sz="740" dirty="0">
                <a:solidFill>
                  <a:srgbClr val="7E8C9B"/>
                </a:solidFill>
                <a:latin typeface="Calibri" pitchFamily="34" charset="0"/>
                <a:ea typeface="Calibri" pitchFamily="34" charset="-122"/>
                <a:cs typeface="Calibri" pitchFamily="34" charset="-120"/>
              </a:rPr>
              <a:t>Internal systems and OT</a:t>
            </a:r>
            <a:endParaRPr lang="en-US" sz="740" dirty="0"/>
          </a:p>
        </p:txBody>
      </p:sp>
      <p:sp>
        <p:nvSpPr>
          <p:cNvPr id="115" name="Shape 112"/>
          <p:cNvSpPr/>
          <p:nvPr/>
        </p:nvSpPr>
        <p:spPr>
          <a:xfrm>
            <a:off x="566928" y="5500370"/>
            <a:ext cx="11057839" cy="475488"/>
          </a:xfrm>
          <a:prstGeom prst="roundRect">
            <a:avLst>
              <a:gd name="adj" fmla="val 15385"/>
            </a:avLst>
          </a:prstGeom>
          <a:solidFill>
            <a:srgbClr val="0D366B"/>
          </a:solidFill>
          <a:ln w="12700">
            <a:solidFill>
              <a:srgbClr val="0D366B"/>
            </a:solidFill>
            <a:prstDash val="solid"/>
          </a:ln>
        </p:spPr>
      </p:sp>
      <p:sp>
        <p:nvSpPr>
          <p:cNvPr id="116" name="Text 113"/>
          <p:cNvSpPr/>
          <p:nvPr/>
        </p:nvSpPr>
        <p:spPr>
          <a:xfrm>
            <a:off x="676656" y="5555234"/>
            <a:ext cx="1874520" cy="18288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Event &amp; Telemetry Fabric</a:t>
            </a:r>
            <a:endParaRPr lang="en-US" sz="1000" dirty="0"/>
          </a:p>
        </p:txBody>
      </p:sp>
      <p:sp>
        <p:nvSpPr>
          <p:cNvPr id="117" name="Text 114"/>
          <p:cNvSpPr/>
          <p:nvPr/>
        </p:nvSpPr>
        <p:spPr>
          <a:xfrm>
            <a:off x="676656" y="5738114"/>
            <a:ext cx="1874520" cy="164592"/>
          </a:xfrm>
          <a:prstGeom prst="rect">
            <a:avLst/>
          </a:prstGeom>
          <a:noFill/>
          <a:ln/>
        </p:spPr>
        <p:txBody>
          <a:bodyPr wrap="square" lIns="0" tIns="0" rIns="0" bIns="0" rtlCol="0" anchor="ctr"/>
          <a:lstStyle/>
          <a:p>
            <a:pPr indent="0" marL="0">
              <a:buNone/>
            </a:pPr>
            <a:r>
              <a:rPr lang="en-US" sz="740" dirty="0">
                <a:solidFill>
                  <a:srgbClr val="D6E4EE"/>
                </a:solidFill>
                <a:latin typeface="Calibri" pitchFamily="34" charset="0"/>
                <a:ea typeface="Calibri" pitchFamily="34" charset="-122"/>
                <a:cs typeface="Calibri" pitchFamily="34" charset="-120"/>
              </a:rPr>
              <a:t>Cross-cutting evidence and governed reaction</a:t>
            </a:r>
            <a:endParaRPr lang="en-US" sz="740" dirty="0"/>
          </a:p>
        </p:txBody>
      </p:sp>
      <p:sp>
        <p:nvSpPr>
          <p:cNvPr id="118" name="Text 115"/>
          <p:cNvSpPr/>
          <p:nvPr/>
        </p:nvSpPr>
        <p:spPr>
          <a:xfrm>
            <a:off x="2514600" y="5500370"/>
            <a:ext cx="9018727" cy="475488"/>
          </a:xfrm>
          <a:prstGeom prst="rect">
            <a:avLst/>
          </a:prstGeom>
          <a:noFill/>
          <a:ln/>
        </p:spPr>
        <p:txBody>
          <a:bodyPr wrap="square" lIns="0" tIns="0" rIns="0" bIns="0" rtlCol="0" anchor="ctr"/>
          <a:lstStyle/>
          <a:p>
            <a:pPr indent="0" marL="0">
              <a:buNone/>
            </a:pPr>
            <a:r>
              <a:rPr lang="en-US" sz="840" dirty="0">
                <a:solidFill>
                  <a:srgbClr val="E4EFF5"/>
                </a:solidFill>
                <a:latin typeface="Consolas" pitchFamily="34" charset="0"/>
                <a:ea typeface="Consolas" pitchFamily="34" charset="-122"/>
                <a:cs typeface="Consolas" pitchFamily="34" charset="-120"/>
              </a:rPr>
              <a:t>OpenTelemetry context → traces · metrics · logs · decision evidence → event bus → alerts · remediation · approvals · scaling</a:t>
            </a:r>
            <a:endParaRPr lang="en-US" sz="840" dirty="0"/>
          </a:p>
        </p:txBody>
      </p:sp>
      <p:sp>
        <p:nvSpPr>
          <p:cNvPr id="119" name="Shape 116"/>
          <p:cNvSpPr/>
          <p:nvPr/>
        </p:nvSpPr>
        <p:spPr>
          <a:xfrm>
            <a:off x="566928" y="6382512"/>
            <a:ext cx="11057839" cy="0"/>
          </a:xfrm>
          <a:prstGeom prst="line">
            <a:avLst/>
          </a:prstGeom>
          <a:noFill/>
          <a:ln w="9525">
            <a:solidFill>
              <a:srgbClr val="E2E7EC"/>
            </a:solidFill>
            <a:prstDash val="solid"/>
          </a:ln>
        </p:spPr>
      </p:sp>
      <p:sp>
        <p:nvSpPr>
          <p:cNvPr id="120" name="Text 11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21" name="Text 11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RESPONSIBILITIES ARE FIXED · PRODUCT SELECTIONS ARE CONTEXTUAL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THE CRUX</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The control plane is the only genuinely new layer.</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Four of its five responsibilities already exist in your estate under different names. The one that usually does not is capability grants — and that is where most of the engineering effort goes.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83512"/>
          <a:ext cx="5943600" cy="914400"/>
        </p:xfrm>
        <a:graphic>
          <a:graphicData uri="http://schemas.openxmlformats.org/drawingml/2006/table">
            <a:tbl>
              <a:tblPr/>
              <a:tblGrid>
                <a:gridCol w="2286000"/>
                <a:gridCol w="2606040"/>
                <a:gridCol w="105156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RESPONSIBILITY</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ANSWERS</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IN ESTATE?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Identity</a:t>
                      </a:r>
                      <a:endParaRPr lang="en-US" sz="900" dirty="0">
                        <a:latin typeface="Calibri" charset="0"/>
                        <a:ea typeface="Calibri" charset="0"/>
                        <a:cs typeface="Calibri" charset="0"/>
                      </a:endParaRPr>
                    </a:p>
                    <a:p>
                      <a:pPr indent="0" marL="0">
                        <a:buNone/>
                      </a:pPr>
                      <a:r>
                        <a:rPr lang="en-US" sz="900" b="1" dirty="0">
                          <a:solidFill>
                            <a:srgbClr val="0B1622"/>
                          </a:solidFill>
                          <a:latin typeface="Calibri" pitchFamily="34" charset="0"/>
                          <a:ea typeface="Calibri" pitchFamily="34" charset="-122"/>
                          <a:cs typeface="Calibri" pitchFamily="34" charset="-120"/>
                        </a:rPr>
                        <a:t>Human, workload and agent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Who or what is acting, and on whose behalf?</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Policy decision</a:t>
                      </a:r>
                      <a:endParaRPr lang="en-US" sz="900" dirty="0">
                        <a:latin typeface="Calibri" charset="0"/>
                        <a:ea typeface="Calibri" charset="0"/>
                        <a:cs typeface="Calibri" charset="0"/>
                      </a:endParaRPr>
                    </a:p>
                    <a:p>
                      <a:pPr indent="0" marL="0">
                        <a:buNone/>
                      </a:pPr>
                      <a:r>
                        <a:rPr lang="en-US" sz="900" b="1" dirty="0">
                          <a:solidFill>
                            <a:srgbClr val="0B1622"/>
                          </a:solidFill>
                          <a:latin typeface="Calibri" pitchFamily="34" charset="0"/>
                          <a:ea typeface="Calibri" pitchFamily="34" charset="-122"/>
                          <a:cs typeface="Calibri" pitchFamily="34" charset="-120"/>
                        </a:rPr>
                        <a:t>Actor × action × resource × context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May this actor perform this action, right now?</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7A5510"/>
                          </a:solidFill>
                          <a:latin typeface="Calibri" pitchFamily="34" charset="0"/>
                          <a:ea typeface="Calibri" pitchFamily="34" charset="-122"/>
                          <a:cs typeface="Calibri" pitchFamily="34" charset="-120"/>
                        </a:rPr>
                        <a:t>EXTEND</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EF3DC"/>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Capability grants</a:t>
                      </a:r>
                      <a:endParaRPr lang="en-US" sz="900" dirty="0">
                        <a:latin typeface="Calibri" charset="0"/>
                        <a:ea typeface="Calibri" charset="0"/>
                        <a:cs typeface="Calibri" charset="0"/>
                      </a:endParaRPr>
                    </a:p>
                    <a:p>
                      <a:pPr indent="0" marL="0">
                        <a:buNone/>
                      </a:pPr>
                      <a:r>
                        <a:rPr lang="en-US" sz="900" b="1" dirty="0">
                          <a:solidFill>
                            <a:srgbClr val="0B1622"/>
                          </a:solidFill>
                          <a:latin typeface="Calibri" pitchFamily="34" charset="0"/>
                          <a:ea typeface="Calibri" pitchFamily="34" charset="-122"/>
                          <a:cs typeface="Calibri" pitchFamily="34" charset="-120"/>
                        </a:rPr>
                        <a:t>Short-lived, scoped, attenuable</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How is that decision carried to the thing enforcing it?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32D2D"/>
                          </a:solidFill>
                          <a:latin typeface="Calibri" pitchFamily="34" charset="0"/>
                          <a:ea typeface="Calibri" pitchFamily="34" charset="-122"/>
                          <a:cs typeface="Calibri" pitchFamily="34" charset="-120"/>
                        </a:rPr>
                        <a:t>GAP</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AE6E6"/>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Governance</a:t>
                      </a:r>
                      <a:endParaRPr lang="en-US" sz="900" dirty="0">
                        <a:latin typeface="Calibri" charset="0"/>
                        <a:ea typeface="Calibri" charset="0"/>
                        <a:cs typeface="Calibri" charset="0"/>
                      </a:endParaRPr>
                    </a:p>
                    <a:p>
                      <a:pPr indent="0" marL="0">
                        <a:buNone/>
                      </a:pPr>
                      <a:r>
                        <a:rPr lang="en-US" sz="900" b="1" dirty="0">
                          <a:solidFill>
                            <a:srgbClr val="0B1622"/>
                          </a:solidFill>
                          <a:latin typeface="Calibri" pitchFamily="34" charset="0"/>
                          <a:ea typeface="Calibri" pitchFamily="34" charset="-122"/>
                          <a:cs typeface="Calibri" pitchFamily="34" charset="-120"/>
                        </a:rPr>
                        <a:t>Risk tiers, approvals, exceptions</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Who decided this action class was acceptable, and when?</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Lifecycle controls</a:t>
                      </a:r>
                      <a:endParaRPr lang="en-US" sz="900" dirty="0">
                        <a:latin typeface="Calibri" charset="0"/>
                        <a:ea typeface="Calibri" charset="0"/>
                        <a:cs typeface="Calibri" charset="0"/>
                      </a:endParaRPr>
                    </a:p>
                    <a:p>
                      <a:pPr indent="0" marL="0">
                        <a:buNone/>
                      </a:pPr>
                      <a:r>
                        <a:rPr lang="en-US" sz="900" b="1" dirty="0">
                          <a:solidFill>
                            <a:srgbClr val="0B1622"/>
                          </a:solidFill>
                          <a:latin typeface="Calibri" pitchFamily="34" charset="0"/>
                          <a:ea typeface="Calibri" pitchFamily="34" charset="-122"/>
                          <a:cs typeface="Calibri" pitchFamily="34" charset="-120"/>
                        </a:rPr>
                        <a:t>Version, rollout, circuit breaker</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How do we stop it — in seconds, without a deploy?</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7A5510"/>
                          </a:solidFill>
                          <a:latin typeface="Calibri" pitchFamily="34" charset="0"/>
                          <a:ea typeface="Calibri" pitchFamily="34" charset="-122"/>
                          <a:cs typeface="Calibri" pitchFamily="34" charset="-120"/>
                        </a:rPr>
                        <a:t>EXTEND</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EF3DC"/>
                    </a:solidFill>
                  </a:tcPr>
                </a:tc>
              </a:tr>
            </a:tbl>
          </a:graphicData>
        </a:graphic>
      </p:graphicFrame>
      <p:sp>
        <p:nvSpPr>
          <p:cNvPr id="8" name="Shape 4"/>
          <p:cNvSpPr/>
          <p:nvPr/>
        </p:nvSpPr>
        <p:spPr>
          <a:xfrm>
            <a:off x="6729984" y="1683512"/>
            <a:ext cx="4894783" cy="2286000"/>
          </a:xfrm>
          <a:prstGeom prst="roundRect">
            <a:avLst>
              <a:gd name="adj" fmla="val 3200"/>
            </a:avLst>
          </a:prstGeom>
          <a:solidFill>
            <a:srgbClr val="E6F4F6"/>
          </a:solidFill>
          <a:ln w="12700">
            <a:solidFill>
              <a:srgbClr val="9CCED6"/>
            </a:solidFill>
            <a:prstDash val="solid"/>
          </a:ln>
        </p:spPr>
      </p:sp>
      <p:sp>
        <p:nvSpPr>
          <p:cNvPr id="9" name="Text 5"/>
          <p:cNvSpPr/>
          <p:nvPr/>
        </p:nvSpPr>
        <p:spPr>
          <a:xfrm>
            <a:off x="6949440" y="1848104"/>
            <a:ext cx="4206240" cy="182880"/>
          </a:xfrm>
          <a:prstGeom prst="rect">
            <a:avLst/>
          </a:prstGeom>
          <a:noFill/>
          <a:ln/>
        </p:spPr>
        <p:txBody>
          <a:bodyPr wrap="square" lIns="0" tIns="0" rIns="0" bIns="0" rtlCol="0" anchor="ctr"/>
          <a:lstStyle/>
          <a:p>
            <a:pPr indent="0" marL="0">
              <a:buNone/>
            </a:pPr>
            <a:r>
              <a:rPr lang="en-US" sz="850" b="1" spc="140" kern="0" dirty="0">
                <a:solidFill>
                  <a:srgbClr val="0B6F7D"/>
                </a:solidFill>
                <a:latin typeface="Consolas" pitchFamily="34" charset="0"/>
                <a:ea typeface="Consolas" pitchFamily="34" charset="-122"/>
                <a:cs typeface="Consolas" pitchFamily="34" charset="-120"/>
              </a:rPr>
              <a:t>THE UNFAMILIAR ONE</a:t>
            </a:r>
            <a:endParaRPr lang="en-US" sz="850" dirty="0"/>
          </a:p>
        </p:txBody>
      </p:sp>
      <p:sp>
        <p:nvSpPr>
          <p:cNvPr id="10" name="Text 6"/>
          <p:cNvSpPr/>
          <p:nvPr/>
        </p:nvSpPr>
        <p:spPr>
          <a:xfrm>
            <a:off x="6949440" y="2067560"/>
            <a:ext cx="4206240" cy="237744"/>
          </a:xfrm>
          <a:prstGeom prst="rect">
            <a:avLst/>
          </a:prstGeom>
          <a:noFill/>
          <a:ln/>
        </p:spPr>
        <p:txBody>
          <a:bodyPr wrap="square" lIns="0" tIns="0" rIns="0" bIns="0" rtlCol="0" anchor="t"/>
          <a:lstStyle/>
          <a:p>
            <a:pPr indent="0" marL="0">
              <a:buNone/>
            </a:pPr>
            <a:r>
              <a:rPr lang="en-US" sz="1500" b="1" dirty="0">
                <a:solidFill>
                  <a:srgbClr val="0B1622"/>
                </a:solidFill>
                <a:latin typeface="Calibri" pitchFamily="34" charset="0"/>
                <a:ea typeface="Calibri" pitchFamily="34" charset="-122"/>
                <a:cs typeface="Calibri" pitchFamily="34" charset="-120"/>
              </a:rPr>
              <a:t>A grant is not a role</a:t>
            </a:r>
            <a:endParaRPr lang="en-US" sz="1500" dirty="0"/>
          </a:p>
        </p:txBody>
      </p:sp>
      <p:sp>
        <p:nvSpPr>
          <p:cNvPr id="11" name="Text 7"/>
          <p:cNvSpPr/>
          <p:nvPr/>
        </p:nvSpPr>
        <p:spPr>
          <a:xfrm>
            <a:off x="6949440" y="2360168"/>
            <a:ext cx="4297680" cy="56692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role describes what an actor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is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persists. A grant describes what an actor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may do</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bound to an audience, an action, a scope and an expiry — and is designed to die.</a:t>
            </a:r>
            <a:endParaRPr lang="en-US" sz="1050" dirty="0"/>
          </a:p>
        </p:txBody>
      </p:sp>
      <p:sp>
        <p:nvSpPr>
          <p:cNvPr id="12" name="Text 8"/>
          <p:cNvSpPr/>
          <p:nvPr/>
        </p:nvSpPr>
        <p:spPr>
          <a:xfrm>
            <a:off x="6949440" y="3018536"/>
            <a:ext cx="4297680" cy="2011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Audience-bound</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 usable only at the intended resource</a:t>
            </a:r>
            <a:endParaRPr lang="en-US" sz="1000" dirty="0"/>
          </a:p>
        </p:txBody>
      </p:sp>
      <p:sp>
        <p:nvSpPr>
          <p:cNvPr id="13" name="Text 9"/>
          <p:cNvSpPr/>
          <p:nvPr/>
        </p:nvSpPr>
        <p:spPr>
          <a:xfrm>
            <a:off x="6949440" y="3247136"/>
            <a:ext cx="4297680" cy="2011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Attenuable</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 a holder can narrow it, never widen it</a:t>
            </a:r>
            <a:endParaRPr lang="en-US" sz="1000" dirty="0"/>
          </a:p>
        </p:txBody>
      </p:sp>
      <p:sp>
        <p:nvSpPr>
          <p:cNvPr id="14" name="Text 10"/>
          <p:cNvSpPr/>
          <p:nvPr/>
        </p:nvSpPr>
        <p:spPr>
          <a:xfrm>
            <a:off x="6949440" y="3475736"/>
            <a:ext cx="4297680" cy="2011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Short-lived</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 expiry is the default revocation mechanism</a:t>
            </a:r>
            <a:endParaRPr lang="en-US" sz="1000" dirty="0"/>
          </a:p>
        </p:txBody>
      </p:sp>
      <p:sp>
        <p:nvSpPr>
          <p:cNvPr id="15" name="Text 11"/>
          <p:cNvSpPr/>
          <p:nvPr/>
        </p:nvSpPr>
        <p:spPr>
          <a:xfrm>
            <a:off x="6949440" y="3704336"/>
            <a:ext cx="4297680" cy="2011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Verifiable offline</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 routine work needs no round trip</a:t>
            </a:r>
            <a:endParaRPr lang="en-US" sz="1000" dirty="0"/>
          </a:p>
        </p:txBody>
      </p:sp>
      <p:sp>
        <p:nvSpPr>
          <p:cNvPr id="16" name="Shape 12"/>
          <p:cNvSpPr/>
          <p:nvPr/>
        </p:nvSpPr>
        <p:spPr>
          <a:xfrm>
            <a:off x="6729984" y="4060952"/>
            <a:ext cx="4894783" cy="877824"/>
          </a:xfrm>
          <a:prstGeom prst="roundRect">
            <a:avLst>
              <a:gd name="adj" fmla="val 8333"/>
            </a:avLst>
          </a:prstGeom>
          <a:solidFill>
            <a:srgbClr val="FFFFFF"/>
          </a:solidFill>
          <a:ln w="12700">
            <a:solidFill>
              <a:srgbClr val="E2E7EC"/>
            </a:solidFill>
            <a:prstDash val="solid"/>
          </a:ln>
        </p:spPr>
      </p:sp>
      <p:sp>
        <p:nvSpPr>
          <p:cNvPr id="17" name="Text 13"/>
          <p:cNvSpPr/>
          <p:nvPr/>
        </p:nvSpPr>
        <p:spPr>
          <a:xfrm>
            <a:off x="6949440" y="4188968"/>
            <a:ext cx="4297680" cy="67665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Design tension we resolve in week 4, together:</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offline verification gives you latency; online decisions give you instant revocation. High-risk actions get the round trip. Routine actions get local verification with a short TTL. Where [CLIENT] draws that line is a governance decision, not an engineering one.</a:t>
            </a:r>
            <a:endParaRPr lang="en-US" sz="950" dirty="0"/>
          </a:p>
        </p:txBody>
      </p:sp>
      <p:sp>
        <p:nvSpPr>
          <p:cNvPr id="18" name="Shape 14"/>
          <p:cNvSpPr/>
          <p:nvPr/>
        </p:nvSpPr>
        <p:spPr>
          <a:xfrm>
            <a:off x="566928" y="6382512"/>
            <a:ext cx="11057839" cy="0"/>
          </a:xfrm>
          <a:prstGeom prst="line">
            <a:avLst/>
          </a:prstGeom>
          <a:noFill/>
          <a:ln w="9525">
            <a:solidFill>
              <a:srgbClr val="E2E7EC"/>
            </a:solidFill>
            <a:prstDash val="solid"/>
          </a:ln>
        </p:spPr>
      </p:sp>
      <p:sp>
        <p:nvSpPr>
          <p:cNvPr id="19" name="Text 15"/>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0" name="Text 16"/>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RUNTIME MODEL</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Every consequential call follows one explainable path.</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Implementation varies by risk tier. The logical sequence does not — it stays legible to engineers, operators, security and auditors alike.</a:t>
            </a:r>
            <a:endParaRPr lang="en-US" sz="1250" dirty="0"/>
          </a:p>
        </p:txBody>
      </p:sp>
      <p:sp>
        <p:nvSpPr>
          <p:cNvPr id="7" name="Shape 4"/>
          <p:cNvSpPr/>
          <p:nvPr/>
        </p:nvSpPr>
        <p:spPr>
          <a:xfrm>
            <a:off x="566928" y="1517650"/>
            <a:ext cx="1302220" cy="1700784"/>
          </a:xfrm>
          <a:prstGeom prst="roundRect">
            <a:avLst>
              <a:gd name="adj" fmla="val 5617"/>
            </a:avLst>
          </a:prstGeom>
          <a:solidFill>
            <a:srgbClr val="FFFFFF"/>
          </a:solidFill>
          <a:ln w="12700">
            <a:solidFill>
              <a:srgbClr val="E2E7EC"/>
            </a:solidFill>
            <a:prstDash val="solid"/>
          </a:ln>
        </p:spPr>
      </p:sp>
      <p:sp>
        <p:nvSpPr>
          <p:cNvPr id="8" name="Shape 5"/>
          <p:cNvSpPr/>
          <p:nvPr/>
        </p:nvSpPr>
        <p:spPr>
          <a:xfrm>
            <a:off x="694944" y="1645666"/>
            <a:ext cx="219456" cy="219456"/>
          </a:xfrm>
          <a:prstGeom prst="ellipse">
            <a:avLst/>
          </a:prstGeom>
          <a:solidFill>
            <a:srgbClr val="08172A"/>
          </a:solidFill>
          <a:ln w="12700">
            <a:solidFill>
              <a:srgbClr val="08172A"/>
            </a:solidFill>
            <a:prstDash val="solid"/>
          </a:ln>
        </p:spPr>
      </p:sp>
      <p:sp>
        <p:nvSpPr>
          <p:cNvPr id="9" name="Text 6"/>
          <p:cNvSpPr/>
          <p:nvPr/>
        </p:nvSpPr>
        <p:spPr>
          <a:xfrm>
            <a:off x="69494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0" name="Text 7"/>
          <p:cNvSpPr/>
          <p:nvPr/>
        </p:nvSpPr>
        <p:spPr>
          <a:xfrm>
            <a:off x="69494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Express intent</a:t>
            </a:r>
            <a:endParaRPr lang="en-US" sz="950" dirty="0"/>
          </a:p>
        </p:txBody>
      </p:sp>
      <p:sp>
        <p:nvSpPr>
          <p:cNvPr id="11" name="Text 8"/>
          <p:cNvSpPr/>
          <p:nvPr/>
        </p:nvSpPr>
        <p:spPr>
          <a:xfrm>
            <a:off x="69494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A human, workflow or agent requests a capability — not an endpoint.</a:t>
            </a:r>
            <a:endParaRPr lang="en-US" sz="780" dirty="0"/>
          </a:p>
        </p:txBody>
      </p:sp>
      <p:sp>
        <p:nvSpPr>
          <p:cNvPr id="12" name="Shape 9"/>
          <p:cNvSpPr/>
          <p:nvPr/>
        </p:nvSpPr>
        <p:spPr>
          <a:xfrm>
            <a:off x="1960588" y="1517650"/>
            <a:ext cx="1302220" cy="1700784"/>
          </a:xfrm>
          <a:prstGeom prst="roundRect">
            <a:avLst>
              <a:gd name="adj" fmla="val 5617"/>
            </a:avLst>
          </a:prstGeom>
          <a:solidFill>
            <a:srgbClr val="FFFFFF"/>
          </a:solidFill>
          <a:ln w="12700">
            <a:solidFill>
              <a:srgbClr val="E2E7EC"/>
            </a:solidFill>
            <a:prstDash val="solid"/>
          </a:ln>
        </p:spPr>
      </p:sp>
      <p:sp>
        <p:nvSpPr>
          <p:cNvPr id="13" name="Shape 10"/>
          <p:cNvSpPr/>
          <p:nvPr/>
        </p:nvSpPr>
        <p:spPr>
          <a:xfrm>
            <a:off x="2088604" y="1645666"/>
            <a:ext cx="219456" cy="219456"/>
          </a:xfrm>
          <a:prstGeom prst="ellipse">
            <a:avLst/>
          </a:prstGeom>
          <a:solidFill>
            <a:srgbClr val="08172A"/>
          </a:solidFill>
          <a:ln w="12700">
            <a:solidFill>
              <a:srgbClr val="08172A"/>
            </a:solidFill>
            <a:prstDash val="solid"/>
          </a:ln>
        </p:spPr>
      </p:sp>
      <p:sp>
        <p:nvSpPr>
          <p:cNvPr id="14" name="Text 11"/>
          <p:cNvSpPr/>
          <p:nvPr/>
        </p:nvSpPr>
        <p:spPr>
          <a:xfrm>
            <a:off x="208860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15" name="Text 12"/>
          <p:cNvSpPr/>
          <p:nvPr/>
        </p:nvSpPr>
        <p:spPr>
          <a:xfrm>
            <a:off x="208860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Establish identity</a:t>
            </a:r>
            <a:endParaRPr lang="en-US" sz="950" dirty="0"/>
          </a:p>
        </p:txBody>
      </p:sp>
      <p:sp>
        <p:nvSpPr>
          <p:cNvPr id="16" name="Text 13"/>
          <p:cNvSpPr/>
          <p:nvPr/>
        </p:nvSpPr>
        <p:spPr>
          <a:xfrm>
            <a:off x="208860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Resolve human, workload, agent type and delegated authority.</a:t>
            </a:r>
            <a:endParaRPr lang="en-US" sz="780" dirty="0"/>
          </a:p>
        </p:txBody>
      </p:sp>
      <p:sp>
        <p:nvSpPr>
          <p:cNvPr id="17" name="Shape 14"/>
          <p:cNvSpPr/>
          <p:nvPr/>
        </p:nvSpPr>
        <p:spPr>
          <a:xfrm>
            <a:off x="3354248" y="1517650"/>
            <a:ext cx="1302220" cy="1700784"/>
          </a:xfrm>
          <a:prstGeom prst="roundRect">
            <a:avLst>
              <a:gd name="adj" fmla="val 5617"/>
            </a:avLst>
          </a:prstGeom>
          <a:solidFill>
            <a:srgbClr val="FFFFFF"/>
          </a:solidFill>
          <a:ln w="12700">
            <a:solidFill>
              <a:srgbClr val="E2E7EC"/>
            </a:solidFill>
            <a:prstDash val="solid"/>
          </a:ln>
        </p:spPr>
      </p:sp>
      <p:sp>
        <p:nvSpPr>
          <p:cNvPr id="18" name="Shape 15"/>
          <p:cNvSpPr/>
          <p:nvPr/>
        </p:nvSpPr>
        <p:spPr>
          <a:xfrm>
            <a:off x="3482264" y="1645666"/>
            <a:ext cx="219456" cy="219456"/>
          </a:xfrm>
          <a:prstGeom prst="ellipse">
            <a:avLst/>
          </a:prstGeom>
          <a:solidFill>
            <a:srgbClr val="08172A"/>
          </a:solidFill>
          <a:ln w="12700">
            <a:solidFill>
              <a:srgbClr val="08172A"/>
            </a:solidFill>
            <a:prstDash val="solid"/>
          </a:ln>
        </p:spPr>
      </p:sp>
      <p:sp>
        <p:nvSpPr>
          <p:cNvPr id="19" name="Text 16"/>
          <p:cNvSpPr/>
          <p:nvPr/>
        </p:nvSpPr>
        <p:spPr>
          <a:xfrm>
            <a:off x="348226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0" name="Text 17"/>
          <p:cNvSpPr/>
          <p:nvPr/>
        </p:nvSpPr>
        <p:spPr>
          <a:xfrm>
            <a:off x="348226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Discover</a:t>
            </a:r>
            <a:endParaRPr lang="en-US" sz="950" dirty="0"/>
          </a:p>
        </p:txBody>
      </p:sp>
      <p:sp>
        <p:nvSpPr>
          <p:cNvPr id="21" name="Text 18"/>
          <p:cNvSpPr/>
          <p:nvPr/>
        </p:nvSpPr>
        <p:spPr>
          <a:xfrm>
            <a:off x="348226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Find eligible services by capability, locality, health, cost, version.</a:t>
            </a:r>
            <a:endParaRPr lang="en-US" sz="780" dirty="0"/>
          </a:p>
        </p:txBody>
      </p:sp>
      <p:sp>
        <p:nvSpPr>
          <p:cNvPr id="22" name="Shape 19"/>
          <p:cNvSpPr/>
          <p:nvPr/>
        </p:nvSpPr>
        <p:spPr>
          <a:xfrm>
            <a:off x="4747908" y="1517650"/>
            <a:ext cx="1302220" cy="1700784"/>
          </a:xfrm>
          <a:prstGeom prst="roundRect">
            <a:avLst>
              <a:gd name="adj" fmla="val 5617"/>
            </a:avLst>
          </a:prstGeom>
          <a:solidFill>
            <a:srgbClr val="E6F4F6"/>
          </a:solidFill>
          <a:ln w="12700">
            <a:solidFill>
              <a:srgbClr val="9CCED6"/>
            </a:solidFill>
            <a:prstDash val="solid"/>
          </a:ln>
        </p:spPr>
      </p:sp>
      <p:sp>
        <p:nvSpPr>
          <p:cNvPr id="23" name="Shape 20"/>
          <p:cNvSpPr/>
          <p:nvPr/>
        </p:nvSpPr>
        <p:spPr>
          <a:xfrm>
            <a:off x="4875924" y="1645666"/>
            <a:ext cx="219456" cy="219456"/>
          </a:xfrm>
          <a:prstGeom prst="ellipse">
            <a:avLst/>
          </a:prstGeom>
          <a:solidFill>
            <a:srgbClr val="0B6F7D"/>
          </a:solidFill>
          <a:ln w="12700">
            <a:solidFill>
              <a:srgbClr val="0B6F7D"/>
            </a:solidFill>
            <a:prstDash val="solid"/>
          </a:ln>
        </p:spPr>
      </p:sp>
      <p:sp>
        <p:nvSpPr>
          <p:cNvPr id="24" name="Text 21"/>
          <p:cNvSpPr/>
          <p:nvPr/>
        </p:nvSpPr>
        <p:spPr>
          <a:xfrm>
            <a:off x="487592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25" name="Text 22"/>
          <p:cNvSpPr/>
          <p:nvPr/>
        </p:nvSpPr>
        <p:spPr>
          <a:xfrm>
            <a:off x="487592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Decide policy</a:t>
            </a:r>
            <a:endParaRPr lang="en-US" sz="950" dirty="0"/>
          </a:p>
        </p:txBody>
      </p:sp>
      <p:sp>
        <p:nvSpPr>
          <p:cNvPr id="26" name="Text 23"/>
          <p:cNvSpPr/>
          <p:nvPr/>
        </p:nvSpPr>
        <p:spPr>
          <a:xfrm>
            <a:off x="487592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Actor, action, resource, context, risk, breaker state, delegation limits.</a:t>
            </a:r>
            <a:endParaRPr lang="en-US" sz="780" dirty="0"/>
          </a:p>
        </p:txBody>
      </p:sp>
      <p:sp>
        <p:nvSpPr>
          <p:cNvPr id="27" name="Shape 24"/>
          <p:cNvSpPr/>
          <p:nvPr/>
        </p:nvSpPr>
        <p:spPr>
          <a:xfrm>
            <a:off x="6141568" y="1517650"/>
            <a:ext cx="1302220" cy="1700784"/>
          </a:xfrm>
          <a:prstGeom prst="roundRect">
            <a:avLst>
              <a:gd name="adj" fmla="val 5617"/>
            </a:avLst>
          </a:prstGeom>
          <a:solidFill>
            <a:srgbClr val="E6F4F6"/>
          </a:solidFill>
          <a:ln w="12700">
            <a:solidFill>
              <a:srgbClr val="9CCED6"/>
            </a:solidFill>
            <a:prstDash val="solid"/>
          </a:ln>
        </p:spPr>
      </p:sp>
      <p:sp>
        <p:nvSpPr>
          <p:cNvPr id="28" name="Shape 25"/>
          <p:cNvSpPr/>
          <p:nvPr/>
        </p:nvSpPr>
        <p:spPr>
          <a:xfrm>
            <a:off x="6269584" y="1645666"/>
            <a:ext cx="219456" cy="219456"/>
          </a:xfrm>
          <a:prstGeom prst="ellipse">
            <a:avLst/>
          </a:prstGeom>
          <a:solidFill>
            <a:srgbClr val="0B6F7D"/>
          </a:solidFill>
          <a:ln w="12700">
            <a:solidFill>
              <a:srgbClr val="0B6F7D"/>
            </a:solidFill>
            <a:prstDash val="solid"/>
          </a:ln>
        </p:spPr>
      </p:sp>
      <p:sp>
        <p:nvSpPr>
          <p:cNvPr id="29" name="Text 26"/>
          <p:cNvSpPr/>
          <p:nvPr/>
        </p:nvSpPr>
        <p:spPr>
          <a:xfrm>
            <a:off x="626958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5</a:t>
            </a:r>
            <a:endParaRPr lang="en-US" sz="900" dirty="0"/>
          </a:p>
        </p:txBody>
      </p:sp>
      <p:sp>
        <p:nvSpPr>
          <p:cNvPr id="30" name="Text 27"/>
          <p:cNvSpPr/>
          <p:nvPr/>
        </p:nvSpPr>
        <p:spPr>
          <a:xfrm>
            <a:off x="626958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Convey authority</a:t>
            </a:r>
            <a:endParaRPr lang="en-US" sz="950" dirty="0"/>
          </a:p>
        </p:txBody>
      </p:sp>
      <p:sp>
        <p:nvSpPr>
          <p:cNvPr id="31" name="Text 28"/>
          <p:cNvSpPr/>
          <p:nvPr/>
        </p:nvSpPr>
        <p:spPr>
          <a:xfrm>
            <a:off x="626958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Issue a short-lived grant bound to audience, action, scope, expiry.</a:t>
            </a:r>
            <a:endParaRPr lang="en-US" sz="780" dirty="0"/>
          </a:p>
        </p:txBody>
      </p:sp>
      <p:sp>
        <p:nvSpPr>
          <p:cNvPr id="32" name="Shape 29"/>
          <p:cNvSpPr/>
          <p:nvPr/>
        </p:nvSpPr>
        <p:spPr>
          <a:xfrm>
            <a:off x="7535228" y="1517650"/>
            <a:ext cx="1302220" cy="1700784"/>
          </a:xfrm>
          <a:prstGeom prst="roundRect">
            <a:avLst>
              <a:gd name="adj" fmla="val 5617"/>
            </a:avLst>
          </a:prstGeom>
          <a:solidFill>
            <a:srgbClr val="FFFFFF"/>
          </a:solidFill>
          <a:ln w="12700">
            <a:solidFill>
              <a:srgbClr val="E2E7EC"/>
            </a:solidFill>
            <a:prstDash val="solid"/>
          </a:ln>
        </p:spPr>
      </p:sp>
      <p:sp>
        <p:nvSpPr>
          <p:cNvPr id="33" name="Shape 30"/>
          <p:cNvSpPr/>
          <p:nvPr/>
        </p:nvSpPr>
        <p:spPr>
          <a:xfrm>
            <a:off x="7663244" y="1645666"/>
            <a:ext cx="219456" cy="219456"/>
          </a:xfrm>
          <a:prstGeom prst="ellipse">
            <a:avLst/>
          </a:prstGeom>
          <a:solidFill>
            <a:srgbClr val="08172A"/>
          </a:solidFill>
          <a:ln w="12700">
            <a:solidFill>
              <a:srgbClr val="08172A"/>
            </a:solidFill>
            <a:prstDash val="solid"/>
          </a:ln>
        </p:spPr>
      </p:sp>
      <p:sp>
        <p:nvSpPr>
          <p:cNvPr id="34" name="Text 31"/>
          <p:cNvSpPr/>
          <p:nvPr/>
        </p:nvSpPr>
        <p:spPr>
          <a:xfrm>
            <a:off x="7663244"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6</a:t>
            </a:r>
            <a:endParaRPr lang="en-US" sz="900" dirty="0"/>
          </a:p>
        </p:txBody>
      </p:sp>
      <p:sp>
        <p:nvSpPr>
          <p:cNvPr id="35" name="Text 32"/>
          <p:cNvSpPr/>
          <p:nvPr/>
        </p:nvSpPr>
        <p:spPr>
          <a:xfrm>
            <a:off x="7663244"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Enforce</a:t>
            </a:r>
            <a:endParaRPr lang="en-US" sz="950" dirty="0"/>
          </a:p>
        </p:txBody>
      </p:sp>
      <p:sp>
        <p:nvSpPr>
          <p:cNvPr id="36" name="Text 33"/>
          <p:cNvSpPr/>
          <p:nvPr/>
        </p:nvSpPr>
        <p:spPr>
          <a:xfrm>
            <a:off x="7663244"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The mediation boundary verifies the grant and exposes approved interfaces only.</a:t>
            </a:r>
            <a:endParaRPr lang="en-US" sz="780" dirty="0"/>
          </a:p>
        </p:txBody>
      </p:sp>
      <p:sp>
        <p:nvSpPr>
          <p:cNvPr id="37" name="Shape 34"/>
          <p:cNvSpPr/>
          <p:nvPr/>
        </p:nvSpPr>
        <p:spPr>
          <a:xfrm>
            <a:off x="8928887" y="1517650"/>
            <a:ext cx="1302220" cy="1700784"/>
          </a:xfrm>
          <a:prstGeom prst="roundRect">
            <a:avLst>
              <a:gd name="adj" fmla="val 5617"/>
            </a:avLst>
          </a:prstGeom>
          <a:solidFill>
            <a:srgbClr val="FFFFFF"/>
          </a:solidFill>
          <a:ln w="12700">
            <a:solidFill>
              <a:srgbClr val="E2E7EC"/>
            </a:solidFill>
            <a:prstDash val="solid"/>
          </a:ln>
        </p:spPr>
      </p:sp>
      <p:sp>
        <p:nvSpPr>
          <p:cNvPr id="38" name="Shape 35"/>
          <p:cNvSpPr/>
          <p:nvPr/>
        </p:nvSpPr>
        <p:spPr>
          <a:xfrm>
            <a:off x="9056903" y="1645666"/>
            <a:ext cx="219456" cy="219456"/>
          </a:xfrm>
          <a:prstGeom prst="ellipse">
            <a:avLst/>
          </a:prstGeom>
          <a:solidFill>
            <a:srgbClr val="08172A"/>
          </a:solidFill>
          <a:ln w="12700">
            <a:solidFill>
              <a:srgbClr val="08172A"/>
            </a:solidFill>
            <a:prstDash val="solid"/>
          </a:ln>
        </p:spPr>
      </p:sp>
      <p:sp>
        <p:nvSpPr>
          <p:cNvPr id="39" name="Text 36"/>
          <p:cNvSpPr/>
          <p:nvPr/>
        </p:nvSpPr>
        <p:spPr>
          <a:xfrm>
            <a:off x="9056903"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7</a:t>
            </a:r>
            <a:endParaRPr lang="en-US" sz="900" dirty="0"/>
          </a:p>
        </p:txBody>
      </p:sp>
      <p:sp>
        <p:nvSpPr>
          <p:cNvPr id="40" name="Text 37"/>
          <p:cNvSpPr/>
          <p:nvPr/>
        </p:nvSpPr>
        <p:spPr>
          <a:xfrm>
            <a:off x="9056903"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Execute</a:t>
            </a:r>
            <a:endParaRPr lang="en-US" sz="950" dirty="0"/>
          </a:p>
        </p:txBody>
      </p:sp>
      <p:sp>
        <p:nvSpPr>
          <p:cNvPr id="41" name="Text 38"/>
          <p:cNvSpPr/>
          <p:nvPr/>
        </p:nvSpPr>
        <p:spPr>
          <a:xfrm>
            <a:off x="9056903"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Run locally, at the edge or in cluster with the required isolation.</a:t>
            </a:r>
            <a:endParaRPr lang="en-US" sz="780" dirty="0"/>
          </a:p>
        </p:txBody>
      </p:sp>
      <p:sp>
        <p:nvSpPr>
          <p:cNvPr id="42" name="Shape 39"/>
          <p:cNvSpPr/>
          <p:nvPr/>
        </p:nvSpPr>
        <p:spPr>
          <a:xfrm>
            <a:off x="10322547" y="1517650"/>
            <a:ext cx="1302220" cy="1700784"/>
          </a:xfrm>
          <a:prstGeom prst="roundRect">
            <a:avLst>
              <a:gd name="adj" fmla="val 5617"/>
            </a:avLst>
          </a:prstGeom>
          <a:solidFill>
            <a:srgbClr val="FFFFFF"/>
          </a:solidFill>
          <a:ln w="12700">
            <a:solidFill>
              <a:srgbClr val="E2E7EC"/>
            </a:solidFill>
            <a:prstDash val="solid"/>
          </a:ln>
        </p:spPr>
      </p:sp>
      <p:sp>
        <p:nvSpPr>
          <p:cNvPr id="43" name="Shape 40"/>
          <p:cNvSpPr/>
          <p:nvPr/>
        </p:nvSpPr>
        <p:spPr>
          <a:xfrm>
            <a:off x="10450563" y="1645666"/>
            <a:ext cx="219456" cy="219456"/>
          </a:xfrm>
          <a:prstGeom prst="ellipse">
            <a:avLst/>
          </a:prstGeom>
          <a:solidFill>
            <a:srgbClr val="08172A"/>
          </a:solidFill>
          <a:ln w="12700">
            <a:solidFill>
              <a:srgbClr val="08172A"/>
            </a:solidFill>
            <a:prstDash val="solid"/>
          </a:ln>
        </p:spPr>
      </p:sp>
      <p:sp>
        <p:nvSpPr>
          <p:cNvPr id="44" name="Text 41"/>
          <p:cNvSpPr/>
          <p:nvPr/>
        </p:nvSpPr>
        <p:spPr>
          <a:xfrm>
            <a:off x="10450563" y="164566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8</a:t>
            </a:r>
            <a:endParaRPr lang="en-US" sz="900" dirty="0"/>
          </a:p>
        </p:txBody>
      </p:sp>
      <p:sp>
        <p:nvSpPr>
          <p:cNvPr id="45" name="Text 42"/>
          <p:cNvSpPr/>
          <p:nvPr/>
        </p:nvSpPr>
        <p:spPr>
          <a:xfrm>
            <a:off x="10450563" y="1956562"/>
            <a:ext cx="1046188" cy="329184"/>
          </a:xfrm>
          <a:prstGeom prst="rect">
            <a:avLst/>
          </a:prstGeom>
          <a:noFill/>
          <a:ln/>
        </p:spPr>
        <p:txBody>
          <a:bodyPr wrap="square" lIns="0" tIns="0" rIns="0" bIns="0" rtlCol="0" anchor="t"/>
          <a:lstStyle/>
          <a:p>
            <a:pPr indent="0" marL="0">
              <a:buNone/>
            </a:pPr>
            <a:r>
              <a:rPr lang="en-US" sz="950" b="1" dirty="0">
                <a:solidFill>
                  <a:srgbClr val="0B1622"/>
                </a:solidFill>
                <a:latin typeface="Calibri" pitchFamily="34" charset="0"/>
                <a:ea typeface="Calibri" pitchFamily="34" charset="-122"/>
                <a:cs typeface="Calibri" pitchFamily="34" charset="-120"/>
              </a:rPr>
              <a:t>Produce evidence</a:t>
            </a:r>
            <a:endParaRPr lang="en-US" sz="950" dirty="0"/>
          </a:p>
        </p:txBody>
      </p:sp>
      <p:sp>
        <p:nvSpPr>
          <p:cNvPr id="46" name="Text 43"/>
          <p:cNvSpPr/>
          <p:nvPr/>
        </p:nvSpPr>
        <p:spPr>
          <a:xfrm>
            <a:off x="10450563" y="2304034"/>
            <a:ext cx="1046188" cy="841248"/>
          </a:xfrm>
          <a:prstGeom prst="rect">
            <a:avLst/>
          </a:prstGeom>
          <a:noFill/>
          <a:ln/>
        </p:spPr>
        <p:txBody>
          <a:bodyPr wrap="square" lIns="0" tIns="0" rIns="0" bIns="0" rtlCol="0" anchor="t"/>
          <a:lstStyle/>
          <a:p>
            <a:pPr indent="0" marL="0">
              <a:lnSpc>
                <a:spcPct val="106000"/>
              </a:lnSpc>
              <a:buNone/>
            </a:pPr>
            <a:r>
              <a:rPr lang="en-US" sz="780" dirty="0">
                <a:solidFill>
                  <a:srgbClr val="7E8C9B"/>
                </a:solidFill>
                <a:latin typeface="Calibri" pitchFamily="34" charset="0"/>
                <a:ea typeface="Calibri" pitchFamily="34" charset="-122"/>
                <a:cs typeface="Calibri" pitchFamily="34" charset="-120"/>
              </a:rPr>
              <a:t>Correlate decision, grant, version, runtime, side effects, outcome.</a:t>
            </a:r>
            <a:endParaRPr lang="en-US" sz="780" dirty="0"/>
          </a:p>
        </p:txBody>
      </p:sp>
      <p:sp>
        <p:nvSpPr>
          <p:cNvPr id="47" name="Shape 44"/>
          <p:cNvSpPr/>
          <p:nvPr/>
        </p:nvSpPr>
        <p:spPr>
          <a:xfrm>
            <a:off x="566928" y="3346450"/>
            <a:ext cx="11057839" cy="969264"/>
          </a:xfrm>
          <a:prstGeom prst="roundRect">
            <a:avLst>
              <a:gd name="adj" fmla="val 7547"/>
            </a:avLst>
          </a:prstGeom>
          <a:solidFill>
            <a:srgbClr val="F5F8FA"/>
          </a:solidFill>
          <a:ln w="12700">
            <a:solidFill>
              <a:srgbClr val="E2E7EC"/>
            </a:solidFill>
            <a:prstDash val="solid"/>
          </a:ln>
        </p:spPr>
      </p:sp>
      <p:sp>
        <p:nvSpPr>
          <p:cNvPr id="48" name="Text 45"/>
          <p:cNvSpPr/>
          <p:nvPr/>
        </p:nvSpPr>
        <p:spPr>
          <a:xfrm>
            <a:off x="768096" y="3492754"/>
            <a:ext cx="10655503" cy="694944"/>
          </a:xfrm>
          <a:prstGeom prst="rect">
            <a:avLst/>
          </a:prstGeom>
          <a:noFill/>
          <a:ln/>
        </p:spPr>
        <p:txBody>
          <a:bodyPr wrap="square" lIns="0" tIns="0" rIns="0" bIns="0" rtlCol="0" anchor="t"/>
          <a:lstStyle/>
          <a:p>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trace_id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4f2a…c81b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on_behalf_of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user:[EMPLOYEE]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actor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agent:claims-triage/v3.1   </a:t>
            </a:r>
            <a:pPr indent="0" marL="0">
              <a:lnSpc>
                <a:spcPct val="128000"/>
              </a:lnSpc>
              <a:buNone/>
            </a:pPr>
            <a:r>
              <a:rPr lang="en-US" sz="860" dirty="0">
                <a:solidFill>
                  <a:srgbClr val="000000"/>
                </a:solidFill>
                <a:latin typeface="Consolas" pitchFamily="34" charset="0"/>
                <a:ea typeface="Consolas" pitchFamily="34" charset="-122"/>
                <a:cs typeface="Consolas" pitchFamily="34" charset="-120"/>
              </a:rPr>
              <a:t>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capability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[ACTION]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decision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permit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policy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tier2-writeback@v11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grant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aud=claims-api scope=case:write ttl=90s   </a:t>
            </a:r>
            <a:pPr indent="0" marL="0">
              <a:lnSpc>
                <a:spcPct val="128000"/>
              </a:lnSpc>
              <a:buNone/>
            </a:pPr>
            <a:r>
              <a:rPr lang="en-US" sz="860" dirty="0">
                <a:solidFill>
                  <a:srgbClr val="000000"/>
                </a:solidFill>
                <a:latin typeface="Consolas" pitchFamily="34" charset="0"/>
                <a:ea typeface="Consolas" pitchFamily="34" charset="-122"/>
                <a:cs typeface="Consolas" pitchFamily="34" charset="-120"/>
              </a:rPr>
              <a:t>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enforced_at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mediation-boundary/v2.4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isolation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sandboxed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side_effects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1 write · reversible   </a:t>
            </a:r>
            <a:pPr indent="0" marL="0">
              <a:lnSpc>
                <a:spcPct val="128000"/>
              </a:lnSpc>
              <a:buNone/>
            </a:pPr>
            <a:r>
              <a:rPr lang="en-US" sz="860" b="1" dirty="0">
                <a:solidFill>
                  <a:srgbClr val="0B6F7D"/>
                </a:solidFill>
                <a:latin typeface="Consolas" pitchFamily="34" charset="0"/>
                <a:ea typeface="Consolas" pitchFamily="34" charset="-122"/>
                <a:cs typeface="Consolas" pitchFamily="34" charset="-120"/>
              </a:rPr>
              <a:t>outcome </a:t>
            </a:r>
            <a:pPr indent="0" marL="0">
              <a:lnSpc>
                <a:spcPct val="128000"/>
              </a:lnSpc>
              <a:buNone/>
            </a:pPr>
            <a:r>
              <a:rPr lang="en-US" sz="860" dirty="0">
                <a:solidFill>
                  <a:srgbClr val="0B1622"/>
                </a:solidFill>
                <a:latin typeface="Consolas" pitchFamily="34" charset="0"/>
                <a:ea typeface="Consolas" pitchFamily="34" charset="-122"/>
                <a:cs typeface="Consolas" pitchFamily="34" charset="-120"/>
              </a:rPr>
              <a:t>ok · 214ms   </a:t>
            </a:r>
            <a:endParaRPr lang="en-US" sz="860" dirty="0"/>
          </a:p>
        </p:txBody>
      </p:sp>
      <p:sp>
        <p:nvSpPr>
          <p:cNvPr id="49" name="Shape 46"/>
          <p:cNvSpPr/>
          <p:nvPr/>
        </p:nvSpPr>
        <p:spPr>
          <a:xfrm>
            <a:off x="566928" y="4443730"/>
            <a:ext cx="11057839" cy="475488"/>
          </a:xfrm>
          <a:prstGeom prst="roundRect">
            <a:avLst>
              <a:gd name="adj" fmla="val 15385"/>
            </a:avLst>
          </a:prstGeom>
          <a:solidFill>
            <a:srgbClr val="E6F4F6"/>
          </a:solidFill>
          <a:ln w="12700">
            <a:solidFill>
              <a:srgbClr val="9CCED6"/>
            </a:solidFill>
            <a:prstDash val="solid"/>
          </a:ln>
        </p:spPr>
      </p:sp>
      <p:sp>
        <p:nvSpPr>
          <p:cNvPr id="50" name="Text 47"/>
          <p:cNvSpPr/>
          <p:nvPr/>
        </p:nvSpPr>
        <p:spPr>
          <a:xfrm>
            <a:off x="749808" y="4553458"/>
            <a:ext cx="10692079" cy="29260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This record — not the demonstration — is the deliverable.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If an auditor can read it without a human narrating what the agent “was trying to do”, the architecture is doing its job.</a:t>
            </a:r>
            <a:endParaRPr lang="en-US" sz="1050" dirty="0"/>
          </a:p>
        </p:txBody>
      </p:sp>
      <p:sp>
        <p:nvSpPr>
          <p:cNvPr id="51" name="Shape 48"/>
          <p:cNvSpPr/>
          <p:nvPr/>
        </p:nvSpPr>
        <p:spPr>
          <a:xfrm>
            <a:off x="566928" y="6382512"/>
            <a:ext cx="11057839" cy="0"/>
          </a:xfrm>
          <a:prstGeom prst="line">
            <a:avLst/>
          </a:prstGeom>
          <a:noFill/>
          <a:ln w="9525">
            <a:solidFill>
              <a:srgbClr val="E2E7EC"/>
            </a:solidFill>
            <a:prstDash val="solid"/>
          </a:ln>
        </p:spPr>
      </p:sp>
      <p:sp>
        <p:nvSpPr>
          <p:cNvPr id="52" name="Text 49"/>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53" name="Text 50"/>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NORTH STAR</a:t>
            </a:r>
            <a:endParaRPr lang="en-US" sz="1000" dirty="0"/>
          </a:p>
        </p:txBody>
      </p:sp>
      <p:sp>
        <p:nvSpPr>
          <p:cNvPr id="5" name="Text 2"/>
          <p:cNvSpPr/>
          <p:nvPr/>
        </p:nvSpPr>
        <p:spPr>
          <a:xfrm>
            <a:off x="1389888" y="621792"/>
            <a:ext cx="10234879" cy="432054"/>
          </a:xfrm>
          <a:prstGeom prst="rect">
            <a:avLst/>
          </a:prstGeom>
          <a:noFill/>
          <a:ln/>
        </p:spPr>
        <p:txBody>
          <a:bodyPr wrap="square" lIns="0" tIns="0" rIns="0" bIns="0" rtlCol="0" anchor="t"/>
          <a:lstStyle/>
          <a:p>
            <a:pPr indent="0" marL="0">
              <a:buNone/>
            </a:pPr>
            <a:r>
              <a:rPr lang="en-US" sz="2700" b="1" dirty="0">
                <a:solidFill>
                  <a:srgbClr val="0B1622"/>
                </a:solidFill>
                <a:latin typeface="Calibri" pitchFamily="34" charset="0"/>
                <a:ea typeface="Calibri" pitchFamily="34" charset="-122"/>
                <a:cs typeface="Calibri" pitchFamily="34" charset="-120"/>
              </a:rPr>
              <a:t>Shared semantics are the destination, never the prerequisite.</a:t>
            </a:r>
            <a:endParaRPr lang="en-US" sz="2700" dirty="0"/>
          </a:p>
        </p:txBody>
      </p:sp>
      <p:sp>
        <p:nvSpPr>
          <p:cNvPr id="6" name="Text 3"/>
          <p:cNvSpPr/>
          <p:nvPr/>
        </p:nvSpPr>
        <p:spPr>
          <a:xfrm>
            <a:off x="1389888" y="110871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The control plane answers “may this actor perform this action?” The knowledge plane answers “what does this request mean, and which evidence supports the result?” Keeping them distinct stops a vector store from quietly becoming an authorization layer.</a:t>
            </a:r>
            <a:endParaRPr lang="en-US" sz="1250" dirty="0"/>
          </a:p>
        </p:txBody>
      </p:sp>
      <p:sp>
        <p:nvSpPr>
          <p:cNvPr id="7" name="Shape 4"/>
          <p:cNvSpPr/>
          <p:nvPr/>
        </p:nvSpPr>
        <p:spPr>
          <a:xfrm>
            <a:off x="566928" y="1696466"/>
            <a:ext cx="5455768" cy="1225296"/>
          </a:xfrm>
          <a:prstGeom prst="roundRect">
            <a:avLst>
              <a:gd name="adj" fmla="val 5970"/>
            </a:avLst>
          </a:prstGeom>
          <a:solidFill>
            <a:srgbClr val="FFFFFF"/>
          </a:solidFill>
          <a:ln w="12700">
            <a:solidFill>
              <a:srgbClr val="E2E7EC"/>
            </a:solidFill>
            <a:prstDash val="solid"/>
          </a:ln>
        </p:spPr>
      </p:sp>
      <p:sp>
        <p:nvSpPr>
          <p:cNvPr id="8" name="Shape 5"/>
          <p:cNvSpPr/>
          <p:nvPr/>
        </p:nvSpPr>
        <p:spPr>
          <a:xfrm>
            <a:off x="749808" y="1879346"/>
            <a:ext cx="1417320" cy="182880"/>
          </a:xfrm>
          <a:prstGeom prst="roundRect">
            <a:avLst>
              <a:gd name="adj" fmla="val 50000"/>
            </a:avLst>
          </a:prstGeom>
          <a:solidFill>
            <a:srgbClr val="EFF2F5"/>
          </a:solidFill>
          <a:ln w="12700">
            <a:solidFill>
              <a:srgbClr val="EFF2F5"/>
            </a:solidFill>
            <a:prstDash val="solid"/>
          </a:ln>
        </p:spPr>
      </p:sp>
      <p:sp>
        <p:nvSpPr>
          <p:cNvPr id="9" name="Text 6"/>
          <p:cNvSpPr/>
          <p:nvPr/>
        </p:nvSpPr>
        <p:spPr>
          <a:xfrm>
            <a:off x="749808" y="1879346"/>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IN POC SCOPE</a:t>
            </a:r>
            <a:endParaRPr lang="en-US" sz="750" dirty="0"/>
          </a:p>
        </p:txBody>
      </p:sp>
      <p:sp>
        <p:nvSpPr>
          <p:cNvPr id="10" name="Text 7"/>
          <p:cNvSpPr/>
          <p:nvPr/>
        </p:nvSpPr>
        <p:spPr>
          <a:xfrm>
            <a:off x="749808" y="2190242"/>
            <a:ext cx="5090008" cy="256032"/>
          </a:xfrm>
          <a:prstGeom prst="rect">
            <a:avLst/>
          </a:prstGeom>
          <a:noFill/>
          <a:ln/>
        </p:spPr>
        <p:txBody>
          <a:bodyPr wrap="square" lIns="0" tIns="0" rIns="0" bIns="0" rtlCol="0" anchor="t"/>
          <a:lstStyle/>
          <a:p>
            <a:pPr indent="0" marL="0">
              <a:buNone/>
            </a:pPr>
            <a:r>
              <a:rPr lang="en-US" sz="1400" b="1" dirty="0">
                <a:solidFill>
                  <a:srgbClr val="0B1622"/>
                </a:solidFill>
                <a:latin typeface="Calibri" pitchFamily="34" charset="0"/>
                <a:ea typeface="Calibri" pitchFamily="34" charset="-122"/>
                <a:cs typeface="Calibri" pitchFamily="34" charset="-120"/>
              </a:rPr>
              <a:t>Minimum viable implementation</a:t>
            </a:r>
            <a:endParaRPr lang="en-US" sz="1400" dirty="0"/>
          </a:p>
        </p:txBody>
      </p:sp>
      <p:sp>
        <p:nvSpPr>
          <p:cNvPr id="11" name="Text 8"/>
          <p:cNvSpPr/>
          <p:nvPr/>
        </p:nvSpPr>
        <p:spPr>
          <a:xfrm>
            <a:off x="749808" y="2482850"/>
            <a:ext cx="5090008"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Catalog metadata, schemas, curated retrieval sources and explicit provenance. Memory stays narrow, task-bound and disposable. Enough to prove governed invocation without making an ontology programme a dependency.</a:t>
            </a:r>
            <a:endParaRPr lang="en-US" sz="1050" dirty="0"/>
          </a:p>
        </p:txBody>
      </p:sp>
      <p:sp>
        <p:nvSpPr>
          <p:cNvPr id="12" name="Shape 9"/>
          <p:cNvSpPr/>
          <p:nvPr/>
        </p:nvSpPr>
        <p:spPr>
          <a:xfrm>
            <a:off x="6169000" y="1696466"/>
            <a:ext cx="5455768" cy="1225296"/>
          </a:xfrm>
          <a:prstGeom prst="roundRect">
            <a:avLst>
              <a:gd name="adj" fmla="val 5970"/>
            </a:avLst>
          </a:prstGeom>
          <a:solidFill>
            <a:srgbClr val="F3F1FB"/>
          </a:solidFill>
          <a:ln w="12700">
            <a:solidFill>
              <a:srgbClr val="C9C1EA"/>
            </a:solidFill>
            <a:prstDash val="dash"/>
          </a:ln>
        </p:spPr>
      </p:sp>
      <p:sp>
        <p:nvSpPr>
          <p:cNvPr id="13" name="Shape 10"/>
          <p:cNvSpPr/>
          <p:nvPr/>
        </p:nvSpPr>
        <p:spPr>
          <a:xfrm>
            <a:off x="6351880" y="1879346"/>
            <a:ext cx="1417320" cy="182880"/>
          </a:xfrm>
          <a:prstGeom prst="roundRect">
            <a:avLst>
              <a:gd name="adj" fmla="val 50000"/>
            </a:avLst>
          </a:prstGeom>
          <a:solidFill>
            <a:srgbClr val="FFFFFF"/>
          </a:solidFill>
          <a:ln w="12700">
            <a:solidFill>
              <a:srgbClr val="FFFFFF"/>
            </a:solidFill>
            <a:prstDash val="solid"/>
          </a:ln>
        </p:spPr>
      </p:sp>
      <p:sp>
        <p:nvSpPr>
          <p:cNvPr id="14" name="Text 11"/>
          <p:cNvSpPr/>
          <p:nvPr/>
        </p:nvSpPr>
        <p:spPr>
          <a:xfrm>
            <a:off x="6351880" y="1879346"/>
            <a:ext cx="1417320" cy="182880"/>
          </a:xfrm>
          <a:prstGeom prst="rect">
            <a:avLst/>
          </a:prstGeom>
          <a:noFill/>
          <a:ln/>
        </p:spPr>
        <p:txBody>
          <a:bodyPr wrap="square" lIns="0" tIns="0" rIns="0" bIns="0" rtlCol="0" anchor="ctr"/>
          <a:lstStyle/>
          <a:p>
            <a:pPr algn="ctr" indent="0" marL="0">
              <a:buNone/>
            </a:pPr>
            <a:r>
              <a:rPr lang="en-US" sz="750" b="1" spc="100" kern="0" dirty="0">
                <a:solidFill>
                  <a:srgbClr val="4A3AA7"/>
                </a:solidFill>
                <a:latin typeface="Consolas" pitchFamily="34" charset="0"/>
                <a:ea typeface="Consolas" pitchFamily="34" charset="-122"/>
                <a:cs typeface="Consolas" pitchFamily="34" charset="-120"/>
              </a:rPr>
              <a:t>BEYOND POC</a:t>
            </a:r>
            <a:endParaRPr lang="en-US" sz="750" dirty="0"/>
          </a:p>
        </p:txBody>
      </p:sp>
      <p:sp>
        <p:nvSpPr>
          <p:cNvPr id="15" name="Text 12"/>
          <p:cNvSpPr/>
          <p:nvPr/>
        </p:nvSpPr>
        <p:spPr>
          <a:xfrm>
            <a:off x="6351880" y="2190242"/>
            <a:ext cx="5090008" cy="256032"/>
          </a:xfrm>
          <a:prstGeom prst="rect">
            <a:avLst/>
          </a:prstGeom>
          <a:noFill/>
          <a:ln/>
        </p:spPr>
        <p:txBody>
          <a:bodyPr wrap="square" lIns="0" tIns="0" rIns="0" bIns="0" rtlCol="0" anchor="t"/>
          <a:lstStyle/>
          <a:p>
            <a:pPr indent="0" marL="0">
              <a:buNone/>
            </a:pPr>
            <a:r>
              <a:rPr lang="en-US" sz="1400" b="1" dirty="0">
                <a:solidFill>
                  <a:srgbClr val="4A3AA7"/>
                </a:solidFill>
                <a:latin typeface="Calibri" pitchFamily="34" charset="0"/>
                <a:ea typeface="Calibri" pitchFamily="34" charset="-122"/>
                <a:cs typeface="Calibri" pitchFamily="34" charset="-120"/>
              </a:rPr>
              <a:t>North-star implementation</a:t>
            </a:r>
            <a:endParaRPr lang="en-US" sz="1400" dirty="0"/>
          </a:p>
        </p:txBody>
      </p:sp>
      <p:sp>
        <p:nvSpPr>
          <p:cNvPr id="16" name="Text 13"/>
          <p:cNvSpPr/>
          <p:nvPr/>
        </p:nvSpPr>
        <p:spPr>
          <a:xfrm>
            <a:off x="6351880" y="2482850"/>
            <a:ext cx="5090008"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federated enterprise ontology connecting business concepts, service capabilities, policies, data products, owners and evidence. Agents request meaning and capability rather than vendor endpoints.</a:t>
            </a:r>
            <a:endParaRPr lang="en-US" sz="1050" dirty="0"/>
          </a:p>
        </p:txBody>
      </p:sp>
      <p:sp>
        <p:nvSpPr>
          <p:cNvPr id="17" name="Shape 14"/>
          <p:cNvSpPr/>
          <p:nvPr/>
        </p:nvSpPr>
        <p:spPr>
          <a:xfrm>
            <a:off x="566928" y="3068066"/>
            <a:ext cx="3588410" cy="1060704"/>
          </a:xfrm>
          <a:prstGeom prst="roundRect">
            <a:avLst>
              <a:gd name="adj" fmla="val 6897"/>
            </a:avLst>
          </a:prstGeom>
          <a:solidFill>
            <a:srgbClr val="FFFFFF"/>
          </a:solidFill>
          <a:ln w="12700">
            <a:solidFill>
              <a:srgbClr val="E2E7EC"/>
            </a:solidFill>
            <a:prstDash val="solid"/>
          </a:ln>
        </p:spPr>
      </p:sp>
      <p:sp>
        <p:nvSpPr>
          <p:cNvPr id="18" name="Text 15"/>
          <p:cNvSpPr/>
          <p:nvPr/>
        </p:nvSpPr>
        <p:spPr>
          <a:xfrm>
            <a:off x="731520" y="3196082"/>
            <a:ext cx="3259226" cy="164592"/>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STAGE 1</a:t>
            </a:r>
            <a:endParaRPr lang="en-US" sz="800" dirty="0"/>
          </a:p>
        </p:txBody>
      </p:sp>
      <p:sp>
        <p:nvSpPr>
          <p:cNvPr id="19" name="Text 16"/>
          <p:cNvSpPr/>
          <p:nvPr/>
        </p:nvSpPr>
        <p:spPr>
          <a:xfrm>
            <a:off x="731520" y="3397250"/>
            <a:ext cx="3259226" cy="219456"/>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Cataloged</a:t>
            </a:r>
            <a:endParaRPr lang="en-US" sz="1250" dirty="0"/>
          </a:p>
        </p:txBody>
      </p:sp>
      <p:sp>
        <p:nvSpPr>
          <p:cNvPr id="20" name="Text 17"/>
          <p:cNvSpPr/>
          <p:nvPr/>
        </p:nvSpPr>
        <p:spPr>
          <a:xfrm>
            <a:off x="731520" y="3653282"/>
            <a:ext cx="3259226" cy="402336"/>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Named services, schemas, owners, classifications and approved sources.</a:t>
            </a:r>
            <a:endParaRPr lang="en-US" sz="1000" dirty="0"/>
          </a:p>
        </p:txBody>
      </p:sp>
      <p:sp>
        <p:nvSpPr>
          <p:cNvPr id="21" name="Shape 18"/>
          <p:cNvSpPr/>
          <p:nvPr/>
        </p:nvSpPr>
        <p:spPr>
          <a:xfrm>
            <a:off x="4301642" y="3068066"/>
            <a:ext cx="3588410" cy="1060704"/>
          </a:xfrm>
          <a:prstGeom prst="roundRect">
            <a:avLst>
              <a:gd name="adj" fmla="val 6897"/>
            </a:avLst>
          </a:prstGeom>
          <a:solidFill>
            <a:srgbClr val="FFFFFF"/>
          </a:solidFill>
          <a:ln w="12700">
            <a:solidFill>
              <a:srgbClr val="E2E7EC"/>
            </a:solidFill>
            <a:prstDash val="solid"/>
          </a:ln>
        </p:spPr>
      </p:sp>
      <p:sp>
        <p:nvSpPr>
          <p:cNvPr id="22" name="Text 19"/>
          <p:cNvSpPr/>
          <p:nvPr/>
        </p:nvSpPr>
        <p:spPr>
          <a:xfrm>
            <a:off x="4466234" y="3196082"/>
            <a:ext cx="3259226" cy="164592"/>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STAGE 2</a:t>
            </a:r>
            <a:endParaRPr lang="en-US" sz="800" dirty="0"/>
          </a:p>
        </p:txBody>
      </p:sp>
      <p:sp>
        <p:nvSpPr>
          <p:cNvPr id="23" name="Text 20"/>
          <p:cNvSpPr/>
          <p:nvPr/>
        </p:nvSpPr>
        <p:spPr>
          <a:xfrm>
            <a:off x="4466234" y="3397250"/>
            <a:ext cx="3259226" cy="219456"/>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Semantically connected</a:t>
            </a:r>
            <a:endParaRPr lang="en-US" sz="1250" dirty="0"/>
          </a:p>
        </p:txBody>
      </p:sp>
      <p:sp>
        <p:nvSpPr>
          <p:cNvPr id="24" name="Text 21"/>
          <p:cNvSpPr/>
          <p:nvPr/>
        </p:nvSpPr>
        <p:spPr>
          <a:xfrm>
            <a:off x="4466234" y="3653282"/>
            <a:ext cx="3259226" cy="402336"/>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Shared vocabulary, entity resolution, provenance and relationship-aware retrieval.</a:t>
            </a:r>
            <a:endParaRPr lang="en-US" sz="1000" dirty="0"/>
          </a:p>
        </p:txBody>
      </p:sp>
      <p:sp>
        <p:nvSpPr>
          <p:cNvPr id="25" name="Shape 22"/>
          <p:cNvSpPr/>
          <p:nvPr/>
        </p:nvSpPr>
        <p:spPr>
          <a:xfrm>
            <a:off x="8036357" y="3068066"/>
            <a:ext cx="3588410" cy="1060704"/>
          </a:xfrm>
          <a:prstGeom prst="roundRect">
            <a:avLst>
              <a:gd name="adj" fmla="val 6897"/>
            </a:avLst>
          </a:prstGeom>
          <a:solidFill>
            <a:srgbClr val="FFFFFF"/>
          </a:solidFill>
          <a:ln w="12700">
            <a:solidFill>
              <a:srgbClr val="E2E7EC"/>
            </a:solidFill>
            <a:prstDash val="solid"/>
          </a:ln>
        </p:spPr>
      </p:sp>
      <p:sp>
        <p:nvSpPr>
          <p:cNvPr id="26" name="Text 23"/>
          <p:cNvSpPr/>
          <p:nvPr/>
        </p:nvSpPr>
        <p:spPr>
          <a:xfrm>
            <a:off x="8200949" y="3196082"/>
            <a:ext cx="3259226" cy="164592"/>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STAGE 3</a:t>
            </a:r>
            <a:endParaRPr lang="en-US" sz="800" dirty="0"/>
          </a:p>
        </p:txBody>
      </p:sp>
      <p:sp>
        <p:nvSpPr>
          <p:cNvPr id="27" name="Text 24"/>
          <p:cNvSpPr/>
          <p:nvPr/>
        </p:nvSpPr>
        <p:spPr>
          <a:xfrm>
            <a:off x="8200949" y="3397250"/>
            <a:ext cx="3259226" cy="219456"/>
          </a:xfrm>
          <a:prstGeom prst="rect">
            <a:avLst/>
          </a:prstGeom>
          <a:noFill/>
          <a:ln/>
        </p:spPr>
        <p:txBody>
          <a:bodyPr wrap="square" lIns="0" tIns="0" rIns="0" bIns="0" rtlCol="0" anchor="t"/>
          <a:lstStyle/>
          <a:p>
            <a:pPr indent="0" marL="0">
              <a:buNone/>
            </a:pPr>
            <a:r>
              <a:rPr lang="en-US" sz="1250" b="1" dirty="0">
                <a:solidFill>
                  <a:srgbClr val="0B1622"/>
                </a:solidFill>
                <a:latin typeface="Calibri" pitchFamily="34" charset="0"/>
                <a:ea typeface="Calibri" pitchFamily="34" charset="-122"/>
                <a:cs typeface="Calibri" pitchFamily="34" charset="-120"/>
              </a:rPr>
              <a:t>Governed organizational memory</a:t>
            </a:r>
            <a:endParaRPr lang="en-US" sz="1250" dirty="0"/>
          </a:p>
        </p:txBody>
      </p:sp>
      <p:sp>
        <p:nvSpPr>
          <p:cNvPr id="28" name="Text 25"/>
          <p:cNvSpPr/>
          <p:nvPr/>
        </p:nvSpPr>
        <p:spPr>
          <a:xfrm>
            <a:off x="8200949" y="3653282"/>
            <a:ext cx="3259226" cy="402336"/>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Policy-aware context, reusable knowledge products, feedback loops, measured grounding quality.</a:t>
            </a:r>
            <a:endParaRPr lang="en-US" sz="1000" dirty="0"/>
          </a:p>
        </p:txBody>
      </p:sp>
      <p:sp>
        <p:nvSpPr>
          <p:cNvPr id="29" name="Shape 26"/>
          <p:cNvSpPr/>
          <p:nvPr/>
        </p:nvSpPr>
        <p:spPr>
          <a:xfrm>
            <a:off x="566928" y="4293362"/>
            <a:ext cx="11057839" cy="603504"/>
          </a:xfrm>
          <a:prstGeom prst="roundRect">
            <a:avLst>
              <a:gd name="adj" fmla="val 12121"/>
            </a:avLst>
          </a:prstGeom>
          <a:solidFill>
            <a:srgbClr val="FFFBF2"/>
          </a:solidFill>
          <a:ln w="12700">
            <a:solidFill>
              <a:srgbClr val="F2E3C4"/>
            </a:solidFill>
            <a:prstDash val="solid"/>
          </a:ln>
        </p:spPr>
      </p:sp>
      <p:sp>
        <p:nvSpPr>
          <p:cNvPr id="30" name="Text 27"/>
          <p:cNvSpPr/>
          <p:nvPr/>
        </p:nvSpPr>
        <p:spPr>
          <a:xfrm>
            <a:off x="749808" y="4421378"/>
            <a:ext cx="10692079" cy="40233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The critical separation.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Ontology describes meaning. Policy determines authority. Retrieval supplies evidence. Models generate or choose actions. Combine these into one opaque “AI layer” and you create an assurance problem that no dashboard can repair afterwards.</a:t>
            </a:r>
            <a:endParaRPr lang="en-US" sz="1050" dirty="0"/>
          </a:p>
        </p:txBody>
      </p:sp>
      <p:sp>
        <p:nvSpPr>
          <p:cNvPr id="31" name="Shape 28"/>
          <p:cNvSpPr/>
          <p:nvPr/>
        </p:nvSpPr>
        <p:spPr>
          <a:xfrm>
            <a:off x="566928" y="6382512"/>
            <a:ext cx="11057839" cy="0"/>
          </a:xfrm>
          <a:prstGeom prst="line">
            <a:avLst/>
          </a:prstGeom>
          <a:noFill/>
          <a:ln w="9525">
            <a:solidFill>
              <a:srgbClr val="E2E7EC"/>
            </a:solidFill>
            <a:prstDash val="solid"/>
          </a:ln>
        </p:spPr>
      </p:sp>
      <p:sp>
        <p:nvSpPr>
          <p:cNvPr id="32" name="Text 29"/>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3" name="Text 30"/>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CROSS-CUTTING</a:t>
            </a:r>
            <a:endParaRPr lang="en-US" sz="1000" dirty="0"/>
          </a:p>
        </p:txBody>
      </p:sp>
      <p:sp>
        <p:nvSpPr>
          <p:cNvPr id="5" name="Text 2"/>
          <p:cNvSpPr/>
          <p:nvPr/>
        </p:nvSpPr>
        <p:spPr>
          <a:xfrm>
            <a:off x="1389888" y="621792"/>
            <a:ext cx="10234879" cy="809244"/>
          </a:xfrm>
          <a:prstGeom prst="rect">
            <a:avLst/>
          </a:prstGeom>
          <a:noFill/>
          <a:ln/>
        </p:spPr>
        <p:txBody>
          <a:bodyPr wrap="square" lIns="0" tIns="0" rIns="0" bIns="0" rtlCol="0" anchor="t"/>
          <a:lstStyle/>
          <a:p>
            <a:pPr indent="0" marL="0">
              <a:buNone/>
            </a:pPr>
            <a:r>
              <a:rPr lang="en-US" sz="2700" b="1" dirty="0">
                <a:solidFill>
                  <a:srgbClr val="0B1622"/>
                </a:solidFill>
                <a:latin typeface="Calibri" pitchFamily="34" charset="0"/>
                <a:ea typeface="Calibri" pitchFamily="34" charset="-122"/>
                <a:cs typeface="Calibri" pitchFamily="34" charset="-120"/>
              </a:rPr>
              <a:t>Telemetry is what you collect. Evidence is what survives an auditor.</a:t>
            </a:r>
            <a:endParaRPr lang="en-US" sz="2700" dirty="0"/>
          </a:p>
        </p:txBody>
      </p:sp>
      <p:sp>
        <p:nvSpPr>
          <p:cNvPr id="6" name="Text 3"/>
          <p:cNvSpPr/>
          <p:nvPr/>
        </p:nvSpPr>
        <p:spPr>
          <a:xfrm>
            <a:off x="1389888" y="148590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One invocation context is carried through policy, routing, runtime and backend. That single correlation is the difference between a dashboard and a defensible answer.</a:t>
            </a:r>
            <a:endParaRPr lang="en-US" sz="1250" dirty="0"/>
          </a:p>
        </p:txBody>
      </p:sp>
      <p:sp>
        <p:nvSpPr>
          <p:cNvPr id="7" name="Shape 4"/>
          <p:cNvSpPr/>
          <p:nvPr/>
        </p:nvSpPr>
        <p:spPr>
          <a:xfrm>
            <a:off x="566928" y="2037080"/>
            <a:ext cx="5669280" cy="1517904"/>
          </a:xfrm>
          <a:prstGeom prst="roundRect">
            <a:avLst>
              <a:gd name="adj" fmla="val 4819"/>
            </a:avLst>
          </a:prstGeom>
          <a:solidFill>
            <a:srgbClr val="FFFFFF"/>
          </a:solidFill>
          <a:ln w="12700">
            <a:solidFill>
              <a:srgbClr val="E2E7EC"/>
            </a:solidFill>
            <a:prstDash val="solid"/>
          </a:ln>
        </p:spPr>
      </p:sp>
      <p:sp>
        <p:nvSpPr>
          <p:cNvPr id="8" name="Text 5"/>
          <p:cNvSpPr/>
          <p:nvPr/>
        </p:nvSpPr>
        <p:spPr>
          <a:xfrm>
            <a:off x="749808" y="2183384"/>
            <a:ext cx="5303520" cy="182880"/>
          </a:xfrm>
          <a:prstGeom prst="rect">
            <a:avLst/>
          </a:prstGeom>
          <a:noFill/>
          <a:ln/>
        </p:spPr>
        <p:txBody>
          <a:bodyPr wrap="square" lIns="0" tIns="0" rIns="0" bIns="0" rtlCol="0" anchor="ctr"/>
          <a:lstStyle/>
          <a:p>
            <a:pPr indent="0" marL="0">
              <a:buNone/>
            </a:pPr>
            <a:r>
              <a:rPr lang="en-US" sz="850" b="1" spc="140" kern="0" dirty="0">
                <a:solidFill>
                  <a:srgbClr val="0B6F7D"/>
                </a:solidFill>
                <a:latin typeface="Consolas" pitchFamily="34" charset="0"/>
                <a:ea typeface="Consolas" pitchFamily="34" charset="-122"/>
                <a:cs typeface="Consolas" pitchFamily="34" charset="-120"/>
              </a:rPr>
              <a:t>THE CONTRACT</a:t>
            </a:r>
            <a:endParaRPr lang="en-US" sz="850" dirty="0"/>
          </a:p>
        </p:txBody>
      </p:sp>
      <p:sp>
        <p:nvSpPr>
          <p:cNvPr id="9" name="Text 6"/>
          <p:cNvSpPr/>
          <p:nvPr/>
        </p:nvSpPr>
        <p:spPr>
          <a:xfrm>
            <a:off x="749808" y="2421128"/>
            <a:ext cx="5303520" cy="548640"/>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single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OpenTelemetry</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context propagates from intent through decision, grant, enforcement, execution and outcome. Vendor-neutral by design, so the backend stays replaceable.</a:t>
            </a:r>
            <a:endParaRPr lang="en-US" sz="1050" dirty="0"/>
          </a:p>
        </p:txBody>
      </p:sp>
      <p:sp>
        <p:nvSpPr>
          <p:cNvPr id="10" name="Text 7"/>
          <p:cNvSpPr/>
          <p:nvPr/>
        </p:nvSpPr>
        <p:spPr>
          <a:xfrm>
            <a:off x="749808" y="3024632"/>
            <a:ext cx="5303520" cy="42062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Emitted by the boundary — not by your service teams.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Adopting the golden path means inheriting the instrumentation, not writing it.</a:t>
            </a:r>
            <a:endParaRPr lang="en-US" sz="1050" dirty="0"/>
          </a:p>
        </p:txBody>
      </p:sp>
      <p:sp>
        <p:nvSpPr>
          <p:cNvPr id="11" name="Shape 8"/>
          <p:cNvSpPr/>
          <p:nvPr/>
        </p:nvSpPr>
        <p:spPr>
          <a:xfrm>
            <a:off x="566928" y="3683000"/>
            <a:ext cx="5669280" cy="1554480"/>
          </a:xfrm>
          <a:prstGeom prst="roundRect">
            <a:avLst>
              <a:gd name="adj" fmla="val 4706"/>
            </a:avLst>
          </a:prstGeom>
          <a:solidFill>
            <a:srgbClr val="E6F4F6"/>
          </a:solidFill>
          <a:ln w="12700">
            <a:solidFill>
              <a:srgbClr val="9CCED6"/>
            </a:solidFill>
            <a:prstDash val="solid"/>
          </a:ln>
        </p:spPr>
      </p:sp>
      <p:sp>
        <p:nvSpPr>
          <p:cNvPr id="12" name="Text 9"/>
          <p:cNvSpPr/>
          <p:nvPr/>
        </p:nvSpPr>
        <p:spPr>
          <a:xfrm>
            <a:off x="749808" y="3829304"/>
            <a:ext cx="5303520" cy="182880"/>
          </a:xfrm>
          <a:prstGeom prst="rect">
            <a:avLst/>
          </a:prstGeom>
          <a:noFill/>
          <a:ln/>
        </p:spPr>
        <p:txBody>
          <a:bodyPr wrap="square" lIns="0" tIns="0" rIns="0" bIns="0" rtlCol="0" anchor="ctr"/>
          <a:lstStyle/>
          <a:p>
            <a:pPr indent="0" marL="0">
              <a:buNone/>
            </a:pPr>
            <a:r>
              <a:rPr lang="en-US" sz="850" b="1" spc="140" kern="0" dirty="0">
                <a:solidFill>
                  <a:srgbClr val="0B6F7D"/>
                </a:solidFill>
                <a:latin typeface="Consolas" pitchFamily="34" charset="0"/>
                <a:ea typeface="Consolas" pitchFamily="34" charset="-122"/>
                <a:cs typeface="Consolas" pitchFamily="34" charset="-120"/>
              </a:rPr>
              <a:t>GOVERNED REACTION</a:t>
            </a:r>
            <a:endParaRPr lang="en-US" sz="850" dirty="0"/>
          </a:p>
        </p:txBody>
      </p:sp>
      <p:sp>
        <p:nvSpPr>
          <p:cNvPr id="13" name="Text 10"/>
          <p:cNvSpPr/>
          <p:nvPr/>
        </p:nvSpPr>
        <p:spPr>
          <a:xfrm>
            <a:off x="749808" y="4067048"/>
            <a:ext cx="5303520" cy="56692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Telemetry may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trigger</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automation — scaling, remediation, approvals, breaker trips. But the reaction is itself an action, and crosses the same control boundary as any other.</a:t>
            </a:r>
            <a:endParaRPr lang="en-US" sz="1050" dirty="0"/>
          </a:p>
        </p:txBody>
      </p:sp>
      <p:sp>
        <p:nvSpPr>
          <p:cNvPr id="14" name="Text 11"/>
          <p:cNvSpPr/>
          <p:nvPr/>
        </p:nvSpPr>
        <p:spPr>
          <a:xfrm>
            <a:off x="749808" y="4707128"/>
            <a:ext cx="5303520" cy="36576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An auto-remediation with ambient authority is just a faster incident.</a:t>
            </a:r>
            <a:pPr indent="0" marL="0">
              <a:lnSpc>
                <a:spcPct val="110000"/>
              </a:lnSpc>
              <a:buNone/>
            </a:pPr>
            <a:endParaRPr lang="en-US" sz="1050" dirty="0"/>
          </a:p>
        </p:txBody>
      </p:sp>
      <p:sp>
        <p:nvSpPr>
          <p:cNvPr id="15" name="Shape 12"/>
          <p:cNvSpPr/>
          <p:nvPr/>
        </p:nvSpPr>
        <p:spPr>
          <a:xfrm>
            <a:off x="6455664" y="2037080"/>
            <a:ext cx="5169103" cy="3200400"/>
          </a:xfrm>
          <a:prstGeom prst="roundRect">
            <a:avLst>
              <a:gd name="adj" fmla="val 2286"/>
            </a:avLst>
          </a:prstGeom>
          <a:solidFill>
            <a:srgbClr val="FFFFFF"/>
          </a:solidFill>
          <a:ln w="12700">
            <a:solidFill>
              <a:srgbClr val="E2E7EC"/>
            </a:solidFill>
            <a:prstDash val="solid"/>
          </a:ln>
        </p:spPr>
      </p:sp>
      <p:sp>
        <p:nvSpPr>
          <p:cNvPr id="16" name="Text 13"/>
          <p:cNvSpPr/>
          <p:nvPr/>
        </p:nvSpPr>
        <p:spPr>
          <a:xfrm>
            <a:off x="6675120" y="2201672"/>
            <a:ext cx="4754880" cy="182880"/>
          </a:xfrm>
          <a:prstGeom prst="rect">
            <a:avLst/>
          </a:prstGeom>
          <a:noFill/>
          <a:ln/>
        </p:spPr>
        <p:txBody>
          <a:bodyPr wrap="square" lIns="0" tIns="0" rIns="0" bIns="0" rtlCol="0" anchor="ctr"/>
          <a:lstStyle/>
          <a:p>
            <a:pPr indent="0" marL="0">
              <a:buNone/>
            </a:pPr>
            <a:r>
              <a:rPr lang="en-US" sz="850" b="1" spc="140" kern="0" dirty="0">
                <a:solidFill>
                  <a:srgbClr val="0B6F7D"/>
                </a:solidFill>
                <a:latin typeface="Consolas" pitchFamily="34" charset="0"/>
                <a:ea typeface="Consolas" pitchFamily="34" charset="-122"/>
                <a:cs typeface="Consolas" pitchFamily="34" charset="-120"/>
              </a:rPr>
              <a:t>QUESTIONS THIS MAKES ANSWERABLE</a:t>
            </a:r>
            <a:endParaRPr lang="en-US" sz="850" dirty="0"/>
          </a:p>
        </p:txBody>
      </p:sp>
      <p:sp>
        <p:nvSpPr>
          <p:cNvPr id="17" name="Text 14"/>
          <p:cNvSpPr/>
          <p:nvPr/>
        </p:nvSpPr>
        <p:spPr>
          <a:xfrm>
            <a:off x="6675120" y="249428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Which human does this action ultimately trace back to?</a:t>
            </a:r>
            <a:endParaRPr lang="en-US" sz="1050" dirty="0"/>
          </a:p>
        </p:txBody>
      </p:sp>
      <p:sp>
        <p:nvSpPr>
          <p:cNvPr id="18" name="Shape 15"/>
          <p:cNvSpPr/>
          <p:nvPr/>
        </p:nvSpPr>
        <p:spPr>
          <a:xfrm>
            <a:off x="6675120" y="2805176"/>
            <a:ext cx="4663440" cy="0"/>
          </a:xfrm>
          <a:prstGeom prst="line">
            <a:avLst/>
          </a:prstGeom>
          <a:noFill/>
          <a:ln w="9525">
            <a:solidFill>
              <a:srgbClr val="EFF2F5"/>
            </a:solidFill>
            <a:prstDash val="solid"/>
          </a:ln>
        </p:spPr>
      </p:sp>
      <p:sp>
        <p:nvSpPr>
          <p:cNvPr id="19" name="Text 16"/>
          <p:cNvSpPr/>
          <p:nvPr/>
        </p:nvSpPr>
        <p:spPr>
          <a:xfrm>
            <a:off x="6675120" y="286004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Which policy version permitted it, and who approved that version?</a:t>
            </a:r>
            <a:endParaRPr lang="en-US" sz="1050" dirty="0"/>
          </a:p>
        </p:txBody>
      </p:sp>
      <p:sp>
        <p:nvSpPr>
          <p:cNvPr id="20" name="Shape 17"/>
          <p:cNvSpPr/>
          <p:nvPr/>
        </p:nvSpPr>
        <p:spPr>
          <a:xfrm>
            <a:off x="6675120" y="3170936"/>
            <a:ext cx="4663440" cy="0"/>
          </a:xfrm>
          <a:prstGeom prst="line">
            <a:avLst/>
          </a:prstGeom>
          <a:noFill/>
          <a:ln w="9525">
            <a:solidFill>
              <a:srgbClr val="EFF2F5"/>
            </a:solidFill>
            <a:prstDash val="solid"/>
          </a:ln>
        </p:spPr>
      </p:sp>
      <p:sp>
        <p:nvSpPr>
          <p:cNvPr id="21" name="Text 18"/>
          <p:cNvSpPr/>
          <p:nvPr/>
        </p:nvSpPr>
        <p:spPr>
          <a:xfrm>
            <a:off x="6675120" y="322580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What was the grant’s scope and expiry at the moment of use?</a:t>
            </a:r>
            <a:endParaRPr lang="en-US" sz="1050" dirty="0"/>
          </a:p>
        </p:txBody>
      </p:sp>
      <p:sp>
        <p:nvSpPr>
          <p:cNvPr id="22" name="Shape 19"/>
          <p:cNvSpPr/>
          <p:nvPr/>
        </p:nvSpPr>
        <p:spPr>
          <a:xfrm>
            <a:off x="6675120" y="3536696"/>
            <a:ext cx="4663440" cy="0"/>
          </a:xfrm>
          <a:prstGeom prst="line">
            <a:avLst/>
          </a:prstGeom>
          <a:noFill/>
          <a:ln w="9525">
            <a:solidFill>
              <a:srgbClr val="EFF2F5"/>
            </a:solidFill>
            <a:prstDash val="solid"/>
          </a:ln>
        </p:spPr>
      </p:sp>
      <p:sp>
        <p:nvSpPr>
          <p:cNvPr id="23" name="Text 20"/>
          <p:cNvSpPr/>
          <p:nvPr/>
        </p:nvSpPr>
        <p:spPr>
          <a:xfrm>
            <a:off x="6675120" y="359156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Which service version and runtime actually executed it?</a:t>
            </a:r>
            <a:endParaRPr lang="en-US" sz="1050" dirty="0"/>
          </a:p>
        </p:txBody>
      </p:sp>
      <p:sp>
        <p:nvSpPr>
          <p:cNvPr id="24" name="Shape 21"/>
          <p:cNvSpPr/>
          <p:nvPr/>
        </p:nvSpPr>
        <p:spPr>
          <a:xfrm>
            <a:off x="6675120" y="3902456"/>
            <a:ext cx="4663440" cy="0"/>
          </a:xfrm>
          <a:prstGeom prst="line">
            <a:avLst/>
          </a:prstGeom>
          <a:noFill/>
          <a:ln w="9525">
            <a:solidFill>
              <a:srgbClr val="EFF2F5"/>
            </a:solidFill>
            <a:prstDash val="solid"/>
          </a:ln>
        </p:spPr>
      </p:sp>
      <p:sp>
        <p:nvSpPr>
          <p:cNvPr id="25" name="Text 22"/>
          <p:cNvSpPr/>
          <p:nvPr/>
        </p:nvSpPr>
        <p:spPr>
          <a:xfrm>
            <a:off x="6675120" y="395732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What side effects occurred, and are they reversible?</a:t>
            </a:r>
            <a:endParaRPr lang="en-US" sz="1050" dirty="0"/>
          </a:p>
        </p:txBody>
      </p:sp>
      <p:sp>
        <p:nvSpPr>
          <p:cNvPr id="26" name="Shape 23"/>
          <p:cNvSpPr/>
          <p:nvPr/>
        </p:nvSpPr>
        <p:spPr>
          <a:xfrm>
            <a:off x="6675120" y="4268216"/>
            <a:ext cx="4663440" cy="0"/>
          </a:xfrm>
          <a:prstGeom prst="line">
            <a:avLst/>
          </a:prstGeom>
          <a:noFill/>
          <a:ln w="9525">
            <a:solidFill>
              <a:srgbClr val="EFF2F5"/>
            </a:solidFill>
            <a:prstDash val="solid"/>
          </a:ln>
        </p:spPr>
      </p:sp>
      <p:sp>
        <p:nvSpPr>
          <p:cNvPr id="27" name="Text 24"/>
          <p:cNvSpPr/>
          <p:nvPr/>
        </p:nvSpPr>
        <p:spPr>
          <a:xfrm>
            <a:off x="6675120" y="432308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Were there attempts on this path that were denied — and why?</a:t>
            </a:r>
            <a:endParaRPr lang="en-US" sz="1050" dirty="0"/>
          </a:p>
        </p:txBody>
      </p:sp>
      <p:sp>
        <p:nvSpPr>
          <p:cNvPr id="28" name="Shape 25"/>
          <p:cNvSpPr/>
          <p:nvPr/>
        </p:nvSpPr>
        <p:spPr>
          <a:xfrm>
            <a:off x="6675120" y="4633976"/>
            <a:ext cx="4663440" cy="0"/>
          </a:xfrm>
          <a:prstGeom prst="line">
            <a:avLst/>
          </a:prstGeom>
          <a:noFill/>
          <a:ln w="9525">
            <a:solidFill>
              <a:srgbClr val="EFF2F5"/>
            </a:solidFill>
            <a:prstDash val="solid"/>
          </a:ln>
        </p:spPr>
      </p:sp>
      <p:sp>
        <p:nvSpPr>
          <p:cNvPr id="29" name="Text 26"/>
          <p:cNvSpPr/>
          <p:nvPr/>
        </p:nvSpPr>
        <p:spPr>
          <a:xfrm>
            <a:off x="6675120" y="4688840"/>
            <a:ext cx="4663440" cy="310896"/>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If we revoke now, how long until the last valid grant expires?</a:t>
            </a:r>
            <a:endParaRPr lang="en-US" sz="1050" dirty="0"/>
          </a:p>
        </p:txBody>
      </p:sp>
      <p:sp>
        <p:nvSpPr>
          <p:cNvPr id="30" name="Shape 27"/>
          <p:cNvSpPr/>
          <p:nvPr/>
        </p:nvSpPr>
        <p:spPr>
          <a:xfrm>
            <a:off x="566928" y="6382512"/>
            <a:ext cx="11057839" cy="0"/>
          </a:xfrm>
          <a:prstGeom prst="line">
            <a:avLst/>
          </a:prstGeom>
          <a:noFill/>
          <a:ln w="9525">
            <a:solidFill>
              <a:srgbClr val="E2E7EC"/>
            </a:solidFill>
            <a:prstDash val="solid"/>
          </a:ln>
        </p:spPr>
      </p:sp>
      <p:sp>
        <p:nvSpPr>
          <p:cNvPr id="31" name="Text 28"/>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2" name="Text 29"/>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REFERENCE ARCHITECTURE · INVARIANTS</a:t>
            </a:r>
            <a:endParaRPr lang="en-US" sz="1000" dirty="0"/>
          </a:p>
        </p:txBody>
      </p:sp>
      <p:sp>
        <p:nvSpPr>
          <p:cNvPr id="5" name="Text 2"/>
          <p:cNvSpPr/>
          <p:nvPr/>
        </p:nvSpPr>
        <p:spPr>
          <a:xfrm>
            <a:off x="1389888" y="621792"/>
            <a:ext cx="10234879" cy="8930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Five invariants outlive every product. Each one has a test.</a:t>
            </a:r>
            <a:endParaRPr lang="en-US" sz="3000" dirty="0"/>
          </a:p>
        </p:txBody>
      </p:sp>
      <p:sp>
        <p:nvSpPr>
          <p:cNvPr id="6" name="Text 3"/>
          <p:cNvSpPr/>
          <p:nvPr/>
        </p:nvSpPr>
        <p:spPr>
          <a:xfrm>
            <a:off x="1389888" y="15697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These are the rules we would use to evaluate any implementation — regardless of cloud, platform, policy engine or runtime. We run all five in front of your team in week ten.</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102612"/>
          <a:ext cx="11057839" cy="914400"/>
        </p:xfrm>
        <a:graphic>
          <a:graphicData uri="http://schemas.openxmlformats.org/drawingml/2006/table">
            <a:tbl>
              <a:tblPr/>
              <a:tblGrid>
                <a:gridCol w="1920240"/>
                <a:gridCol w="2834640"/>
                <a:gridCol w="630936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INVARIANT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WHAT IT MEANS</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HOW YOU TEST IT — AND WHAT A PASS LOOKS LIKE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1  Authority is explicit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No ambient access. Every action attributable to an identity and a decision.</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Pick any action from the last 24 hours at random. Produce actor, human principal, decision, grant and expiry in under 60 seconds, without asking an engineer.</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2  Delegation only narrows</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Sub-agents and workflows receive subsets of authority — never amplification.</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Have a sub-agent attempt an action its parent could not perform. It must fail closed, and the denial must appear in evidence with the attenuation reason.</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3  Execution is bounded</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Risk determines the enforcement and isolation boundary.</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Call the backend directly, bypassing the mediation path. It must be refused at the resource — not merely at the gateway. Gateway-only enforcement is a fail.</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4  Everything is observable</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Policy, routing, runtime and business outcome share one correlated context.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One trace identifier joins intent → decision → grant → runtime → backend call → business outcome across at least three systems, with no manual stitching.</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622"/>
                          </a:solidFill>
                          <a:latin typeface="Calibri" pitchFamily="34" charset="0"/>
                          <a:ea typeface="Calibri" pitchFamily="34" charset="-122"/>
                          <a:cs typeface="Calibri" pitchFamily="34" charset="-120"/>
                        </a:rPr>
                        <a:t>5  Technology is replaceable</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Interfaces and responsibilities standardized; products chosen by context.</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46586B"/>
                          </a:solidFill>
                          <a:latin typeface="Calibri" pitchFamily="34" charset="0"/>
                          <a:ea typeface="Calibri" pitchFamily="34" charset="-122"/>
                          <a:cs typeface="Calibri" pitchFamily="34" charset="-120"/>
                        </a:rPr>
                        <a:t>Swap the policy engine — or the gateway — behind the same contract. Zero service code changes, and evidence continuity is preserved across the swap.</a:t>
                      </a:r>
                      <a:endParaRPr lang="en-US" sz="90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4956048"/>
            <a:ext cx="11057839" cy="603504"/>
          </a:xfrm>
          <a:prstGeom prst="roundRect">
            <a:avLst>
              <a:gd name="adj" fmla="val 12121"/>
            </a:avLst>
          </a:prstGeom>
          <a:solidFill>
            <a:srgbClr val="E6F4F6"/>
          </a:solidFill>
          <a:ln w="12700">
            <a:solidFill>
              <a:srgbClr val="9CCED6"/>
            </a:solidFill>
            <a:prstDash val="solid"/>
          </a:ln>
        </p:spPr>
      </p:sp>
      <p:sp>
        <p:nvSpPr>
          <p:cNvPr id="9" name="Text 5"/>
          <p:cNvSpPr/>
          <p:nvPr/>
        </p:nvSpPr>
        <p:spPr>
          <a:xfrm>
            <a:off x="749808" y="5084064"/>
            <a:ext cx="10692079" cy="40233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Open invitation: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your security and SRE teams design the adversarial cases for tests 2, 3 and 5. We would rather be broken by you in week ten than by an incident in month nine. If this room wants a sixth invariant, we will add it today.</a:t>
            </a:r>
            <a:endParaRPr lang="en-US" sz="1050" dirty="0"/>
          </a:p>
        </p:txBody>
      </p:sp>
      <p:sp>
        <p:nvSpPr>
          <p:cNvPr id="10" name="Shape 6"/>
          <p:cNvSpPr/>
          <p:nvPr/>
        </p:nvSpPr>
        <p:spPr>
          <a:xfrm>
            <a:off x="566928" y="6382512"/>
            <a:ext cx="11057839" cy="0"/>
          </a:xfrm>
          <a:prstGeom prst="line">
            <a:avLst/>
          </a:prstGeom>
          <a:noFill/>
          <a:ln w="9525">
            <a:solidFill>
              <a:srgbClr val="E2E7EC"/>
            </a:solidFill>
            <a:prstDash val="solid"/>
          </a:ln>
        </p:spPr>
      </p:sp>
      <p:sp>
        <p:nvSpPr>
          <p:cNvPr id="11" name="Text 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2" name="Text 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72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5FD8E6"/>
                </a:solidFill>
                <a:latin typeface="Consolas" pitchFamily="34" charset="0"/>
                <a:ea typeface="Consolas" pitchFamily="34" charset="-122"/>
                <a:cs typeface="Consolas" pitchFamily="34" charset="-120"/>
              </a:rPr>
              <a:t>02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5FD8E6"/>
                </a:solidFill>
                <a:latin typeface="Consolas" pitchFamily="34" charset="0"/>
                <a:ea typeface="Consolas" pitchFamily="34" charset="-122"/>
                <a:cs typeface="Consolas" pitchFamily="34" charset="-120"/>
              </a:rPr>
              <a:t>REFERENCE ARCHITECTURE · NON-GOALS</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What we are deliberately not doing.</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C7D6E2"/>
                </a:solidFill>
                <a:latin typeface="Calibri" pitchFamily="34" charset="0"/>
                <a:ea typeface="Calibri" pitchFamily="34" charset="-122"/>
                <a:cs typeface="Calibri" pitchFamily="34" charset="-120"/>
              </a:rPr>
              <a:t>Stated up front, so nobody has to discover it in week seven. Each of these is a way this class of programme reliably fails.</a:t>
            </a:r>
            <a:endParaRPr lang="en-US" sz="1250" dirty="0"/>
          </a:p>
        </p:txBody>
      </p:sp>
      <p:sp>
        <p:nvSpPr>
          <p:cNvPr id="7" name="Shape 4"/>
          <p:cNvSpPr/>
          <p:nvPr/>
        </p:nvSpPr>
        <p:spPr>
          <a:xfrm>
            <a:off x="566928" y="1517650"/>
            <a:ext cx="5437480" cy="969264"/>
          </a:xfrm>
          <a:prstGeom prst="roundRect">
            <a:avLst>
              <a:gd name="adj" fmla="val 7547"/>
            </a:avLst>
          </a:prstGeom>
          <a:solidFill>
            <a:srgbClr val="0E2437"/>
          </a:solidFill>
          <a:ln w="12700">
            <a:solidFill>
              <a:srgbClr val="1E3A52"/>
            </a:solidFill>
            <a:prstDash val="solid"/>
          </a:ln>
        </p:spPr>
      </p:sp>
      <p:sp>
        <p:nvSpPr>
          <p:cNvPr id="8" name="Text 5"/>
          <p:cNvSpPr/>
          <p:nvPr/>
        </p:nvSpPr>
        <p:spPr>
          <a:xfrm>
            <a:off x="749808" y="164566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01</a:t>
            </a:r>
            <a:endParaRPr lang="en-US" sz="780" dirty="0"/>
          </a:p>
        </p:txBody>
      </p:sp>
      <p:sp>
        <p:nvSpPr>
          <p:cNvPr id="9" name="Text 6"/>
          <p:cNvSpPr/>
          <p:nvPr/>
        </p:nvSpPr>
        <p:spPr>
          <a:xfrm>
            <a:off x="749808" y="184683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 universal ontology as a prerequisite</a:t>
            </a:r>
            <a:endParaRPr lang="en-US" sz="1250" dirty="0"/>
          </a:p>
        </p:txBody>
      </p:sp>
      <p:sp>
        <p:nvSpPr>
          <p:cNvPr id="10" name="Text 7"/>
          <p:cNvSpPr/>
          <p:nvPr/>
        </p:nvSpPr>
        <p:spPr>
          <a:xfrm>
            <a:off x="749808" y="208457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Shared semantics grow where they materially improve discovery, policy, interoperability or assurance — bounded domain first, never enterprise-first.</a:t>
            </a:r>
            <a:endParaRPr lang="en-US" sz="950" dirty="0"/>
          </a:p>
        </p:txBody>
      </p:sp>
      <p:sp>
        <p:nvSpPr>
          <p:cNvPr id="11" name="Shape 8"/>
          <p:cNvSpPr/>
          <p:nvPr/>
        </p:nvSpPr>
        <p:spPr>
          <a:xfrm>
            <a:off x="6187288" y="1517650"/>
            <a:ext cx="5437480" cy="969264"/>
          </a:xfrm>
          <a:prstGeom prst="roundRect">
            <a:avLst>
              <a:gd name="adj" fmla="val 7547"/>
            </a:avLst>
          </a:prstGeom>
          <a:solidFill>
            <a:srgbClr val="0E2437"/>
          </a:solidFill>
          <a:ln w="12700">
            <a:solidFill>
              <a:srgbClr val="1E3A52"/>
            </a:solidFill>
            <a:prstDash val="solid"/>
          </a:ln>
        </p:spPr>
      </p:sp>
      <p:sp>
        <p:nvSpPr>
          <p:cNvPr id="12" name="Text 9"/>
          <p:cNvSpPr/>
          <p:nvPr/>
        </p:nvSpPr>
        <p:spPr>
          <a:xfrm>
            <a:off x="6370168" y="164566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02</a:t>
            </a:r>
            <a:endParaRPr lang="en-US" sz="780" dirty="0"/>
          </a:p>
        </p:txBody>
      </p:sp>
      <p:sp>
        <p:nvSpPr>
          <p:cNvPr id="13" name="Text 10"/>
          <p:cNvSpPr/>
          <p:nvPr/>
        </p:nvSpPr>
        <p:spPr>
          <a:xfrm>
            <a:off x="6370168" y="184683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Rewriting services in WebAssembly</a:t>
            </a:r>
            <a:endParaRPr lang="en-US" sz="1250" dirty="0"/>
          </a:p>
        </p:txBody>
      </p:sp>
      <p:sp>
        <p:nvSpPr>
          <p:cNvPr id="14" name="Text 11"/>
          <p:cNvSpPr/>
          <p:nvPr/>
        </p:nvSpPr>
        <p:spPr>
          <a:xfrm>
            <a:off x="6370168" y="208457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Portable mediation is a useful boundary pattern where the host interface matters. It is not dogma, and it is not a migration programme.</a:t>
            </a:r>
            <a:endParaRPr lang="en-US" sz="950" dirty="0"/>
          </a:p>
        </p:txBody>
      </p:sp>
      <p:sp>
        <p:nvSpPr>
          <p:cNvPr id="15" name="Shape 12"/>
          <p:cNvSpPr/>
          <p:nvPr/>
        </p:nvSpPr>
        <p:spPr>
          <a:xfrm>
            <a:off x="566928" y="2614930"/>
            <a:ext cx="5437480" cy="969264"/>
          </a:xfrm>
          <a:prstGeom prst="roundRect">
            <a:avLst>
              <a:gd name="adj" fmla="val 7547"/>
            </a:avLst>
          </a:prstGeom>
          <a:solidFill>
            <a:srgbClr val="0E2437"/>
          </a:solidFill>
          <a:ln w="12700">
            <a:solidFill>
              <a:srgbClr val="1E3A52"/>
            </a:solidFill>
            <a:prstDash val="solid"/>
          </a:ln>
        </p:spPr>
      </p:sp>
      <p:sp>
        <p:nvSpPr>
          <p:cNvPr id="16" name="Text 13"/>
          <p:cNvSpPr/>
          <p:nvPr/>
        </p:nvSpPr>
        <p:spPr>
          <a:xfrm>
            <a:off x="749808" y="274294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03</a:t>
            </a:r>
            <a:endParaRPr lang="en-US" sz="780" dirty="0"/>
          </a:p>
        </p:txBody>
      </p:sp>
      <p:sp>
        <p:nvSpPr>
          <p:cNvPr id="17" name="Text 14"/>
          <p:cNvSpPr/>
          <p:nvPr/>
        </p:nvSpPr>
        <p:spPr>
          <a:xfrm>
            <a:off x="749808" y="294411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One synchronous policy service in every request path</a:t>
            </a:r>
            <a:endParaRPr lang="en-US" sz="1250" dirty="0"/>
          </a:p>
        </p:txBody>
      </p:sp>
      <p:sp>
        <p:nvSpPr>
          <p:cNvPr id="18" name="Text 15"/>
          <p:cNvSpPr/>
          <p:nvPr/>
        </p:nvSpPr>
        <p:spPr>
          <a:xfrm>
            <a:off x="749808" y="318185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That is an availability incident waiting for a Tuesday. Risk tiering plus local verification with short TTLs keeps the hot path fast.</a:t>
            </a:r>
            <a:endParaRPr lang="en-US" sz="950" dirty="0"/>
          </a:p>
        </p:txBody>
      </p:sp>
      <p:sp>
        <p:nvSpPr>
          <p:cNvPr id="19" name="Shape 16"/>
          <p:cNvSpPr/>
          <p:nvPr/>
        </p:nvSpPr>
        <p:spPr>
          <a:xfrm>
            <a:off x="6187288" y="2614930"/>
            <a:ext cx="5437480" cy="969264"/>
          </a:xfrm>
          <a:prstGeom prst="roundRect">
            <a:avLst>
              <a:gd name="adj" fmla="val 7547"/>
            </a:avLst>
          </a:prstGeom>
          <a:solidFill>
            <a:srgbClr val="0E2437"/>
          </a:solidFill>
          <a:ln w="12700">
            <a:solidFill>
              <a:srgbClr val="1E3A52"/>
            </a:solidFill>
            <a:prstDash val="solid"/>
          </a:ln>
        </p:spPr>
      </p:sp>
      <p:sp>
        <p:nvSpPr>
          <p:cNvPr id="20" name="Text 17"/>
          <p:cNvSpPr/>
          <p:nvPr/>
        </p:nvSpPr>
        <p:spPr>
          <a:xfrm>
            <a:off x="6370168" y="274294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04</a:t>
            </a:r>
            <a:endParaRPr lang="en-US" sz="780" dirty="0"/>
          </a:p>
        </p:txBody>
      </p:sp>
      <p:sp>
        <p:nvSpPr>
          <p:cNvPr id="21" name="Text 18"/>
          <p:cNvSpPr/>
          <p:nvPr/>
        </p:nvSpPr>
        <p:spPr>
          <a:xfrm>
            <a:off x="6370168" y="294411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 parallel identity, secrets or logging estate</a:t>
            </a:r>
            <a:endParaRPr lang="en-US" sz="1250" dirty="0"/>
          </a:p>
        </p:txBody>
      </p:sp>
      <p:sp>
        <p:nvSpPr>
          <p:cNvPr id="22" name="Text 19"/>
          <p:cNvSpPr/>
          <p:nvPr/>
        </p:nvSpPr>
        <p:spPr>
          <a:xfrm>
            <a:off x="6370168" y="318185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Agents are a new class of actor inside the platform you already operate — not a new platform beside it.</a:t>
            </a:r>
            <a:endParaRPr lang="en-US" sz="950" dirty="0"/>
          </a:p>
        </p:txBody>
      </p:sp>
      <p:sp>
        <p:nvSpPr>
          <p:cNvPr id="23" name="Shape 20"/>
          <p:cNvSpPr/>
          <p:nvPr/>
        </p:nvSpPr>
        <p:spPr>
          <a:xfrm>
            <a:off x="566928" y="3712210"/>
            <a:ext cx="5437480" cy="969264"/>
          </a:xfrm>
          <a:prstGeom prst="roundRect">
            <a:avLst>
              <a:gd name="adj" fmla="val 7547"/>
            </a:avLst>
          </a:prstGeom>
          <a:solidFill>
            <a:srgbClr val="0E2437"/>
          </a:solidFill>
          <a:ln w="12700">
            <a:solidFill>
              <a:srgbClr val="1E3A52"/>
            </a:solidFill>
            <a:prstDash val="solid"/>
          </a:ln>
        </p:spPr>
      </p:sp>
      <p:sp>
        <p:nvSpPr>
          <p:cNvPr id="24" name="Text 21"/>
          <p:cNvSpPr/>
          <p:nvPr/>
        </p:nvSpPr>
        <p:spPr>
          <a:xfrm>
            <a:off x="749808" y="384022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05</a:t>
            </a:r>
            <a:endParaRPr lang="en-US" sz="780" dirty="0"/>
          </a:p>
        </p:txBody>
      </p:sp>
      <p:sp>
        <p:nvSpPr>
          <p:cNvPr id="25" name="Text 22"/>
          <p:cNvSpPr/>
          <p:nvPr/>
        </p:nvSpPr>
        <p:spPr>
          <a:xfrm>
            <a:off x="749808" y="404139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 model-autonomy showcase</a:t>
            </a:r>
            <a:endParaRPr lang="en-US" sz="1250" dirty="0"/>
          </a:p>
        </p:txBody>
      </p:sp>
      <p:sp>
        <p:nvSpPr>
          <p:cNvPr id="26" name="Text 23"/>
          <p:cNvSpPr/>
          <p:nvPr/>
        </p:nvSpPr>
        <p:spPr>
          <a:xfrm>
            <a:off x="749808" y="427913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The demonstration is the control path and the evidence record. Impressive agent behaviour is not the deliverable and will not be scored.</a:t>
            </a:r>
            <a:endParaRPr lang="en-US" sz="950" dirty="0"/>
          </a:p>
        </p:txBody>
      </p:sp>
      <p:sp>
        <p:nvSpPr>
          <p:cNvPr id="27" name="Shape 24"/>
          <p:cNvSpPr/>
          <p:nvPr/>
        </p:nvSpPr>
        <p:spPr>
          <a:xfrm>
            <a:off x="6187288" y="3712210"/>
            <a:ext cx="5437480" cy="969264"/>
          </a:xfrm>
          <a:prstGeom prst="roundRect">
            <a:avLst>
              <a:gd name="adj" fmla="val 7547"/>
            </a:avLst>
          </a:prstGeom>
          <a:solidFill>
            <a:srgbClr val="0E2437"/>
          </a:solidFill>
          <a:ln w="12700">
            <a:solidFill>
              <a:srgbClr val="1E3A52"/>
            </a:solidFill>
            <a:prstDash val="solid"/>
          </a:ln>
        </p:spPr>
      </p:sp>
      <p:sp>
        <p:nvSpPr>
          <p:cNvPr id="28" name="Text 25"/>
          <p:cNvSpPr/>
          <p:nvPr/>
        </p:nvSpPr>
        <p:spPr>
          <a:xfrm>
            <a:off x="6370168" y="3840226"/>
            <a:ext cx="5071720" cy="164592"/>
          </a:xfrm>
          <a:prstGeom prst="rect">
            <a:avLst/>
          </a:prstGeom>
          <a:noFill/>
          <a:ln/>
        </p:spPr>
        <p:txBody>
          <a:bodyPr wrap="square" lIns="0" tIns="0" rIns="0" bIns="0" rtlCol="0" anchor="ctr"/>
          <a:lstStyle/>
          <a:p>
            <a:pPr indent="0" marL="0">
              <a:buNone/>
            </a:pPr>
            <a:r>
              <a:rPr lang="en-US" sz="780" b="1" spc="140" kern="0" dirty="0">
                <a:solidFill>
                  <a:srgbClr val="8AA3B8"/>
                </a:solidFill>
                <a:latin typeface="Consolas" pitchFamily="34" charset="0"/>
                <a:ea typeface="Consolas" pitchFamily="34" charset="-122"/>
                <a:cs typeface="Consolas" pitchFamily="34" charset="-120"/>
              </a:rPr>
              <a:t>NOT DOING 06</a:t>
            </a:r>
            <a:endParaRPr lang="en-US" sz="780" dirty="0"/>
          </a:p>
        </p:txBody>
      </p:sp>
      <p:sp>
        <p:nvSpPr>
          <p:cNvPr id="29" name="Text 26"/>
          <p:cNvSpPr/>
          <p:nvPr/>
        </p:nvSpPr>
        <p:spPr>
          <a:xfrm>
            <a:off x="6370168" y="4041394"/>
            <a:ext cx="5071720" cy="21945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Replacing your gateway, SIEM or identity provider</a:t>
            </a:r>
            <a:endParaRPr lang="en-US" sz="1250" dirty="0"/>
          </a:p>
        </p:txBody>
      </p:sp>
      <p:sp>
        <p:nvSpPr>
          <p:cNvPr id="30" name="Text 27"/>
          <p:cNvSpPr/>
          <p:nvPr/>
        </p:nvSpPr>
        <p:spPr>
          <a:xfrm>
            <a:off x="6370168" y="4279138"/>
            <a:ext cx="5071720" cy="365760"/>
          </a:xfrm>
          <a:prstGeom prst="rect">
            <a:avLst/>
          </a:prstGeom>
          <a:noFill/>
          <a:ln/>
        </p:spPr>
        <p:txBody>
          <a:bodyPr wrap="square" lIns="0" tIns="0" rIns="0" bIns="0" rtlCol="0" anchor="t"/>
          <a:lstStyle/>
          <a:p>
            <a:pPr indent="0" marL="0">
              <a:lnSpc>
                <a:spcPct val="108000"/>
              </a:lnSpc>
              <a:buNone/>
            </a:pPr>
            <a:r>
              <a:rPr lang="en-US" sz="950" dirty="0">
                <a:solidFill>
                  <a:srgbClr val="C7D6E2"/>
                </a:solidFill>
                <a:latin typeface="Calibri" pitchFamily="34" charset="0"/>
                <a:ea typeface="Calibri" pitchFamily="34" charset="-122"/>
                <a:cs typeface="Calibri" pitchFamily="34" charset="-120"/>
              </a:rPr>
              <a:t>If an incumbent satisfies the responsibility, it stays. We are adding a contract, not an estate.</a:t>
            </a:r>
            <a:endParaRPr lang="en-US" sz="950" dirty="0"/>
          </a:p>
        </p:txBody>
      </p:sp>
      <p:sp>
        <p:nvSpPr>
          <p:cNvPr id="31" name="Shape 28"/>
          <p:cNvSpPr/>
          <p:nvPr/>
        </p:nvSpPr>
        <p:spPr>
          <a:xfrm>
            <a:off x="566928" y="6382512"/>
            <a:ext cx="11057839" cy="0"/>
          </a:xfrm>
          <a:prstGeom prst="line">
            <a:avLst/>
          </a:prstGeom>
          <a:noFill/>
          <a:ln w="9525">
            <a:solidFill>
              <a:srgbClr val="20364C"/>
            </a:solidFill>
            <a:prstDash val="solid"/>
          </a:ln>
        </p:spPr>
      </p:sp>
      <p:sp>
        <p:nvSpPr>
          <p:cNvPr id="32" name="Text 29"/>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33" name="Text 30"/>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YOUR ESTATE</a:t>
            </a:r>
            <a:endParaRPr lang="en-US" sz="1000" dirty="0"/>
          </a:p>
        </p:txBody>
      </p:sp>
      <p:sp>
        <p:nvSpPr>
          <p:cNvPr id="5" name="Text 2"/>
          <p:cNvSpPr/>
          <p:nvPr/>
        </p:nvSpPr>
        <p:spPr>
          <a:xfrm>
            <a:off x="1389888" y="621792"/>
            <a:ext cx="10234879" cy="809244"/>
          </a:xfrm>
          <a:prstGeom prst="rect">
            <a:avLst/>
          </a:prstGeom>
          <a:noFill/>
          <a:ln/>
        </p:spPr>
        <p:txBody>
          <a:bodyPr wrap="square" lIns="0" tIns="0" rIns="0" bIns="0" rtlCol="0" anchor="t"/>
          <a:lstStyle/>
          <a:p>
            <a:pPr indent="0" marL="0">
              <a:buNone/>
            </a:pPr>
            <a:r>
              <a:rPr lang="en-US" sz="2700" b="1" dirty="0">
                <a:solidFill>
                  <a:srgbClr val="0B1622"/>
                </a:solidFill>
                <a:latin typeface="Calibri" pitchFamily="34" charset="0"/>
                <a:ea typeface="Calibri" pitchFamily="34" charset="-122"/>
                <a:cs typeface="Calibri" pitchFamily="34" charset="-120"/>
              </a:rPr>
              <a:t>You already own most of this. We are adding a contract, not an estate.</a:t>
            </a:r>
            <a:endParaRPr lang="en-US" sz="2700" dirty="0"/>
          </a:p>
        </p:txBody>
      </p:sp>
      <p:sp>
        <p:nvSpPr>
          <p:cNvPr id="6" name="Text 3"/>
          <p:cNvSpPr/>
          <p:nvPr/>
        </p:nvSpPr>
        <p:spPr>
          <a:xfrm>
            <a:off x="1389888" y="148590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Our starting hypothesis, to be corrected by you in the next six minutes. The incumbent column is blank on purpose — we fill it together, live.</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834642"/>
          <a:ext cx="5440680" cy="914400"/>
        </p:xfrm>
        <a:graphic>
          <a:graphicData uri="http://schemas.openxmlformats.org/drawingml/2006/table">
            <a:tbl>
              <a:tblPr/>
              <a:tblGrid>
                <a:gridCol w="2286000"/>
                <a:gridCol w="1920240"/>
                <a:gridCol w="132588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RESPONSIBILITY</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[CLIENT] INCUMBENT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POSTURE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Enterprise identity</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Workload identity</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7A5510"/>
                          </a:solidFill>
                          <a:latin typeface="Calibri" pitchFamily="34" charset="0"/>
                          <a:ea typeface="Calibri" pitchFamily="34" charset="-122"/>
                          <a:cs typeface="Calibri" pitchFamily="34" charset="-120"/>
                        </a:rPr>
                        <a:t>EXTEND</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EF3DC"/>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Policy decision</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7A5510"/>
                          </a:solidFill>
                          <a:latin typeface="Calibri" pitchFamily="34" charset="0"/>
                          <a:ea typeface="Calibri" pitchFamily="34" charset="-122"/>
                          <a:cs typeface="Calibri" pitchFamily="34" charset="-120"/>
                        </a:rPr>
                        <a:t>EXTEND</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EF3DC"/>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Authority conveyance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32D2D"/>
                          </a:solidFill>
                          <a:latin typeface="Calibri" pitchFamily="34" charset="0"/>
                          <a:ea typeface="Calibri" pitchFamily="34" charset="-122"/>
                          <a:cs typeface="Calibri" pitchFamily="34" charset="-120"/>
                        </a:rPr>
                        <a:t>GAP</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AE6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Mediation boundary</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32D2D"/>
                          </a:solidFill>
                          <a:latin typeface="Calibri" pitchFamily="34" charset="0"/>
                          <a:ea typeface="Calibri" pitchFamily="34" charset="-122"/>
                          <a:cs typeface="Calibri" pitchFamily="34" charset="-120"/>
                        </a:rPr>
                        <a:t>GAP</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AE6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Service catalog</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190488" y="1834642"/>
          <a:ext cx="5440680" cy="914400"/>
        </p:xfrm>
        <a:graphic>
          <a:graphicData uri="http://schemas.openxmlformats.org/drawingml/2006/table">
            <a:tbl>
              <a:tblPr/>
              <a:tblGrid>
                <a:gridCol w="2286000"/>
                <a:gridCol w="1920240"/>
                <a:gridCol w="132588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RESPONSIBILITY</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[CLIENT] INCUMBENT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POSTURE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Durable workflow</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API management</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Messaging fabric</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Observability backend</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006300"/>
                          </a:solidFill>
                          <a:latin typeface="Calibri" pitchFamily="34" charset="0"/>
                          <a:ea typeface="Calibri" pitchFamily="34" charset="-122"/>
                          <a:cs typeface="Calibri" pitchFamily="34" charset="-120"/>
                        </a:rPr>
                        <a:t>REUSE</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E6F4E6"/>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Telemetry contract</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7A5510"/>
                          </a:solidFill>
                          <a:latin typeface="Calibri" pitchFamily="34" charset="0"/>
                          <a:ea typeface="Calibri" pitchFamily="34" charset="-122"/>
                          <a:cs typeface="Calibri" pitchFamily="34" charset="-120"/>
                        </a:rPr>
                        <a:t>EXTEND</a:t>
                      </a:r>
                      <a:endParaRPr lang="en-US" sz="8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EF3DC"/>
                    </a:solidFill>
                  </a:tcPr>
                </a:tc>
              </a:tr>
            </a:tbl>
          </a:graphicData>
        </a:graphic>
      </p:graphicFrame>
      <p:sp>
        <p:nvSpPr>
          <p:cNvPr id="9" name="Shape 4"/>
          <p:cNvSpPr/>
          <p:nvPr/>
        </p:nvSpPr>
        <p:spPr>
          <a:xfrm>
            <a:off x="6190488" y="4224528"/>
            <a:ext cx="5440680" cy="786384"/>
          </a:xfrm>
          <a:prstGeom prst="roundRect">
            <a:avLst>
              <a:gd name="adj" fmla="val 9302"/>
            </a:avLst>
          </a:prstGeom>
          <a:solidFill>
            <a:srgbClr val="E6F4F6"/>
          </a:solidFill>
          <a:ln w="12700">
            <a:solidFill>
              <a:srgbClr val="9CCED6"/>
            </a:solidFill>
            <a:prstDash val="solid"/>
          </a:ln>
        </p:spPr>
      </p:sp>
      <p:sp>
        <p:nvSpPr>
          <p:cNvPr id="10" name="Text 5"/>
          <p:cNvSpPr/>
          <p:nvPr/>
        </p:nvSpPr>
        <p:spPr>
          <a:xfrm>
            <a:off x="6373368" y="4352544"/>
            <a:ext cx="5074920" cy="58521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Read the colours honestly.</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Seven reuse-first, three extensions, two genuine gaps. If that ratio is wrong for [CLIENT], the scope on slide 24 changes — and we would rather change it now than in week six.</a:t>
            </a:r>
            <a:endParaRPr lang="en-US" sz="1000" dirty="0"/>
          </a:p>
        </p:txBody>
      </p:sp>
      <p:sp>
        <p:nvSpPr>
          <p:cNvPr id="11" name="Shape 6"/>
          <p:cNvSpPr/>
          <p:nvPr/>
        </p:nvSpPr>
        <p:spPr>
          <a:xfrm>
            <a:off x="566928" y="5120640"/>
            <a:ext cx="11057839" cy="457200"/>
          </a:xfrm>
          <a:prstGeom prst="roundRect">
            <a:avLst>
              <a:gd name="adj" fmla="val 16000"/>
            </a:avLst>
          </a:prstGeom>
          <a:solidFill>
            <a:srgbClr val="FFFFFF"/>
          </a:solidFill>
          <a:ln w="12700">
            <a:solidFill>
              <a:srgbClr val="E2E7EC"/>
            </a:solidFill>
            <a:prstDash val="solid"/>
          </a:ln>
        </p:spPr>
      </p:sp>
      <p:sp>
        <p:nvSpPr>
          <p:cNvPr id="12" name="Shape 7"/>
          <p:cNvSpPr/>
          <p:nvPr/>
        </p:nvSpPr>
        <p:spPr>
          <a:xfrm>
            <a:off x="749808" y="5294376"/>
            <a:ext cx="109728" cy="109728"/>
          </a:xfrm>
          <a:prstGeom prst="ellipse">
            <a:avLst/>
          </a:prstGeom>
          <a:solidFill>
            <a:srgbClr val="0CA30C"/>
          </a:solidFill>
          <a:ln w="12700">
            <a:solidFill>
              <a:srgbClr val="333333"/>
            </a:solidFill>
            <a:prstDash val="solid"/>
          </a:ln>
        </p:spPr>
      </p:sp>
      <p:sp>
        <p:nvSpPr>
          <p:cNvPr id="13" name="Text 8"/>
          <p:cNvSpPr/>
          <p:nvPr/>
        </p:nvSpPr>
        <p:spPr>
          <a:xfrm>
            <a:off x="932688" y="5230368"/>
            <a:ext cx="3383280" cy="256032"/>
          </a:xfrm>
          <a:prstGeom prst="rect">
            <a:avLst/>
          </a:prstGeom>
          <a:noFill/>
          <a:ln/>
        </p:spPr>
        <p:txBody>
          <a:bodyPr wrap="square" lIns="0" tIns="0" rIns="0" bIns="0" rtlCol="0" anchor="ctr"/>
          <a:lstStyle/>
          <a:p>
            <a:pPr indent="0" marL="0">
              <a:buNone/>
            </a:pPr>
            <a:r>
              <a:rPr lang="en-US" sz="950" b="1" dirty="0">
                <a:solidFill>
                  <a:srgbClr val="0B1622"/>
                </a:solidFill>
                <a:latin typeface="Calibri" pitchFamily="34" charset="0"/>
                <a:ea typeface="Calibri" pitchFamily="34" charset="-122"/>
                <a:cs typeface="Calibri" pitchFamily="34" charset="-120"/>
              </a:rPr>
              <a:t>REUSE FIRST  </a:t>
            </a:r>
            <a:pPr indent="0" marL="0">
              <a:buNone/>
            </a:pPr>
            <a:r>
              <a:rPr lang="en-US" sz="950" dirty="0">
                <a:solidFill>
                  <a:srgbClr val="46586B"/>
                </a:solidFill>
                <a:latin typeface="Calibri" pitchFamily="34" charset="0"/>
                <a:ea typeface="Calibri" pitchFamily="34" charset="-122"/>
                <a:cs typeface="Calibri" pitchFamily="34" charset="-120"/>
              </a:rPr>
              <a:t>incumbent satisfies the responsibility; we integrate</a:t>
            </a:r>
            <a:endParaRPr lang="en-US" sz="950" dirty="0"/>
          </a:p>
        </p:txBody>
      </p:sp>
      <p:sp>
        <p:nvSpPr>
          <p:cNvPr id="14" name="Shape 9"/>
          <p:cNvSpPr/>
          <p:nvPr/>
        </p:nvSpPr>
        <p:spPr>
          <a:xfrm>
            <a:off x="4453128" y="5294376"/>
            <a:ext cx="109728" cy="109728"/>
          </a:xfrm>
          <a:prstGeom prst="ellipse">
            <a:avLst/>
          </a:prstGeom>
          <a:solidFill>
            <a:srgbClr val="FAB219"/>
          </a:solidFill>
          <a:ln w="12700">
            <a:solidFill>
              <a:srgbClr val="333333"/>
            </a:solidFill>
            <a:prstDash val="solid"/>
          </a:ln>
        </p:spPr>
      </p:sp>
      <p:sp>
        <p:nvSpPr>
          <p:cNvPr id="15" name="Text 10"/>
          <p:cNvSpPr/>
          <p:nvPr/>
        </p:nvSpPr>
        <p:spPr>
          <a:xfrm>
            <a:off x="4636008" y="5230368"/>
            <a:ext cx="3383280" cy="256032"/>
          </a:xfrm>
          <a:prstGeom prst="rect">
            <a:avLst/>
          </a:prstGeom>
          <a:noFill/>
          <a:ln/>
        </p:spPr>
        <p:txBody>
          <a:bodyPr wrap="square" lIns="0" tIns="0" rIns="0" bIns="0" rtlCol="0" anchor="ctr"/>
          <a:lstStyle/>
          <a:p>
            <a:pPr indent="0" marL="0">
              <a:buNone/>
            </a:pPr>
            <a:r>
              <a:rPr lang="en-US" sz="950" b="1" dirty="0">
                <a:solidFill>
                  <a:srgbClr val="0B1622"/>
                </a:solidFill>
                <a:latin typeface="Calibri" pitchFamily="34" charset="0"/>
                <a:ea typeface="Calibri" pitchFamily="34" charset="-122"/>
                <a:cs typeface="Calibri" pitchFamily="34" charset="-120"/>
              </a:rPr>
              <a:t>EXTEND  </a:t>
            </a:r>
            <a:pPr indent="0" marL="0">
              <a:buNone/>
            </a:pPr>
            <a:r>
              <a:rPr lang="en-US" sz="950" dirty="0">
                <a:solidFill>
                  <a:srgbClr val="46586B"/>
                </a:solidFill>
                <a:latin typeface="Calibri" pitchFamily="34" charset="0"/>
                <a:ea typeface="Calibri" pitchFamily="34" charset="-122"/>
                <a:cs typeface="Calibri" pitchFamily="34" charset="-120"/>
              </a:rPr>
              <a:t>incumbent is close; we add a contract or a convention</a:t>
            </a:r>
            <a:endParaRPr lang="en-US" sz="950" dirty="0"/>
          </a:p>
        </p:txBody>
      </p:sp>
      <p:sp>
        <p:nvSpPr>
          <p:cNvPr id="16" name="Shape 11"/>
          <p:cNvSpPr/>
          <p:nvPr/>
        </p:nvSpPr>
        <p:spPr>
          <a:xfrm>
            <a:off x="8156448" y="5294376"/>
            <a:ext cx="109728" cy="109728"/>
          </a:xfrm>
          <a:prstGeom prst="ellipse">
            <a:avLst/>
          </a:prstGeom>
          <a:solidFill>
            <a:srgbClr val="D03B3B"/>
          </a:solidFill>
          <a:ln w="12700">
            <a:solidFill>
              <a:srgbClr val="333333"/>
            </a:solidFill>
            <a:prstDash val="solid"/>
          </a:ln>
        </p:spPr>
      </p:sp>
      <p:sp>
        <p:nvSpPr>
          <p:cNvPr id="17" name="Text 12"/>
          <p:cNvSpPr/>
          <p:nvPr/>
        </p:nvSpPr>
        <p:spPr>
          <a:xfrm>
            <a:off x="8339328" y="5230368"/>
            <a:ext cx="3383280" cy="256032"/>
          </a:xfrm>
          <a:prstGeom prst="rect">
            <a:avLst/>
          </a:prstGeom>
          <a:noFill/>
          <a:ln/>
        </p:spPr>
        <p:txBody>
          <a:bodyPr wrap="square" lIns="0" tIns="0" rIns="0" bIns="0" rtlCol="0" anchor="ctr"/>
          <a:lstStyle/>
          <a:p>
            <a:pPr indent="0" marL="0">
              <a:buNone/>
            </a:pPr>
            <a:r>
              <a:rPr lang="en-US" sz="950" b="1" dirty="0">
                <a:solidFill>
                  <a:srgbClr val="0B1622"/>
                </a:solidFill>
                <a:latin typeface="Calibri" pitchFamily="34" charset="0"/>
                <a:ea typeface="Calibri" pitchFamily="34" charset="-122"/>
                <a:cs typeface="Calibri" pitchFamily="34" charset="-120"/>
              </a:rPr>
              <a:t>GAP  </a:t>
            </a:r>
            <a:pPr indent="0" marL="0">
              <a:buNone/>
            </a:pPr>
            <a:r>
              <a:rPr lang="en-US" sz="950" dirty="0">
                <a:solidFill>
                  <a:srgbClr val="46586B"/>
                </a:solidFill>
                <a:latin typeface="Calibri" pitchFamily="34" charset="0"/>
                <a:ea typeface="Calibri" pitchFamily="34" charset="-122"/>
                <a:cs typeface="Calibri" pitchFamily="34" charset="-120"/>
              </a:rPr>
              <a:t>no incumbent; this is where engineering effort goes</a:t>
            </a:r>
            <a:endParaRPr lang="en-US" sz="950" dirty="0"/>
          </a:p>
        </p:txBody>
      </p:sp>
      <p:sp>
        <p:nvSpPr>
          <p:cNvPr id="18" name="Shape 13"/>
          <p:cNvSpPr/>
          <p:nvPr/>
        </p:nvSpPr>
        <p:spPr>
          <a:xfrm>
            <a:off x="566928" y="6382512"/>
            <a:ext cx="11057839" cy="0"/>
          </a:xfrm>
          <a:prstGeom prst="line">
            <a:avLst/>
          </a:prstGeom>
          <a:noFill/>
          <a:ln w="9525">
            <a:solidFill>
              <a:srgbClr val="E2E7EC"/>
            </a:solidFill>
            <a:prstDash val="solid"/>
          </a:ln>
        </p:spPr>
      </p:sp>
      <p:sp>
        <p:nvSpPr>
          <p:cNvPr id="19" name="Text 14"/>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0" name="Text 15"/>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YOUR ESTATE · DECISION FRAMEWORK</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Choose technology by responsibility, not by category.</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The architecture is composable by design. Retain any layer that already satisfies its contract; replace only the gaps. We hold no commercial relationship with anything named here.</a:t>
            </a:r>
            <a:endParaRPr lang="en-US" sz="1250" dirty="0"/>
          </a:p>
        </p:txBody>
      </p:sp>
      <p:sp>
        <p:nvSpPr>
          <p:cNvPr id="7" name="Text 4"/>
          <p:cNvSpPr/>
          <p:nvPr/>
        </p:nvSpPr>
        <p:spPr>
          <a:xfrm>
            <a:off x="566928" y="1665224"/>
            <a:ext cx="5486400" cy="182880"/>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CONTROL &amp; IDENTITY</a:t>
            </a:r>
            <a:endParaRPr lang="en-US" sz="800" dirty="0"/>
          </a:p>
        </p:txBody>
      </p:sp>
      <p:sp>
        <p:nvSpPr>
          <p:cNvPr id="8" name="Text 5"/>
          <p:cNvSpPr/>
          <p:nvPr/>
        </p:nvSpPr>
        <p:spPr>
          <a:xfrm>
            <a:off x="6190488" y="1665224"/>
            <a:ext cx="5486400" cy="182880"/>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EXECUTION, PLATFORM &amp; EVIDENCE</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902968"/>
          <a:ext cx="5440680" cy="914400"/>
        </p:xfrm>
        <a:graphic>
          <a:graphicData uri="http://schemas.openxmlformats.org/drawingml/2006/table">
            <a:tbl>
              <a:tblPr/>
              <a:tblGrid>
                <a:gridCol w="1417320"/>
                <a:gridCol w="2103120"/>
                <a:gridCol w="201168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RESPONSIBILITY</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REPRESENTATIVE OPTIONS</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WORKING POSTURE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Enterprise identity</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Entra, Okta, Keycloak, cloud IAM, workforce federation</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REUSE FIRST — no parallel identity estate for agents.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Workload identity</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SPIFFE/SPIRE, mesh identity, cloud workload identity</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ADD WHERE NEEDED — where service accounts are too blunt.</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Policy decision</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OPA/Rego, Cedar, OpenFGA, IAM-native ABAC</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SMALL VOCABULARY — expose business concepts, not engine syntax.</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Authority conveyance</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Signed tokens, caveated credentials, mTLS-bound grants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HYBRID — local for routine; online for high risk.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190488" y="1902968"/>
          <a:ext cx="5440680" cy="914400"/>
        </p:xfrm>
        <a:graphic>
          <a:graphicData uri="http://schemas.openxmlformats.org/drawingml/2006/table">
            <a:tbl>
              <a:tblPr/>
              <a:tblGrid>
                <a:gridCol w="1417320"/>
                <a:gridCol w="2103120"/>
                <a:gridCol w="201168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RESPONSIBILITY</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REPRESENTATIVE OPTIONS</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WORKING POSTURE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Workload isolation</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Containers, sandboxed containers, microVMs, confidential VMs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RISK TIERED — match isolation cost to consequence.</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Durable workflow</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Temporal, Argo, Camunda, cloud workflow, existing BPM</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DETERMINISM FIRST — process guarantees outside model improvisation.</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Telemetry contract</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OpenTelemetry APIs, SDKs, collectors, semantic conventions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STANDARDIZE — one invocation context, end to end.</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Observability backend</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Grafana, Datadog, Splunk, Elastic, cloud APM, existing SIEM</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REUSE FIRST — no separate estate solely for agents.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11" name="Shape 6"/>
          <p:cNvSpPr/>
          <p:nvPr/>
        </p:nvSpPr>
        <p:spPr>
          <a:xfrm>
            <a:off x="566928" y="5029200"/>
            <a:ext cx="11057839" cy="530352"/>
          </a:xfrm>
          <a:prstGeom prst="roundRect">
            <a:avLst>
              <a:gd name="adj" fmla="val 13793"/>
            </a:avLst>
          </a:prstGeom>
          <a:solidFill>
            <a:srgbClr val="E6F4F6"/>
          </a:solidFill>
          <a:ln w="12700">
            <a:solidFill>
              <a:srgbClr val="9CCED6"/>
            </a:solidFill>
            <a:prstDash val="solid"/>
          </a:ln>
        </p:spPr>
      </p:sp>
      <p:sp>
        <p:nvSpPr>
          <p:cNvPr id="12" name="Text 7"/>
          <p:cNvSpPr/>
          <p:nvPr/>
        </p:nvSpPr>
        <p:spPr>
          <a:xfrm>
            <a:off x="749808" y="5157216"/>
            <a:ext cx="10692079" cy="31089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Selection criteria we apply throughout: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explainability of decisions · deterministic evaluation · attenuation and audience binding · offline verifiability · blast-radius containment · operational maturity in your hands, not ours.</a:t>
            </a:r>
            <a:endParaRPr lang="en-US" sz="1050" dirty="0"/>
          </a:p>
        </p:txBody>
      </p:sp>
      <p:sp>
        <p:nvSpPr>
          <p:cNvPr id="13" name="Shape 8"/>
          <p:cNvSpPr/>
          <p:nvPr/>
        </p:nvSpPr>
        <p:spPr>
          <a:xfrm>
            <a:off x="566928" y="6382512"/>
            <a:ext cx="11057839" cy="0"/>
          </a:xfrm>
          <a:prstGeom prst="line">
            <a:avLst/>
          </a:prstGeom>
          <a:noFill/>
          <a:ln w="9525">
            <a:solidFill>
              <a:srgbClr val="E2E7EC"/>
            </a:solidFill>
            <a:prstDash val="solid"/>
          </a:ln>
        </p:spPr>
      </p:sp>
      <p:sp>
        <p:nvSpPr>
          <p:cNvPr id="14" name="Text 9"/>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5" name="Text 10"/>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FULL FRAMEWORK INCLUDING KNOWLEDGE-PLANE OPTIONS IN THE LEAVE-BEHIND</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LANE · PLATFORM ENGINEERING &amp; DEVOPS</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You inherit a paved road, not a science project.</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If adoption of the golden path requires us in the room, the product is wrong. That is a kill criterion on slide 26, not a caveat.</a:t>
            </a:r>
            <a:endParaRPr lang="en-US" sz="1250" dirty="0"/>
          </a:p>
        </p:txBody>
      </p:sp>
      <p:sp>
        <p:nvSpPr>
          <p:cNvPr id="7" name="Shape 4"/>
          <p:cNvSpPr/>
          <p:nvPr/>
        </p:nvSpPr>
        <p:spPr>
          <a:xfrm>
            <a:off x="566928" y="1554226"/>
            <a:ext cx="3588410" cy="3054096"/>
          </a:xfrm>
          <a:prstGeom prst="roundRect">
            <a:avLst>
              <a:gd name="adj" fmla="val 2395"/>
            </a:avLst>
          </a:prstGeom>
          <a:solidFill>
            <a:srgbClr val="FFFFFF"/>
          </a:solidFill>
          <a:ln w="12700">
            <a:solidFill>
              <a:srgbClr val="E2E7EC"/>
            </a:solidFill>
            <a:prstDash val="solid"/>
          </a:ln>
        </p:spPr>
      </p:sp>
      <p:sp>
        <p:nvSpPr>
          <p:cNvPr id="8" name="Shape 5"/>
          <p:cNvSpPr/>
          <p:nvPr/>
        </p:nvSpPr>
        <p:spPr>
          <a:xfrm>
            <a:off x="749808" y="1737106"/>
            <a:ext cx="1417320" cy="182880"/>
          </a:xfrm>
          <a:prstGeom prst="roundRect">
            <a:avLst>
              <a:gd name="adj" fmla="val 50000"/>
            </a:avLst>
          </a:prstGeom>
          <a:solidFill>
            <a:srgbClr val="EFF2F5"/>
          </a:solidFill>
          <a:ln w="12700">
            <a:solidFill>
              <a:srgbClr val="EFF2F5"/>
            </a:solidFill>
            <a:prstDash val="solid"/>
          </a:ln>
        </p:spPr>
      </p:sp>
      <p:sp>
        <p:nvSpPr>
          <p:cNvPr id="9" name="Text 6"/>
          <p:cNvSpPr/>
          <p:nvPr/>
        </p:nvSpPr>
        <p:spPr>
          <a:xfrm>
            <a:off x="749808" y="1737106"/>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WHAT CHANGES</a:t>
            </a:r>
            <a:endParaRPr lang="en-US" sz="750" dirty="0"/>
          </a:p>
        </p:txBody>
      </p:sp>
      <p:sp>
        <p:nvSpPr>
          <p:cNvPr id="10" name="Text 7"/>
          <p:cNvSpPr/>
          <p:nvPr/>
        </p:nvSpPr>
        <p:spPr>
          <a:xfrm>
            <a:off x="749808" y="204800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registration step</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enters the service lifecycle: capability, owner, risk tier, schema, policy inheritance.</a:t>
            </a:r>
            <a:endParaRPr lang="en-US" sz="1050" dirty="0"/>
          </a:p>
        </p:txBody>
      </p:sp>
      <p:sp>
        <p:nvSpPr>
          <p:cNvPr id="11" name="Text 8"/>
          <p:cNvSpPr/>
          <p:nvPr/>
        </p:nvSpPr>
        <p:spPr>
          <a:xfrm>
            <a:off x="749808" y="2541778"/>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Deployment templates carry the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mediation sidecar or gateway plugin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the telemetry contract by default.</a:t>
            </a:r>
            <a:endParaRPr lang="en-US" sz="1050" dirty="0"/>
          </a:p>
        </p:txBody>
      </p:sp>
      <p:sp>
        <p:nvSpPr>
          <p:cNvPr id="12" name="Text 9"/>
          <p:cNvSpPr/>
          <p:nvPr/>
        </p:nvSpPr>
        <p:spPr>
          <a:xfrm>
            <a:off x="749808" y="3035554"/>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circuit breaker</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per capability — trippable without a deploy, by an on-call human.</a:t>
            </a:r>
            <a:endParaRPr lang="en-US" sz="1050" dirty="0"/>
          </a:p>
        </p:txBody>
      </p:sp>
      <p:sp>
        <p:nvSpPr>
          <p:cNvPr id="13" name="Text 10"/>
          <p:cNvSpPr/>
          <p:nvPr/>
        </p:nvSpPr>
        <p:spPr>
          <a:xfrm>
            <a:off x="749808" y="3529330"/>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Service pages show capability, owner, health, version, effective policy and the off switch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in one place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t>
            </a:r>
            <a:endParaRPr lang="en-US" sz="1050" dirty="0"/>
          </a:p>
        </p:txBody>
      </p:sp>
      <p:sp>
        <p:nvSpPr>
          <p:cNvPr id="14" name="Shape 11"/>
          <p:cNvSpPr/>
          <p:nvPr/>
        </p:nvSpPr>
        <p:spPr>
          <a:xfrm>
            <a:off x="4301642" y="1554226"/>
            <a:ext cx="3588410" cy="3054096"/>
          </a:xfrm>
          <a:prstGeom prst="roundRect">
            <a:avLst>
              <a:gd name="adj" fmla="val 2395"/>
            </a:avLst>
          </a:prstGeom>
          <a:solidFill>
            <a:srgbClr val="FFFFFF"/>
          </a:solidFill>
          <a:ln w="12700">
            <a:solidFill>
              <a:srgbClr val="E2E7EC"/>
            </a:solidFill>
            <a:prstDash val="solid"/>
          </a:ln>
        </p:spPr>
      </p:sp>
      <p:sp>
        <p:nvSpPr>
          <p:cNvPr id="15" name="Shape 12"/>
          <p:cNvSpPr/>
          <p:nvPr/>
        </p:nvSpPr>
        <p:spPr>
          <a:xfrm>
            <a:off x="4484522" y="1737106"/>
            <a:ext cx="1417320" cy="182880"/>
          </a:xfrm>
          <a:prstGeom prst="roundRect">
            <a:avLst>
              <a:gd name="adj" fmla="val 50000"/>
            </a:avLst>
          </a:prstGeom>
          <a:solidFill>
            <a:srgbClr val="E6F4E6"/>
          </a:solidFill>
          <a:ln w="12700">
            <a:solidFill>
              <a:srgbClr val="E6F4E6"/>
            </a:solidFill>
            <a:prstDash val="solid"/>
          </a:ln>
        </p:spPr>
      </p:sp>
      <p:sp>
        <p:nvSpPr>
          <p:cNvPr id="16" name="Text 13"/>
          <p:cNvSpPr/>
          <p:nvPr/>
        </p:nvSpPr>
        <p:spPr>
          <a:xfrm>
            <a:off x="4484522" y="1737106"/>
            <a:ext cx="1417320" cy="182880"/>
          </a:xfrm>
          <a:prstGeom prst="rect">
            <a:avLst/>
          </a:prstGeom>
          <a:noFill/>
          <a:ln/>
        </p:spPr>
        <p:txBody>
          <a:bodyPr wrap="square" lIns="0" tIns="0" rIns="0" bIns="0" rtlCol="0" anchor="ctr"/>
          <a:lstStyle/>
          <a:p>
            <a:pPr algn="ctr" indent="0" marL="0">
              <a:buNone/>
            </a:pPr>
            <a:r>
              <a:rPr lang="en-US" sz="750" b="1" spc="100" kern="0" dirty="0">
                <a:solidFill>
                  <a:srgbClr val="006300"/>
                </a:solidFill>
                <a:latin typeface="Consolas" pitchFamily="34" charset="0"/>
                <a:ea typeface="Consolas" pitchFamily="34" charset="-122"/>
                <a:cs typeface="Consolas" pitchFamily="34" charset="-120"/>
              </a:rPr>
              <a:t>WHAT DOES NOT CHANGE</a:t>
            </a:r>
            <a:endParaRPr lang="en-US" sz="750" dirty="0"/>
          </a:p>
        </p:txBody>
      </p:sp>
      <p:sp>
        <p:nvSpPr>
          <p:cNvPr id="17" name="Text 14"/>
          <p:cNvSpPr/>
          <p:nvPr/>
        </p:nvSpPr>
        <p:spPr>
          <a:xfrm>
            <a:off x="4484522" y="204800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Your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cluster, mesh, gateway and CI/CD</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We meet the platform you can operate reliably.</a:t>
            </a:r>
            <a:endParaRPr lang="en-US" sz="1050" dirty="0"/>
          </a:p>
        </p:txBody>
      </p:sp>
      <p:sp>
        <p:nvSpPr>
          <p:cNvPr id="18" name="Text 15"/>
          <p:cNvSpPr/>
          <p:nvPr/>
        </p:nvSpPr>
        <p:spPr>
          <a:xfrm>
            <a:off x="4484522" y="2541778"/>
            <a:ext cx="3222650" cy="283464"/>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Your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on-call rotation and runbooks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extended, not replaced.</a:t>
            </a:r>
            <a:endParaRPr lang="en-US" sz="1050" dirty="0"/>
          </a:p>
        </p:txBody>
      </p:sp>
      <p:sp>
        <p:nvSpPr>
          <p:cNvPr id="19" name="Text 16"/>
          <p:cNvSpPr/>
          <p:nvPr/>
        </p:nvSpPr>
        <p:spPr>
          <a:xfrm>
            <a:off x="4484522" y="2889250"/>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Your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observability backend</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We add semantic conventions to what you already run.</a:t>
            </a:r>
            <a:endParaRPr lang="en-US" sz="1050" dirty="0"/>
          </a:p>
        </p:txBody>
      </p:sp>
      <p:sp>
        <p:nvSpPr>
          <p:cNvPr id="20" name="Text 17"/>
          <p:cNvSpPr/>
          <p:nvPr/>
        </p:nvSpPr>
        <p:spPr>
          <a:xfrm>
            <a:off x="4484522" y="3383026"/>
            <a:ext cx="3222650" cy="283464"/>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Your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release cadence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Nothing here requires a platform freeze.</a:t>
            </a:r>
            <a:endParaRPr lang="en-US" sz="1050" dirty="0"/>
          </a:p>
        </p:txBody>
      </p:sp>
      <p:sp>
        <p:nvSpPr>
          <p:cNvPr id="21" name="Shape 18"/>
          <p:cNvSpPr/>
          <p:nvPr/>
        </p:nvSpPr>
        <p:spPr>
          <a:xfrm>
            <a:off x="8036357" y="1554226"/>
            <a:ext cx="3588410" cy="3054096"/>
          </a:xfrm>
          <a:prstGeom prst="roundRect">
            <a:avLst>
              <a:gd name="adj" fmla="val 2395"/>
            </a:avLst>
          </a:prstGeom>
          <a:solidFill>
            <a:srgbClr val="E6F4F6"/>
          </a:solidFill>
          <a:ln w="12700">
            <a:solidFill>
              <a:srgbClr val="9CCED6"/>
            </a:solidFill>
            <a:prstDash val="solid"/>
          </a:ln>
        </p:spPr>
      </p:sp>
      <p:sp>
        <p:nvSpPr>
          <p:cNvPr id="22" name="Shape 19"/>
          <p:cNvSpPr/>
          <p:nvPr/>
        </p:nvSpPr>
        <p:spPr>
          <a:xfrm>
            <a:off x="8219237" y="1737106"/>
            <a:ext cx="1417320" cy="182880"/>
          </a:xfrm>
          <a:prstGeom prst="roundRect">
            <a:avLst>
              <a:gd name="adj" fmla="val 50000"/>
            </a:avLst>
          </a:prstGeom>
          <a:solidFill>
            <a:srgbClr val="FFFFFF"/>
          </a:solidFill>
          <a:ln w="12700">
            <a:solidFill>
              <a:srgbClr val="FFFFFF"/>
            </a:solidFill>
            <a:prstDash val="solid"/>
          </a:ln>
        </p:spPr>
      </p:sp>
      <p:sp>
        <p:nvSpPr>
          <p:cNvPr id="23" name="Text 20"/>
          <p:cNvSpPr/>
          <p:nvPr/>
        </p:nvSpPr>
        <p:spPr>
          <a:xfrm>
            <a:off x="8219237" y="1737106"/>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WHAT WE NEED FROM YOU</a:t>
            </a:r>
            <a:endParaRPr lang="en-US" sz="750" dirty="0"/>
          </a:p>
        </p:txBody>
      </p:sp>
      <p:sp>
        <p:nvSpPr>
          <p:cNvPr id="24" name="Text 21"/>
          <p:cNvSpPr/>
          <p:nvPr/>
        </p:nvSpPr>
        <p:spPr>
          <a:xfrm>
            <a:off x="8219237" y="2048002"/>
            <a:ext cx="3222650" cy="283464"/>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One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non-production namespace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a deploy path we can iterate in — week 1.</a:t>
            </a:r>
            <a:endParaRPr lang="en-US" sz="1050" dirty="0"/>
          </a:p>
        </p:txBody>
      </p:sp>
      <p:sp>
        <p:nvSpPr>
          <p:cNvPr id="25" name="Text 22"/>
          <p:cNvSpPr/>
          <p:nvPr/>
        </p:nvSpPr>
        <p:spPr>
          <a:xfrm>
            <a:off x="8219237" y="2395474"/>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named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platform engineer at 1 day/week</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with authority over the deployment template.</a:t>
            </a:r>
            <a:endParaRPr lang="en-US" sz="1050" dirty="0"/>
          </a:p>
        </p:txBody>
      </p:sp>
      <p:sp>
        <p:nvSpPr>
          <p:cNvPr id="26" name="Text 23"/>
          <p:cNvSpPr/>
          <p:nvPr/>
        </p:nvSpPr>
        <p:spPr>
          <a:xfrm>
            <a:off x="8219237" y="2889250"/>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Your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current golden-path definition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however informal, so we extend rather than compete.</a:t>
            </a:r>
            <a:endParaRPr lang="en-US" sz="1050" dirty="0"/>
          </a:p>
        </p:txBody>
      </p:sp>
      <p:sp>
        <p:nvSpPr>
          <p:cNvPr id="27" name="Text 24"/>
          <p:cNvSpPr/>
          <p:nvPr/>
        </p:nvSpPr>
        <p:spPr>
          <a:xfrm>
            <a:off x="8219237" y="3383026"/>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An honest answer on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p99 latency budget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for the first path. This constrains the enforcement design.</a:t>
            </a:r>
            <a:endParaRPr lang="en-US" sz="1050" dirty="0"/>
          </a:p>
        </p:txBody>
      </p:sp>
      <p:sp>
        <p:nvSpPr>
          <p:cNvPr id="28" name="Text 25"/>
          <p:cNvSpPr/>
          <p:nvPr/>
        </p:nvSpPr>
        <p:spPr>
          <a:xfrm>
            <a:off x="8219237" y="3876802"/>
            <a:ext cx="3222650"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You own the golden path after week twelve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so you get a vote on every row here starting Monday.</a:t>
            </a:r>
            <a:endParaRPr lang="en-US" sz="1050" dirty="0"/>
          </a:p>
        </p:txBody>
      </p:sp>
      <p:sp>
        <p:nvSpPr>
          <p:cNvPr id="29" name="Shape 26"/>
          <p:cNvSpPr/>
          <p:nvPr/>
        </p:nvSpPr>
        <p:spPr>
          <a:xfrm>
            <a:off x="566928" y="6382512"/>
            <a:ext cx="11057839" cy="0"/>
          </a:xfrm>
          <a:prstGeom prst="line">
            <a:avLst/>
          </a:prstGeom>
          <a:noFill/>
          <a:ln w="9525">
            <a:solidFill>
              <a:srgbClr val="E2E7EC"/>
            </a:solidFill>
            <a:prstDash val="solid"/>
          </a:ln>
        </p:spPr>
      </p:sp>
      <p:sp>
        <p:nvSpPr>
          <p:cNvPr id="30" name="Text 2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1" name="Text 2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LANE · DATA GOVERNANCE &amp; DATA ENGINEERING</a:t>
            </a:r>
            <a:endParaRPr lang="en-US" sz="1000" dirty="0"/>
          </a:p>
        </p:txBody>
      </p:sp>
      <p:sp>
        <p:nvSpPr>
          <p:cNvPr id="5" name="Text 2"/>
          <p:cNvSpPr/>
          <p:nvPr/>
        </p:nvSpPr>
        <p:spPr>
          <a:xfrm>
            <a:off x="1389888" y="621792"/>
            <a:ext cx="10234879" cy="781304"/>
          </a:xfrm>
          <a:prstGeom prst="rect">
            <a:avLst/>
          </a:prstGeom>
          <a:noFill/>
          <a:ln/>
        </p:spPr>
        <p:txBody>
          <a:bodyPr wrap="square" lIns="0" tIns="0" rIns="0" bIns="0" rtlCol="0" anchor="t"/>
          <a:lstStyle/>
          <a:p>
            <a:pPr indent="0" marL="0">
              <a:buNone/>
            </a:pPr>
            <a:r>
              <a:rPr lang="en-US" sz="2600" b="1" dirty="0">
                <a:solidFill>
                  <a:srgbClr val="0B1622"/>
                </a:solidFill>
                <a:latin typeface="Calibri" pitchFamily="34" charset="0"/>
                <a:ea typeface="Calibri" pitchFamily="34" charset="-122"/>
                <a:cs typeface="Calibri" pitchFamily="34" charset="-120"/>
              </a:rPr>
              <a:t>A classification you cannot enforce at access time is a label, not a control.</a:t>
            </a:r>
            <a:endParaRPr lang="en-US" sz="2600" dirty="0"/>
          </a:p>
        </p:txBody>
      </p:sp>
      <p:sp>
        <p:nvSpPr>
          <p:cNvPr id="6" name="Text 3"/>
          <p:cNvSpPr/>
          <p:nvPr/>
        </p:nvSpPr>
        <p:spPr>
          <a:xfrm>
            <a:off x="1389888" y="145796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This is the first place in the estate where the label becomes enforceable — and the last place anyone should build a shadow data programme.</a:t>
            </a:r>
            <a:endParaRPr lang="en-US" sz="1250" dirty="0"/>
          </a:p>
        </p:txBody>
      </p:sp>
      <p:sp>
        <p:nvSpPr>
          <p:cNvPr id="7" name="Shape 4"/>
          <p:cNvSpPr/>
          <p:nvPr/>
        </p:nvSpPr>
        <p:spPr>
          <a:xfrm>
            <a:off x="566928" y="1824990"/>
            <a:ext cx="5455768" cy="2395728"/>
          </a:xfrm>
          <a:prstGeom prst="roundRect">
            <a:avLst>
              <a:gd name="adj" fmla="val 3053"/>
            </a:avLst>
          </a:prstGeom>
          <a:solidFill>
            <a:srgbClr val="FFFFFF"/>
          </a:solidFill>
          <a:ln w="12700">
            <a:solidFill>
              <a:srgbClr val="E2E7EC"/>
            </a:solidFill>
            <a:prstDash val="solid"/>
          </a:ln>
        </p:spPr>
      </p:sp>
      <p:sp>
        <p:nvSpPr>
          <p:cNvPr id="8" name="Shape 5"/>
          <p:cNvSpPr/>
          <p:nvPr/>
        </p:nvSpPr>
        <p:spPr>
          <a:xfrm>
            <a:off x="749808" y="2007870"/>
            <a:ext cx="1417320" cy="182880"/>
          </a:xfrm>
          <a:prstGeom prst="roundRect">
            <a:avLst>
              <a:gd name="adj" fmla="val 50000"/>
            </a:avLst>
          </a:prstGeom>
          <a:solidFill>
            <a:srgbClr val="EFF2F5"/>
          </a:solidFill>
          <a:ln w="12700">
            <a:solidFill>
              <a:srgbClr val="EFF2F5"/>
            </a:solidFill>
            <a:prstDash val="solid"/>
          </a:ln>
        </p:spPr>
      </p:sp>
      <p:sp>
        <p:nvSpPr>
          <p:cNvPr id="9" name="Text 6"/>
          <p:cNvSpPr/>
          <p:nvPr/>
        </p:nvSpPr>
        <p:spPr>
          <a:xfrm>
            <a:off x="749808" y="2007870"/>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DATA GOVERNANCE &amp; RISK</a:t>
            </a:r>
            <a:endParaRPr lang="en-US" sz="750" dirty="0"/>
          </a:p>
        </p:txBody>
      </p:sp>
      <p:sp>
        <p:nvSpPr>
          <p:cNvPr id="10" name="Text 7"/>
          <p:cNvSpPr/>
          <p:nvPr/>
        </p:nvSpPr>
        <p:spPr>
          <a:xfrm>
            <a:off x="749808" y="2318766"/>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Classification becomes an input to the policy decision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actor, action, resource and data class, evaluated at the moment of access rather than asserted in a catalog.</a:t>
            </a:r>
            <a:endParaRPr lang="en-US" sz="1050" dirty="0"/>
          </a:p>
        </p:txBody>
      </p:sp>
      <p:sp>
        <p:nvSpPr>
          <p:cNvPr id="11" name="Text 8"/>
          <p:cNvSpPr/>
          <p:nvPr/>
        </p:nvSpPr>
        <p:spPr>
          <a:xfrm>
            <a:off x="749808" y="2812542"/>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Purpose limitation becomes expressible.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 grant carries the purpose it was issued for; using it for another purpose is a denial, and the denial is evidence.</a:t>
            </a:r>
            <a:endParaRPr lang="en-US" sz="1050" dirty="0"/>
          </a:p>
        </p:txBody>
      </p:sp>
      <p:sp>
        <p:nvSpPr>
          <p:cNvPr id="12" name="Text 9"/>
          <p:cNvSpPr/>
          <p:nvPr/>
        </p:nvSpPr>
        <p:spPr>
          <a:xfrm>
            <a:off x="749808" y="3306318"/>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Memory is a governed service, not a transcript dump.</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Narrow by default, task-bound, disposable, with retention and deletion semantics you define.</a:t>
            </a:r>
            <a:endParaRPr lang="en-US" sz="1050" dirty="0"/>
          </a:p>
        </p:txBody>
      </p:sp>
      <p:sp>
        <p:nvSpPr>
          <p:cNvPr id="13" name="Text 10"/>
          <p:cNvSpPr/>
          <p:nvPr/>
        </p:nvSpPr>
        <p:spPr>
          <a:xfrm>
            <a:off x="749808" y="3800094"/>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We need from you:</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data classes in scope, their owners, and the one class that is categorically out of bounds — by week 1.</a:t>
            </a:r>
            <a:endParaRPr lang="en-US" sz="1050" dirty="0"/>
          </a:p>
        </p:txBody>
      </p:sp>
      <p:sp>
        <p:nvSpPr>
          <p:cNvPr id="14" name="Shape 11"/>
          <p:cNvSpPr/>
          <p:nvPr/>
        </p:nvSpPr>
        <p:spPr>
          <a:xfrm>
            <a:off x="6169000" y="1824990"/>
            <a:ext cx="5455768" cy="2395728"/>
          </a:xfrm>
          <a:prstGeom prst="roundRect">
            <a:avLst>
              <a:gd name="adj" fmla="val 3053"/>
            </a:avLst>
          </a:prstGeom>
          <a:solidFill>
            <a:srgbClr val="FFFFFF"/>
          </a:solidFill>
          <a:ln w="12700">
            <a:solidFill>
              <a:srgbClr val="E2E7EC"/>
            </a:solidFill>
            <a:prstDash val="solid"/>
          </a:ln>
        </p:spPr>
      </p:sp>
      <p:sp>
        <p:nvSpPr>
          <p:cNvPr id="15" name="Shape 12"/>
          <p:cNvSpPr/>
          <p:nvPr/>
        </p:nvSpPr>
        <p:spPr>
          <a:xfrm>
            <a:off x="6351880" y="2007870"/>
            <a:ext cx="1417320" cy="182880"/>
          </a:xfrm>
          <a:prstGeom prst="roundRect">
            <a:avLst>
              <a:gd name="adj" fmla="val 50000"/>
            </a:avLst>
          </a:prstGeom>
          <a:solidFill>
            <a:srgbClr val="EFF2F5"/>
          </a:solidFill>
          <a:ln w="12700">
            <a:solidFill>
              <a:srgbClr val="EFF2F5"/>
            </a:solidFill>
            <a:prstDash val="solid"/>
          </a:ln>
        </p:spPr>
      </p:sp>
      <p:sp>
        <p:nvSpPr>
          <p:cNvPr id="16" name="Text 13"/>
          <p:cNvSpPr/>
          <p:nvPr/>
        </p:nvSpPr>
        <p:spPr>
          <a:xfrm>
            <a:off x="6351880" y="2007870"/>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DATA ENGINEERING</a:t>
            </a:r>
            <a:endParaRPr lang="en-US" sz="750" dirty="0"/>
          </a:p>
        </p:txBody>
      </p:sp>
      <p:sp>
        <p:nvSpPr>
          <p:cNvPr id="17" name="Text 14"/>
          <p:cNvSpPr/>
          <p:nvPr/>
        </p:nvSpPr>
        <p:spPr>
          <a:xfrm>
            <a:off x="6351880" y="2318766"/>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No new pipelines in this proof of concept.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Curated existing sources only. If it needs an ingestion project, it is out of scope by definition.</a:t>
            </a:r>
            <a:endParaRPr lang="en-US" sz="1050" dirty="0"/>
          </a:p>
        </p:txBody>
      </p:sp>
      <p:sp>
        <p:nvSpPr>
          <p:cNvPr id="18" name="Text 15"/>
          <p:cNvSpPr/>
          <p:nvPr/>
        </p:nvSpPr>
        <p:spPr>
          <a:xfrm>
            <a:off x="6351880" y="2812542"/>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Retrieval is evidence, never authorization.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Access filtering happens in the control plane; the retrieval layer is never asked to be a security boundary.</a:t>
            </a:r>
            <a:endParaRPr lang="en-US" sz="1050" dirty="0"/>
          </a:p>
        </p:txBody>
      </p:sp>
      <p:sp>
        <p:nvSpPr>
          <p:cNvPr id="19" name="Text 16"/>
          <p:cNvSpPr/>
          <p:nvPr/>
        </p:nvSpPr>
        <p:spPr>
          <a:xfrm>
            <a:off x="6351880" y="3306318"/>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Data products gain a capability contract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what it answers, freshness, owner, classification — reusing your catalog, not replacing it.</a:t>
            </a:r>
            <a:endParaRPr lang="en-US" sz="1050" dirty="0"/>
          </a:p>
        </p:txBody>
      </p:sp>
      <p:sp>
        <p:nvSpPr>
          <p:cNvPr id="20" name="Text 17"/>
          <p:cNvSpPr/>
          <p:nvPr/>
        </p:nvSpPr>
        <p:spPr>
          <a:xfrm>
            <a:off x="6351880" y="3800094"/>
            <a:ext cx="5090008"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We need from you:</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catalog read access, one data engineer at 0.5 day/week, and the freshness SLA of the sources the first path depends on.</a:t>
            </a:r>
            <a:endParaRPr lang="en-US" sz="1050" dirty="0"/>
          </a:p>
        </p:txBody>
      </p:sp>
      <p:sp>
        <p:nvSpPr>
          <p:cNvPr id="21" name="Shape 18"/>
          <p:cNvSpPr/>
          <p:nvPr/>
        </p:nvSpPr>
        <p:spPr>
          <a:xfrm>
            <a:off x="566928" y="4828032"/>
            <a:ext cx="11057839" cy="731520"/>
          </a:xfrm>
          <a:prstGeom prst="roundRect">
            <a:avLst>
              <a:gd name="adj" fmla="val 10000"/>
            </a:avLst>
          </a:prstGeom>
          <a:solidFill>
            <a:srgbClr val="F3F1FB"/>
          </a:solidFill>
          <a:ln w="12700">
            <a:solidFill>
              <a:srgbClr val="C9C1EA"/>
            </a:solidFill>
            <a:prstDash val="dash"/>
          </a:ln>
        </p:spPr>
      </p:sp>
      <p:sp>
        <p:nvSpPr>
          <p:cNvPr id="22" name="Text 19"/>
          <p:cNvSpPr/>
          <p:nvPr/>
        </p:nvSpPr>
        <p:spPr>
          <a:xfrm>
            <a:off x="749808" y="4974336"/>
            <a:ext cx="10692079" cy="5120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On the ontology programme: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if [CLIENT] has one in flight, we are neither competing with it nor waiting for it. Everything this POC emits — capability semantics, provenance, ownership, policy context — is a structured input that programme can consume later. Slide 12 is where that boundary is drawn.</a:t>
            </a:r>
            <a:endParaRPr lang="en-US" sz="1050" dirty="0"/>
          </a:p>
        </p:txBody>
      </p:sp>
      <p:sp>
        <p:nvSpPr>
          <p:cNvPr id="23" name="Shape 20"/>
          <p:cNvSpPr/>
          <p:nvPr/>
        </p:nvSpPr>
        <p:spPr>
          <a:xfrm>
            <a:off x="566928" y="6382512"/>
            <a:ext cx="11057839" cy="0"/>
          </a:xfrm>
          <a:prstGeom prst="line">
            <a:avLst/>
          </a:prstGeom>
          <a:noFill/>
          <a:ln w="9525">
            <a:solidFill>
              <a:srgbClr val="E2E7EC"/>
            </a:solidFill>
            <a:prstDash val="solid"/>
          </a:ln>
        </p:spPr>
      </p:sp>
      <p:sp>
        <p:nvSpPr>
          <p:cNvPr id="24" name="Text 21"/>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5" name="Text 22"/>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LANE · AI PRACTICE</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This exists so you can say yes more often.</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Today every consequential capability triggers a bespoke review. Afterwards, tier 1 and tier 2 ship on a paved road and only tier 3 needs a conversation. That is the whole commercial argument for the control plane.</a:t>
            </a:r>
            <a:endParaRPr lang="en-US" sz="1250" dirty="0"/>
          </a:p>
        </p:txBody>
      </p:sp>
      <p:sp>
        <p:nvSpPr>
          <p:cNvPr id="7" name="Shape 4"/>
          <p:cNvSpPr/>
          <p:nvPr/>
        </p:nvSpPr>
        <p:spPr>
          <a:xfrm>
            <a:off x="566928" y="1701800"/>
            <a:ext cx="3588410" cy="3017520"/>
          </a:xfrm>
          <a:prstGeom prst="roundRect">
            <a:avLst>
              <a:gd name="adj" fmla="val 2424"/>
            </a:avLst>
          </a:prstGeom>
          <a:solidFill>
            <a:srgbClr val="E6F4F6"/>
          </a:solidFill>
          <a:ln w="12700">
            <a:solidFill>
              <a:srgbClr val="9CCED6"/>
            </a:solidFill>
            <a:prstDash val="solid"/>
          </a:ln>
        </p:spPr>
      </p:sp>
      <p:sp>
        <p:nvSpPr>
          <p:cNvPr id="8" name="Shape 5"/>
          <p:cNvSpPr/>
          <p:nvPr/>
        </p:nvSpPr>
        <p:spPr>
          <a:xfrm>
            <a:off x="749808" y="1884680"/>
            <a:ext cx="1417320" cy="182880"/>
          </a:xfrm>
          <a:prstGeom prst="roundRect">
            <a:avLst>
              <a:gd name="adj" fmla="val 50000"/>
            </a:avLst>
          </a:prstGeom>
          <a:solidFill>
            <a:srgbClr val="FFFFFF"/>
          </a:solidFill>
          <a:ln w="12700">
            <a:solidFill>
              <a:srgbClr val="FFFFFF"/>
            </a:solidFill>
            <a:prstDash val="solid"/>
          </a:ln>
        </p:spPr>
      </p:sp>
      <p:sp>
        <p:nvSpPr>
          <p:cNvPr id="9" name="Text 6"/>
          <p:cNvSpPr/>
          <p:nvPr/>
        </p:nvSpPr>
        <p:spPr>
          <a:xfrm>
            <a:off x="749808" y="1884680"/>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THE UNLOCK</a:t>
            </a:r>
            <a:endParaRPr lang="en-US" sz="750" dirty="0"/>
          </a:p>
        </p:txBody>
      </p:sp>
      <p:sp>
        <p:nvSpPr>
          <p:cNvPr id="10" name="Text 7"/>
          <p:cNvSpPr/>
          <p:nvPr/>
        </p:nvSpPr>
        <p:spPr>
          <a:xfrm>
            <a:off x="749808" y="2195576"/>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 capability that fits an approved risk tier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inherits its policy</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rather than negotiating one.</a:t>
            </a:r>
            <a:endParaRPr lang="en-US" sz="1050" dirty="0"/>
          </a:p>
        </p:txBody>
      </p:sp>
      <p:sp>
        <p:nvSpPr>
          <p:cNvPr id="11" name="Text 8"/>
          <p:cNvSpPr/>
          <p:nvPr/>
        </p:nvSpPr>
        <p:spPr>
          <a:xfrm>
            <a:off x="749808" y="2689352"/>
            <a:ext cx="3222650" cy="283464"/>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Promotion from pilot to production becomes a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checklist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not a committee.</a:t>
            </a:r>
            <a:endParaRPr lang="en-US" sz="1050" dirty="0"/>
          </a:p>
        </p:txBody>
      </p:sp>
      <p:sp>
        <p:nvSpPr>
          <p:cNvPr id="12" name="Text 9"/>
          <p:cNvSpPr/>
          <p:nvPr/>
        </p:nvSpPr>
        <p:spPr>
          <a:xfrm>
            <a:off x="749808" y="3036824"/>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Agent-to-agent delegation becomes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expressible and safe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 attenuation is what makes multi-agent designs governable at all.</a:t>
            </a:r>
            <a:endParaRPr lang="en-US" sz="1050" dirty="0"/>
          </a:p>
        </p:txBody>
      </p:sp>
      <p:sp>
        <p:nvSpPr>
          <p:cNvPr id="13" name="Text 10"/>
          <p:cNvSpPr/>
          <p:nvPr/>
        </p:nvSpPr>
        <p:spPr>
          <a:xfrm>
            <a:off x="749808" y="3530600"/>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Failed and denied actions become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training signal</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because denials are evidence rather than silent errors.</a:t>
            </a:r>
            <a:endParaRPr lang="en-US" sz="1050" dirty="0"/>
          </a:p>
        </p:txBody>
      </p:sp>
      <p:sp>
        <p:nvSpPr>
          <p:cNvPr id="14" name="Shape 11"/>
          <p:cNvSpPr/>
          <p:nvPr/>
        </p:nvSpPr>
        <p:spPr>
          <a:xfrm>
            <a:off x="4301642" y="1701800"/>
            <a:ext cx="3588410" cy="3017520"/>
          </a:xfrm>
          <a:prstGeom prst="roundRect">
            <a:avLst>
              <a:gd name="adj" fmla="val 2424"/>
            </a:avLst>
          </a:prstGeom>
          <a:solidFill>
            <a:srgbClr val="FFFFFF"/>
          </a:solidFill>
          <a:ln w="12700">
            <a:solidFill>
              <a:srgbClr val="E2E7EC"/>
            </a:solidFill>
            <a:prstDash val="solid"/>
          </a:ln>
        </p:spPr>
      </p:sp>
      <p:sp>
        <p:nvSpPr>
          <p:cNvPr id="15" name="Shape 12"/>
          <p:cNvSpPr/>
          <p:nvPr/>
        </p:nvSpPr>
        <p:spPr>
          <a:xfrm>
            <a:off x="4484522" y="1884680"/>
            <a:ext cx="1417320" cy="182880"/>
          </a:xfrm>
          <a:prstGeom prst="roundRect">
            <a:avLst>
              <a:gd name="adj" fmla="val 50000"/>
            </a:avLst>
          </a:prstGeom>
          <a:solidFill>
            <a:srgbClr val="E6F4E6"/>
          </a:solidFill>
          <a:ln w="12700">
            <a:solidFill>
              <a:srgbClr val="E6F4E6"/>
            </a:solidFill>
            <a:prstDash val="solid"/>
          </a:ln>
        </p:spPr>
      </p:sp>
      <p:sp>
        <p:nvSpPr>
          <p:cNvPr id="16" name="Text 13"/>
          <p:cNvSpPr/>
          <p:nvPr/>
        </p:nvSpPr>
        <p:spPr>
          <a:xfrm>
            <a:off x="4484522" y="1884680"/>
            <a:ext cx="1417320" cy="182880"/>
          </a:xfrm>
          <a:prstGeom prst="rect">
            <a:avLst/>
          </a:prstGeom>
          <a:noFill/>
          <a:ln/>
        </p:spPr>
        <p:txBody>
          <a:bodyPr wrap="square" lIns="0" tIns="0" rIns="0" bIns="0" rtlCol="0" anchor="ctr"/>
          <a:lstStyle/>
          <a:p>
            <a:pPr algn="ctr" indent="0" marL="0">
              <a:buNone/>
            </a:pPr>
            <a:r>
              <a:rPr lang="en-US" sz="750" b="1" spc="100" kern="0" dirty="0">
                <a:solidFill>
                  <a:srgbClr val="006300"/>
                </a:solidFill>
                <a:latin typeface="Consolas" pitchFamily="34" charset="0"/>
                <a:ea typeface="Consolas" pitchFamily="34" charset="-122"/>
                <a:cs typeface="Consolas" pitchFamily="34" charset="-120"/>
              </a:rPr>
              <a:t>NOT CONSTRAINED</a:t>
            </a:r>
            <a:endParaRPr lang="en-US" sz="750" dirty="0"/>
          </a:p>
        </p:txBody>
      </p:sp>
      <p:sp>
        <p:nvSpPr>
          <p:cNvPr id="17" name="Text 14"/>
          <p:cNvSpPr/>
          <p:nvPr/>
        </p:nvSpPr>
        <p:spPr>
          <a:xfrm>
            <a:off x="4484522" y="2195576"/>
            <a:ext cx="3222650"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Which models you use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hosted or managed, and where inference runs.</a:t>
            </a:r>
            <a:endParaRPr lang="en-US" sz="1050" dirty="0"/>
          </a:p>
        </p:txBody>
      </p:sp>
      <p:sp>
        <p:nvSpPr>
          <p:cNvPr id="18" name="Text 15"/>
          <p:cNvSpPr/>
          <p:nvPr/>
        </p:nvSpPr>
        <p:spPr>
          <a:xfrm>
            <a:off x="4484522" y="2543048"/>
            <a:ext cx="3222650"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How agents are prompted, planned or orchestrated.</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boundary sits between the model’s output and the world’s state — not inside the model.</a:t>
            </a:r>
            <a:endParaRPr lang="en-US" sz="1050" dirty="0"/>
          </a:p>
        </p:txBody>
      </p:sp>
      <p:sp>
        <p:nvSpPr>
          <p:cNvPr id="19" name="Text 16"/>
          <p:cNvSpPr/>
          <p:nvPr/>
        </p:nvSpPr>
        <p:spPr>
          <a:xfrm>
            <a:off x="4484522" y="3036824"/>
            <a:ext cx="3222650" cy="283464"/>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Your evaluation stack</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and experimentation cadence.</a:t>
            </a:r>
            <a:endParaRPr lang="en-US" sz="1050" dirty="0"/>
          </a:p>
        </p:txBody>
      </p:sp>
      <p:sp>
        <p:nvSpPr>
          <p:cNvPr id="20" name="Text 17"/>
          <p:cNvSpPr/>
          <p:nvPr/>
        </p:nvSpPr>
        <p:spPr>
          <a:xfrm>
            <a:off x="4484522" y="3384296"/>
            <a:ext cx="3222650"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Framework choice.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contract is at the invocation boundary, so frameworks stay replaceable too.</a:t>
            </a:r>
            <a:endParaRPr lang="en-US" sz="1050" dirty="0"/>
          </a:p>
        </p:txBody>
      </p:sp>
      <p:sp>
        <p:nvSpPr>
          <p:cNvPr id="21" name="Shape 18"/>
          <p:cNvSpPr/>
          <p:nvPr/>
        </p:nvSpPr>
        <p:spPr>
          <a:xfrm>
            <a:off x="8036357" y="1701800"/>
            <a:ext cx="3588410" cy="3017520"/>
          </a:xfrm>
          <a:prstGeom prst="roundRect">
            <a:avLst>
              <a:gd name="adj" fmla="val 2424"/>
            </a:avLst>
          </a:prstGeom>
          <a:solidFill>
            <a:srgbClr val="FFFFFF"/>
          </a:solidFill>
          <a:ln w="12700">
            <a:solidFill>
              <a:srgbClr val="E2E7EC"/>
            </a:solidFill>
            <a:prstDash val="solid"/>
          </a:ln>
        </p:spPr>
      </p:sp>
      <p:sp>
        <p:nvSpPr>
          <p:cNvPr id="22" name="Shape 19"/>
          <p:cNvSpPr/>
          <p:nvPr/>
        </p:nvSpPr>
        <p:spPr>
          <a:xfrm>
            <a:off x="8219237" y="1884680"/>
            <a:ext cx="1417320" cy="182880"/>
          </a:xfrm>
          <a:prstGeom prst="roundRect">
            <a:avLst>
              <a:gd name="adj" fmla="val 50000"/>
            </a:avLst>
          </a:prstGeom>
          <a:solidFill>
            <a:srgbClr val="FEF3DC"/>
          </a:solidFill>
          <a:ln w="12700">
            <a:solidFill>
              <a:srgbClr val="FEF3DC"/>
            </a:solidFill>
            <a:prstDash val="solid"/>
          </a:ln>
        </p:spPr>
      </p:sp>
      <p:sp>
        <p:nvSpPr>
          <p:cNvPr id="23" name="Text 20"/>
          <p:cNvSpPr/>
          <p:nvPr/>
        </p:nvSpPr>
        <p:spPr>
          <a:xfrm>
            <a:off x="8219237" y="1884680"/>
            <a:ext cx="1417320" cy="182880"/>
          </a:xfrm>
          <a:prstGeom prst="rect">
            <a:avLst/>
          </a:prstGeom>
          <a:noFill/>
          <a:ln/>
        </p:spPr>
        <p:txBody>
          <a:bodyPr wrap="square" lIns="0" tIns="0" rIns="0" bIns="0" rtlCol="0" anchor="ctr"/>
          <a:lstStyle/>
          <a:p>
            <a:pPr algn="ctr" indent="0" marL="0">
              <a:buNone/>
            </a:pPr>
            <a:r>
              <a:rPr lang="en-US" sz="750" b="1" spc="100" kern="0" dirty="0">
                <a:solidFill>
                  <a:srgbClr val="7A5510"/>
                </a:solidFill>
                <a:latin typeface="Consolas" pitchFamily="34" charset="0"/>
                <a:ea typeface="Consolas" pitchFamily="34" charset="-122"/>
                <a:cs typeface="Consolas" pitchFamily="34" charset="-120"/>
              </a:rPr>
              <a:t>WHAT GETS HARDER</a:t>
            </a:r>
            <a:endParaRPr lang="en-US" sz="750" dirty="0"/>
          </a:p>
        </p:txBody>
      </p:sp>
      <p:sp>
        <p:nvSpPr>
          <p:cNvPr id="24" name="Text 21"/>
          <p:cNvSpPr/>
          <p:nvPr/>
        </p:nvSpPr>
        <p:spPr>
          <a:xfrm>
            <a:off x="8219237" y="2195576"/>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An agent can no longer hold a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long-lived credential</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“just to make the demo work.” That pattern is closed deliberately.</a:t>
            </a:r>
            <a:endParaRPr lang="en-US" sz="1050" dirty="0"/>
          </a:p>
        </p:txBody>
      </p:sp>
      <p:sp>
        <p:nvSpPr>
          <p:cNvPr id="25" name="Text 22"/>
          <p:cNvSpPr/>
          <p:nvPr/>
        </p:nvSpPr>
        <p:spPr>
          <a:xfrm>
            <a:off x="8219237" y="2689352"/>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Capabilities need a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declared scope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before first use. Roughly a day of work per capability, once.</a:t>
            </a:r>
            <a:endParaRPr lang="en-US" sz="1050" dirty="0"/>
          </a:p>
        </p:txBody>
      </p:sp>
      <p:sp>
        <p:nvSpPr>
          <p:cNvPr id="26" name="Text 23"/>
          <p:cNvSpPr/>
          <p:nvPr/>
        </p:nvSpPr>
        <p:spPr>
          <a:xfrm>
            <a:off x="8219237" y="3183128"/>
            <a:ext cx="3222650" cy="429768"/>
          </a:xfrm>
          <a:prstGeom prst="rect">
            <a:avLst/>
          </a:prstGeom>
          <a:noFill/>
          <a:ln/>
        </p:spPr>
        <p:txBody>
          <a:bodyPr wrap="square" lIns="0" tIns="0" rIns="0" bIns="0" rtlCol="0" anchor="t"/>
          <a:lstStyle/>
          <a:p>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“The model decided” stops being an </a:t>
            </a: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acceptable explanation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for a consequential action.</a:t>
            </a:r>
            <a:endParaRPr lang="en-US" sz="1050" dirty="0"/>
          </a:p>
        </p:txBody>
      </p:sp>
      <p:sp>
        <p:nvSpPr>
          <p:cNvPr id="27" name="Text 24"/>
          <p:cNvSpPr/>
          <p:nvPr/>
        </p:nvSpPr>
        <p:spPr>
          <a:xfrm>
            <a:off x="8219237" y="3676904"/>
            <a:ext cx="3222650" cy="429768"/>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We need from you:</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capability inventory for the first path, and one named practitioner at 1 day/week.</a:t>
            </a:r>
            <a:endParaRPr lang="en-US" sz="1050" dirty="0"/>
          </a:p>
        </p:txBody>
      </p:sp>
      <p:sp>
        <p:nvSpPr>
          <p:cNvPr id="28" name="Shape 25"/>
          <p:cNvSpPr/>
          <p:nvPr/>
        </p:nvSpPr>
        <p:spPr>
          <a:xfrm>
            <a:off x="566928" y="6382512"/>
            <a:ext cx="11057839" cy="0"/>
          </a:xfrm>
          <a:prstGeom prst="line">
            <a:avLst/>
          </a:prstGeom>
          <a:noFill/>
          <a:ln w="9525">
            <a:solidFill>
              <a:srgbClr val="E2E7EC"/>
            </a:solidFill>
            <a:prstDash val="solid"/>
          </a:ln>
        </p:spPr>
      </p:sp>
      <p:sp>
        <p:nvSpPr>
          <p:cNvPr id="29" name="Text 26"/>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0" name="Text 27"/>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03</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LANE · SECURITY, RISK &amp; AUDIT</a:t>
            </a:r>
            <a:endParaRPr lang="en-US" sz="1000" dirty="0"/>
          </a:p>
        </p:txBody>
      </p:sp>
      <p:sp>
        <p:nvSpPr>
          <p:cNvPr id="5" name="Text 2"/>
          <p:cNvSpPr/>
          <p:nvPr/>
        </p:nvSpPr>
        <p:spPr>
          <a:xfrm>
            <a:off x="1389888" y="621792"/>
            <a:ext cx="10234879" cy="753364"/>
          </a:xfrm>
          <a:prstGeom prst="rect">
            <a:avLst/>
          </a:prstGeom>
          <a:noFill/>
          <a:ln/>
        </p:spPr>
        <p:txBody>
          <a:bodyPr wrap="square" lIns="0" tIns="0" rIns="0" bIns="0" rtlCol="0" anchor="t"/>
          <a:lstStyle/>
          <a:p>
            <a:pPr indent="0" marL="0">
              <a:buNone/>
            </a:pPr>
            <a:r>
              <a:rPr lang="en-US" sz="2500" b="1" dirty="0">
                <a:solidFill>
                  <a:srgbClr val="0B1622"/>
                </a:solidFill>
                <a:latin typeface="Calibri" pitchFamily="34" charset="0"/>
                <a:ea typeface="Calibri" pitchFamily="34" charset="-122"/>
                <a:cs typeface="Calibri" pitchFamily="34" charset="-120"/>
              </a:rPr>
              <a:t>We do not propose a new control framework. We emit evidence the old ones accept.</a:t>
            </a:r>
            <a:endParaRPr lang="en-US" sz="2500" dirty="0"/>
          </a:p>
        </p:txBody>
      </p:sp>
      <p:sp>
        <p:nvSpPr>
          <p:cNvPr id="6" name="Text 3"/>
          <p:cNvSpPr/>
          <p:nvPr/>
        </p:nvSpPr>
        <p:spPr>
          <a:xfrm>
            <a:off x="1389888" y="14300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Architecture evidence is translated into the frameworks [CLIENT] is already assessed against. Which of these bind you? Mark them now and we will scope the week-9 crosswalk accordingly.</a:t>
            </a:r>
            <a:endParaRPr lang="en-US" sz="12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944624"/>
          <a:ext cx="11057839" cy="914400"/>
        </p:xfrm>
        <a:graphic>
          <a:graphicData uri="http://schemas.openxmlformats.org/drawingml/2006/table">
            <a:tbl>
              <a:tblPr/>
              <a:tblGrid>
                <a:gridCol w="2606040"/>
                <a:gridCol w="1691640"/>
                <a:gridCol w="2148840"/>
                <a:gridCol w="2194560"/>
                <a:gridCol w="242316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ARCHITECTURE EVIDENCE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NIST AI RMF</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ZERO TRUST · SP 800-207</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ISO/IEC 42001</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SOC 2 · EU AI ACT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Attribution record</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Actor, human principal, decision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MAP · MANAGE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Policy decision point logging</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Operational planning &amp; control</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CC6 logical access · Art. 12 record-keeping</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Grant scope &amp; expiry</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Audience, action, TTL, attenuation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GOVERN · MANAGE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Per-session least privilege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Resource &amp; access control</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CC6 logical access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Denial evidence</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Refused attempts and reasons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MEASURE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Continuous verification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Performance evaluation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CC7 system operations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Correlated invocation trace</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Intent → outcome, ≥3 systems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MEASURE · MANAGE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Monitoring &amp; diagnostics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Monitoring, measurement, analysis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CC7 · Art. 12 logging</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Circuit breaker &amp; revocation</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Time-to-stop, measured</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MANAGE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Dynamic policy enforcement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Incident &amp; nonconformity</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CC7 · Art. 14 human oversight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Risk tier assignment</a:t>
                      </a:r>
                      <a:endParaRPr lang="en-US" sz="880" dirty="0">
                        <a:latin typeface="Calibri" charset="0"/>
                        <a:ea typeface="Calibri" charset="0"/>
                        <a:cs typeface="Calibri" charset="0"/>
                      </a:endParaRPr>
                    </a:p>
                    <a:p>
                      <a:pPr indent="0" marL="0">
                        <a:buNone/>
                      </a:pPr>
                      <a:r>
                        <a:rPr lang="en-US" sz="880" b="1" dirty="0">
                          <a:solidFill>
                            <a:srgbClr val="0B1622"/>
                          </a:solidFill>
                          <a:latin typeface="Calibri" pitchFamily="34" charset="0"/>
                          <a:ea typeface="Calibri" pitchFamily="34" charset="-122"/>
                          <a:cs typeface="Calibri" pitchFamily="34" charset="-120"/>
                        </a:rPr>
                        <a:t>Who decided, when, on what basis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GOVERN · MAP</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Asset &amp; resource classification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AI risk &amp; impact assessment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Art. 9 risk management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4974336"/>
            <a:ext cx="11057839" cy="585216"/>
          </a:xfrm>
          <a:prstGeom prst="roundRect">
            <a:avLst>
              <a:gd name="adj" fmla="val 12500"/>
            </a:avLst>
          </a:prstGeom>
          <a:solidFill>
            <a:srgbClr val="FFFBF2"/>
          </a:solidFill>
          <a:ln w="12700">
            <a:solidFill>
              <a:srgbClr val="F2E3C4"/>
            </a:solidFill>
            <a:prstDash val="solid"/>
          </a:ln>
        </p:spPr>
      </p:sp>
      <p:sp>
        <p:nvSpPr>
          <p:cNvPr id="9" name="Text 5"/>
          <p:cNvSpPr/>
          <p:nvPr/>
        </p:nvSpPr>
        <p:spPr>
          <a:xfrm>
            <a:off x="749808" y="5084064"/>
            <a:ext cx="10692079" cy="40233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Stated plainly, so nobody leaves with the wrong impression:</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 twelve-week proof of concept produces evidence samples mapped to these controls. It does not produce a certified control, an audit pass, or a compliance assertion. What it produces is a defensible case that the evidence a full implementation would generate is the evidence your assessors need.</a:t>
            </a:r>
            <a:endParaRPr lang="en-US" sz="1000" dirty="0"/>
          </a:p>
        </p:txBody>
      </p:sp>
      <p:sp>
        <p:nvSpPr>
          <p:cNvPr id="10" name="Shape 6"/>
          <p:cNvSpPr/>
          <p:nvPr/>
        </p:nvSpPr>
        <p:spPr>
          <a:xfrm>
            <a:off x="566928" y="6382512"/>
            <a:ext cx="11057839" cy="0"/>
          </a:xfrm>
          <a:prstGeom prst="line">
            <a:avLst/>
          </a:prstGeom>
          <a:noFill/>
          <a:ln w="9525">
            <a:solidFill>
              <a:srgbClr val="E2E7EC"/>
            </a:solidFill>
            <a:prstDash val="solid"/>
          </a:ln>
        </p:spPr>
      </p:sp>
      <p:sp>
        <p:nvSpPr>
          <p:cNvPr id="11" name="Text 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2" name="Text 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CROSSWALK DELIVERED WEEK 9 · REVIEWED WITH AUDIT BEFORE READOUT</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172A"/>
        </a:solidFill>
      </p:bgPr>
    </p:bg>
    <p:spTree>
      <p:nvGrpSpPr>
        <p:cNvPr id="1" name=""/>
        <p:cNvGrpSpPr/>
        <p:nvPr/>
      </p:nvGrpSpPr>
      <p:grpSpPr>
        <a:xfrm>
          <a:off x="0" y="0"/>
          <a:ext cx="0" cy="0"/>
          <a:chOff x="0" y="0"/>
          <a:chExt cx="0" cy="0"/>
        </a:xfrm>
      </p:grpSpPr>
      <p:sp>
        <p:nvSpPr>
          <p:cNvPr id="3" name="Text 0"/>
          <p:cNvSpPr/>
          <p:nvPr/>
        </p:nvSpPr>
        <p:spPr>
          <a:xfrm>
            <a:off x="566928" y="1005840"/>
            <a:ext cx="6400800" cy="237744"/>
          </a:xfrm>
          <a:prstGeom prst="rect">
            <a:avLst/>
          </a:prstGeom>
          <a:noFill/>
          <a:ln/>
        </p:spPr>
        <p:txBody>
          <a:bodyPr wrap="square" lIns="0" tIns="0" rIns="0" bIns="0" rtlCol="0" anchor="ctr"/>
          <a:lstStyle/>
          <a:p>
            <a:pPr indent="0" marL="0">
              <a:buNone/>
            </a:pPr>
            <a:r>
              <a:rPr lang="en-US" sz="1050" b="1" spc="220" kern="0" dirty="0">
                <a:solidFill>
                  <a:srgbClr val="5FD8E6"/>
                </a:solidFill>
                <a:latin typeface="Consolas" pitchFamily="34" charset="0"/>
                <a:ea typeface="Consolas" pitchFamily="34" charset="-122"/>
                <a:cs typeface="Consolas" pitchFamily="34" charset="-120"/>
              </a:rPr>
              <a:t>04 / THE PROOF OF CONCEPT</a:t>
            </a:r>
            <a:endParaRPr lang="en-US" sz="1050" dirty="0"/>
          </a:p>
        </p:txBody>
      </p:sp>
      <p:sp>
        <p:nvSpPr>
          <p:cNvPr id="4" name="Text 1"/>
          <p:cNvSpPr/>
          <p:nvPr/>
        </p:nvSpPr>
        <p:spPr>
          <a:xfrm>
            <a:off x="521208" y="1371600"/>
            <a:ext cx="10789920" cy="1828800"/>
          </a:xfrm>
          <a:prstGeom prst="rect">
            <a:avLst/>
          </a:prstGeom>
          <a:noFill/>
          <a:ln/>
        </p:spPr>
        <p:txBody>
          <a:bodyPr wrap="square" lIns="0" tIns="0" rIns="0" bIns="0" rtlCol="0" anchor="t"/>
          <a:lstStyle/>
          <a:p>
            <a:pPr indent="0" marL="0">
              <a:lnSpc>
                <a:spcPct val="108000"/>
              </a:lnSpc>
              <a:buNone/>
            </a:pPr>
            <a:r>
              <a:rPr lang="en-US" sz="3300" b="1" dirty="0">
                <a:solidFill>
                  <a:srgbClr val="FFFFFF"/>
                </a:solidFill>
                <a:latin typeface="Calibri" pitchFamily="34" charset="0"/>
                <a:ea typeface="Calibri" pitchFamily="34" charset="-122"/>
                <a:cs typeface="Calibri" pitchFamily="34" charset="-120"/>
              </a:rPr>
              <a:t>One path, end to end,</a:t>
            </a:r>
            <a:endParaRPr lang="en-US" sz="3300" dirty="0"/>
          </a:p>
          <a:p>
            <a:pPr indent="0" marL="0">
              <a:lnSpc>
                <a:spcPct val="108000"/>
              </a:lnSpc>
              <a:buNone/>
            </a:pPr>
            <a:r>
              <a:rPr lang="en-US" sz="3300" b="1" dirty="0">
                <a:solidFill>
                  <a:srgbClr val="FFFFFF"/>
                </a:solidFill>
                <a:latin typeface="Calibri" pitchFamily="34" charset="0"/>
                <a:ea typeface="Calibri" pitchFamily="34" charset="-122"/>
                <a:cs typeface="Calibri" pitchFamily="34" charset="-120"/>
              </a:rPr>
              <a:t>with the evidence to prove it —</a:t>
            </a:r>
            <a:endParaRPr lang="en-US" sz="3300" dirty="0"/>
          </a:p>
          <a:p>
            <a:pPr indent="0" marL="0">
              <a:lnSpc>
                <a:spcPct val="108000"/>
              </a:lnSpc>
              <a:buNone/>
            </a:pPr>
            <a:r>
              <a:rPr lang="en-US" sz="3300" b="1" dirty="0">
                <a:solidFill>
                  <a:srgbClr val="FFFFFF"/>
                </a:solidFill>
                <a:latin typeface="Calibri" pitchFamily="34" charset="0"/>
                <a:ea typeface="Calibri" pitchFamily="34" charset="-122"/>
                <a:cs typeface="Calibri" pitchFamily="34" charset="-120"/>
              </a:rPr>
              <a:t>and the criteria to stop it.</a:t>
            </a:r>
            <a:endParaRPr lang="en-US" sz="3300" dirty="0"/>
          </a:p>
        </p:txBody>
      </p:sp>
      <p:sp>
        <p:nvSpPr>
          <p:cNvPr id="5" name="Shape 2"/>
          <p:cNvSpPr/>
          <p:nvPr/>
        </p:nvSpPr>
        <p:spPr>
          <a:xfrm>
            <a:off x="566928" y="3346704"/>
            <a:ext cx="566928" cy="32004"/>
          </a:xfrm>
          <a:prstGeom prst="rect">
            <a:avLst/>
          </a:prstGeom>
          <a:solidFill>
            <a:srgbClr val="5FD8E6"/>
          </a:solidFill>
          <a:ln w="12700">
            <a:solidFill>
              <a:srgbClr val="333333"/>
            </a:solidFill>
            <a:prstDash val="solid"/>
          </a:ln>
        </p:spPr>
      </p:sp>
      <p:sp>
        <p:nvSpPr>
          <p:cNvPr id="6" name="Text 3"/>
          <p:cNvSpPr/>
          <p:nvPr/>
        </p:nvSpPr>
        <p:spPr>
          <a:xfrm>
            <a:off x="566928" y="3602736"/>
            <a:ext cx="3291840" cy="658368"/>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01</a:t>
            </a:r>
            <a:endParaRPr lang="en-US" sz="4400" dirty="0"/>
          </a:p>
        </p:txBody>
      </p:sp>
      <p:sp>
        <p:nvSpPr>
          <p:cNvPr id="7" name="Text 4"/>
          <p:cNvSpPr/>
          <p:nvPr/>
        </p:nvSpPr>
        <p:spPr>
          <a:xfrm>
            <a:off x="566928" y="4315968"/>
            <a:ext cx="3291840" cy="658368"/>
          </a:xfrm>
          <a:prstGeom prst="rect">
            <a:avLst/>
          </a:prstGeom>
          <a:noFill/>
          <a:ln/>
        </p:spPr>
        <p:txBody>
          <a:bodyPr wrap="square" lIns="0" tIns="0" rIns="0" bIns="0" rtlCol="0" anchor="t"/>
          <a:lstStyle/>
          <a:p>
            <a:pPr indent="0" marL="0">
              <a:lnSpc>
                <a:spcPct val="110000"/>
              </a:lnSpc>
              <a:buNone/>
            </a:pPr>
            <a:r>
              <a:rPr lang="en-US" sz="1100" b="1" dirty="0">
                <a:solidFill>
                  <a:srgbClr val="5FD8E6"/>
                </a:solidFill>
                <a:latin typeface="Calibri" pitchFamily="34" charset="0"/>
                <a:ea typeface="Calibri" pitchFamily="34" charset="-122"/>
                <a:cs typeface="Calibri" pitchFamily="34" charset="-120"/>
              </a:rPr>
              <a:t>path — </a:t>
            </a:r>
            <a:pPr indent="0" marL="0">
              <a:lnSpc>
                <a:spcPct val="110000"/>
              </a:lnSpc>
              <a:buNone/>
            </a:pPr>
            <a:r>
              <a:rPr lang="en-US" sz="1100" dirty="0">
                <a:solidFill>
                  <a:srgbClr val="C7D6E2"/>
                </a:solidFill>
                <a:latin typeface="Calibri" pitchFamily="34" charset="0"/>
                <a:ea typeface="Calibri" pitchFamily="34" charset="-122"/>
                <a:cs typeface="Calibri" pitchFamily="34" charset="-120"/>
              </a:rPr>
              <a:t>one consequential action, taken end to end through the control boundary</a:t>
            </a:r>
            <a:endParaRPr lang="en-US" sz="1100" dirty="0"/>
          </a:p>
        </p:txBody>
      </p:sp>
      <p:sp>
        <p:nvSpPr>
          <p:cNvPr id="8" name="Text 5"/>
          <p:cNvSpPr/>
          <p:nvPr/>
        </p:nvSpPr>
        <p:spPr>
          <a:xfrm>
            <a:off x="4224528" y="3602736"/>
            <a:ext cx="3291840" cy="658368"/>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06</a:t>
            </a:r>
            <a:endParaRPr lang="en-US" sz="4400" dirty="0"/>
          </a:p>
        </p:txBody>
      </p:sp>
      <p:sp>
        <p:nvSpPr>
          <p:cNvPr id="9" name="Text 6"/>
          <p:cNvSpPr/>
          <p:nvPr/>
        </p:nvSpPr>
        <p:spPr>
          <a:xfrm>
            <a:off x="4224528" y="4315968"/>
            <a:ext cx="3291840" cy="658368"/>
          </a:xfrm>
          <a:prstGeom prst="rect">
            <a:avLst/>
          </a:prstGeom>
          <a:noFill/>
          <a:ln/>
        </p:spPr>
        <p:txBody>
          <a:bodyPr wrap="square" lIns="0" tIns="0" rIns="0" bIns="0" rtlCol="0" anchor="t"/>
          <a:lstStyle/>
          <a:p>
            <a:pPr indent="0" marL="0">
              <a:lnSpc>
                <a:spcPct val="110000"/>
              </a:lnSpc>
              <a:buNone/>
            </a:pPr>
            <a:r>
              <a:rPr lang="en-US" sz="1100" b="1" dirty="0">
                <a:solidFill>
                  <a:srgbClr val="5FD8E6"/>
                </a:solidFill>
                <a:latin typeface="Calibri" pitchFamily="34" charset="0"/>
                <a:ea typeface="Calibri" pitchFamily="34" charset="-122"/>
                <a:cs typeface="Calibri" pitchFamily="34" charset="-120"/>
              </a:rPr>
              <a:t>properties — </a:t>
            </a:r>
            <a:pPr indent="0" marL="0">
              <a:lnSpc>
                <a:spcPct val="110000"/>
              </a:lnSpc>
              <a:buNone/>
            </a:pPr>
            <a:r>
              <a:rPr lang="en-US" sz="1100" dirty="0">
                <a:solidFill>
                  <a:srgbClr val="C7D6E2"/>
                </a:solidFill>
                <a:latin typeface="Calibri" pitchFamily="34" charset="0"/>
                <a:ea typeface="Calibri" pitchFamily="34" charset="-122"/>
                <a:cs typeface="Calibri" pitchFamily="34" charset="-120"/>
              </a:rPr>
              <a:t>attribution, attenuation, revocation, containment, evidence, bypass-resistance</a:t>
            </a:r>
            <a:endParaRPr lang="en-US" sz="1100" dirty="0"/>
          </a:p>
        </p:txBody>
      </p:sp>
      <p:sp>
        <p:nvSpPr>
          <p:cNvPr id="10" name="Text 7"/>
          <p:cNvSpPr/>
          <p:nvPr/>
        </p:nvSpPr>
        <p:spPr>
          <a:xfrm>
            <a:off x="7882128" y="3602736"/>
            <a:ext cx="3291840" cy="658368"/>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12</a:t>
            </a:r>
            <a:endParaRPr lang="en-US" sz="4400" dirty="0"/>
          </a:p>
        </p:txBody>
      </p:sp>
      <p:sp>
        <p:nvSpPr>
          <p:cNvPr id="11" name="Text 8"/>
          <p:cNvSpPr/>
          <p:nvPr/>
        </p:nvSpPr>
        <p:spPr>
          <a:xfrm>
            <a:off x="7882128" y="4315968"/>
            <a:ext cx="3291840" cy="658368"/>
          </a:xfrm>
          <a:prstGeom prst="rect">
            <a:avLst/>
          </a:prstGeom>
          <a:noFill/>
          <a:ln/>
        </p:spPr>
        <p:txBody>
          <a:bodyPr wrap="square" lIns="0" tIns="0" rIns="0" bIns="0" rtlCol="0" anchor="t"/>
          <a:lstStyle/>
          <a:p>
            <a:pPr indent="0" marL="0">
              <a:lnSpc>
                <a:spcPct val="110000"/>
              </a:lnSpc>
              <a:buNone/>
            </a:pPr>
            <a:r>
              <a:rPr lang="en-US" sz="1100" b="1" dirty="0">
                <a:solidFill>
                  <a:srgbClr val="5FD8E6"/>
                </a:solidFill>
                <a:latin typeface="Calibri" pitchFamily="34" charset="0"/>
                <a:ea typeface="Calibri" pitchFamily="34" charset="-122"/>
                <a:cs typeface="Calibri" pitchFamily="34" charset="-120"/>
              </a:rPr>
              <a:t>weeks — </a:t>
            </a:r>
            <a:pPr indent="0" marL="0">
              <a:lnSpc>
                <a:spcPct val="110000"/>
              </a:lnSpc>
              <a:buNone/>
            </a:pPr>
            <a:r>
              <a:rPr lang="en-US" sz="1100" dirty="0">
                <a:solidFill>
                  <a:srgbClr val="C7D6E2"/>
                </a:solidFill>
                <a:latin typeface="Calibri" pitchFamily="34" charset="0"/>
                <a:ea typeface="Calibri" pitchFamily="34" charset="-122"/>
                <a:cs typeface="Calibri" pitchFamily="34" charset="-120"/>
              </a:rPr>
              <a:t>four phases, four gates, a written go / no-go at each one</a:t>
            </a:r>
            <a:endParaRPr lang="en-US" sz="1100" dirty="0"/>
          </a:p>
        </p:txBody>
      </p:sp>
      <p:sp>
        <p:nvSpPr>
          <p:cNvPr id="12" name="Text 9"/>
          <p:cNvSpPr/>
          <p:nvPr/>
        </p:nvSpPr>
        <p:spPr>
          <a:xfrm>
            <a:off x="566928" y="5138928"/>
            <a:ext cx="10607040" cy="329184"/>
          </a:xfrm>
          <a:prstGeom prst="rect">
            <a:avLst/>
          </a:prstGeom>
          <a:noFill/>
          <a:ln/>
        </p:spPr>
        <p:txBody>
          <a:bodyPr wrap="square" lIns="0" tIns="0" rIns="0" bIns="0" rtlCol="0" anchor="ctr"/>
          <a:lstStyle/>
          <a:p>
            <a:pPr indent="0" marL="0">
              <a:buNone/>
            </a:pPr>
            <a:r>
              <a:rPr lang="en-US" sz="1300" dirty="0">
                <a:solidFill>
                  <a:srgbClr val="C7D6E2"/>
                </a:solidFill>
                <a:latin typeface="Calibri" pitchFamily="34" charset="0"/>
                <a:ea typeface="Calibri" pitchFamily="34" charset="-122"/>
                <a:cs typeface="Calibri" pitchFamily="34" charset="-120"/>
              </a:rPr>
              <a:t>Scope discipline is not modesty. It is the only reason a twelve-week commitment is credible at all.</a:t>
            </a:r>
            <a:endParaRPr lang="en-US" sz="1300" dirty="0"/>
          </a:p>
        </p:txBody>
      </p:sp>
      <p:sp>
        <p:nvSpPr>
          <p:cNvPr id="13" name="Shape 10"/>
          <p:cNvSpPr/>
          <p:nvPr/>
        </p:nvSpPr>
        <p:spPr>
          <a:xfrm>
            <a:off x="566928" y="6382512"/>
            <a:ext cx="11057839" cy="0"/>
          </a:xfrm>
          <a:prstGeom prst="line">
            <a:avLst/>
          </a:prstGeom>
          <a:noFill/>
          <a:ln w="9525">
            <a:solidFill>
              <a:srgbClr val="20364C"/>
            </a:solidFill>
            <a:prstDash val="solid"/>
          </a:ln>
        </p:spPr>
      </p:sp>
      <p:sp>
        <p:nvSpPr>
          <p:cNvPr id="14" name="Text 11"/>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15" name="Text 12"/>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SCOPE</a:t>
            </a:r>
            <a:endParaRPr lang="en-US" sz="1000" dirty="0"/>
          </a:p>
        </p:txBody>
      </p:sp>
      <p:sp>
        <p:nvSpPr>
          <p:cNvPr id="5" name="Text 2"/>
          <p:cNvSpPr/>
          <p:nvPr/>
        </p:nvSpPr>
        <p:spPr>
          <a:xfrm>
            <a:off x="1389888" y="621792"/>
            <a:ext cx="10234879" cy="753364"/>
          </a:xfrm>
          <a:prstGeom prst="rect">
            <a:avLst/>
          </a:prstGeom>
          <a:noFill/>
          <a:ln/>
        </p:spPr>
        <p:txBody>
          <a:bodyPr wrap="square" lIns="0" tIns="0" rIns="0" bIns="0" rtlCol="0" anchor="t"/>
          <a:lstStyle/>
          <a:p>
            <a:pPr indent="0" marL="0">
              <a:buNone/>
            </a:pPr>
            <a:r>
              <a:rPr lang="en-US" sz="2500" b="1" dirty="0">
                <a:solidFill>
                  <a:srgbClr val="0B1622"/>
                </a:solidFill>
                <a:latin typeface="Calibri" pitchFamily="34" charset="0"/>
                <a:ea typeface="Calibri" pitchFamily="34" charset="-122"/>
                <a:cs typeface="Calibri" pitchFamily="34" charset="-120"/>
              </a:rPr>
              <a:t>The right first path is consequential, reversible, owned, instrumented — and boring.</a:t>
            </a:r>
            <a:endParaRPr lang="en-US" sz="2500" dirty="0"/>
          </a:p>
        </p:txBody>
      </p:sp>
      <p:sp>
        <p:nvSpPr>
          <p:cNvPr id="6" name="Text 3"/>
          <p:cNvSpPr/>
          <p:nvPr/>
        </p:nvSpPr>
        <p:spPr>
          <a:xfrm>
            <a:off x="1389888" y="14300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Five criteria. We will score candidates against them live, right now, and whatever wins becomes [FIRST PATH] for the remaining eleven slides.</a:t>
            </a:r>
            <a:endParaRPr lang="en-US" sz="1250" dirty="0"/>
          </a:p>
        </p:txBody>
      </p:sp>
      <p:sp>
        <p:nvSpPr>
          <p:cNvPr id="7" name="Shape 4"/>
          <p:cNvSpPr/>
          <p:nvPr/>
        </p:nvSpPr>
        <p:spPr>
          <a:xfrm>
            <a:off x="566928" y="1742186"/>
            <a:ext cx="2094525" cy="1371600"/>
          </a:xfrm>
          <a:prstGeom prst="roundRect">
            <a:avLst>
              <a:gd name="adj" fmla="val 5333"/>
            </a:avLst>
          </a:prstGeom>
          <a:solidFill>
            <a:srgbClr val="FFFFFF"/>
          </a:solidFill>
          <a:ln w="12700">
            <a:solidFill>
              <a:srgbClr val="E2E7EC"/>
            </a:solidFill>
            <a:prstDash val="solid"/>
          </a:ln>
        </p:spPr>
      </p:sp>
      <p:sp>
        <p:nvSpPr>
          <p:cNvPr id="8" name="Shape 5"/>
          <p:cNvSpPr/>
          <p:nvPr/>
        </p:nvSpPr>
        <p:spPr>
          <a:xfrm>
            <a:off x="749808" y="1925066"/>
            <a:ext cx="237744" cy="237744"/>
          </a:xfrm>
          <a:prstGeom prst="ellipse">
            <a:avLst/>
          </a:prstGeom>
          <a:solidFill>
            <a:srgbClr val="08172A"/>
          </a:solidFill>
          <a:ln w="12700">
            <a:solidFill>
              <a:srgbClr val="08172A"/>
            </a:solidFill>
            <a:prstDash val="solid"/>
          </a:ln>
        </p:spPr>
      </p:sp>
      <p:sp>
        <p:nvSpPr>
          <p:cNvPr id="9" name="Text 6"/>
          <p:cNvSpPr/>
          <p:nvPr/>
        </p:nvSpPr>
        <p:spPr>
          <a:xfrm>
            <a:off x="749808" y="192506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1</a:t>
            </a:r>
            <a:endParaRPr lang="en-US" sz="900" dirty="0"/>
          </a:p>
        </p:txBody>
      </p:sp>
      <p:sp>
        <p:nvSpPr>
          <p:cNvPr id="10" name="Text 7"/>
          <p:cNvSpPr/>
          <p:nvPr/>
        </p:nvSpPr>
        <p:spPr>
          <a:xfrm>
            <a:off x="749808" y="2290826"/>
            <a:ext cx="1728765" cy="219456"/>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Consequential</a:t>
            </a:r>
            <a:endParaRPr lang="en-US" sz="1200" dirty="0"/>
          </a:p>
        </p:txBody>
      </p:sp>
      <p:sp>
        <p:nvSpPr>
          <p:cNvPr id="11" name="Text 8"/>
          <p:cNvSpPr/>
          <p:nvPr/>
        </p:nvSpPr>
        <p:spPr>
          <a:xfrm>
            <a:off x="749808" y="2546858"/>
            <a:ext cx="1728765" cy="5760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It writes, moves money, changes state or touches a customer. If nothing can go wrong, governing it proves nothing.</a:t>
            </a:r>
            <a:endParaRPr lang="en-US" sz="950" dirty="0"/>
          </a:p>
        </p:txBody>
      </p:sp>
      <p:sp>
        <p:nvSpPr>
          <p:cNvPr id="12" name="Shape 9"/>
          <p:cNvSpPr/>
          <p:nvPr/>
        </p:nvSpPr>
        <p:spPr>
          <a:xfrm>
            <a:off x="2807757" y="1742186"/>
            <a:ext cx="2094525" cy="1371600"/>
          </a:xfrm>
          <a:prstGeom prst="roundRect">
            <a:avLst>
              <a:gd name="adj" fmla="val 5333"/>
            </a:avLst>
          </a:prstGeom>
          <a:solidFill>
            <a:srgbClr val="FFFFFF"/>
          </a:solidFill>
          <a:ln w="12700">
            <a:solidFill>
              <a:srgbClr val="E2E7EC"/>
            </a:solidFill>
            <a:prstDash val="solid"/>
          </a:ln>
        </p:spPr>
      </p:sp>
      <p:sp>
        <p:nvSpPr>
          <p:cNvPr id="13" name="Shape 10"/>
          <p:cNvSpPr/>
          <p:nvPr/>
        </p:nvSpPr>
        <p:spPr>
          <a:xfrm>
            <a:off x="2990637" y="1925066"/>
            <a:ext cx="237744" cy="237744"/>
          </a:xfrm>
          <a:prstGeom prst="ellipse">
            <a:avLst/>
          </a:prstGeom>
          <a:solidFill>
            <a:srgbClr val="08172A"/>
          </a:solidFill>
          <a:ln w="12700">
            <a:solidFill>
              <a:srgbClr val="08172A"/>
            </a:solidFill>
            <a:prstDash val="solid"/>
          </a:ln>
        </p:spPr>
      </p:sp>
      <p:sp>
        <p:nvSpPr>
          <p:cNvPr id="14" name="Text 11"/>
          <p:cNvSpPr/>
          <p:nvPr/>
        </p:nvSpPr>
        <p:spPr>
          <a:xfrm>
            <a:off x="2990637" y="192506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2</a:t>
            </a:r>
            <a:endParaRPr lang="en-US" sz="900" dirty="0"/>
          </a:p>
        </p:txBody>
      </p:sp>
      <p:sp>
        <p:nvSpPr>
          <p:cNvPr id="15" name="Text 12"/>
          <p:cNvSpPr/>
          <p:nvPr/>
        </p:nvSpPr>
        <p:spPr>
          <a:xfrm>
            <a:off x="2990637" y="2290826"/>
            <a:ext cx="1728765" cy="219456"/>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Reversible</a:t>
            </a:r>
            <a:endParaRPr lang="en-US" sz="1200" dirty="0"/>
          </a:p>
        </p:txBody>
      </p:sp>
      <p:sp>
        <p:nvSpPr>
          <p:cNvPr id="16" name="Text 13"/>
          <p:cNvSpPr/>
          <p:nvPr/>
        </p:nvSpPr>
        <p:spPr>
          <a:xfrm>
            <a:off x="2990637" y="2546858"/>
            <a:ext cx="1728765" cy="5760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 wrong action can be undone inside a working day, by a documented procedure that already exists.</a:t>
            </a:r>
            <a:endParaRPr lang="en-US" sz="950" dirty="0"/>
          </a:p>
        </p:txBody>
      </p:sp>
      <p:sp>
        <p:nvSpPr>
          <p:cNvPr id="17" name="Shape 14"/>
          <p:cNvSpPr/>
          <p:nvPr/>
        </p:nvSpPr>
        <p:spPr>
          <a:xfrm>
            <a:off x="5048585" y="1742186"/>
            <a:ext cx="2094525" cy="1371600"/>
          </a:xfrm>
          <a:prstGeom prst="roundRect">
            <a:avLst>
              <a:gd name="adj" fmla="val 5333"/>
            </a:avLst>
          </a:prstGeom>
          <a:solidFill>
            <a:srgbClr val="FFFFFF"/>
          </a:solidFill>
          <a:ln w="12700">
            <a:solidFill>
              <a:srgbClr val="E2E7EC"/>
            </a:solidFill>
            <a:prstDash val="solid"/>
          </a:ln>
        </p:spPr>
      </p:sp>
      <p:sp>
        <p:nvSpPr>
          <p:cNvPr id="18" name="Shape 15"/>
          <p:cNvSpPr/>
          <p:nvPr/>
        </p:nvSpPr>
        <p:spPr>
          <a:xfrm>
            <a:off x="5231465" y="1925066"/>
            <a:ext cx="237744" cy="237744"/>
          </a:xfrm>
          <a:prstGeom prst="ellipse">
            <a:avLst/>
          </a:prstGeom>
          <a:solidFill>
            <a:srgbClr val="08172A"/>
          </a:solidFill>
          <a:ln w="12700">
            <a:solidFill>
              <a:srgbClr val="08172A"/>
            </a:solidFill>
            <a:prstDash val="solid"/>
          </a:ln>
        </p:spPr>
      </p:sp>
      <p:sp>
        <p:nvSpPr>
          <p:cNvPr id="19" name="Text 16"/>
          <p:cNvSpPr/>
          <p:nvPr/>
        </p:nvSpPr>
        <p:spPr>
          <a:xfrm>
            <a:off x="5231465" y="192506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3</a:t>
            </a:r>
            <a:endParaRPr lang="en-US" sz="900" dirty="0"/>
          </a:p>
        </p:txBody>
      </p:sp>
      <p:sp>
        <p:nvSpPr>
          <p:cNvPr id="20" name="Text 17"/>
          <p:cNvSpPr/>
          <p:nvPr/>
        </p:nvSpPr>
        <p:spPr>
          <a:xfrm>
            <a:off x="5231465" y="2290826"/>
            <a:ext cx="1728765" cy="219456"/>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Singly owned</a:t>
            </a:r>
            <a:endParaRPr lang="en-US" sz="1200" dirty="0"/>
          </a:p>
        </p:txBody>
      </p:sp>
      <p:sp>
        <p:nvSpPr>
          <p:cNvPr id="21" name="Text 18"/>
          <p:cNvSpPr/>
          <p:nvPr/>
        </p:nvSpPr>
        <p:spPr>
          <a:xfrm>
            <a:off x="5231465" y="2546858"/>
            <a:ext cx="1728765" cy="5760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One team can say yes without convening four others. Multi-owner paths are phase-two work.</a:t>
            </a:r>
            <a:endParaRPr lang="en-US" sz="950" dirty="0"/>
          </a:p>
        </p:txBody>
      </p:sp>
      <p:sp>
        <p:nvSpPr>
          <p:cNvPr id="22" name="Shape 19"/>
          <p:cNvSpPr/>
          <p:nvPr/>
        </p:nvSpPr>
        <p:spPr>
          <a:xfrm>
            <a:off x="7289414" y="1742186"/>
            <a:ext cx="2094525" cy="1371600"/>
          </a:xfrm>
          <a:prstGeom prst="roundRect">
            <a:avLst>
              <a:gd name="adj" fmla="val 5333"/>
            </a:avLst>
          </a:prstGeom>
          <a:solidFill>
            <a:srgbClr val="FFFFFF"/>
          </a:solidFill>
          <a:ln w="12700">
            <a:solidFill>
              <a:srgbClr val="E2E7EC"/>
            </a:solidFill>
            <a:prstDash val="solid"/>
          </a:ln>
        </p:spPr>
      </p:sp>
      <p:sp>
        <p:nvSpPr>
          <p:cNvPr id="23" name="Shape 20"/>
          <p:cNvSpPr/>
          <p:nvPr/>
        </p:nvSpPr>
        <p:spPr>
          <a:xfrm>
            <a:off x="7472294" y="1925066"/>
            <a:ext cx="237744" cy="237744"/>
          </a:xfrm>
          <a:prstGeom prst="ellipse">
            <a:avLst/>
          </a:prstGeom>
          <a:solidFill>
            <a:srgbClr val="08172A"/>
          </a:solidFill>
          <a:ln w="12700">
            <a:solidFill>
              <a:srgbClr val="08172A"/>
            </a:solidFill>
            <a:prstDash val="solid"/>
          </a:ln>
        </p:spPr>
      </p:sp>
      <p:sp>
        <p:nvSpPr>
          <p:cNvPr id="24" name="Text 21"/>
          <p:cNvSpPr/>
          <p:nvPr/>
        </p:nvSpPr>
        <p:spPr>
          <a:xfrm>
            <a:off x="7472294" y="192506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4</a:t>
            </a:r>
            <a:endParaRPr lang="en-US" sz="900" dirty="0"/>
          </a:p>
        </p:txBody>
      </p:sp>
      <p:sp>
        <p:nvSpPr>
          <p:cNvPr id="25" name="Text 22"/>
          <p:cNvSpPr/>
          <p:nvPr/>
        </p:nvSpPr>
        <p:spPr>
          <a:xfrm>
            <a:off x="7472294" y="2290826"/>
            <a:ext cx="1728765" cy="219456"/>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Instrumented</a:t>
            </a:r>
            <a:endParaRPr lang="en-US" sz="1200" dirty="0"/>
          </a:p>
        </p:txBody>
      </p:sp>
      <p:sp>
        <p:nvSpPr>
          <p:cNvPr id="26" name="Text 23"/>
          <p:cNvSpPr/>
          <p:nvPr/>
        </p:nvSpPr>
        <p:spPr>
          <a:xfrm>
            <a:off x="7472294" y="2546858"/>
            <a:ext cx="1728765" cy="5760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It already emits enough telemetry to measure a before and an after, rather than inventing a baseline.</a:t>
            </a:r>
            <a:endParaRPr lang="en-US" sz="950" dirty="0"/>
          </a:p>
        </p:txBody>
      </p:sp>
      <p:sp>
        <p:nvSpPr>
          <p:cNvPr id="27" name="Shape 24"/>
          <p:cNvSpPr/>
          <p:nvPr/>
        </p:nvSpPr>
        <p:spPr>
          <a:xfrm>
            <a:off x="9530243" y="1742186"/>
            <a:ext cx="2094525" cy="1371600"/>
          </a:xfrm>
          <a:prstGeom prst="roundRect">
            <a:avLst>
              <a:gd name="adj" fmla="val 5333"/>
            </a:avLst>
          </a:prstGeom>
          <a:solidFill>
            <a:srgbClr val="E6F4F6"/>
          </a:solidFill>
          <a:ln w="12700">
            <a:solidFill>
              <a:srgbClr val="9CCED6"/>
            </a:solidFill>
            <a:prstDash val="solid"/>
          </a:ln>
        </p:spPr>
      </p:sp>
      <p:sp>
        <p:nvSpPr>
          <p:cNvPr id="28" name="Shape 25"/>
          <p:cNvSpPr/>
          <p:nvPr/>
        </p:nvSpPr>
        <p:spPr>
          <a:xfrm>
            <a:off x="9713123" y="1925066"/>
            <a:ext cx="237744" cy="237744"/>
          </a:xfrm>
          <a:prstGeom prst="ellipse">
            <a:avLst/>
          </a:prstGeom>
          <a:solidFill>
            <a:srgbClr val="0B6F7D"/>
          </a:solidFill>
          <a:ln w="12700">
            <a:solidFill>
              <a:srgbClr val="0B6F7D"/>
            </a:solidFill>
            <a:prstDash val="solid"/>
          </a:ln>
        </p:spPr>
      </p:sp>
      <p:sp>
        <p:nvSpPr>
          <p:cNvPr id="29" name="Text 26"/>
          <p:cNvSpPr/>
          <p:nvPr/>
        </p:nvSpPr>
        <p:spPr>
          <a:xfrm>
            <a:off x="9713123" y="192506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nsolas" pitchFamily="34" charset="0"/>
                <a:ea typeface="Consolas" pitchFamily="34" charset="-122"/>
                <a:cs typeface="Consolas" pitchFamily="34" charset="-120"/>
              </a:rPr>
              <a:t>5</a:t>
            </a:r>
            <a:endParaRPr lang="en-US" sz="900" dirty="0"/>
          </a:p>
        </p:txBody>
      </p:sp>
      <p:sp>
        <p:nvSpPr>
          <p:cNvPr id="30" name="Text 27"/>
          <p:cNvSpPr/>
          <p:nvPr/>
        </p:nvSpPr>
        <p:spPr>
          <a:xfrm>
            <a:off x="9713123" y="2290826"/>
            <a:ext cx="1728765" cy="219456"/>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Boring</a:t>
            </a:r>
            <a:endParaRPr lang="en-US" sz="1200" dirty="0"/>
          </a:p>
        </p:txBody>
      </p:sp>
      <p:sp>
        <p:nvSpPr>
          <p:cNvPr id="31" name="Text 28"/>
          <p:cNvSpPr/>
          <p:nvPr/>
        </p:nvSpPr>
        <p:spPr>
          <a:xfrm>
            <a:off x="9713123" y="2546858"/>
            <a:ext cx="1728765" cy="5760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Nobody is politically defending it. Contested paths turn a twelve-week engagement into a twelve-week negotiation.</a:t>
            </a:r>
            <a:endParaRPr lang="en-US" sz="950" dirty="0"/>
          </a:p>
        </p:txBody>
      </p:sp>
      <p:sp>
        <p:nvSpPr>
          <p:cNvPr id="32" name="Text 29"/>
          <p:cNvSpPr/>
          <p:nvPr/>
        </p:nvSpPr>
        <p:spPr>
          <a:xfrm>
            <a:off x="566928" y="3260090"/>
            <a:ext cx="5486400" cy="182880"/>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LIVE SCORING — 0 (POOR) TO 3 (STRONG)</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3479546"/>
          <a:ext cx="11057839" cy="914400"/>
        </p:xfrm>
        <a:graphic>
          <a:graphicData uri="http://schemas.openxmlformats.org/drawingml/2006/table">
            <a:tbl>
              <a:tblPr/>
              <a:tblGrid>
                <a:gridCol w="2926080"/>
                <a:gridCol w="1188720"/>
                <a:gridCol w="1600200"/>
                <a:gridCol w="1371600"/>
                <a:gridCol w="1234440"/>
                <a:gridCol w="1554480"/>
                <a:gridCol w="1097280"/>
                <a:gridCol w="1014984"/>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CANDIDATE PATH</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OWNER</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CONSEQUENTIAL</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REVERSIBLE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OWNED</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INSTRUMENTED</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BORING</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TOTAL</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Candidate A — [NAME]</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Candidate B — [NAME]</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Candidate C — [NAME]</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34" name="Shape 30"/>
          <p:cNvSpPr/>
          <p:nvPr/>
        </p:nvSpPr>
        <p:spPr>
          <a:xfrm>
            <a:off x="566928" y="5029200"/>
            <a:ext cx="11057839" cy="530352"/>
          </a:xfrm>
          <a:prstGeom prst="roundRect">
            <a:avLst>
              <a:gd name="adj" fmla="val 13793"/>
            </a:avLst>
          </a:prstGeom>
          <a:solidFill>
            <a:srgbClr val="FFFBF2"/>
          </a:solidFill>
          <a:ln w="12700">
            <a:solidFill>
              <a:srgbClr val="F2E3C4"/>
            </a:solidFill>
            <a:prstDash val="solid"/>
          </a:ln>
        </p:spPr>
      </p:sp>
      <p:sp>
        <p:nvSpPr>
          <p:cNvPr id="35" name="Text 31"/>
          <p:cNvSpPr/>
          <p:nvPr/>
        </p:nvSpPr>
        <p:spPr>
          <a:xfrm>
            <a:off x="749808" y="5157216"/>
            <a:ext cx="10692079" cy="31089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The trap to avoid:</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choosing your most strategically important workflow. That is the second path. Its owner will thank you for not being the one we learned on.</a:t>
            </a:r>
            <a:endParaRPr lang="en-US" sz="1050" dirty="0"/>
          </a:p>
        </p:txBody>
      </p:sp>
      <p:sp>
        <p:nvSpPr>
          <p:cNvPr id="36" name="Shape 32"/>
          <p:cNvSpPr/>
          <p:nvPr/>
        </p:nvSpPr>
        <p:spPr>
          <a:xfrm>
            <a:off x="566928" y="6382512"/>
            <a:ext cx="11057839" cy="0"/>
          </a:xfrm>
          <a:prstGeom prst="line">
            <a:avLst/>
          </a:prstGeom>
          <a:noFill/>
          <a:ln w="9525">
            <a:solidFill>
              <a:srgbClr val="E2E7EC"/>
            </a:solidFill>
            <a:prstDash val="solid"/>
          </a:ln>
        </p:spPr>
      </p:sp>
      <p:sp>
        <p:nvSpPr>
          <p:cNvPr id="37" name="Text 3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8" name="Text 3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BOUNDARIES</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In scope and out of scope, stated explicitly.</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Is there anything on the right that you believed was on the left? This is the cheapest possible moment to find out.</a:t>
            </a:r>
            <a:endParaRPr lang="en-US" sz="1250" dirty="0"/>
          </a:p>
        </p:txBody>
      </p:sp>
      <p:sp>
        <p:nvSpPr>
          <p:cNvPr id="7" name="Shape 4"/>
          <p:cNvSpPr/>
          <p:nvPr/>
        </p:nvSpPr>
        <p:spPr>
          <a:xfrm>
            <a:off x="566928" y="1517650"/>
            <a:ext cx="5455768" cy="2688336"/>
          </a:xfrm>
          <a:prstGeom prst="roundRect">
            <a:avLst>
              <a:gd name="adj" fmla="val 2721"/>
            </a:avLst>
          </a:prstGeom>
          <a:solidFill>
            <a:srgbClr val="FFFFFF"/>
          </a:solidFill>
          <a:ln w="12700">
            <a:solidFill>
              <a:srgbClr val="E2E7EC"/>
            </a:solidFill>
            <a:prstDash val="solid"/>
          </a:ln>
        </p:spPr>
      </p:sp>
      <p:sp>
        <p:nvSpPr>
          <p:cNvPr id="8" name="Shape 5"/>
          <p:cNvSpPr/>
          <p:nvPr/>
        </p:nvSpPr>
        <p:spPr>
          <a:xfrm>
            <a:off x="749808" y="1700530"/>
            <a:ext cx="1417320" cy="182880"/>
          </a:xfrm>
          <a:prstGeom prst="roundRect">
            <a:avLst>
              <a:gd name="adj" fmla="val 50000"/>
            </a:avLst>
          </a:prstGeom>
          <a:solidFill>
            <a:srgbClr val="E6F4E6"/>
          </a:solidFill>
          <a:ln w="12700">
            <a:solidFill>
              <a:srgbClr val="E6F4E6"/>
            </a:solidFill>
            <a:prstDash val="solid"/>
          </a:ln>
        </p:spPr>
      </p:sp>
      <p:sp>
        <p:nvSpPr>
          <p:cNvPr id="9" name="Text 6"/>
          <p:cNvSpPr/>
          <p:nvPr/>
        </p:nvSpPr>
        <p:spPr>
          <a:xfrm>
            <a:off x="749808" y="1700530"/>
            <a:ext cx="1417320" cy="182880"/>
          </a:xfrm>
          <a:prstGeom prst="rect">
            <a:avLst/>
          </a:prstGeom>
          <a:noFill/>
          <a:ln/>
        </p:spPr>
        <p:txBody>
          <a:bodyPr wrap="square" lIns="0" tIns="0" rIns="0" bIns="0" rtlCol="0" anchor="ctr"/>
          <a:lstStyle/>
          <a:p>
            <a:pPr algn="ctr" indent="0" marL="0">
              <a:buNone/>
            </a:pPr>
            <a:r>
              <a:rPr lang="en-US" sz="750" b="1" spc="100" kern="0" dirty="0">
                <a:solidFill>
                  <a:srgbClr val="006300"/>
                </a:solidFill>
                <a:latin typeface="Consolas" pitchFamily="34" charset="0"/>
                <a:ea typeface="Consolas" pitchFamily="34" charset="-122"/>
                <a:cs typeface="Consolas" pitchFamily="34" charset="-120"/>
              </a:rPr>
              <a:t>IN SCOPE · 12 WEEKS</a:t>
            </a:r>
            <a:endParaRPr lang="en-US" sz="750" dirty="0"/>
          </a:p>
        </p:txBody>
      </p:sp>
      <p:sp>
        <p:nvSpPr>
          <p:cNvPr id="10" name="Text 7"/>
          <p:cNvSpPr/>
          <p:nvPr/>
        </p:nvSpPr>
        <p:spPr>
          <a:xfrm>
            <a:off x="749808" y="2011426"/>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One consequential action on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[FIRST PATH]</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end to end through the control boundary</a:t>
            </a:r>
            <a:endParaRPr lang="en-US" sz="1000" dirty="0"/>
          </a:p>
        </p:txBody>
      </p:sp>
      <p:sp>
        <p:nvSpPr>
          <p:cNvPr id="11" name="Text 8"/>
          <p:cNvSpPr/>
          <p:nvPr/>
        </p:nvSpPr>
        <p:spPr>
          <a:xfrm>
            <a:off x="749808" y="2358898"/>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Identity integration with the incumbent provider — human, workload and agent</a:t>
            </a:r>
            <a:endParaRPr lang="en-US" sz="1000" dirty="0"/>
          </a:p>
        </p:txBody>
      </p:sp>
      <p:sp>
        <p:nvSpPr>
          <p:cNvPr id="12" name="Text 9"/>
          <p:cNvSpPr/>
          <p:nvPr/>
        </p:nvSpPr>
        <p:spPr>
          <a:xfrm>
            <a:off x="749808" y="2706370"/>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policy decision point with a small, business-legible vocabulary and three risk tiers</a:t>
            </a:r>
            <a:endParaRPr lang="en-US" sz="1000" dirty="0"/>
          </a:p>
        </p:txBody>
      </p:sp>
      <p:sp>
        <p:nvSpPr>
          <p:cNvPr id="13" name="Text 10"/>
          <p:cNvSpPr/>
          <p:nvPr/>
        </p:nvSpPr>
        <p:spPr>
          <a:xfrm>
            <a:off x="749808" y="3053842"/>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Capability grants: audience-bound, attenuable, short-lived, offline-verifiable</a:t>
            </a:r>
            <a:endParaRPr lang="en-US" sz="1000" dirty="0"/>
          </a:p>
        </p:txBody>
      </p:sp>
      <p:sp>
        <p:nvSpPr>
          <p:cNvPr id="14" name="Text 11"/>
          <p:cNvSpPr/>
          <p:nvPr/>
        </p:nvSpPr>
        <p:spPr>
          <a:xfrm>
            <a:off x="749808" y="3401314"/>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One mediation boundary enforcing grants in front of one real backend</a:t>
            </a:r>
            <a:endParaRPr lang="en-US" sz="1000" dirty="0"/>
          </a:p>
        </p:txBody>
      </p:sp>
      <p:sp>
        <p:nvSpPr>
          <p:cNvPr id="15" name="Text 12"/>
          <p:cNvSpPr/>
          <p:nvPr/>
        </p:nvSpPr>
        <p:spPr>
          <a:xfrm>
            <a:off x="749808" y="3748786"/>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Telemetry contract and correlated evidence across at least three systems</a:t>
            </a:r>
            <a:endParaRPr lang="en-US" sz="1000" dirty="0"/>
          </a:p>
        </p:txBody>
      </p:sp>
      <p:sp>
        <p:nvSpPr>
          <p:cNvPr id="16" name="Text 13"/>
          <p:cNvSpPr/>
          <p:nvPr/>
        </p:nvSpPr>
        <p:spPr>
          <a:xfrm>
            <a:off x="749808" y="4096258"/>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Circuit breaker with a measured time-to-stop</a:t>
            </a:r>
            <a:endParaRPr lang="en-US" sz="1000" dirty="0"/>
          </a:p>
        </p:txBody>
      </p:sp>
      <p:sp>
        <p:nvSpPr>
          <p:cNvPr id="17" name="Text 14"/>
          <p:cNvSpPr/>
          <p:nvPr/>
        </p:nvSpPr>
        <p:spPr>
          <a:xfrm>
            <a:off x="749808" y="4443730"/>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Golden-path templates, service page, runbook and the five invariant tests</a:t>
            </a:r>
            <a:endParaRPr lang="en-US" sz="1000" dirty="0"/>
          </a:p>
        </p:txBody>
      </p:sp>
      <p:sp>
        <p:nvSpPr>
          <p:cNvPr id="18" name="Text 15"/>
          <p:cNvSpPr/>
          <p:nvPr/>
        </p:nvSpPr>
        <p:spPr>
          <a:xfrm>
            <a:off x="749808" y="4791202"/>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Control crosswalk with sample evidence, reviewed with your audit team</a:t>
            </a:r>
            <a:endParaRPr lang="en-US" sz="1000" dirty="0"/>
          </a:p>
        </p:txBody>
      </p:sp>
      <p:sp>
        <p:nvSpPr>
          <p:cNvPr id="19" name="Shape 16"/>
          <p:cNvSpPr/>
          <p:nvPr/>
        </p:nvSpPr>
        <p:spPr>
          <a:xfrm>
            <a:off x="6169000" y="1517650"/>
            <a:ext cx="5455768" cy="2688336"/>
          </a:xfrm>
          <a:prstGeom prst="roundRect">
            <a:avLst>
              <a:gd name="adj" fmla="val 2721"/>
            </a:avLst>
          </a:prstGeom>
          <a:solidFill>
            <a:srgbClr val="FFFFFF"/>
          </a:solidFill>
          <a:ln w="12700">
            <a:solidFill>
              <a:srgbClr val="E2E7EC"/>
            </a:solidFill>
            <a:prstDash val="solid"/>
          </a:ln>
        </p:spPr>
      </p:sp>
      <p:sp>
        <p:nvSpPr>
          <p:cNvPr id="20" name="Shape 17"/>
          <p:cNvSpPr/>
          <p:nvPr/>
        </p:nvSpPr>
        <p:spPr>
          <a:xfrm>
            <a:off x="6351880" y="1700530"/>
            <a:ext cx="1417320" cy="182880"/>
          </a:xfrm>
          <a:prstGeom prst="roundRect">
            <a:avLst>
              <a:gd name="adj" fmla="val 50000"/>
            </a:avLst>
          </a:prstGeom>
          <a:solidFill>
            <a:srgbClr val="EFF2F5"/>
          </a:solidFill>
          <a:ln w="12700">
            <a:solidFill>
              <a:srgbClr val="EFF2F5"/>
            </a:solidFill>
            <a:prstDash val="solid"/>
          </a:ln>
        </p:spPr>
      </p:sp>
      <p:sp>
        <p:nvSpPr>
          <p:cNvPr id="21" name="Text 18"/>
          <p:cNvSpPr/>
          <p:nvPr/>
        </p:nvSpPr>
        <p:spPr>
          <a:xfrm>
            <a:off x="6351880" y="1700530"/>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OUT OF SCOPE · PHASE TWO</a:t>
            </a:r>
            <a:endParaRPr lang="en-US" sz="750" dirty="0"/>
          </a:p>
        </p:txBody>
      </p:sp>
      <p:sp>
        <p:nvSpPr>
          <p:cNvPr id="22" name="Text 19"/>
          <p:cNvSpPr/>
          <p:nvPr/>
        </p:nvSpPr>
        <p:spPr>
          <a:xfrm>
            <a:off x="6351880" y="2011426"/>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second path, or generalisation across service families</a:t>
            </a:r>
            <a:endParaRPr lang="en-US" sz="1000" dirty="0"/>
          </a:p>
        </p:txBody>
      </p:sp>
      <p:sp>
        <p:nvSpPr>
          <p:cNvPr id="23" name="Text 20"/>
          <p:cNvSpPr/>
          <p:nvPr/>
        </p:nvSpPr>
        <p:spPr>
          <a:xfrm>
            <a:off x="6351880" y="2358898"/>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Enterprise ontology, knowledge graph or semantic federation</a:t>
            </a:r>
            <a:endParaRPr lang="en-US" sz="1000" dirty="0"/>
          </a:p>
        </p:txBody>
      </p:sp>
      <p:sp>
        <p:nvSpPr>
          <p:cNvPr id="24" name="Text 21"/>
          <p:cNvSpPr/>
          <p:nvPr/>
        </p:nvSpPr>
        <p:spPr>
          <a:xfrm>
            <a:off x="6351880" y="2706370"/>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New data pipelines, ingestion projects or retrieval infrastructure</a:t>
            </a:r>
            <a:endParaRPr lang="en-US" sz="1000" dirty="0"/>
          </a:p>
        </p:txBody>
      </p:sp>
      <p:sp>
        <p:nvSpPr>
          <p:cNvPr id="25" name="Text 22"/>
          <p:cNvSpPr/>
          <p:nvPr/>
        </p:nvSpPr>
        <p:spPr>
          <a:xfrm>
            <a:off x="6351880" y="3053842"/>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Production traffic, production data, or any irreversible action</a:t>
            </a:r>
            <a:endParaRPr lang="en-US" sz="1000" dirty="0"/>
          </a:p>
        </p:txBody>
      </p:sp>
      <p:sp>
        <p:nvSpPr>
          <p:cNvPr id="26" name="Text 23"/>
          <p:cNvSpPr/>
          <p:nvPr/>
        </p:nvSpPr>
        <p:spPr>
          <a:xfrm>
            <a:off x="6351880" y="3401314"/>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Replacing the identity provider, gateway, SIEM or observability backend</a:t>
            </a:r>
            <a:endParaRPr lang="en-US" sz="1000" dirty="0"/>
          </a:p>
        </p:txBody>
      </p:sp>
      <p:sp>
        <p:nvSpPr>
          <p:cNvPr id="27" name="Text 24"/>
          <p:cNvSpPr/>
          <p:nvPr/>
        </p:nvSpPr>
        <p:spPr>
          <a:xfrm>
            <a:off x="6351880" y="3748786"/>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Model selection, fine-tuning, evaluation harnesses or prompt engineering</a:t>
            </a:r>
            <a:endParaRPr lang="en-US" sz="1000" dirty="0"/>
          </a:p>
        </p:txBody>
      </p:sp>
      <p:sp>
        <p:nvSpPr>
          <p:cNvPr id="28" name="Text 25"/>
          <p:cNvSpPr/>
          <p:nvPr/>
        </p:nvSpPr>
        <p:spPr>
          <a:xfrm>
            <a:off x="6351880" y="4096258"/>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Multi-region, disaster recovery or capacity engineering</a:t>
            </a:r>
            <a:endParaRPr lang="en-US" sz="1000" dirty="0"/>
          </a:p>
        </p:txBody>
      </p:sp>
      <p:sp>
        <p:nvSpPr>
          <p:cNvPr id="29" name="Text 26"/>
          <p:cNvSpPr/>
          <p:nvPr/>
        </p:nvSpPr>
        <p:spPr>
          <a:xfrm>
            <a:off x="6351880" y="4443730"/>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Certified controls, audit sign-off or a compliance assertion</a:t>
            </a:r>
            <a:endParaRPr lang="en-US" sz="1000" dirty="0"/>
          </a:p>
        </p:txBody>
      </p:sp>
      <p:sp>
        <p:nvSpPr>
          <p:cNvPr id="30" name="Text 27"/>
          <p:cNvSpPr/>
          <p:nvPr/>
        </p:nvSpPr>
        <p:spPr>
          <a:xfrm>
            <a:off x="6351880" y="4791202"/>
            <a:ext cx="5090008"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Organisational change management beyond the one owning team</a:t>
            </a:r>
            <a:endParaRPr lang="en-US" sz="1000" dirty="0"/>
          </a:p>
        </p:txBody>
      </p:sp>
      <p:sp>
        <p:nvSpPr>
          <p:cNvPr id="31" name="Shape 28"/>
          <p:cNvSpPr/>
          <p:nvPr/>
        </p:nvSpPr>
        <p:spPr>
          <a:xfrm>
            <a:off x="566928" y="4956048"/>
            <a:ext cx="11057839" cy="603504"/>
          </a:xfrm>
          <a:prstGeom prst="roundRect">
            <a:avLst>
              <a:gd name="adj" fmla="val 12121"/>
            </a:avLst>
          </a:prstGeom>
          <a:solidFill>
            <a:srgbClr val="E6F4F6"/>
          </a:solidFill>
          <a:ln w="12700">
            <a:solidFill>
              <a:srgbClr val="9CCED6"/>
            </a:solidFill>
            <a:prstDash val="solid"/>
          </a:ln>
        </p:spPr>
      </p:sp>
      <p:sp>
        <p:nvSpPr>
          <p:cNvPr id="32" name="Text 29"/>
          <p:cNvSpPr/>
          <p:nvPr/>
        </p:nvSpPr>
        <p:spPr>
          <a:xfrm>
            <a:off x="749808" y="5084064"/>
            <a:ext cx="10692079" cy="40233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How we handle a scope request mid-engagement:</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anything added must displace something of equal size, and the trade is written into the weekly gate note with both names on it. We will not silently absorb scope and we will not silently drop it.</a:t>
            </a:r>
            <a:endParaRPr lang="en-US" sz="1050" dirty="0"/>
          </a:p>
        </p:txBody>
      </p:sp>
      <p:sp>
        <p:nvSpPr>
          <p:cNvPr id="33" name="Shape 30"/>
          <p:cNvSpPr/>
          <p:nvPr/>
        </p:nvSpPr>
        <p:spPr>
          <a:xfrm>
            <a:off x="566928" y="6382512"/>
            <a:ext cx="11057839" cy="0"/>
          </a:xfrm>
          <a:prstGeom prst="line">
            <a:avLst/>
          </a:prstGeom>
          <a:noFill/>
          <a:ln w="9525">
            <a:solidFill>
              <a:srgbClr val="E2E7EC"/>
            </a:solidFill>
            <a:prstDash val="solid"/>
          </a:ln>
        </p:spPr>
      </p:sp>
      <p:sp>
        <p:nvSpPr>
          <p:cNvPr id="34" name="Text 31"/>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5" name="Text 32"/>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SUCCESS CRITERIA</a:t>
            </a:r>
            <a:endParaRPr lang="en-US" sz="1000" dirty="0"/>
          </a:p>
        </p:txBody>
      </p:sp>
      <p:sp>
        <p:nvSpPr>
          <p:cNvPr id="5" name="Text 2"/>
          <p:cNvSpPr/>
          <p:nvPr/>
        </p:nvSpPr>
        <p:spPr>
          <a:xfrm>
            <a:off x="1389888" y="621792"/>
            <a:ext cx="10234879" cy="781304"/>
          </a:xfrm>
          <a:prstGeom prst="rect">
            <a:avLst/>
          </a:prstGeom>
          <a:noFill/>
          <a:ln/>
        </p:spPr>
        <p:txBody>
          <a:bodyPr wrap="square" lIns="0" tIns="0" rIns="0" bIns="0" rtlCol="0" anchor="t"/>
          <a:lstStyle/>
          <a:p>
            <a:pPr indent="0" marL="0">
              <a:buNone/>
            </a:pPr>
            <a:r>
              <a:rPr lang="en-US" sz="2600" b="1" dirty="0">
                <a:solidFill>
                  <a:srgbClr val="0B1622"/>
                </a:solidFill>
                <a:latin typeface="Calibri" pitchFamily="34" charset="0"/>
                <a:ea typeface="Calibri" pitchFamily="34" charset="-122"/>
                <a:cs typeface="Calibri" pitchFamily="34" charset="-120"/>
              </a:rPr>
              <a:t>Seven measurements. Every threshold set in week one and frozen in week two.</a:t>
            </a:r>
            <a:endParaRPr lang="en-US" sz="2600" dirty="0"/>
          </a:p>
        </p:txBody>
      </p:sp>
      <p:sp>
        <p:nvSpPr>
          <p:cNvPr id="6" name="Text 3"/>
          <p:cNvSpPr/>
          <p:nvPr/>
        </p:nvSpPr>
        <p:spPr>
          <a:xfrm>
            <a:off x="1389888" y="145796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Targets are bracketed because we will not invent numbers about an estate we have not measured yet. Nobody moves a goalpost in week nine.</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88414"/>
          <a:ext cx="11057839" cy="914400"/>
        </p:xfrm>
        <a:graphic>
          <a:graphicData uri="http://schemas.openxmlformats.org/drawingml/2006/table">
            <a:tbl>
              <a:tblPr/>
              <a:tblGrid>
                <a:gridCol w="2286000"/>
                <a:gridCol w="4114800"/>
                <a:gridCol w="1737360"/>
                <a:gridCol w="292608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CRITERION</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THE MEASUREMENT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TARGET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INSTRUMENT · WHO READS IT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1  Attribution latency</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Time to produce actor, human principal, decision, grant and expiry for a randomly selected action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&lt; [60] SEC</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Evidence query · your SRE, unaided</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2  Enforcement overhead</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Added p99 latency on the golden path versus the measured pre-POC baseline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&lt; [X] MS</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Your APM · platform engineering</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3  Time to stop</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From breaker trip to last valid grant expiring, measured under sustained load</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&lt; [X] SEC</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Live exercise · SRE and security</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4  Attenuation integrity</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Adversarial cases attempting privilege amplification through delegation, designed by your team</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100% FAIL CLOSED</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Test suite · your security team</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5  Bypass resistance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Direct backend calls that route around the mediation boundary</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100% REFUSED AT RESOURCE</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Test suite · your security team</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6  Evidence completeness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Proportion of actions whose full record reconstructs across ≥3 systems with no manual stitching</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&gt; [99] %</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Trace analysis · audit reviews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7  Unassisted adoption</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 second team onboards a capability to the golden path using documentation alone, with us out of the room</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50" b="1" dirty="0">
                          <a:solidFill>
                            <a:srgbClr val="8A6210"/>
                          </a:solidFill>
                          <a:latin typeface="Consolas" pitchFamily="34" charset="0"/>
                          <a:ea typeface="Consolas" pitchFamily="34" charset="-122"/>
                          <a:cs typeface="Consolas" pitchFamily="34" charset="-120"/>
                        </a:rPr>
                        <a:t>&lt; [1] DAY</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Observed exercise · week 11</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5029200"/>
            <a:ext cx="11057839" cy="530352"/>
          </a:xfrm>
          <a:prstGeom prst="roundRect">
            <a:avLst>
              <a:gd name="adj" fmla="val 13793"/>
            </a:avLst>
          </a:prstGeom>
          <a:solidFill>
            <a:srgbClr val="E6F4F6"/>
          </a:solidFill>
          <a:ln w="12700">
            <a:solidFill>
              <a:srgbClr val="9CCED6"/>
            </a:solidFill>
            <a:prstDash val="solid"/>
          </a:ln>
        </p:spPr>
      </p:sp>
      <p:sp>
        <p:nvSpPr>
          <p:cNvPr id="9" name="Text 5"/>
          <p:cNvSpPr/>
          <p:nvPr/>
        </p:nvSpPr>
        <p:spPr>
          <a:xfrm>
            <a:off x="749808" y="5157216"/>
            <a:ext cx="10692079" cy="31089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Criterion 7 is the one that predicts whether this survives us.</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other six prove the architecture works. This one proves it works without its authors in the room — which is the only version worth scaling.</a:t>
            </a:r>
            <a:endParaRPr lang="en-US" sz="1050" dirty="0"/>
          </a:p>
        </p:txBody>
      </p:sp>
      <p:sp>
        <p:nvSpPr>
          <p:cNvPr id="10" name="Shape 6"/>
          <p:cNvSpPr/>
          <p:nvPr/>
        </p:nvSpPr>
        <p:spPr>
          <a:xfrm>
            <a:off x="566928" y="6382512"/>
            <a:ext cx="11057839" cy="0"/>
          </a:xfrm>
          <a:prstGeom prst="line">
            <a:avLst/>
          </a:prstGeom>
          <a:noFill/>
          <a:ln w="9525">
            <a:solidFill>
              <a:srgbClr val="E2E7EC"/>
            </a:solidFill>
            <a:prstDash val="solid"/>
          </a:ln>
        </p:spPr>
      </p:sp>
      <p:sp>
        <p:nvSpPr>
          <p:cNvPr id="11" name="Text 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2" name="Text 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THRESHOLDS FIXED AT GATE 1 · MEASURED WITH INSTRUMENTATION YOU KEEP</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172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5FD8E6"/>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5FD8E6"/>
                </a:solidFill>
                <a:latin typeface="Consolas" pitchFamily="34" charset="0"/>
                <a:ea typeface="Consolas" pitchFamily="34" charset="-122"/>
                <a:cs typeface="Consolas" pitchFamily="34" charset="-120"/>
              </a:rPr>
              <a:t>THE POC · KILL CRITERIA</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The conditions under which we will tell you to stop.</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C7D6E2"/>
                </a:solidFill>
                <a:latin typeface="Calibri" pitchFamily="34" charset="0"/>
                <a:ea typeface="Calibri" pitchFamily="34" charset="-122"/>
                <a:cs typeface="Calibri" pitchFamily="34" charset="-120"/>
              </a:rPr>
              <a:t>A kill criterion is not pessimism — it is what makes a success criterion mean something. Each is checked at a named gate. We would like a sixth from this room.</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65224"/>
          <a:ext cx="11057839" cy="914400"/>
        </p:xfrm>
        <a:graphic>
          <a:graphicData uri="http://schemas.openxmlformats.org/drawingml/2006/table">
            <a:tbl>
              <a:tblPr/>
              <a:tblGrid>
                <a:gridCol w="4206240"/>
                <a:gridCol w="5943600"/>
                <a:gridCol w="914400"/>
              </a:tblGrid>
              <a:tr h="0">
                <a:tc>
                  <a:txBody>
                    <a:bodyPr/>
                    <a:lstStyle/>
                    <a:p>
                      <a:pPr indent="0" marL="0">
                        <a:buNone/>
                      </a:pPr>
                      <a:r>
                        <a:rPr lang="en-US" sz="750" b="1" spc="140" kern="0" dirty="0">
                          <a:solidFill>
                            <a:srgbClr val="8AA3B8"/>
                          </a:solidFill>
                          <a:latin typeface="Consolas" pitchFamily="34" charset="0"/>
                          <a:ea typeface="Consolas" pitchFamily="34" charset="-122"/>
                          <a:cs typeface="Consolas" pitchFamily="34" charset="-120"/>
                        </a:rPr>
                        <a:t>IF THIS IS TRUE…</a:t>
                      </a:r>
                      <a:endParaRPr lang="en-US" sz="750" dirty="0">
                        <a:latin typeface="Consolas" charset="0"/>
                        <a:ea typeface="Consolas" charset="0"/>
                        <a:cs typeface="Consolas" charset="0"/>
                      </a:endParaRPr>
                    </a:p>
                  </a:txBody>
                  <a:tcPr marL="76200" marR="76200" marT="25400" marB="63500" anchor="b">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750" b="1" spc="140" kern="0" dirty="0">
                          <a:solidFill>
                            <a:srgbClr val="8AA3B8"/>
                          </a:solidFill>
                          <a:latin typeface="Consolas" pitchFamily="34" charset="0"/>
                          <a:ea typeface="Consolas" pitchFamily="34" charset="-122"/>
                          <a:cs typeface="Consolas" pitchFamily="34" charset="-120"/>
                        </a:rPr>
                        <a:t>…THEN THIS IS WHAT IT TELLS US</a:t>
                      </a:r>
                      <a:endParaRPr lang="en-US" sz="750" dirty="0">
                        <a:latin typeface="Consolas" charset="0"/>
                        <a:ea typeface="Consolas" charset="0"/>
                        <a:cs typeface="Consolas" charset="0"/>
                      </a:endParaRPr>
                    </a:p>
                  </a:txBody>
                  <a:tcPr marL="76200" marR="76200" marT="25400" marB="63500" anchor="b">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750" b="1" spc="140" kern="0" dirty="0">
                          <a:solidFill>
                            <a:srgbClr val="8AA3B8"/>
                          </a:solidFill>
                          <a:latin typeface="Consolas" pitchFamily="34" charset="0"/>
                          <a:ea typeface="Consolas" pitchFamily="34" charset="-122"/>
                          <a:cs typeface="Consolas" pitchFamily="34" charset="-120"/>
                        </a:rPr>
                        <a:t>GATE</a:t>
                      </a:r>
                      <a:endParaRPr lang="en-US" sz="750" dirty="0">
                        <a:latin typeface="Consolas" charset="0"/>
                        <a:ea typeface="Consolas" charset="0"/>
                        <a:cs typeface="Consolas" charset="0"/>
                      </a:endParaRPr>
                    </a:p>
                  </a:txBody>
                  <a:tcPr marL="76200" marR="76200" marT="25400" marB="63500" anchor="b">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1   Policy decision adds more than [X]ms p99 to the golden path and cannot be reduced by caching, attenuation or tiering</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The enforcement model is wrong for this estate. A control nobody can afford to keep on is not a control.</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2</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2   Revocation consistently takes longer than the grant TTL under sustained load</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The conveyance model is wrong. If you cannot stop it faster than it expires, the off switch is decorative.</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3</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3   The backend can be reached directly, and closing that route requires rewriting it</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The boundary is in the wrong place for this system class — and possibly for most of your estate.</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2</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4   Evidence cannot be joined into one trace across three or more systems without manual stitching</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The telemetry contract is wrong, and every downstream assurance claim rests on sand.</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3</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5   The owning team will not adopt the golden path without us physically in the room</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C7D6E2"/>
                          </a:solidFill>
                          <a:latin typeface="Calibri" pitchFamily="34" charset="0"/>
                          <a:ea typeface="Calibri" pitchFamily="34" charset="-122"/>
                          <a:cs typeface="Calibri" pitchFamily="34" charset="-120"/>
                        </a:rPr>
                        <a:t>The product is wrong. This is the failure mode that kills programmes six months after the consultants leave.</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4</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r h="0">
                <a:tc>
                  <a:txBody>
                    <a:bodyPr/>
                    <a:lstStyle/>
                    <a:p>
                      <a:pPr indent="0" marL="0">
                        <a:buNone/>
                      </a:pPr>
                      <a:r>
                        <a:rPr lang="en-US" sz="900" dirty="0">
                          <a:solidFill>
                            <a:srgbClr val="8AA3B8"/>
                          </a:solidFill>
                          <a:latin typeface="Calibri" pitchFamily="34" charset="0"/>
                          <a:ea typeface="Calibri" pitchFamily="34" charset="-122"/>
                          <a:cs typeface="Calibri" pitchFamily="34" charset="-120"/>
                        </a:rPr>
                        <a:t>6   [YOUR SIXTH — added today]</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indent="0" marL="0">
                        <a:buNone/>
                      </a:pPr>
                      <a:r>
                        <a:rPr lang="en-US" sz="900" dirty="0">
                          <a:solidFill>
                            <a:srgbClr val="8AA3B8"/>
                          </a:solidFill>
                          <a:latin typeface="Calibri" pitchFamily="34" charset="0"/>
                          <a:ea typeface="Calibri" pitchFamily="34" charset="-122"/>
                          <a:cs typeface="Calibri" pitchFamily="34" charset="-120"/>
                        </a:rPr>
                        <a:t>Proposed by this room. We will write it in before we leave.</a:t>
                      </a:r>
                      <a:endParaRPr lang="en-US" sz="900" dirty="0">
                        <a:latin typeface="Calibri" charset="0"/>
                        <a:ea typeface="Calibri" charset="0"/>
                        <a:cs typeface="Calibri"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c>
                  <a:txBody>
                    <a:bodyPr/>
                    <a:lstStyle/>
                    <a:p>
                      <a:pPr algn="ctr" indent="0" marL="0">
                        <a:buNone/>
                      </a:pPr>
                      <a:r>
                        <a:rPr lang="en-US" sz="850" b="1" dirty="0">
                          <a:solidFill>
                            <a:srgbClr val="F5C451"/>
                          </a:solidFill>
                          <a:latin typeface="Consolas" pitchFamily="34" charset="0"/>
                          <a:ea typeface="Consolas" pitchFamily="34" charset="-122"/>
                          <a:cs typeface="Consolas" pitchFamily="34" charset="-120"/>
                        </a:rPr>
                        <a:t>—</a:t>
                      </a:r>
                      <a:endParaRPr lang="en-US" sz="850" dirty="0">
                        <a:latin typeface="Consolas" charset="0"/>
                        <a:ea typeface="Consolas" charset="0"/>
                        <a:cs typeface="Consolas" charset="0"/>
                      </a:endParaRPr>
                    </a:p>
                  </a:txBody>
                  <a:tcPr marL="76200" marR="76200" marT="63500" marB="63500" anchor="t">
                    <a:lnL w="6350" cap="flat" cmpd="sng" algn="ctr">
                      <a:solidFill>
                        <a:srgbClr val="1B344C"/>
                      </a:solidFill>
                      <a:prstDash val="solid"/>
                      <a:round/>
                      <a:headEnd type="none" w="med" len="med"/>
                      <a:tailEnd type="none" w="med" len="med"/>
                    </a:lnL>
                    <a:lnR w="6350" cap="flat" cmpd="sng" algn="ctr">
                      <a:solidFill>
                        <a:srgbClr val="1B344C"/>
                      </a:solidFill>
                      <a:prstDash val="solid"/>
                      <a:round/>
                      <a:headEnd type="none" w="med" len="med"/>
                      <a:tailEnd type="none" w="med" len="med"/>
                    </a:lnR>
                    <a:lnT w="6350" cap="flat" cmpd="sng" algn="ctr">
                      <a:solidFill>
                        <a:srgbClr val="1B344C"/>
                      </a:solidFill>
                      <a:prstDash val="solid"/>
                      <a:round/>
                      <a:headEnd type="none" w="med" len="med"/>
                      <a:tailEnd type="none" w="med" len="med"/>
                    </a:lnT>
                    <a:lnB w="6350" cap="flat" cmpd="sng" algn="ctr">
                      <a:solidFill>
                        <a:srgbClr val="1B344C"/>
                      </a:solidFill>
                      <a:prstDash val="solid"/>
                      <a:round/>
                      <a:headEnd type="none" w="med" len="med"/>
                      <a:tailEnd type="none" w="med" len="med"/>
                    </a:lnB>
                    <a:solidFill>
                      <a:srgbClr val="08172A"/>
                    </a:solidFill>
                  </a:tcPr>
                </a:tc>
              </a:tr>
            </a:tbl>
          </a:graphicData>
        </a:graphic>
      </p:graphicFrame>
      <p:sp>
        <p:nvSpPr>
          <p:cNvPr id="8" name="Shape 4"/>
          <p:cNvSpPr/>
          <p:nvPr/>
        </p:nvSpPr>
        <p:spPr>
          <a:xfrm>
            <a:off x="566928" y="4901184"/>
            <a:ext cx="11057839" cy="658368"/>
          </a:xfrm>
          <a:prstGeom prst="roundRect">
            <a:avLst>
              <a:gd name="adj" fmla="val 11111"/>
            </a:avLst>
          </a:prstGeom>
          <a:solidFill>
            <a:srgbClr val="2A2413"/>
          </a:solidFill>
          <a:ln w="12700">
            <a:solidFill>
              <a:srgbClr val="6B5624"/>
            </a:solidFill>
            <a:prstDash val="solid"/>
          </a:ln>
        </p:spPr>
      </p:sp>
      <p:sp>
        <p:nvSpPr>
          <p:cNvPr id="9" name="Text 5"/>
          <p:cNvSpPr/>
          <p:nvPr/>
        </p:nvSpPr>
        <p:spPr>
          <a:xfrm>
            <a:off x="749808" y="5029200"/>
            <a:ext cx="10692079" cy="457200"/>
          </a:xfrm>
          <a:prstGeom prst="rect">
            <a:avLst/>
          </a:prstGeom>
          <a:noFill/>
          <a:ln/>
        </p:spPr>
        <p:txBody>
          <a:bodyPr wrap="square" lIns="0" tIns="0" rIns="0" bIns="0" rtlCol="0" anchor="t"/>
          <a:lstStyle/>
          <a:p>
            <a:pPr indent="0" marL="0">
              <a:lnSpc>
                <a:spcPct val="108000"/>
              </a:lnSpc>
              <a:buNone/>
            </a:pPr>
            <a:r>
              <a:rPr lang="en-US" sz="980" b="1" dirty="0">
                <a:solidFill>
                  <a:srgbClr val="F5C451"/>
                </a:solidFill>
                <a:latin typeface="Calibri" pitchFamily="34" charset="0"/>
                <a:ea typeface="Calibri" pitchFamily="34" charset="-122"/>
                <a:cs typeface="Calibri" pitchFamily="34" charset="-120"/>
              </a:rPr>
              <a:t>How a kill decision actually works. </a:t>
            </a:r>
            <a:pPr indent="0" marL="0">
              <a:lnSpc>
                <a:spcPct val="108000"/>
              </a:lnSpc>
              <a:buNone/>
            </a:pPr>
            <a:r>
              <a:rPr lang="en-US" sz="980" dirty="0">
                <a:solidFill>
                  <a:srgbClr val="C7D6E2"/>
                </a:solidFill>
                <a:latin typeface="Calibri" pitchFamily="34" charset="0"/>
                <a:ea typeface="Calibri" pitchFamily="34" charset="-122"/>
                <a:cs typeface="Calibri" pitchFamily="34" charset="-120"/>
              </a:rPr>
              <a:t>Any criterion tripping produces a written finding within 48 hours, a joint review inside a week, and one of three outcomes: remediate with a named change and a new date, re-scope to a path where the architecture fits, or stop — with the evidence, the instrumentation and the crosswalk handed over regardless. You keep the artefacts in all three cases.</a:t>
            </a:r>
            <a:endParaRPr lang="en-US" sz="980" dirty="0"/>
          </a:p>
        </p:txBody>
      </p:sp>
      <p:sp>
        <p:nvSpPr>
          <p:cNvPr id="10" name="Shape 6"/>
          <p:cNvSpPr/>
          <p:nvPr/>
        </p:nvSpPr>
        <p:spPr>
          <a:xfrm>
            <a:off x="566928" y="6382512"/>
            <a:ext cx="11057839" cy="0"/>
          </a:xfrm>
          <a:prstGeom prst="line">
            <a:avLst/>
          </a:prstGeom>
          <a:noFill/>
          <a:ln w="9525">
            <a:solidFill>
              <a:srgbClr val="20364C"/>
            </a:solidFill>
            <a:prstDash val="solid"/>
          </a:ln>
        </p:spPr>
      </p:sp>
      <p:sp>
        <p:nvSpPr>
          <p:cNvPr id="11" name="Text 7"/>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12" name="Text 8"/>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PLAN</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Twelve weeks, four phases, four written gates.</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Each gate is a one-page go / no-go, circulated 24 hours ahead so nobody reads it for the first time in the room. Starting [START DATE].</a:t>
            </a:r>
            <a:endParaRPr lang="en-US" sz="1250" dirty="0"/>
          </a:p>
        </p:txBody>
      </p:sp>
      <p:sp>
        <p:nvSpPr>
          <p:cNvPr id="7" name="Shape 4"/>
          <p:cNvSpPr/>
          <p:nvPr/>
        </p:nvSpPr>
        <p:spPr>
          <a:xfrm>
            <a:off x="566928" y="1499362"/>
            <a:ext cx="11057839" cy="2889504"/>
          </a:xfrm>
          <a:prstGeom prst="roundRect">
            <a:avLst>
              <a:gd name="adj" fmla="val 2532"/>
            </a:avLst>
          </a:prstGeom>
          <a:solidFill>
            <a:srgbClr val="FFFFFF"/>
          </a:solidFill>
          <a:ln w="12700">
            <a:solidFill>
              <a:srgbClr val="E2E7EC"/>
            </a:solidFill>
            <a:prstDash val="solid"/>
          </a:ln>
        </p:spPr>
      </p:sp>
      <p:sp>
        <p:nvSpPr>
          <p:cNvPr id="8" name="Text 5"/>
          <p:cNvSpPr/>
          <p:nvPr/>
        </p:nvSpPr>
        <p:spPr>
          <a:xfrm>
            <a:off x="786384"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W1</a:t>
            </a:r>
            <a:endParaRPr lang="en-US" sz="800" dirty="0"/>
          </a:p>
        </p:txBody>
      </p:sp>
      <p:sp>
        <p:nvSpPr>
          <p:cNvPr id="9" name="Text 6"/>
          <p:cNvSpPr/>
          <p:nvPr/>
        </p:nvSpPr>
        <p:spPr>
          <a:xfrm>
            <a:off x="1671295"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W2</a:t>
            </a:r>
            <a:endParaRPr lang="en-US" sz="800" dirty="0"/>
          </a:p>
        </p:txBody>
      </p:sp>
      <p:sp>
        <p:nvSpPr>
          <p:cNvPr id="10" name="Shape 7"/>
          <p:cNvSpPr/>
          <p:nvPr/>
        </p:nvSpPr>
        <p:spPr>
          <a:xfrm>
            <a:off x="1671295" y="1609090"/>
            <a:ext cx="0" cy="2139696"/>
          </a:xfrm>
          <a:prstGeom prst="line">
            <a:avLst/>
          </a:prstGeom>
          <a:noFill/>
          <a:ln w="9525">
            <a:solidFill>
              <a:srgbClr val="EFF2F5"/>
            </a:solidFill>
            <a:prstDash val="solid"/>
          </a:ln>
        </p:spPr>
      </p:sp>
      <p:sp>
        <p:nvSpPr>
          <p:cNvPr id="11" name="Text 8"/>
          <p:cNvSpPr/>
          <p:nvPr/>
        </p:nvSpPr>
        <p:spPr>
          <a:xfrm>
            <a:off x="2556205"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W3</a:t>
            </a:r>
            <a:endParaRPr lang="en-US" sz="800" dirty="0"/>
          </a:p>
        </p:txBody>
      </p:sp>
      <p:sp>
        <p:nvSpPr>
          <p:cNvPr id="12" name="Shape 9"/>
          <p:cNvSpPr/>
          <p:nvPr/>
        </p:nvSpPr>
        <p:spPr>
          <a:xfrm>
            <a:off x="2556205" y="1609090"/>
            <a:ext cx="0" cy="2139696"/>
          </a:xfrm>
          <a:prstGeom prst="line">
            <a:avLst/>
          </a:prstGeom>
          <a:noFill/>
          <a:ln w="9525">
            <a:solidFill>
              <a:srgbClr val="EFF2F5"/>
            </a:solidFill>
            <a:prstDash val="solid"/>
          </a:ln>
        </p:spPr>
      </p:sp>
      <p:sp>
        <p:nvSpPr>
          <p:cNvPr id="13" name="Text 10"/>
          <p:cNvSpPr/>
          <p:nvPr/>
        </p:nvSpPr>
        <p:spPr>
          <a:xfrm>
            <a:off x="3441116"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W4</a:t>
            </a:r>
            <a:endParaRPr lang="en-US" sz="800" dirty="0"/>
          </a:p>
        </p:txBody>
      </p:sp>
      <p:sp>
        <p:nvSpPr>
          <p:cNvPr id="14" name="Shape 11"/>
          <p:cNvSpPr/>
          <p:nvPr/>
        </p:nvSpPr>
        <p:spPr>
          <a:xfrm>
            <a:off x="3441116" y="1609090"/>
            <a:ext cx="0" cy="2139696"/>
          </a:xfrm>
          <a:prstGeom prst="line">
            <a:avLst/>
          </a:prstGeom>
          <a:noFill/>
          <a:ln w="9525">
            <a:solidFill>
              <a:srgbClr val="EFF2F5"/>
            </a:solidFill>
            <a:prstDash val="solid"/>
          </a:ln>
        </p:spPr>
      </p:sp>
      <p:sp>
        <p:nvSpPr>
          <p:cNvPr id="15" name="Text 12"/>
          <p:cNvSpPr/>
          <p:nvPr/>
        </p:nvSpPr>
        <p:spPr>
          <a:xfrm>
            <a:off x="4326026"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W5</a:t>
            </a:r>
            <a:endParaRPr lang="en-US" sz="800" dirty="0"/>
          </a:p>
        </p:txBody>
      </p:sp>
      <p:sp>
        <p:nvSpPr>
          <p:cNvPr id="16" name="Shape 13"/>
          <p:cNvSpPr/>
          <p:nvPr/>
        </p:nvSpPr>
        <p:spPr>
          <a:xfrm>
            <a:off x="4326026" y="1609090"/>
            <a:ext cx="0" cy="2139696"/>
          </a:xfrm>
          <a:prstGeom prst="line">
            <a:avLst/>
          </a:prstGeom>
          <a:noFill/>
          <a:ln w="9525">
            <a:solidFill>
              <a:srgbClr val="EFF2F5"/>
            </a:solidFill>
            <a:prstDash val="solid"/>
          </a:ln>
        </p:spPr>
      </p:sp>
      <p:sp>
        <p:nvSpPr>
          <p:cNvPr id="17" name="Text 14"/>
          <p:cNvSpPr/>
          <p:nvPr/>
        </p:nvSpPr>
        <p:spPr>
          <a:xfrm>
            <a:off x="5210937"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W6</a:t>
            </a:r>
            <a:endParaRPr lang="en-US" sz="800" dirty="0"/>
          </a:p>
        </p:txBody>
      </p:sp>
      <p:sp>
        <p:nvSpPr>
          <p:cNvPr id="18" name="Shape 15"/>
          <p:cNvSpPr/>
          <p:nvPr/>
        </p:nvSpPr>
        <p:spPr>
          <a:xfrm>
            <a:off x="5210937" y="1609090"/>
            <a:ext cx="0" cy="2139696"/>
          </a:xfrm>
          <a:prstGeom prst="line">
            <a:avLst/>
          </a:prstGeom>
          <a:noFill/>
          <a:ln w="9525">
            <a:solidFill>
              <a:srgbClr val="EFF2F5"/>
            </a:solidFill>
            <a:prstDash val="solid"/>
          </a:ln>
        </p:spPr>
      </p:sp>
      <p:sp>
        <p:nvSpPr>
          <p:cNvPr id="19" name="Text 16"/>
          <p:cNvSpPr/>
          <p:nvPr/>
        </p:nvSpPr>
        <p:spPr>
          <a:xfrm>
            <a:off x="6095848"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W7</a:t>
            </a:r>
            <a:endParaRPr lang="en-US" sz="800" dirty="0"/>
          </a:p>
        </p:txBody>
      </p:sp>
      <p:sp>
        <p:nvSpPr>
          <p:cNvPr id="20" name="Shape 17"/>
          <p:cNvSpPr/>
          <p:nvPr/>
        </p:nvSpPr>
        <p:spPr>
          <a:xfrm>
            <a:off x="6095848" y="1609090"/>
            <a:ext cx="0" cy="2139696"/>
          </a:xfrm>
          <a:prstGeom prst="line">
            <a:avLst/>
          </a:prstGeom>
          <a:noFill/>
          <a:ln w="9525">
            <a:solidFill>
              <a:srgbClr val="EFF2F5"/>
            </a:solidFill>
            <a:prstDash val="solid"/>
          </a:ln>
        </p:spPr>
      </p:sp>
      <p:sp>
        <p:nvSpPr>
          <p:cNvPr id="21" name="Text 18"/>
          <p:cNvSpPr/>
          <p:nvPr/>
        </p:nvSpPr>
        <p:spPr>
          <a:xfrm>
            <a:off x="6980758"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W8</a:t>
            </a:r>
            <a:endParaRPr lang="en-US" sz="800" dirty="0"/>
          </a:p>
        </p:txBody>
      </p:sp>
      <p:sp>
        <p:nvSpPr>
          <p:cNvPr id="22" name="Shape 19"/>
          <p:cNvSpPr/>
          <p:nvPr/>
        </p:nvSpPr>
        <p:spPr>
          <a:xfrm>
            <a:off x="6980758" y="1609090"/>
            <a:ext cx="0" cy="2139696"/>
          </a:xfrm>
          <a:prstGeom prst="line">
            <a:avLst/>
          </a:prstGeom>
          <a:noFill/>
          <a:ln w="9525">
            <a:solidFill>
              <a:srgbClr val="EFF2F5"/>
            </a:solidFill>
            <a:prstDash val="solid"/>
          </a:ln>
        </p:spPr>
      </p:sp>
      <p:sp>
        <p:nvSpPr>
          <p:cNvPr id="23" name="Text 20"/>
          <p:cNvSpPr/>
          <p:nvPr/>
        </p:nvSpPr>
        <p:spPr>
          <a:xfrm>
            <a:off x="7865669"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W9</a:t>
            </a:r>
            <a:endParaRPr lang="en-US" sz="800" dirty="0"/>
          </a:p>
        </p:txBody>
      </p:sp>
      <p:sp>
        <p:nvSpPr>
          <p:cNvPr id="24" name="Shape 21"/>
          <p:cNvSpPr/>
          <p:nvPr/>
        </p:nvSpPr>
        <p:spPr>
          <a:xfrm>
            <a:off x="7865669" y="1609090"/>
            <a:ext cx="0" cy="2139696"/>
          </a:xfrm>
          <a:prstGeom prst="line">
            <a:avLst/>
          </a:prstGeom>
          <a:noFill/>
          <a:ln w="9525">
            <a:solidFill>
              <a:srgbClr val="EFF2F5"/>
            </a:solidFill>
            <a:prstDash val="solid"/>
          </a:ln>
        </p:spPr>
      </p:sp>
      <p:sp>
        <p:nvSpPr>
          <p:cNvPr id="25" name="Text 22"/>
          <p:cNvSpPr/>
          <p:nvPr/>
        </p:nvSpPr>
        <p:spPr>
          <a:xfrm>
            <a:off x="8750579"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W10</a:t>
            </a:r>
            <a:endParaRPr lang="en-US" sz="800" dirty="0"/>
          </a:p>
        </p:txBody>
      </p:sp>
      <p:sp>
        <p:nvSpPr>
          <p:cNvPr id="26" name="Shape 23"/>
          <p:cNvSpPr/>
          <p:nvPr/>
        </p:nvSpPr>
        <p:spPr>
          <a:xfrm>
            <a:off x="8750579" y="1609090"/>
            <a:ext cx="0" cy="2139696"/>
          </a:xfrm>
          <a:prstGeom prst="line">
            <a:avLst/>
          </a:prstGeom>
          <a:noFill/>
          <a:ln w="9525">
            <a:solidFill>
              <a:srgbClr val="EFF2F5"/>
            </a:solidFill>
            <a:prstDash val="solid"/>
          </a:ln>
        </p:spPr>
      </p:sp>
      <p:sp>
        <p:nvSpPr>
          <p:cNvPr id="27" name="Text 24"/>
          <p:cNvSpPr/>
          <p:nvPr/>
        </p:nvSpPr>
        <p:spPr>
          <a:xfrm>
            <a:off x="9635490"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W11</a:t>
            </a:r>
            <a:endParaRPr lang="en-US" sz="800" dirty="0"/>
          </a:p>
        </p:txBody>
      </p:sp>
      <p:sp>
        <p:nvSpPr>
          <p:cNvPr id="28" name="Shape 25"/>
          <p:cNvSpPr/>
          <p:nvPr/>
        </p:nvSpPr>
        <p:spPr>
          <a:xfrm>
            <a:off x="9635490" y="1609090"/>
            <a:ext cx="0" cy="2139696"/>
          </a:xfrm>
          <a:prstGeom prst="line">
            <a:avLst/>
          </a:prstGeom>
          <a:noFill/>
          <a:ln w="9525">
            <a:solidFill>
              <a:srgbClr val="EFF2F5"/>
            </a:solidFill>
            <a:prstDash val="solid"/>
          </a:ln>
        </p:spPr>
      </p:sp>
      <p:sp>
        <p:nvSpPr>
          <p:cNvPr id="29" name="Text 26"/>
          <p:cNvSpPr/>
          <p:nvPr/>
        </p:nvSpPr>
        <p:spPr>
          <a:xfrm>
            <a:off x="10520401" y="1609090"/>
            <a:ext cx="884911" cy="182880"/>
          </a:xfrm>
          <a:prstGeom prst="rect">
            <a:avLst/>
          </a:prstGeom>
          <a:noFill/>
          <a:ln/>
        </p:spPr>
        <p:txBody>
          <a:bodyPr wrap="square" lIns="0" tIns="0" rIns="0" bIns="0" rtlCol="0" anchor="ctr"/>
          <a:lstStyle/>
          <a:p>
            <a:pPr algn="ctr" indent="0" marL="0">
              <a:buNone/>
            </a:pPr>
            <a:r>
              <a:rPr lang="en-US" sz="800" dirty="0">
                <a:solidFill>
                  <a:srgbClr val="7E8C9B"/>
                </a:solidFill>
                <a:latin typeface="Consolas" pitchFamily="34" charset="0"/>
                <a:ea typeface="Consolas" pitchFamily="34" charset="-122"/>
                <a:cs typeface="Consolas" pitchFamily="34" charset="-120"/>
              </a:rPr>
              <a:t>W12</a:t>
            </a:r>
            <a:endParaRPr lang="en-US" sz="800" dirty="0"/>
          </a:p>
        </p:txBody>
      </p:sp>
      <p:sp>
        <p:nvSpPr>
          <p:cNvPr id="30" name="Shape 27"/>
          <p:cNvSpPr/>
          <p:nvPr/>
        </p:nvSpPr>
        <p:spPr>
          <a:xfrm>
            <a:off x="10520401" y="1609090"/>
            <a:ext cx="0" cy="2139696"/>
          </a:xfrm>
          <a:prstGeom prst="line">
            <a:avLst/>
          </a:prstGeom>
          <a:noFill/>
          <a:ln w="9525">
            <a:solidFill>
              <a:srgbClr val="EFF2F5"/>
            </a:solidFill>
            <a:prstDash val="solid"/>
          </a:ln>
        </p:spPr>
      </p:sp>
      <p:sp>
        <p:nvSpPr>
          <p:cNvPr id="31" name="Shape 28"/>
          <p:cNvSpPr/>
          <p:nvPr/>
        </p:nvSpPr>
        <p:spPr>
          <a:xfrm>
            <a:off x="786384" y="1919986"/>
            <a:ext cx="1724101" cy="402336"/>
          </a:xfrm>
          <a:prstGeom prst="roundRect">
            <a:avLst>
              <a:gd name="adj" fmla="val 18182"/>
            </a:avLst>
          </a:prstGeom>
          <a:solidFill>
            <a:srgbClr val="256ABF"/>
          </a:solidFill>
          <a:ln w="12700">
            <a:solidFill>
              <a:srgbClr val="256ABF"/>
            </a:solidFill>
            <a:prstDash val="solid"/>
          </a:ln>
        </p:spPr>
      </p:sp>
      <p:sp>
        <p:nvSpPr>
          <p:cNvPr id="32" name="Text 29"/>
          <p:cNvSpPr/>
          <p:nvPr/>
        </p:nvSpPr>
        <p:spPr>
          <a:xfrm>
            <a:off x="877824" y="1974850"/>
            <a:ext cx="1541221" cy="1554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1 · Frame</a:t>
            </a:r>
            <a:endParaRPr lang="en-US" sz="900" dirty="0"/>
          </a:p>
        </p:txBody>
      </p:sp>
      <p:sp>
        <p:nvSpPr>
          <p:cNvPr id="33" name="Text 30"/>
          <p:cNvSpPr/>
          <p:nvPr/>
        </p:nvSpPr>
        <p:spPr>
          <a:xfrm>
            <a:off x="877824" y="2139442"/>
            <a:ext cx="1541221" cy="146304"/>
          </a:xfrm>
          <a:prstGeom prst="rect">
            <a:avLst/>
          </a:prstGeom>
          <a:noFill/>
          <a:ln/>
        </p:spPr>
        <p:txBody>
          <a:bodyPr wrap="square" lIns="0" tIns="0" rIns="0" bIns="0" rtlCol="0" anchor="ctr"/>
          <a:lstStyle/>
          <a:p>
            <a:pPr indent="0" marL="0">
              <a:buNone/>
            </a:pPr>
            <a:r>
              <a:rPr lang="en-US" sz="720" dirty="0">
                <a:solidFill>
                  <a:srgbClr val="D6E4EE"/>
                </a:solidFill>
                <a:latin typeface="Calibri" pitchFamily="34" charset="0"/>
                <a:ea typeface="Calibri" pitchFamily="34" charset="-122"/>
                <a:cs typeface="Calibri" pitchFamily="34" charset="-120"/>
              </a:rPr>
              <a:t>Actors, actions, risk tiers</a:t>
            </a:r>
            <a:endParaRPr lang="en-US" sz="720" dirty="0"/>
          </a:p>
        </p:txBody>
      </p:sp>
      <p:sp>
        <p:nvSpPr>
          <p:cNvPr id="34" name="Shape 31"/>
          <p:cNvSpPr/>
          <p:nvPr/>
        </p:nvSpPr>
        <p:spPr>
          <a:xfrm>
            <a:off x="2556205" y="2395474"/>
            <a:ext cx="2609012" cy="402336"/>
          </a:xfrm>
          <a:prstGeom prst="roundRect">
            <a:avLst>
              <a:gd name="adj" fmla="val 18182"/>
            </a:avLst>
          </a:prstGeom>
          <a:solidFill>
            <a:srgbClr val="0B6F7D"/>
          </a:solidFill>
          <a:ln w="12700">
            <a:solidFill>
              <a:srgbClr val="0B6F7D"/>
            </a:solidFill>
            <a:prstDash val="solid"/>
          </a:ln>
        </p:spPr>
      </p:sp>
      <p:sp>
        <p:nvSpPr>
          <p:cNvPr id="35" name="Text 32"/>
          <p:cNvSpPr/>
          <p:nvPr/>
        </p:nvSpPr>
        <p:spPr>
          <a:xfrm>
            <a:off x="2647645" y="2450338"/>
            <a:ext cx="2426132" cy="1554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2 · Prove one path</a:t>
            </a:r>
            <a:endParaRPr lang="en-US" sz="900" dirty="0"/>
          </a:p>
        </p:txBody>
      </p:sp>
      <p:sp>
        <p:nvSpPr>
          <p:cNvPr id="36" name="Text 33"/>
          <p:cNvSpPr/>
          <p:nvPr/>
        </p:nvSpPr>
        <p:spPr>
          <a:xfrm>
            <a:off x="2647645" y="2614930"/>
            <a:ext cx="2426132" cy="146304"/>
          </a:xfrm>
          <a:prstGeom prst="rect">
            <a:avLst/>
          </a:prstGeom>
          <a:noFill/>
          <a:ln/>
        </p:spPr>
        <p:txBody>
          <a:bodyPr wrap="square" lIns="0" tIns="0" rIns="0" bIns="0" rtlCol="0" anchor="ctr"/>
          <a:lstStyle/>
          <a:p>
            <a:pPr indent="0" marL="0">
              <a:buNone/>
            </a:pPr>
            <a:r>
              <a:rPr lang="en-US" sz="720" dirty="0">
                <a:solidFill>
                  <a:srgbClr val="D6E4EE"/>
                </a:solidFill>
                <a:latin typeface="Calibri" pitchFamily="34" charset="0"/>
                <a:ea typeface="Calibri" pitchFamily="34" charset="-122"/>
                <a:cs typeface="Calibri" pitchFamily="34" charset="-120"/>
              </a:rPr>
              <a:t>Latency, revocation, bypass, observability</a:t>
            </a:r>
            <a:endParaRPr lang="en-US" sz="720" dirty="0"/>
          </a:p>
        </p:txBody>
      </p:sp>
      <p:sp>
        <p:nvSpPr>
          <p:cNvPr id="37" name="Shape 34"/>
          <p:cNvSpPr/>
          <p:nvPr/>
        </p:nvSpPr>
        <p:spPr>
          <a:xfrm>
            <a:off x="5210937" y="2870962"/>
            <a:ext cx="3493922" cy="402336"/>
          </a:xfrm>
          <a:prstGeom prst="roundRect">
            <a:avLst>
              <a:gd name="adj" fmla="val 18182"/>
            </a:avLst>
          </a:prstGeom>
          <a:solidFill>
            <a:srgbClr val="184F95"/>
          </a:solidFill>
          <a:ln w="12700">
            <a:solidFill>
              <a:srgbClr val="184F95"/>
            </a:solidFill>
            <a:prstDash val="solid"/>
          </a:ln>
        </p:spPr>
      </p:sp>
      <p:sp>
        <p:nvSpPr>
          <p:cNvPr id="38" name="Text 35"/>
          <p:cNvSpPr/>
          <p:nvPr/>
        </p:nvSpPr>
        <p:spPr>
          <a:xfrm>
            <a:off x="5302377" y="2925826"/>
            <a:ext cx="3311042" cy="1554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3 · Build the golden path</a:t>
            </a:r>
            <a:endParaRPr lang="en-US" sz="900" dirty="0"/>
          </a:p>
        </p:txBody>
      </p:sp>
      <p:sp>
        <p:nvSpPr>
          <p:cNvPr id="39" name="Text 36"/>
          <p:cNvSpPr/>
          <p:nvPr/>
        </p:nvSpPr>
        <p:spPr>
          <a:xfrm>
            <a:off x="5302377" y="3090418"/>
            <a:ext cx="3311042" cy="146304"/>
          </a:xfrm>
          <a:prstGeom prst="rect">
            <a:avLst/>
          </a:prstGeom>
          <a:noFill/>
          <a:ln/>
        </p:spPr>
        <p:txBody>
          <a:bodyPr wrap="square" lIns="0" tIns="0" rIns="0" bIns="0" rtlCol="0" anchor="ctr"/>
          <a:lstStyle/>
          <a:p>
            <a:pPr indent="0" marL="0">
              <a:buNone/>
            </a:pPr>
            <a:r>
              <a:rPr lang="en-US" sz="720" dirty="0">
                <a:solidFill>
                  <a:srgbClr val="D6E4EE"/>
                </a:solidFill>
                <a:latin typeface="Calibri" pitchFamily="34" charset="0"/>
                <a:ea typeface="Calibri" pitchFamily="34" charset="-122"/>
                <a:cs typeface="Calibri" pitchFamily="34" charset="-120"/>
              </a:rPr>
              <a:t>Registration, templates, tests, dashboards</a:t>
            </a:r>
            <a:endParaRPr lang="en-US" sz="720" dirty="0"/>
          </a:p>
        </p:txBody>
      </p:sp>
      <p:sp>
        <p:nvSpPr>
          <p:cNvPr id="40" name="Shape 37"/>
          <p:cNvSpPr/>
          <p:nvPr/>
        </p:nvSpPr>
        <p:spPr>
          <a:xfrm>
            <a:off x="8750579" y="3346450"/>
            <a:ext cx="2609012" cy="402336"/>
          </a:xfrm>
          <a:prstGeom prst="roundRect">
            <a:avLst>
              <a:gd name="adj" fmla="val 18182"/>
            </a:avLst>
          </a:prstGeom>
          <a:solidFill>
            <a:srgbClr val="0D366B"/>
          </a:solidFill>
          <a:ln w="12700">
            <a:solidFill>
              <a:srgbClr val="0D366B"/>
            </a:solidFill>
            <a:prstDash val="solid"/>
          </a:ln>
        </p:spPr>
      </p:sp>
      <p:sp>
        <p:nvSpPr>
          <p:cNvPr id="41" name="Text 38"/>
          <p:cNvSpPr/>
          <p:nvPr/>
        </p:nvSpPr>
        <p:spPr>
          <a:xfrm>
            <a:off x="8842019" y="3401314"/>
            <a:ext cx="2426132" cy="155448"/>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Phase 4 · Operationalize</a:t>
            </a:r>
            <a:endParaRPr lang="en-US" sz="900" dirty="0"/>
          </a:p>
        </p:txBody>
      </p:sp>
      <p:sp>
        <p:nvSpPr>
          <p:cNvPr id="42" name="Text 39"/>
          <p:cNvSpPr/>
          <p:nvPr/>
        </p:nvSpPr>
        <p:spPr>
          <a:xfrm>
            <a:off x="8842019" y="3565906"/>
            <a:ext cx="2426132" cy="146304"/>
          </a:xfrm>
          <a:prstGeom prst="rect">
            <a:avLst/>
          </a:prstGeom>
          <a:noFill/>
          <a:ln/>
        </p:spPr>
        <p:txBody>
          <a:bodyPr wrap="square" lIns="0" tIns="0" rIns="0" bIns="0" rtlCol="0" anchor="ctr"/>
          <a:lstStyle/>
          <a:p>
            <a:pPr indent="0" marL="0">
              <a:buNone/>
            </a:pPr>
            <a:r>
              <a:rPr lang="en-US" sz="720" dirty="0">
                <a:solidFill>
                  <a:srgbClr val="D6E4EE"/>
                </a:solidFill>
                <a:latin typeface="Calibri" pitchFamily="34" charset="0"/>
                <a:ea typeface="Calibri" pitchFamily="34" charset="-122"/>
                <a:cs typeface="Calibri" pitchFamily="34" charset="-120"/>
              </a:rPr>
              <a:t>IAM, SIEM, ownership, SLOs, crosswalk, handover</a:t>
            </a:r>
            <a:endParaRPr lang="en-US" sz="720" dirty="0"/>
          </a:p>
        </p:txBody>
      </p:sp>
      <p:sp>
        <p:nvSpPr>
          <p:cNvPr id="43" name="Shape 40"/>
          <p:cNvSpPr/>
          <p:nvPr/>
        </p:nvSpPr>
        <p:spPr>
          <a:xfrm>
            <a:off x="786384" y="3895090"/>
            <a:ext cx="10618927" cy="0"/>
          </a:xfrm>
          <a:prstGeom prst="line">
            <a:avLst/>
          </a:prstGeom>
          <a:noFill/>
          <a:ln w="9525">
            <a:solidFill>
              <a:srgbClr val="E2E7EC"/>
            </a:solidFill>
            <a:prstDash val="solid"/>
          </a:ln>
        </p:spPr>
      </p:sp>
      <p:sp>
        <p:nvSpPr>
          <p:cNvPr id="44" name="Shape 41"/>
          <p:cNvSpPr/>
          <p:nvPr/>
        </p:nvSpPr>
        <p:spPr>
          <a:xfrm>
            <a:off x="2487625" y="3968242"/>
            <a:ext cx="137160" cy="137160"/>
          </a:xfrm>
          <a:prstGeom prst="diamond">
            <a:avLst/>
          </a:prstGeom>
          <a:solidFill>
            <a:srgbClr val="F5C451"/>
          </a:solidFill>
          <a:ln w="12700">
            <a:solidFill>
              <a:srgbClr val="B98C22"/>
            </a:solidFill>
            <a:prstDash val="solid"/>
          </a:ln>
        </p:spPr>
      </p:sp>
      <p:sp>
        <p:nvSpPr>
          <p:cNvPr id="45" name="Text 42"/>
          <p:cNvSpPr/>
          <p:nvPr/>
        </p:nvSpPr>
        <p:spPr>
          <a:xfrm>
            <a:off x="1870405" y="4132834"/>
            <a:ext cx="1371600" cy="274320"/>
          </a:xfrm>
          <a:prstGeom prst="rect">
            <a:avLst/>
          </a:prstGeom>
          <a:noFill/>
          <a:ln/>
        </p:spPr>
        <p:txBody>
          <a:bodyPr wrap="square" lIns="0" tIns="0" rIns="0" bIns="0" rtlCol="0" anchor="t"/>
          <a:lstStyle/>
          <a:p>
            <a:pPr algn="ctr" indent="0" marL="0">
              <a:buNone/>
            </a:pPr>
            <a:r>
              <a:rPr lang="en-US" sz="700" dirty="0">
                <a:solidFill>
                  <a:srgbClr val="8A6210"/>
                </a:solidFill>
                <a:latin typeface="Consolas" pitchFamily="34" charset="0"/>
                <a:ea typeface="Consolas" pitchFamily="34" charset="-122"/>
                <a:cs typeface="Consolas" pitchFamily="34" charset="-120"/>
              </a:rPr>
              <a:t>GATE 1</a:t>
            </a:r>
            <a:endParaRPr lang="en-US" sz="700" dirty="0"/>
          </a:p>
          <a:p>
            <a:pPr algn="ctr" indent="0" marL="0">
              <a:buNone/>
            </a:pPr>
            <a:r>
              <a:rPr lang="en-US" sz="700" dirty="0">
                <a:solidFill>
                  <a:srgbClr val="8A6210"/>
                </a:solidFill>
                <a:latin typeface="Consolas" pitchFamily="34" charset="0"/>
                <a:ea typeface="Consolas" pitchFamily="34" charset="-122"/>
                <a:cs typeface="Consolas" pitchFamily="34" charset="-120"/>
              </a:rPr>
              <a:t>Thresholds frozen</a:t>
            </a:r>
            <a:endParaRPr lang="en-US" sz="700" dirty="0"/>
          </a:p>
        </p:txBody>
      </p:sp>
      <p:sp>
        <p:nvSpPr>
          <p:cNvPr id="46" name="Shape 43"/>
          <p:cNvSpPr/>
          <p:nvPr/>
        </p:nvSpPr>
        <p:spPr>
          <a:xfrm>
            <a:off x="5142357" y="3968242"/>
            <a:ext cx="137160" cy="137160"/>
          </a:xfrm>
          <a:prstGeom prst="diamond">
            <a:avLst/>
          </a:prstGeom>
          <a:solidFill>
            <a:srgbClr val="F5C451"/>
          </a:solidFill>
          <a:ln w="12700">
            <a:solidFill>
              <a:srgbClr val="B98C22"/>
            </a:solidFill>
            <a:prstDash val="solid"/>
          </a:ln>
        </p:spPr>
      </p:sp>
      <p:sp>
        <p:nvSpPr>
          <p:cNvPr id="47" name="Text 44"/>
          <p:cNvSpPr/>
          <p:nvPr/>
        </p:nvSpPr>
        <p:spPr>
          <a:xfrm>
            <a:off x="4525137" y="4132834"/>
            <a:ext cx="1371600" cy="274320"/>
          </a:xfrm>
          <a:prstGeom prst="rect">
            <a:avLst/>
          </a:prstGeom>
          <a:noFill/>
          <a:ln/>
        </p:spPr>
        <p:txBody>
          <a:bodyPr wrap="square" lIns="0" tIns="0" rIns="0" bIns="0" rtlCol="0" anchor="t"/>
          <a:lstStyle/>
          <a:p>
            <a:pPr algn="ctr" indent="0" marL="0">
              <a:buNone/>
            </a:pPr>
            <a:r>
              <a:rPr lang="en-US" sz="700" dirty="0">
                <a:solidFill>
                  <a:srgbClr val="8A6210"/>
                </a:solidFill>
                <a:latin typeface="Consolas" pitchFamily="34" charset="0"/>
                <a:ea typeface="Consolas" pitchFamily="34" charset="-122"/>
                <a:cs typeface="Consolas" pitchFamily="34" charset="-120"/>
              </a:rPr>
              <a:t>GATE 2</a:t>
            </a:r>
            <a:endParaRPr lang="en-US" sz="700" dirty="0"/>
          </a:p>
          <a:p>
            <a:pPr algn="ctr" indent="0" marL="0">
              <a:buNone/>
            </a:pPr>
            <a:r>
              <a:rPr lang="en-US" sz="700" dirty="0">
                <a:solidFill>
                  <a:srgbClr val="8A6210"/>
                </a:solidFill>
                <a:latin typeface="Consolas" pitchFamily="34" charset="0"/>
                <a:ea typeface="Consolas" pitchFamily="34" charset="-122"/>
                <a:cs typeface="Consolas" pitchFamily="34" charset="-120"/>
              </a:rPr>
              <a:t>Path proven or re-scoped</a:t>
            </a:r>
            <a:endParaRPr lang="en-US" sz="700" dirty="0"/>
          </a:p>
        </p:txBody>
      </p:sp>
      <p:sp>
        <p:nvSpPr>
          <p:cNvPr id="48" name="Shape 45"/>
          <p:cNvSpPr/>
          <p:nvPr/>
        </p:nvSpPr>
        <p:spPr>
          <a:xfrm>
            <a:off x="8681999" y="3968242"/>
            <a:ext cx="137160" cy="137160"/>
          </a:xfrm>
          <a:prstGeom prst="diamond">
            <a:avLst/>
          </a:prstGeom>
          <a:solidFill>
            <a:srgbClr val="F5C451"/>
          </a:solidFill>
          <a:ln w="12700">
            <a:solidFill>
              <a:srgbClr val="B98C22"/>
            </a:solidFill>
            <a:prstDash val="solid"/>
          </a:ln>
        </p:spPr>
      </p:sp>
      <p:sp>
        <p:nvSpPr>
          <p:cNvPr id="49" name="Text 46"/>
          <p:cNvSpPr/>
          <p:nvPr/>
        </p:nvSpPr>
        <p:spPr>
          <a:xfrm>
            <a:off x="8064779" y="4132834"/>
            <a:ext cx="1371600" cy="274320"/>
          </a:xfrm>
          <a:prstGeom prst="rect">
            <a:avLst/>
          </a:prstGeom>
          <a:noFill/>
          <a:ln/>
        </p:spPr>
        <p:txBody>
          <a:bodyPr wrap="square" lIns="0" tIns="0" rIns="0" bIns="0" rtlCol="0" anchor="t"/>
          <a:lstStyle/>
          <a:p>
            <a:pPr algn="ctr" indent="0" marL="0">
              <a:buNone/>
            </a:pPr>
            <a:r>
              <a:rPr lang="en-US" sz="700" dirty="0">
                <a:solidFill>
                  <a:srgbClr val="8A6210"/>
                </a:solidFill>
                <a:latin typeface="Consolas" pitchFamily="34" charset="0"/>
                <a:ea typeface="Consolas" pitchFamily="34" charset="-122"/>
                <a:cs typeface="Consolas" pitchFamily="34" charset="-120"/>
              </a:rPr>
              <a:t>GATE 3</a:t>
            </a:r>
            <a:endParaRPr lang="en-US" sz="700" dirty="0"/>
          </a:p>
          <a:p>
            <a:pPr algn="ctr" indent="0" marL="0">
              <a:buNone/>
            </a:pPr>
            <a:r>
              <a:rPr lang="en-US" sz="700" dirty="0">
                <a:solidFill>
                  <a:srgbClr val="8A6210"/>
                </a:solidFill>
                <a:latin typeface="Consolas" pitchFamily="34" charset="0"/>
                <a:ea typeface="Consolas" pitchFamily="34" charset="-122"/>
                <a:cs typeface="Consolas" pitchFamily="34" charset="-120"/>
              </a:rPr>
              <a:t>Invariants tested</a:t>
            </a:r>
            <a:endParaRPr lang="en-US" sz="700" dirty="0"/>
          </a:p>
        </p:txBody>
      </p:sp>
      <p:sp>
        <p:nvSpPr>
          <p:cNvPr id="50" name="Shape 47"/>
          <p:cNvSpPr/>
          <p:nvPr/>
        </p:nvSpPr>
        <p:spPr>
          <a:xfrm>
            <a:off x="11336731" y="3968242"/>
            <a:ext cx="137160" cy="137160"/>
          </a:xfrm>
          <a:prstGeom prst="diamond">
            <a:avLst/>
          </a:prstGeom>
          <a:solidFill>
            <a:srgbClr val="F5C451"/>
          </a:solidFill>
          <a:ln w="12700">
            <a:solidFill>
              <a:srgbClr val="B98C22"/>
            </a:solidFill>
            <a:prstDash val="solid"/>
          </a:ln>
        </p:spPr>
      </p:sp>
      <p:sp>
        <p:nvSpPr>
          <p:cNvPr id="51" name="Text 48"/>
          <p:cNvSpPr/>
          <p:nvPr/>
        </p:nvSpPr>
        <p:spPr>
          <a:xfrm>
            <a:off x="10253167" y="4132834"/>
            <a:ext cx="1371600" cy="274320"/>
          </a:xfrm>
          <a:prstGeom prst="rect">
            <a:avLst/>
          </a:prstGeom>
          <a:noFill/>
          <a:ln/>
        </p:spPr>
        <p:txBody>
          <a:bodyPr wrap="square" lIns="0" tIns="0" rIns="0" bIns="0" rtlCol="0" anchor="t"/>
          <a:lstStyle/>
          <a:p>
            <a:pPr algn="ctr" indent="0" marL="0">
              <a:buNone/>
            </a:pPr>
            <a:r>
              <a:rPr lang="en-US" sz="700" dirty="0">
                <a:solidFill>
                  <a:srgbClr val="8A6210"/>
                </a:solidFill>
                <a:latin typeface="Consolas" pitchFamily="34" charset="0"/>
                <a:ea typeface="Consolas" pitchFamily="34" charset="-122"/>
                <a:cs typeface="Consolas" pitchFamily="34" charset="-120"/>
              </a:rPr>
              <a:t>GATE 4</a:t>
            </a:r>
            <a:endParaRPr lang="en-US" sz="700" dirty="0"/>
          </a:p>
          <a:p>
            <a:pPr algn="ctr" indent="0" marL="0">
              <a:buNone/>
            </a:pPr>
            <a:r>
              <a:rPr lang="en-US" sz="700" dirty="0">
                <a:solidFill>
                  <a:srgbClr val="8A6210"/>
                </a:solidFill>
                <a:latin typeface="Consolas" pitchFamily="34" charset="0"/>
                <a:ea typeface="Consolas" pitchFamily="34" charset="-122"/>
                <a:cs typeface="Consolas" pitchFamily="34" charset="-120"/>
              </a:rPr>
              <a:t>Handover accepted</a:t>
            </a:r>
            <a:endParaRPr lang="en-US" sz="700" dirty="0"/>
          </a:p>
        </p:txBody>
      </p:sp>
      <p:sp>
        <p:nvSpPr>
          <p:cNvPr id="52" name="Shape 49"/>
          <p:cNvSpPr/>
          <p:nvPr/>
        </p:nvSpPr>
        <p:spPr>
          <a:xfrm>
            <a:off x="566928" y="4516882"/>
            <a:ext cx="2654732" cy="1371600"/>
          </a:xfrm>
          <a:prstGeom prst="roundRect">
            <a:avLst>
              <a:gd name="adj" fmla="val 5333"/>
            </a:avLst>
          </a:prstGeom>
          <a:solidFill>
            <a:srgbClr val="FFFFFF"/>
          </a:solidFill>
          <a:ln w="12700">
            <a:solidFill>
              <a:srgbClr val="E2E7EC"/>
            </a:solidFill>
            <a:prstDash val="solid"/>
          </a:ln>
        </p:spPr>
      </p:sp>
      <p:sp>
        <p:nvSpPr>
          <p:cNvPr id="53" name="Shape 50"/>
          <p:cNvSpPr/>
          <p:nvPr/>
        </p:nvSpPr>
        <p:spPr>
          <a:xfrm>
            <a:off x="749808" y="4699762"/>
            <a:ext cx="1417320" cy="182880"/>
          </a:xfrm>
          <a:prstGeom prst="roundRect">
            <a:avLst>
              <a:gd name="adj" fmla="val 50000"/>
            </a:avLst>
          </a:prstGeom>
          <a:solidFill>
            <a:srgbClr val="EFF2F5"/>
          </a:solidFill>
          <a:ln w="12700">
            <a:solidFill>
              <a:srgbClr val="EFF2F5"/>
            </a:solidFill>
            <a:prstDash val="solid"/>
          </a:ln>
        </p:spPr>
      </p:sp>
      <p:sp>
        <p:nvSpPr>
          <p:cNvPr id="54" name="Text 51"/>
          <p:cNvSpPr/>
          <p:nvPr/>
        </p:nvSpPr>
        <p:spPr>
          <a:xfrm>
            <a:off x="749808" y="4699762"/>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GATE 1 · WEEK 2</a:t>
            </a:r>
            <a:endParaRPr lang="en-US" sz="750" dirty="0"/>
          </a:p>
        </p:txBody>
      </p:sp>
      <p:sp>
        <p:nvSpPr>
          <p:cNvPr id="55" name="Text 52"/>
          <p:cNvSpPr/>
          <p:nvPr/>
        </p:nvSpPr>
        <p:spPr>
          <a:xfrm>
            <a:off x="749808" y="5010658"/>
            <a:ext cx="2288972" cy="42976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Risk tiers agreed, first path locked, every success threshold fixed in writing.</a:t>
            </a:r>
            <a:endParaRPr lang="en-US" sz="950" dirty="0"/>
          </a:p>
        </p:txBody>
      </p:sp>
      <p:sp>
        <p:nvSpPr>
          <p:cNvPr id="56" name="Shape 53"/>
          <p:cNvSpPr/>
          <p:nvPr/>
        </p:nvSpPr>
        <p:spPr>
          <a:xfrm>
            <a:off x="3367964" y="4516882"/>
            <a:ext cx="2654732" cy="1371600"/>
          </a:xfrm>
          <a:prstGeom prst="roundRect">
            <a:avLst>
              <a:gd name="adj" fmla="val 5333"/>
            </a:avLst>
          </a:prstGeom>
          <a:solidFill>
            <a:srgbClr val="E6F4F6"/>
          </a:solidFill>
          <a:ln w="12700">
            <a:solidFill>
              <a:srgbClr val="9CCED6"/>
            </a:solidFill>
            <a:prstDash val="solid"/>
          </a:ln>
        </p:spPr>
      </p:sp>
      <p:sp>
        <p:nvSpPr>
          <p:cNvPr id="57" name="Shape 54"/>
          <p:cNvSpPr/>
          <p:nvPr/>
        </p:nvSpPr>
        <p:spPr>
          <a:xfrm>
            <a:off x="3550844" y="4699762"/>
            <a:ext cx="1417320" cy="182880"/>
          </a:xfrm>
          <a:prstGeom prst="roundRect">
            <a:avLst>
              <a:gd name="adj" fmla="val 50000"/>
            </a:avLst>
          </a:prstGeom>
          <a:solidFill>
            <a:srgbClr val="FFFFFF"/>
          </a:solidFill>
          <a:ln w="12700">
            <a:solidFill>
              <a:srgbClr val="FFFFFF"/>
            </a:solidFill>
            <a:prstDash val="solid"/>
          </a:ln>
        </p:spPr>
      </p:sp>
      <p:sp>
        <p:nvSpPr>
          <p:cNvPr id="58" name="Text 55"/>
          <p:cNvSpPr/>
          <p:nvPr/>
        </p:nvSpPr>
        <p:spPr>
          <a:xfrm>
            <a:off x="3550844" y="4699762"/>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GATE 2 · WEEK 5</a:t>
            </a:r>
            <a:endParaRPr lang="en-US" sz="750" dirty="0"/>
          </a:p>
        </p:txBody>
      </p:sp>
      <p:sp>
        <p:nvSpPr>
          <p:cNvPr id="59" name="Text 56"/>
          <p:cNvSpPr/>
          <p:nvPr/>
        </p:nvSpPr>
        <p:spPr>
          <a:xfrm>
            <a:off x="3550844" y="5010658"/>
            <a:ext cx="2288972" cy="576072"/>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The real decision point.</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Kill criteria 1 and 3 checked. Wrong architecture? You learn it here, for a fifth of the cost.</a:t>
            </a:r>
            <a:endParaRPr lang="en-US" sz="950" dirty="0"/>
          </a:p>
        </p:txBody>
      </p:sp>
      <p:sp>
        <p:nvSpPr>
          <p:cNvPr id="60" name="Shape 57"/>
          <p:cNvSpPr/>
          <p:nvPr/>
        </p:nvSpPr>
        <p:spPr>
          <a:xfrm>
            <a:off x="6169000" y="4516882"/>
            <a:ext cx="2654732" cy="1371600"/>
          </a:xfrm>
          <a:prstGeom prst="roundRect">
            <a:avLst>
              <a:gd name="adj" fmla="val 5333"/>
            </a:avLst>
          </a:prstGeom>
          <a:solidFill>
            <a:srgbClr val="FFFFFF"/>
          </a:solidFill>
          <a:ln w="12700">
            <a:solidFill>
              <a:srgbClr val="E2E7EC"/>
            </a:solidFill>
            <a:prstDash val="solid"/>
          </a:ln>
        </p:spPr>
      </p:sp>
      <p:sp>
        <p:nvSpPr>
          <p:cNvPr id="61" name="Shape 58"/>
          <p:cNvSpPr/>
          <p:nvPr/>
        </p:nvSpPr>
        <p:spPr>
          <a:xfrm>
            <a:off x="6351880" y="4699762"/>
            <a:ext cx="1417320" cy="182880"/>
          </a:xfrm>
          <a:prstGeom prst="roundRect">
            <a:avLst>
              <a:gd name="adj" fmla="val 50000"/>
            </a:avLst>
          </a:prstGeom>
          <a:solidFill>
            <a:srgbClr val="EFF2F5"/>
          </a:solidFill>
          <a:ln w="12700">
            <a:solidFill>
              <a:srgbClr val="EFF2F5"/>
            </a:solidFill>
            <a:prstDash val="solid"/>
          </a:ln>
        </p:spPr>
      </p:sp>
      <p:sp>
        <p:nvSpPr>
          <p:cNvPr id="62" name="Text 59"/>
          <p:cNvSpPr/>
          <p:nvPr/>
        </p:nvSpPr>
        <p:spPr>
          <a:xfrm>
            <a:off x="6351880" y="4699762"/>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GATE 3 · WEEK 9</a:t>
            </a:r>
            <a:endParaRPr lang="en-US" sz="750" dirty="0"/>
          </a:p>
        </p:txBody>
      </p:sp>
      <p:sp>
        <p:nvSpPr>
          <p:cNvPr id="63" name="Text 60"/>
          <p:cNvSpPr/>
          <p:nvPr/>
        </p:nvSpPr>
        <p:spPr>
          <a:xfrm>
            <a:off x="6351880" y="5010658"/>
            <a:ext cx="2288972" cy="42976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All five invariants tested with your adversarial cases. Crosswalk drafted and reviewed with audit.</a:t>
            </a:r>
            <a:endParaRPr lang="en-US" sz="950" dirty="0"/>
          </a:p>
        </p:txBody>
      </p:sp>
      <p:sp>
        <p:nvSpPr>
          <p:cNvPr id="64" name="Shape 61"/>
          <p:cNvSpPr/>
          <p:nvPr/>
        </p:nvSpPr>
        <p:spPr>
          <a:xfrm>
            <a:off x="8970035" y="4516882"/>
            <a:ext cx="2654732" cy="1371600"/>
          </a:xfrm>
          <a:prstGeom prst="roundRect">
            <a:avLst>
              <a:gd name="adj" fmla="val 5333"/>
            </a:avLst>
          </a:prstGeom>
          <a:solidFill>
            <a:srgbClr val="FFFFFF"/>
          </a:solidFill>
          <a:ln w="12700">
            <a:solidFill>
              <a:srgbClr val="E2E7EC"/>
            </a:solidFill>
            <a:prstDash val="solid"/>
          </a:ln>
        </p:spPr>
      </p:sp>
      <p:sp>
        <p:nvSpPr>
          <p:cNvPr id="65" name="Shape 62"/>
          <p:cNvSpPr/>
          <p:nvPr/>
        </p:nvSpPr>
        <p:spPr>
          <a:xfrm>
            <a:off x="9152915" y="4699762"/>
            <a:ext cx="1417320" cy="182880"/>
          </a:xfrm>
          <a:prstGeom prst="roundRect">
            <a:avLst>
              <a:gd name="adj" fmla="val 50000"/>
            </a:avLst>
          </a:prstGeom>
          <a:solidFill>
            <a:srgbClr val="EFF2F5"/>
          </a:solidFill>
          <a:ln w="12700">
            <a:solidFill>
              <a:srgbClr val="EFF2F5"/>
            </a:solidFill>
            <a:prstDash val="solid"/>
          </a:ln>
        </p:spPr>
      </p:sp>
      <p:sp>
        <p:nvSpPr>
          <p:cNvPr id="66" name="Text 63"/>
          <p:cNvSpPr/>
          <p:nvPr/>
        </p:nvSpPr>
        <p:spPr>
          <a:xfrm>
            <a:off x="9152915" y="4699762"/>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GATE 4 · WEEK 12</a:t>
            </a:r>
            <a:endParaRPr lang="en-US" sz="750" dirty="0"/>
          </a:p>
        </p:txBody>
      </p:sp>
      <p:sp>
        <p:nvSpPr>
          <p:cNvPr id="67" name="Text 64"/>
          <p:cNvSpPr/>
          <p:nvPr/>
        </p:nvSpPr>
        <p:spPr>
          <a:xfrm>
            <a:off x="9152915" y="5010658"/>
            <a:ext cx="2288972" cy="42976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Unassisted adoption exercise passed, ownership transferred, phase-two recommendation delivered.</a:t>
            </a:r>
            <a:endParaRPr lang="en-US" sz="950" dirty="0"/>
          </a:p>
        </p:txBody>
      </p:sp>
      <p:sp>
        <p:nvSpPr>
          <p:cNvPr id="68" name="Shape 65"/>
          <p:cNvSpPr/>
          <p:nvPr/>
        </p:nvSpPr>
        <p:spPr>
          <a:xfrm>
            <a:off x="566928" y="6382512"/>
            <a:ext cx="11057839" cy="0"/>
          </a:xfrm>
          <a:prstGeom prst="line">
            <a:avLst/>
          </a:prstGeom>
          <a:noFill/>
          <a:ln w="9525">
            <a:solidFill>
              <a:srgbClr val="E2E7EC"/>
            </a:solidFill>
            <a:prstDash val="solid"/>
          </a:ln>
        </p:spPr>
      </p:sp>
      <p:sp>
        <p:nvSpPr>
          <p:cNvPr id="69" name="Text 66"/>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70" name="Text 67"/>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WORKING MODEL</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One team with two employers.</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This work succeeds when different forms of rigour challenge each other. We need a name against every row on the right before we leave this room — or a date by which we will have one.</a:t>
            </a:r>
            <a:endParaRPr lang="en-US" sz="1250" dirty="0"/>
          </a:p>
        </p:txBody>
      </p:sp>
      <p:sp>
        <p:nvSpPr>
          <p:cNvPr id="7" name="Text 4"/>
          <p:cNvSpPr/>
          <p:nvPr/>
        </p:nvSpPr>
        <p:spPr>
          <a:xfrm>
            <a:off x="566928" y="1665224"/>
            <a:ext cx="4572000" cy="182880"/>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WE BRING</a:t>
            </a:r>
            <a:endParaRPr lang="en-US" sz="800" dirty="0"/>
          </a:p>
        </p:txBody>
      </p:sp>
      <p:sp>
        <p:nvSpPr>
          <p:cNvPr id="8" name="Shape 5"/>
          <p:cNvSpPr/>
          <p:nvPr/>
        </p:nvSpPr>
        <p:spPr>
          <a:xfrm>
            <a:off x="566928" y="1902968"/>
            <a:ext cx="5440680" cy="694944"/>
          </a:xfrm>
          <a:prstGeom prst="roundRect">
            <a:avLst>
              <a:gd name="adj" fmla="val 10526"/>
            </a:avLst>
          </a:prstGeom>
          <a:solidFill>
            <a:srgbClr val="FFFFFF"/>
          </a:solidFill>
          <a:ln w="12700">
            <a:solidFill>
              <a:srgbClr val="E2E7EC"/>
            </a:solidFill>
            <a:prstDash val="solid"/>
          </a:ln>
        </p:spPr>
      </p:sp>
      <p:sp>
        <p:nvSpPr>
          <p:cNvPr id="9" name="Text 6"/>
          <p:cNvSpPr/>
          <p:nvPr/>
        </p:nvSpPr>
        <p:spPr>
          <a:xfrm>
            <a:off x="731520" y="2003552"/>
            <a:ext cx="5212080" cy="201168"/>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Capability-security thinker</a:t>
            </a:r>
            <a:endParaRPr lang="en-US" sz="1200" dirty="0"/>
          </a:p>
        </p:txBody>
      </p:sp>
      <p:sp>
        <p:nvSpPr>
          <p:cNvPr id="10" name="Text 7"/>
          <p:cNvSpPr/>
          <p:nvPr/>
        </p:nvSpPr>
        <p:spPr>
          <a:xfrm>
            <a:off x="731520" y="2223008"/>
            <a:ext cx="5212080" cy="329184"/>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Sees ambient authority, confused deputies, replay and privilege amplification before they become implementation details.</a:t>
            </a:r>
            <a:endParaRPr lang="en-US" sz="950" dirty="0"/>
          </a:p>
        </p:txBody>
      </p:sp>
      <p:sp>
        <p:nvSpPr>
          <p:cNvPr id="11" name="Shape 8"/>
          <p:cNvSpPr/>
          <p:nvPr/>
        </p:nvSpPr>
        <p:spPr>
          <a:xfrm>
            <a:off x="566928" y="2689352"/>
            <a:ext cx="5440680" cy="694944"/>
          </a:xfrm>
          <a:prstGeom prst="roundRect">
            <a:avLst>
              <a:gd name="adj" fmla="val 10526"/>
            </a:avLst>
          </a:prstGeom>
          <a:solidFill>
            <a:srgbClr val="FFFFFF"/>
          </a:solidFill>
          <a:ln w="12700">
            <a:solidFill>
              <a:srgbClr val="E2E7EC"/>
            </a:solidFill>
            <a:prstDash val="solid"/>
          </a:ln>
        </p:spPr>
      </p:sp>
      <p:sp>
        <p:nvSpPr>
          <p:cNvPr id="12" name="Text 9"/>
          <p:cNvSpPr/>
          <p:nvPr/>
        </p:nvSpPr>
        <p:spPr>
          <a:xfrm>
            <a:off x="731520" y="2789936"/>
            <a:ext cx="5212080" cy="201168"/>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Distributed-systems pragmatist</a:t>
            </a:r>
            <a:endParaRPr lang="en-US" sz="1200" dirty="0"/>
          </a:p>
        </p:txBody>
      </p:sp>
      <p:sp>
        <p:nvSpPr>
          <p:cNvPr id="13" name="Text 10"/>
          <p:cNvSpPr/>
          <p:nvPr/>
        </p:nvSpPr>
        <p:spPr>
          <a:xfrm>
            <a:off x="731520" y="3009392"/>
            <a:ext cx="5212080" cy="329184"/>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Assumes delay, duplication, partition, stale state and partial failure — and makes degraded behaviour explicit.</a:t>
            </a:r>
            <a:endParaRPr lang="en-US" sz="950" dirty="0"/>
          </a:p>
        </p:txBody>
      </p:sp>
      <p:sp>
        <p:nvSpPr>
          <p:cNvPr id="14" name="Shape 11"/>
          <p:cNvSpPr/>
          <p:nvPr/>
        </p:nvSpPr>
        <p:spPr>
          <a:xfrm>
            <a:off x="566928" y="3475736"/>
            <a:ext cx="5440680" cy="694944"/>
          </a:xfrm>
          <a:prstGeom prst="roundRect">
            <a:avLst>
              <a:gd name="adj" fmla="val 10526"/>
            </a:avLst>
          </a:prstGeom>
          <a:solidFill>
            <a:srgbClr val="FFFFFF"/>
          </a:solidFill>
          <a:ln w="12700">
            <a:solidFill>
              <a:srgbClr val="E2E7EC"/>
            </a:solidFill>
            <a:prstDash val="solid"/>
          </a:ln>
        </p:spPr>
      </p:sp>
      <p:sp>
        <p:nvSpPr>
          <p:cNvPr id="15" name="Text 12"/>
          <p:cNvSpPr/>
          <p:nvPr/>
        </p:nvSpPr>
        <p:spPr>
          <a:xfrm>
            <a:off x="731520" y="3576320"/>
            <a:ext cx="5212080" cy="201168"/>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Platform product engineer</a:t>
            </a:r>
            <a:endParaRPr lang="en-US" sz="1200" dirty="0"/>
          </a:p>
        </p:txBody>
      </p:sp>
      <p:sp>
        <p:nvSpPr>
          <p:cNvPr id="16" name="Text 13"/>
          <p:cNvSpPr/>
          <p:nvPr/>
        </p:nvSpPr>
        <p:spPr>
          <a:xfrm>
            <a:off x="731520" y="3795776"/>
            <a:ext cx="5212080" cy="329184"/>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Turns control complexity into paved roads, service pages, templates and safe defaults teams willingly adopt.</a:t>
            </a:r>
            <a:endParaRPr lang="en-US" sz="950" dirty="0"/>
          </a:p>
        </p:txBody>
      </p:sp>
      <p:sp>
        <p:nvSpPr>
          <p:cNvPr id="17" name="Shape 14"/>
          <p:cNvSpPr/>
          <p:nvPr/>
        </p:nvSpPr>
        <p:spPr>
          <a:xfrm>
            <a:off x="566928" y="4262120"/>
            <a:ext cx="5440680" cy="694944"/>
          </a:xfrm>
          <a:prstGeom prst="roundRect">
            <a:avLst>
              <a:gd name="adj" fmla="val 10526"/>
            </a:avLst>
          </a:prstGeom>
          <a:solidFill>
            <a:srgbClr val="FFFFFF"/>
          </a:solidFill>
          <a:ln w="12700">
            <a:solidFill>
              <a:srgbClr val="E2E7EC"/>
            </a:solidFill>
            <a:prstDash val="solid"/>
          </a:ln>
        </p:spPr>
      </p:sp>
      <p:sp>
        <p:nvSpPr>
          <p:cNvPr id="18" name="Text 15"/>
          <p:cNvSpPr/>
          <p:nvPr/>
        </p:nvSpPr>
        <p:spPr>
          <a:xfrm>
            <a:off x="731520" y="4362704"/>
            <a:ext cx="5212080" cy="201168"/>
          </a:xfrm>
          <a:prstGeom prst="rect">
            <a:avLst/>
          </a:prstGeom>
          <a:noFill/>
          <a:ln/>
        </p:spPr>
        <p:txBody>
          <a:bodyPr wrap="square" lIns="0" tIns="0" rIns="0" bIns="0" rtlCol="0" anchor="t"/>
          <a:lstStyle/>
          <a:p>
            <a:pPr indent="0" marL="0">
              <a:buNone/>
            </a:pPr>
            <a:r>
              <a:rPr lang="en-US" sz="1200" b="1" dirty="0">
                <a:solidFill>
                  <a:srgbClr val="0B1622"/>
                </a:solidFill>
                <a:latin typeface="Calibri" pitchFamily="34" charset="0"/>
                <a:ea typeface="Calibri" pitchFamily="34" charset="-122"/>
                <a:cs typeface="Calibri" pitchFamily="34" charset="-120"/>
              </a:rPr>
              <a:t>Runtime performance engineer</a:t>
            </a:r>
            <a:endParaRPr lang="en-US" sz="1200" dirty="0"/>
          </a:p>
        </p:txBody>
      </p:sp>
      <p:sp>
        <p:nvSpPr>
          <p:cNvPr id="19" name="Text 16"/>
          <p:cNvSpPr/>
          <p:nvPr/>
        </p:nvSpPr>
        <p:spPr>
          <a:xfrm>
            <a:off x="731520" y="4582160"/>
            <a:ext cx="5212080" cy="329184"/>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Measures cold start, steady-state overhead, concurrency and host-call cost rather than debating by instinct.</a:t>
            </a:r>
            <a:endParaRPr lang="en-US" sz="950" dirty="0"/>
          </a:p>
        </p:txBody>
      </p:sp>
      <p:sp>
        <p:nvSpPr>
          <p:cNvPr id="20" name="Text 17"/>
          <p:cNvSpPr/>
          <p:nvPr/>
        </p:nvSpPr>
        <p:spPr>
          <a:xfrm>
            <a:off x="6190488" y="1665224"/>
            <a:ext cx="4572000" cy="182880"/>
          </a:xfrm>
          <a:prstGeom prst="rect">
            <a:avLst/>
          </a:prstGeom>
          <a:noFill/>
          <a:ln/>
        </p:spPr>
        <p:txBody>
          <a:bodyPr wrap="square" lIns="0" tIns="0" rIns="0" bIns="0" rtlCol="0" anchor="ctr"/>
          <a:lstStyle/>
          <a:p>
            <a:pPr indent="0" marL="0">
              <a:buNone/>
            </a:pPr>
            <a:r>
              <a:rPr lang="en-US" sz="800" b="1" spc="140" kern="0" dirty="0">
                <a:solidFill>
                  <a:srgbClr val="7E8C9B"/>
                </a:solidFill>
                <a:latin typeface="Consolas" pitchFamily="34" charset="0"/>
                <a:ea typeface="Consolas" pitchFamily="34" charset="-122"/>
                <a:cs typeface="Consolas" pitchFamily="34" charset="-120"/>
              </a:rPr>
              <a:t>YOU NAME — TODAY</a:t>
            </a:r>
            <a:endParaRPr lang="en-US" sz="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190488" y="1902968"/>
          <a:ext cx="5440680" cy="914400"/>
        </p:xfrm>
        <a:graphic>
          <a:graphicData uri="http://schemas.openxmlformats.org/drawingml/2006/table">
            <a:tbl>
              <a:tblPr/>
              <a:tblGrid>
                <a:gridCol w="3063240"/>
                <a:gridCol w="1280160"/>
                <a:gridCol w="118872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ROLE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COMMITMENT</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NAME</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Executive sponsor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Owns gate decisions and scope trades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Gates only</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First-path owner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Can say yes without convening four teams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0.5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Platform engineer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Authority over the deployment template</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1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Security / IAM engineer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Designs the adversarial cases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1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Data engineer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Catalog, sources, freshness</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0.5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AI practitioner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Capability inventory and agent design</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1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0B1622"/>
                          </a:solidFill>
                          <a:latin typeface="Calibri" pitchFamily="34" charset="0"/>
                          <a:ea typeface="Calibri" pitchFamily="34" charset="-122"/>
                          <a:cs typeface="Calibri" pitchFamily="34" charset="-120"/>
                        </a:rPr>
                        <a:t>SRE / assurance challenger</a:t>
                      </a:r>
                      <a:endParaRPr lang="en-US" sz="860" dirty="0">
                        <a:latin typeface="Calibri" charset="0"/>
                        <a:ea typeface="Calibri" charset="0"/>
                        <a:cs typeface="Calibri" charset="0"/>
                      </a:endParaRPr>
                    </a:p>
                    <a:p>
                      <a:pPr indent="0" marL="0">
                        <a:buNone/>
                      </a:pPr>
                      <a:r>
                        <a:rPr lang="en-US" sz="860" b="1" dirty="0">
                          <a:solidFill>
                            <a:srgbClr val="0B1622"/>
                          </a:solidFill>
                          <a:latin typeface="Calibri" pitchFamily="34" charset="0"/>
                          <a:ea typeface="Calibri" pitchFamily="34" charset="-122"/>
                          <a:cs typeface="Calibri" pitchFamily="34" charset="-120"/>
                        </a:rPr>
                        <a:t>Exercises breakers, revocation, recovery</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46586B"/>
                          </a:solidFill>
                          <a:latin typeface="Calibri" pitchFamily="34" charset="0"/>
                          <a:ea typeface="Calibri" pitchFamily="34" charset="-122"/>
                          <a:cs typeface="Calibri" pitchFamily="34" charset="-120"/>
                        </a:rPr>
                        <a:t>0.5 day/wk</a:t>
                      </a:r>
                      <a:endParaRPr lang="en-US" sz="86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60" dirty="0">
                          <a:solidFill>
                            <a:srgbClr val="7E8C9B"/>
                          </a:solidFill>
                          <a:latin typeface="Consolas" pitchFamily="34" charset="0"/>
                          <a:ea typeface="Consolas" pitchFamily="34" charset="-122"/>
                          <a:cs typeface="Consolas" pitchFamily="34" charset="-120"/>
                        </a:rPr>
                        <a:t>—</a:t>
                      </a:r>
                      <a:endParaRPr lang="en-US" sz="86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22" name="Shape 18"/>
          <p:cNvSpPr/>
          <p:nvPr/>
        </p:nvSpPr>
        <p:spPr>
          <a:xfrm>
            <a:off x="566928" y="5175504"/>
            <a:ext cx="11057839" cy="493776"/>
          </a:xfrm>
          <a:prstGeom prst="roundRect">
            <a:avLst>
              <a:gd name="adj" fmla="val 14815"/>
            </a:avLst>
          </a:prstGeom>
          <a:solidFill>
            <a:srgbClr val="E6F4F6"/>
          </a:solidFill>
          <a:ln w="12700">
            <a:solidFill>
              <a:srgbClr val="9CCED6"/>
            </a:solidFill>
            <a:prstDash val="solid"/>
          </a:ln>
        </p:spPr>
      </p:sp>
      <p:sp>
        <p:nvSpPr>
          <p:cNvPr id="23" name="Text 19"/>
          <p:cNvSpPr/>
          <p:nvPr/>
        </p:nvSpPr>
        <p:spPr>
          <a:xfrm>
            <a:off x="749808" y="5303520"/>
            <a:ext cx="10692079" cy="27432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Unnamed roles are the single most reliable predictor of a slipped gate.</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Not underestimated effort — unnamed people.</a:t>
            </a:r>
            <a:endParaRPr lang="en-US" sz="1050" dirty="0"/>
          </a:p>
        </p:txBody>
      </p:sp>
      <p:sp>
        <p:nvSpPr>
          <p:cNvPr id="24" name="Shape 20"/>
          <p:cNvSpPr/>
          <p:nvPr/>
        </p:nvSpPr>
        <p:spPr>
          <a:xfrm>
            <a:off x="566928" y="6382512"/>
            <a:ext cx="11057839" cy="0"/>
          </a:xfrm>
          <a:prstGeom prst="line">
            <a:avLst/>
          </a:prstGeom>
          <a:noFill/>
          <a:ln w="9525">
            <a:solidFill>
              <a:srgbClr val="E2E7EC"/>
            </a:solidFill>
            <a:prstDash val="solid"/>
          </a:ln>
        </p:spPr>
      </p:sp>
      <p:sp>
        <p:nvSpPr>
          <p:cNvPr id="25" name="Text 21"/>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6" name="Text 22"/>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DEPENDENCIES</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What we need from you, and when.</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If access lands in week three instead of week one, gate 2 moves to week seven. That is not a complaint — it is arithmetic, and it is the most common way this plan slips.</a:t>
            </a:r>
            <a:endParaRPr lang="en-US" sz="1250" dirty="0"/>
          </a:p>
        </p:txBody>
      </p:sp>
      <p:sp>
        <p:nvSpPr>
          <p:cNvPr id="7" name="Shape 4"/>
          <p:cNvSpPr/>
          <p:nvPr/>
        </p:nvSpPr>
        <p:spPr>
          <a:xfrm>
            <a:off x="566928" y="1701800"/>
            <a:ext cx="3588410" cy="3566160"/>
          </a:xfrm>
          <a:prstGeom prst="roundRect">
            <a:avLst>
              <a:gd name="adj" fmla="val 2051"/>
            </a:avLst>
          </a:prstGeom>
          <a:solidFill>
            <a:srgbClr val="E6F4F6"/>
          </a:solidFill>
          <a:ln w="12700">
            <a:solidFill>
              <a:srgbClr val="9CCED6"/>
            </a:solidFill>
            <a:prstDash val="solid"/>
          </a:ln>
        </p:spPr>
      </p:sp>
      <p:sp>
        <p:nvSpPr>
          <p:cNvPr id="8" name="Shape 5"/>
          <p:cNvSpPr/>
          <p:nvPr/>
        </p:nvSpPr>
        <p:spPr>
          <a:xfrm>
            <a:off x="749808" y="1866392"/>
            <a:ext cx="1280160" cy="182880"/>
          </a:xfrm>
          <a:prstGeom prst="roundRect">
            <a:avLst>
              <a:gd name="adj" fmla="val 50000"/>
            </a:avLst>
          </a:prstGeom>
          <a:solidFill>
            <a:srgbClr val="FFFFFF"/>
          </a:solidFill>
          <a:ln w="12700">
            <a:solidFill>
              <a:srgbClr val="FFFFFF"/>
            </a:solidFill>
            <a:prstDash val="solid"/>
          </a:ln>
        </p:spPr>
      </p:sp>
      <p:sp>
        <p:nvSpPr>
          <p:cNvPr id="9" name="Text 6"/>
          <p:cNvSpPr/>
          <p:nvPr/>
        </p:nvSpPr>
        <p:spPr>
          <a:xfrm>
            <a:off x="749808" y="1866392"/>
            <a:ext cx="128016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ACCESS</a:t>
            </a:r>
            <a:endParaRPr lang="en-US" sz="750" dirty="0"/>
          </a:p>
        </p:txBody>
      </p:sp>
      <p:sp>
        <p:nvSpPr>
          <p:cNvPr id="10" name="Text 7"/>
          <p:cNvSpPr/>
          <p:nvPr/>
        </p:nvSpPr>
        <p:spPr>
          <a:xfrm>
            <a:off x="749808" y="2195576"/>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Non-production namespace and deploy path</a:t>
            </a:r>
            <a:endParaRPr lang="en-US" sz="950" dirty="0"/>
          </a:p>
        </p:txBody>
      </p:sp>
      <p:sp>
        <p:nvSpPr>
          <p:cNvPr id="11" name="Text 8"/>
          <p:cNvSpPr/>
          <p:nvPr/>
        </p:nvSpPr>
        <p:spPr>
          <a:xfrm>
            <a:off x="3350666" y="2195576"/>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12" name="Shape 9"/>
          <p:cNvSpPr/>
          <p:nvPr/>
        </p:nvSpPr>
        <p:spPr>
          <a:xfrm>
            <a:off x="749808" y="2469896"/>
            <a:ext cx="3222650" cy="0"/>
          </a:xfrm>
          <a:prstGeom prst="line">
            <a:avLst/>
          </a:prstGeom>
          <a:noFill/>
          <a:ln w="9525">
            <a:solidFill>
              <a:srgbClr val="EFF2F5"/>
            </a:solidFill>
            <a:prstDash val="solid"/>
          </a:ln>
        </p:spPr>
      </p:sp>
      <p:sp>
        <p:nvSpPr>
          <p:cNvPr id="13" name="Text 10"/>
          <p:cNvSpPr/>
          <p:nvPr/>
        </p:nvSpPr>
        <p:spPr>
          <a:xfrm>
            <a:off x="749808" y="2524760"/>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Identity provider tenant — non-prod, with admin</a:t>
            </a:r>
            <a:endParaRPr lang="en-US" sz="950" dirty="0"/>
          </a:p>
        </p:txBody>
      </p:sp>
      <p:sp>
        <p:nvSpPr>
          <p:cNvPr id="14" name="Text 11"/>
          <p:cNvSpPr/>
          <p:nvPr/>
        </p:nvSpPr>
        <p:spPr>
          <a:xfrm>
            <a:off x="3350666" y="2524760"/>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15" name="Shape 12"/>
          <p:cNvSpPr/>
          <p:nvPr/>
        </p:nvSpPr>
        <p:spPr>
          <a:xfrm>
            <a:off x="749808" y="2799080"/>
            <a:ext cx="3222650" cy="0"/>
          </a:xfrm>
          <a:prstGeom prst="line">
            <a:avLst/>
          </a:prstGeom>
          <a:noFill/>
          <a:ln w="9525">
            <a:solidFill>
              <a:srgbClr val="EFF2F5"/>
            </a:solidFill>
            <a:prstDash val="solid"/>
          </a:ln>
        </p:spPr>
      </p:sp>
      <p:sp>
        <p:nvSpPr>
          <p:cNvPr id="16" name="Text 13"/>
          <p:cNvSpPr/>
          <p:nvPr/>
        </p:nvSpPr>
        <p:spPr>
          <a:xfrm>
            <a:off x="749808" y="2853944"/>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Read access to the service catalog / CMDB</a:t>
            </a:r>
            <a:endParaRPr lang="en-US" sz="950" dirty="0"/>
          </a:p>
        </p:txBody>
      </p:sp>
      <p:sp>
        <p:nvSpPr>
          <p:cNvPr id="17" name="Text 14"/>
          <p:cNvSpPr/>
          <p:nvPr/>
        </p:nvSpPr>
        <p:spPr>
          <a:xfrm>
            <a:off x="3350666" y="2853944"/>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18" name="Shape 15"/>
          <p:cNvSpPr/>
          <p:nvPr/>
        </p:nvSpPr>
        <p:spPr>
          <a:xfrm>
            <a:off x="749808" y="3128264"/>
            <a:ext cx="3222650" cy="0"/>
          </a:xfrm>
          <a:prstGeom prst="line">
            <a:avLst/>
          </a:prstGeom>
          <a:noFill/>
          <a:ln w="9525">
            <a:solidFill>
              <a:srgbClr val="EFF2F5"/>
            </a:solidFill>
            <a:prstDash val="solid"/>
          </a:ln>
        </p:spPr>
      </p:sp>
      <p:sp>
        <p:nvSpPr>
          <p:cNvPr id="19" name="Text 16"/>
          <p:cNvSpPr/>
          <p:nvPr/>
        </p:nvSpPr>
        <p:spPr>
          <a:xfrm>
            <a:off x="749808" y="3183128"/>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Observability backend — write and query</a:t>
            </a:r>
            <a:endParaRPr lang="en-US" sz="950" dirty="0"/>
          </a:p>
        </p:txBody>
      </p:sp>
      <p:sp>
        <p:nvSpPr>
          <p:cNvPr id="20" name="Text 17"/>
          <p:cNvSpPr/>
          <p:nvPr/>
        </p:nvSpPr>
        <p:spPr>
          <a:xfrm>
            <a:off x="3350666" y="3183128"/>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W2</a:t>
            </a:r>
            <a:endParaRPr lang="en-US" sz="850" dirty="0"/>
          </a:p>
        </p:txBody>
      </p:sp>
      <p:sp>
        <p:nvSpPr>
          <p:cNvPr id="21" name="Shape 18"/>
          <p:cNvSpPr/>
          <p:nvPr/>
        </p:nvSpPr>
        <p:spPr>
          <a:xfrm>
            <a:off x="749808" y="3457448"/>
            <a:ext cx="3222650" cy="0"/>
          </a:xfrm>
          <a:prstGeom prst="line">
            <a:avLst/>
          </a:prstGeom>
          <a:noFill/>
          <a:ln w="9525">
            <a:solidFill>
              <a:srgbClr val="EFF2F5"/>
            </a:solidFill>
            <a:prstDash val="solid"/>
          </a:ln>
        </p:spPr>
      </p:sp>
      <p:sp>
        <p:nvSpPr>
          <p:cNvPr id="22" name="Text 19"/>
          <p:cNvSpPr/>
          <p:nvPr/>
        </p:nvSpPr>
        <p:spPr>
          <a:xfrm>
            <a:off x="749808" y="3512312"/>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First-path backend, non-prod instance</a:t>
            </a:r>
            <a:endParaRPr lang="en-US" sz="950" dirty="0"/>
          </a:p>
        </p:txBody>
      </p:sp>
      <p:sp>
        <p:nvSpPr>
          <p:cNvPr id="23" name="Text 20"/>
          <p:cNvSpPr/>
          <p:nvPr/>
        </p:nvSpPr>
        <p:spPr>
          <a:xfrm>
            <a:off x="3350666" y="3512312"/>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W2</a:t>
            </a:r>
            <a:endParaRPr lang="en-US" sz="850" dirty="0"/>
          </a:p>
        </p:txBody>
      </p:sp>
      <p:sp>
        <p:nvSpPr>
          <p:cNvPr id="24" name="Shape 21"/>
          <p:cNvSpPr/>
          <p:nvPr/>
        </p:nvSpPr>
        <p:spPr>
          <a:xfrm>
            <a:off x="749808" y="3786632"/>
            <a:ext cx="3222650" cy="0"/>
          </a:xfrm>
          <a:prstGeom prst="line">
            <a:avLst/>
          </a:prstGeom>
          <a:noFill/>
          <a:ln w="9525">
            <a:solidFill>
              <a:srgbClr val="EFF2F5"/>
            </a:solidFill>
            <a:prstDash val="solid"/>
          </a:ln>
        </p:spPr>
      </p:sp>
      <p:sp>
        <p:nvSpPr>
          <p:cNvPr id="25" name="Text 22"/>
          <p:cNvSpPr/>
          <p:nvPr/>
        </p:nvSpPr>
        <p:spPr>
          <a:xfrm>
            <a:off x="749808" y="3841496"/>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Gateway / mesh configuration in non-prod</a:t>
            </a:r>
            <a:endParaRPr lang="en-US" sz="950" dirty="0"/>
          </a:p>
        </p:txBody>
      </p:sp>
      <p:sp>
        <p:nvSpPr>
          <p:cNvPr id="26" name="Text 23"/>
          <p:cNvSpPr/>
          <p:nvPr/>
        </p:nvSpPr>
        <p:spPr>
          <a:xfrm>
            <a:off x="3350666" y="3841496"/>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W3</a:t>
            </a:r>
            <a:endParaRPr lang="en-US" sz="850" dirty="0"/>
          </a:p>
        </p:txBody>
      </p:sp>
      <p:sp>
        <p:nvSpPr>
          <p:cNvPr id="27" name="Shape 24"/>
          <p:cNvSpPr/>
          <p:nvPr/>
        </p:nvSpPr>
        <p:spPr>
          <a:xfrm>
            <a:off x="749808" y="4115816"/>
            <a:ext cx="3222650" cy="0"/>
          </a:xfrm>
          <a:prstGeom prst="line">
            <a:avLst/>
          </a:prstGeom>
          <a:noFill/>
          <a:ln w="9525">
            <a:solidFill>
              <a:srgbClr val="EFF2F5"/>
            </a:solidFill>
            <a:prstDash val="solid"/>
          </a:ln>
        </p:spPr>
      </p:sp>
      <p:sp>
        <p:nvSpPr>
          <p:cNvPr id="28" name="Text 25"/>
          <p:cNvSpPr/>
          <p:nvPr/>
        </p:nvSpPr>
        <p:spPr>
          <a:xfrm>
            <a:off x="749808" y="4298696"/>
            <a:ext cx="3222650" cy="82296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Honest question:</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how long does a namespace and an IdP tenant genuinely take here — not the SLA, the reality? If it is six weeks, it starts before the contract is signed.</a:t>
            </a:r>
            <a:endParaRPr lang="en-US" sz="950" dirty="0"/>
          </a:p>
        </p:txBody>
      </p:sp>
      <p:sp>
        <p:nvSpPr>
          <p:cNvPr id="29" name="Shape 26"/>
          <p:cNvSpPr/>
          <p:nvPr/>
        </p:nvSpPr>
        <p:spPr>
          <a:xfrm>
            <a:off x="4301642" y="1701800"/>
            <a:ext cx="3588410" cy="3566160"/>
          </a:xfrm>
          <a:prstGeom prst="roundRect">
            <a:avLst>
              <a:gd name="adj" fmla="val 2051"/>
            </a:avLst>
          </a:prstGeom>
          <a:solidFill>
            <a:srgbClr val="FFFFFF"/>
          </a:solidFill>
          <a:ln w="12700">
            <a:solidFill>
              <a:srgbClr val="E2E7EC"/>
            </a:solidFill>
            <a:prstDash val="solid"/>
          </a:ln>
        </p:spPr>
      </p:sp>
      <p:sp>
        <p:nvSpPr>
          <p:cNvPr id="30" name="Shape 27"/>
          <p:cNvSpPr/>
          <p:nvPr/>
        </p:nvSpPr>
        <p:spPr>
          <a:xfrm>
            <a:off x="4484522" y="1866392"/>
            <a:ext cx="1280160" cy="182880"/>
          </a:xfrm>
          <a:prstGeom prst="roundRect">
            <a:avLst>
              <a:gd name="adj" fmla="val 50000"/>
            </a:avLst>
          </a:prstGeom>
          <a:solidFill>
            <a:srgbClr val="EFF2F5"/>
          </a:solidFill>
          <a:ln w="12700">
            <a:solidFill>
              <a:srgbClr val="EFF2F5"/>
            </a:solidFill>
            <a:prstDash val="solid"/>
          </a:ln>
        </p:spPr>
      </p:sp>
      <p:sp>
        <p:nvSpPr>
          <p:cNvPr id="31" name="Text 28"/>
          <p:cNvSpPr/>
          <p:nvPr/>
        </p:nvSpPr>
        <p:spPr>
          <a:xfrm>
            <a:off x="4484522" y="1866392"/>
            <a:ext cx="128016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DECISIONS</a:t>
            </a:r>
            <a:endParaRPr lang="en-US" sz="750" dirty="0"/>
          </a:p>
        </p:txBody>
      </p:sp>
      <p:sp>
        <p:nvSpPr>
          <p:cNvPr id="32" name="Text 29"/>
          <p:cNvSpPr/>
          <p:nvPr/>
        </p:nvSpPr>
        <p:spPr>
          <a:xfrm>
            <a:off x="4484522" y="2195576"/>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First path confirmed, with accountable owner</a:t>
            </a:r>
            <a:endParaRPr lang="en-US" sz="950" dirty="0"/>
          </a:p>
        </p:txBody>
      </p:sp>
      <p:sp>
        <p:nvSpPr>
          <p:cNvPr id="33" name="Text 30"/>
          <p:cNvSpPr/>
          <p:nvPr/>
        </p:nvSpPr>
        <p:spPr>
          <a:xfrm>
            <a:off x="7085381" y="2195576"/>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Today</a:t>
            </a:r>
            <a:endParaRPr lang="en-US" sz="850" dirty="0"/>
          </a:p>
        </p:txBody>
      </p:sp>
      <p:sp>
        <p:nvSpPr>
          <p:cNvPr id="34" name="Shape 31"/>
          <p:cNvSpPr/>
          <p:nvPr/>
        </p:nvSpPr>
        <p:spPr>
          <a:xfrm>
            <a:off x="4484522" y="2469896"/>
            <a:ext cx="3222650" cy="0"/>
          </a:xfrm>
          <a:prstGeom prst="line">
            <a:avLst/>
          </a:prstGeom>
          <a:noFill/>
          <a:ln w="9525">
            <a:solidFill>
              <a:srgbClr val="EFF2F5"/>
            </a:solidFill>
            <a:prstDash val="solid"/>
          </a:ln>
        </p:spPr>
      </p:sp>
      <p:sp>
        <p:nvSpPr>
          <p:cNvPr id="35" name="Text 32"/>
          <p:cNvSpPr/>
          <p:nvPr/>
        </p:nvSpPr>
        <p:spPr>
          <a:xfrm>
            <a:off x="4484522" y="2524760"/>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Three risk tiers defined, and who assigns them</a:t>
            </a:r>
            <a:endParaRPr lang="en-US" sz="950" dirty="0"/>
          </a:p>
        </p:txBody>
      </p:sp>
      <p:sp>
        <p:nvSpPr>
          <p:cNvPr id="36" name="Text 33"/>
          <p:cNvSpPr/>
          <p:nvPr/>
        </p:nvSpPr>
        <p:spPr>
          <a:xfrm>
            <a:off x="7085381" y="2524760"/>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37" name="Shape 34"/>
          <p:cNvSpPr/>
          <p:nvPr/>
        </p:nvSpPr>
        <p:spPr>
          <a:xfrm>
            <a:off x="4484522" y="2799080"/>
            <a:ext cx="3222650" cy="0"/>
          </a:xfrm>
          <a:prstGeom prst="line">
            <a:avLst/>
          </a:prstGeom>
          <a:noFill/>
          <a:ln w="9525">
            <a:solidFill>
              <a:srgbClr val="EFF2F5"/>
            </a:solidFill>
            <a:prstDash val="solid"/>
          </a:ln>
        </p:spPr>
      </p:sp>
      <p:sp>
        <p:nvSpPr>
          <p:cNvPr id="38" name="Text 35"/>
          <p:cNvSpPr/>
          <p:nvPr/>
        </p:nvSpPr>
        <p:spPr>
          <a:xfrm>
            <a:off x="4484522" y="2853944"/>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Reuse-first incumbents confirmed</a:t>
            </a:r>
            <a:endParaRPr lang="en-US" sz="950" dirty="0"/>
          </a:p>
        </p:txBody>
      </p:sp>
      <p:sp>
        <p:nvSpPr>
          <p:cNvPr id="39" name="Text 36"/>
          <p:cNvSpPr/>
          <p:nvPr/>
        </p:nvSpPr>
        <p:spPr>
          <a:xfrm>
            <a:off x="7085381" y="2853944"/>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40" name="Shape 37"/>
          <p:cNvSpPr/>
          <p:nvPr/>
        </p:nvSpPr>
        <p:spPr>
          <a:xfrm>
            <a:off x="4484522" y="3128264"/>
            <a:ext cx="3222650" cy="0"/>
          </a:xfrm>
          <a:prstGeom prst="line">
            <a:avLst/>
          </a:prstGeom>
          <a:noFill/>
          <a:ln w="9525">
            <a:solidFill>
              <a:srgbClr val="EFF2F5"/>
            </a:solidFill>
            <a:prstDash val="solid"/>
          </a:ln>
        </p:spPr>
      </p:sp>
      <p:sp>
        <p:nvSpPr>
          <p:cNvPr id="41" name="Text 38"/>
          <p:cNvSpPr/>
          <p:nvPr/>
        </p:nvSpPr>
        <p:spPr>
          <a:xfrm>
            <a:off x="4484522" y="3183128"/>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Data classes in scope — and the one that is not</a:t>
            </a:r>
            <a:endParaRPr lang="en-US" sz="950" dirty="0"/>
          </a:p>
        </p:txBody>
      </p:sp>
      <p:sp>
        <p:nvSpPr>
          <p:cNvPr id="42" name="Text 39"/>
          <p:cNvSpPr/>
          <p:nvPr/>
        </p:nvSpPr>
        <p:spPr>
          <a:xfrm>
            <a:off x="7085381" y="3183128"/>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43" name="Shape 40"/>
          <p:cNvSpPr/>
          <p:nvPr/>
        </p:nvSpPr>
        <p:spPr>
          <a:xfrm>
            <a:off x="4484522" y="3457448"/>
            <a:ext cx="3222650" cy="0"/>
          </a:xfrm>
          <a:prstGeom prst="line">
            <a:avLst/>
          </a:prstGeom>
          <a:noFill/>
          <a:ln w="9525">
            <a:solidFill>
              <a:srgbClr val="EFF2F5"/>
            </a:solidFill>
            <a:prstDash val="solid"/>
          </a:ln>
        </p:spPr>
      </p:sp>
      <p:sp>
        <p:nvSpPr>
          <p:cNvPr id="44" name="Text 41"/>
          <p:cNvSpPr/>
          <p:nvPr/>
        </p:nvSpPr>
        <p:spPr>
          <a:xfrm>
            <a:off x="4484522" y="3512312"/>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Success thresholds fixed in writing</a:t>
            </a:r>
            <a:endParaRPr lang="en-US" sz="950" dirty="0"/>
          </a:p>
        </p:txBody>
      </p:sp>
      <p:sp>
        <p:nvSpPr>
          <p:cNvPr id="45" name="Text 42"/>
          <p:cNvSpPr/>
          <p:nvPr/>
        </p:nvSpPr>
        <p:spPr>
          <a:xfrm>
            <a:off x="7085381" y="3512312"/>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W2</a:t>
            </a:r>
            <a:endParaRPr lang="en-US" sz="850" dirty="0"/>
          </a:p>
        </p:txBody>
      </p:sp>
      <p:sp>
        <p:nvSpPr>
          <p:cNvPr id="46" name="Shape 43"/>
          <p:cNvSpPr/>
          <p:nvPr/>
        </p:nvSpPr>
        <p:spPr>
          <a:xfrm>
            <a:off x="4484522" y="3786632"/>
            <a:ext cx="3222650" cy="0"/>
          </a:xfrm>
          <a:prstGeom prst="line">
            <a:avLst/>
          </a:prstGeom>
          <a:noFill/>
          <a:ln w="9525">
            <a:solidFill>
              <a:srgbClr val="EFF2F5"/>
            </a:solidFill>
            <a:prstDash val="solid"/>
          </a:ln>
        </p:spPr>
      </p:sp>
      <p:sp>
        <p:nvSpPr>
          <p:cNvPr id="47" name="Text 44"/>
          <p:cNvSpPr/>
          <p:nvPr/>
        </p:nvSpPr>
        <p:spPr>
          <a:xfrm>
            <a:off x="4484522" y="3841496"/>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Policy vocabulary owner named</a:t>
            </a:r>
            <a:endParaRPr lang="en-US" sz="950" dirty="0"/>
          </a:p>
        </p:txBody>
      </p:sp>
      <p:sp>
        <p:nvSpPr>
          <p:cNvPr id="48" name="Text 45"/>
          <p:cNvSpPr/>
          <p:nvPr/>
        </p:nvSpPr>
        <p:spPr>
          <a:xfrm>
            <a:off x="7085381" y="3841496"/>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W2</a:t>
            </a:r>
            <a:endParaRPr lang="en-US" sz="850" dirty="0"/>
          </a:p>
        </p:txBody>
      </p:sp>
      <p:sp>
        <p:nvSpPr>
          <p:cNvPr id="49" name="Shape 46"/>
          <p:cNvSpPr/>
          <p:nvPr/>
        </p:nvSpPr>
        <p:spPr>
          <a:xfrm>
            <a:off x="4484522" y="4115816"/>
            <a:ext cx="3222650" cy="0"/>
          </a:xfrm>
          <a:prstGeom prst="line">
            <a:avLst/>
          </a:prstGeom>
          <a:noFill/>
          <a:ln w="9525">
            <a:solidFill>
              <a:srgbClr val="EFF2F5"/>
            </a:solidFill>
            <a:prstDash val="solid"/>
          </a:ln>
        </p:spPr>
      </p:sp>
      <p:sp>
        <p:nvSpPr>
          <p:cNvPr id="50" name="Text 47"/>
          <p:cNvSpPr/>
          <p:nvPr/>
        </p:nvSpPr>
        <p:spPr>
          <a:xfrm>
            <a:off x="4484522" y="4170680"/>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Adversarial test cases agreed with security</a:t>
            </a:r>
            <a:endParaRPr lang="en-US" sz="950" dirty="0"/>
          </a:p>
        </p:txBody>
      </p:sp>
      <p:sp>
        <p:nvSpPr>
          <p:cNvPr id="51" name="Text 48"/>
          <p:cNvSpPr/>
          <p:nvPr/>
        </p:nvSpPr>
        <p:spPr>
          <a:xfrm>
            <a:off x="7085381" y="4170680"/>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W4</a:t>
            </a:r>
            <a:endParaRPr lang="en-US" sz="850" dirty="0"/>
          </a:p>
        </p:txBody>
      </p:sp>
      <p:sp>
        <p:nvSpPr>
          <p:cNvPr id="52" name="Shape 49"/>
          <p:cNvSpPr/>
          <p:nvPr/>
        </p:nvSpPr>
        <p:spPr>
          <a:xfrm>
            <a:off x="4484522" y="4445000"/>
            <a:ext cx="3222650" cy="0"/>
          </a:xfrm>
          <a:prstGeom prst="line">
            <a:avLst/>
          </a:prstGeom>
          <a:noFill/>
          <a:ln w="9525">
            <a:solidFill>
              <a:srgbClr val="EFF2F5"/>
            </a:solidFill>
            <a:prstDash val="solid"/>
          </a:ln>
        </p:spPr>
      </p:sp>
      <p:sp>
        <p:nvSpPr>
          <p:cNvPr id="53" name="Shape 50"/>
          <p:cNvSpPr/>
          <p:nvPr/>
        </p:nvSpPr>
        <p:spPr>
          <a:xfrm>
            <a:off x="8036357" y="1701800"/>
            <a:ext cx="3588410" cy="3566160"/>
          </a:xfrm>
          <a:prstGeom prst="roundRect">
            <a:avLst>
              <a:gd name="adj" fmla="val 2051"/>
            </a:avLst>
          </a:prstGeom>
          <a:solidFill>
            <a:srgbClr val="FFFFFF"/>
          </a:solidFill>
          <a:ln w="12700">
            <a:solidFill>
              <a:srgbClr val="E2E7EC"/>
            </a:solidFill>
            <a:prstDash val="solid"/>
          </a:ln>
        </p:spPr>
      </p:sp>
      <p:sp>
        <p:nvSpPr>
          <p:cNvPr id="54" name="Shape 51"/>
          <p:cNvSpPr/>
          <p:nvPr/>
        </p:nvSpPr>
        <p:spPr>
          <a:xfrm>
            <a:off x="8219237" y="1866392"/>
            <a:ext cx="1280160" cy="182880"/>
          </a:xfrm>
          <a:prstGeom prst="roundRect">
            <a:avLst>
              <a:gd name="adj" fmla="val 50000"/>
            </a:avLst>
          </a:prstGeom>
          <a:solidFill>
            <a:srgbClr val="EFF2F5"/>
          </a:solidFill>
          <a:ln w="12700">
            <a:solidFill>
              <a:srgbClr val="EFF2F5"/>
            </a:solidFill>
            <a:prstDash val="solid"/>
          </a:ln>
        </p:spPr>
      </p:sp>
      <p:sp>
        <p:nvSpPr>
          <p:cNvPr id="55" name="Text 52"/>
          <p:cNvSpPr/>
          <p:nvPr/>
        </p:nvSpPr>
        <p:spPr>
          <a:xfrm>
            <a:off x="8219237" y="1866392"/>
            <a:ext cx="128016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PEOPLE &amp; RHYTHM</a:t>
            </a:r>
            <a:endParaRPr lang="en-US" sz="750" dirty="0"/>
          </a:p>
        </p:txBody>
      </p:sp>
      <p:sp>
        <p:nvSpPr>
          <p:cNvPr id="56" name="Text 53"/>
          <p:cNvSpPr/>
          <p:nvPr/>
        </p:nvSpPr>
        <p:spPr>
          <a:xfrm>
            <a:off x="8219237" y="2195576"/>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Seven named roles — slide 28</a:t>
            </a:r>
            <a:endParaRPr lang="en-US" sz="950" dirty="0"/>
          </a:p>
        </p:txBody>
      </p:sp>
      <p:sp>
        <p:nvSpPr>
          <p:cNvPr id="57" name="Text 54"/>
          <p:cNvSpPr/>
          <p:nvPr/>
        </p:nvSpPr>
        <p:spPr>
          <a:xfrm>
            <a:off x="10820095" y="2195576"/>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Today</a:t>
            </a:r>
            <a:endParaRPr lang="en-US" sz="850" dirty="0"/>
          </a:p>
        </p:txBody>
      </p:sp>
      <p:sp>
        <p:nvSpPr>
          <p:cNvPr id="58" name="Shape 55"/>
          <p:cNvSpPr/>
          <p:nvPr/>
        </p:nvSpPr>
        <p:spPr>
          <a:xfrm>
            <a:off x="8219237" y="2469896"/>
            <a:ext cx="3222650" cy="0"/>
          </a:xfrm>
          <a:prstGeom prst="line">
            <a:avLst/>
          </a:prstGeom>
          <a:noFill/>
          <a:ln w="9525">
            <a:solidFill>
              <a:srgbClr val="EFF2F5"/>
            </a:solidFill>
            <a:prstDash val="solid"/>
          </a:ln>
        </p:spPr>
      </p:sp>
      <p:sp>
        <p:nvSpPr>
          <p:cNvPr id="59" name="Text 56"/>
          <p:cNvSpPr/>
          <p:nvPr/>
        </p:nvSpPr>
        <p:spPr>
          <a:xfrm>
            <a:off x="8219237" y="2524760"/>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Weekly 45-minute working session, fixed slot</a:t>
            </a:r>
            <a:endParaRPr lang="en-US" sz="950" dirty="0"/>
          </a:p>
        </p:txBody>
      </p:sp>
      <p:sp>
        <p:nvSpPr>
          <p:cNvPr id="60" name="Text 57"/>
          <p:cNvSpPr/>
          <p:nvPr/>
        </p:nvSpPr>
        <p:spPr>
          <a:xfrm>
            <a:off x="10820095" y="2524760"/>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61" name="Shape 58"/>
          <p:cNvSpPr/>
          <p:nvPr/>
        </p:nvSpPr>
        <p:spPr>
          <a:xfrm>
            <a:off x="8219237" y="2799080"/>
            <a:ext cx="3222650" cy="0"/>
          </a:xfrm>
          <a:prstGeom prst="line">
            <a:avLst/>
          </a:prstGeom>
          <a:noFill/>
          <a:ln w="9525">
            <a:solidFill>
              <a:srgbClr val="EFF2F5"/>
            </a:solidFill>
            <a:prstDash val="solid"/>
          </a:ln>
        </p:spPr>
      </p:sp>
      <p:sp>
        <p:nvSpPr>
          <p:cNvPr id="62" name="Text 59"/>
          <p:cNvSpPr/>
          <p:nvPr/>
        </p:nvSpPr>
        <p:spPr>
          <a:xfrm>
            <a:off x="8219237" y="2853944"/>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Gate reviews — 60 minutes, sponsor present</a:t>
            </a:r>
            <a:endParaRPr lang="en-US" sz="950" dirty="0"/>
          </a:p>
        </p:txBody>
      </p:sp>
      <p:sp>
        <p:nvSpPr>
          <p:cNvPr id="63" name="Text 60"/>
          <p:cNvSpPr/>
          <p:nvPr/>
        </p:nvSpPr>
        <p:spPr>
          <a:xfrm>
            <a:off x="10820095" y="2853944"/>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W2/5/9/12</a:t>
            </a:r>
            <a:endParaRPr lang="en-US" sz="850" dirty="0"/>
          </a:p>
        </p:txBody>
      </p:sp>
      <p:sp>
        <p:nvSpPr>
          <p:cNvPr id="64" name="Shape 61"/>
          <p:cNvSpPr/>
          <p:nvPr/>
        </p:nvSpPr>
        <p:spPr>
          <a:xfrm>
            <a:off x="8219237" y="3128264"/>
            <a:ext cx="3222650" cy="0"/>
          </a:xfrm>
          <a:prstGeom prst="line">
            <a:avLst/>
          </a:prstGeom>
          <a:noFill/>
          <a:ln w="9525">
            <a:solidFill>
              <a:srgbClr val="EFF2F5"/>
            </a:solidFill>
            <a:prstDash val="solid"/>
          </a:ln>
        </p:spPr>
      </p:sp>
      <p:sp>
        <p:nvSpPr>
          <p:cNvPr id="65" name="Text 62"/>
          <p:cNvSpPr/>
          <p:nvPr/>
        </p:nvSpPr>
        <p:spPr>
          <a:xfrm>
            <a:off x="8219237" y="3183128"/>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Shared channel and a single written decision log</a:t>
            </a:r>
            <a:endParaRPr lang="en-US" sz="950" dirty="0"/>
          </a:p>
        </p:txBody>
      </p:sp>
      <p:sp>
        <p:nvSpPr>
          <p:cNvPr id="66" name="Text 63"/>
          <p:cNvSpPr/>
          <p:nvPr/>
        </p:nvSpPr>
        <p:spPr>
          <a:xfrm>
            <a:off x="10820095" y="3183128"/>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67" name="Shape 64"/>
          <p:cNvSpPr/>
          <p:nvPr/>
        </p:nvSpPr>
        <p:spPr>
          <a:xfrm>
            <a:off x="8219237" y="3457448"/>
            <a:ext cx="3222650" cy="0"/>
          </a:xfrm>
          <a:prstGeom prst="line">
            <a:avLst/>
          </a:prstGeom>
          <a:noFill/>
          <a:ln w="9525">
            <a:solidFill>
              <a:srgbClr val="EFF2F5"/>
            </a:solidFill>
            <a:prstDash val="solid"/>
          </a:ln>
        </p:spPr>
      </p:sp>
      <p:sp>
        <p:nvSpPr>
          <p:cNvPr id="68" name="Text 65"/>
          <p:cNvSpPr/>
          <p:nvPr/>
        </p:nvSpPr>
        <p:spPr>
          <a:xfrm>
            <a:off x="8219237" y="3512312"/>
            <a:ext cx="2582570" cy="292608"/>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Access to your change-freeze calendar</a:t>
            </a:r>
            <a:endParaRPr lang="en-US" sz="950" dirty="0"/>
          </a:p>
        </p:txBody>
      </p:sp>
      <p:sp>
        <p:nvSpPr>
          <p:cNvPr id="69" name="Text 66"/>
          <p:cNvSpPr/>
          <p:nvPr/>
        </p:nvSpPr>
        <p:spPr>
          <a:xfrm>
            <a:off x="10820095" y="3512312"/>
            <a:ext cx="621792" cy="182880"/>
          </a:xfrm>
          <a:prstGeom prst="rect">
            <a:avLst/>
          </a:prstGeom>
          <a:noFill/>
          <a:ln/>
        </p:spPr>
        <p:txBody>
          <a:bodyPr wrap="square" lIns="0" tIns="0" rIns="0" bIns="0" rtlCol="0" anchor="ctr"/>
          <a:lstStyle/>
          <a:p>
            <a:pPr algn="r" indent="0" marL="0">
              <a:buNone/>
            </a:pPr>
            <a:r>
              <a:rPr lang="en-US" sz="850" dirty="0">
                <a:solidFill>
                  <a:srgbClr val="7E8C9B"/>
                </a:solidFill>
                <a:latin typeface="Consolas" pitchFamily="34" charset="0"/>
                <a:ea typeface="Consolas" pitchFamily="34" charset="-122"/>
                <a:cs typeface="Consolas" pitchFamily="34" charset="-120"/>
              </a:rPr>
              <a:t>W1</a:t>
            </a:r>
            <a:endParaRPr lang="en-US" sz="850" dirty="0"/>
          </a:p>
        </p:txBody>
      </p:sp>
      <p:sp>
        <p:nvSpPr>
          <p:cNvPr id="70" name="Shape 67"/>
          <p:cNvSpPr/>
          <p:nvPr/>
        </p:nvSpPr>
        <p:spPr>
          <a:xfrm>
            <a:off x="8219237" y="3786632"/>
            <a:ext cx="3222650" cy="0"/>
          </a:xfrm>
          <a:prstGeom prst="line">
            <a:avLst/>
          </a:prstGeom>
          <a:noFill/>
          <a:ln w="9525">
            <a:solidFill>
              <a:srgbClr val="EFF2F5"/>
            </a:solidFill>
            <a:prstDash val="solid"/>
          </a:ln>
        </p:spPr>
      </p:sp>
      <p:sp>
        <p:nvSpPr>
          <p:cNvPr id="71" name="Text 68"/>
          <p:cNvSpPr/>
          <p:nvPr/>
        </p:nvSpPr>
        <p:spPr>
          <a:xfrm>
            <a:off x="8219237" y="3969512"/>
            <a:ext cx="3222650" cy="82296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One question we need answered today:</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what falls inside this twelve-week window on your side — change freezes, audits, quarter close, holidays? Freezes have derailed more of these than any technical risk.</a:t>
            </a:r>
            <a:endParaRPr lang="en-US" sz="950" dirty="0"/>
          </a:p>
        </p:txBody>
      </p:sp>
      <p:sp>
        <p:nvSpPr>
          <p:cNvPr id="72" name="Shape 69"/>
          <p:cNvSpPr/>
          <p:nvPr/>
        </p:nvSpPr>
        <p:spPr>
          <a:xfrm>
            <a:off x="566928" y="6382512"/>
            <a:ext cx="11057839" cy="0"/>
          </a:xfrm>
          <a:prstGeom prst="line">
            <a:avLst/>
          </a:prstGeom>
          <a:noFill/>
          <a:ln w="9525">
            <a:solidFill>
              <a:srgbClr val="E2E7EC"/>
            </a:solidFill>
            <a:prstDash val="solid"/>
          </a:ln>
        </p:spPr>
      </p:sp>
      <p:sp>
        <p:nvSpPr>
          <p:cNvPr id="73" name="Text 70"/>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74" name="Text 71"/>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RISKS</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What could go wrong, and what we do about it.</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Note the pattern: almost every mitigation is early detection rather than clever engineering. These are cheap in week two and expensive in week nine.</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65224"/>
          <a:ext cx="7680960" cy="914400"/>
        </p:xfrm>
        <a:graphic>
          <a:graphicData uri="http://schemas.openxmlformats.org/drawingml/2006/table">
            <a:tbl>
              <a:tblPr/>
              <a:tblGrid>
                <a:gridCol w="2606040"/>
                <a:gridCol w="4023360"/>
                <a:gridCol w="105156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RISK</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MITIGATION</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OWNER</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1  Environment access slips beyond week 2</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Access requests raised on day 1, tracked in the decision log, escalated at the weekly session. Gate 1 is not complete without it.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Sponsor</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2  The first path turns out to be contested or multi-owner</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Score three candidates today, not one. A named fallback carries no additional cost if we switch before week 3.</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Joint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3  The backend cannot enforce at the resource without a rewrite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Tested in week 3, not week 9. If true, this is kill criterion 3 and we re-scope to a path where the boundary fits.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Us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4  Policy latency exceeds the tolerable budget on the hot path</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Latency budget agreed in week 1 before design. Tiering, caching and local verification designed in, not retrofitted.</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Us</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5  A change freeze falls inside the window</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Freeze calendar reviewed in week 1; phase boundaries shifted around it rather than compressed into it.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Platform</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6  Key people are pulled onto an incident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Named deputy for each of the seven roles. Written decision log means context survives an absence.</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Sponsor</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r h="0">
                <a:tc>
                  <a:txBody>
                    <a:bodyPr/>
                    <a:lstStyle/>
                    <a:p>
                      <a:pPr indent="0" marL="0">
                        <a:buNone/>
                      </a:pPr>
                      <a:r>
                        <a:rPr lang="en-US" sz="880" b="1" dirty="0">
                          <a:solidFill>
                            <a:srgbClr val="0B1622"/>
                          </a:solidFill>
                          <a:latin typeface="Calibri" pitchFamily="34" charset="0"/>
                          <a:ea typeface="Calibri" pitchFamily="34" charset="-122"/>
                          <a:cs typeface="Calibri" pitchFamily="34" charset="-120"/>
                        </a:rPr>
                        <a:t>7  Scope widens after an encouraging demo</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Every addition displaces something of equal size, recorded in the gate note with both names on it.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880" dirty="0">
                          <a:solidFill>
                            <a:srgbClr val="46586B"/>
                          </a:solidFill>
                          <a:latin typeface="Calibri" pitchFamily="34" charset="0"/>
                          <a:ea typeface="Calibri" pitchFamily="34" charset="-122"/>
                          <a:cs typeface="Calibri" pitchFamily="34" charset="-120"/>
                        </a:rPr>
                        <a:t>Joint</a:t>
                      </a:r>
                      <a:endParaRPr lang="en-US" sz="88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r>
            </a:tbl>
          </a:graphicData>
        </a:graphic>
      </p:graphicFrame>
      <p:sp>
        <p:nvSpPr>
          <p:cNvPr id="8" name="Shape 4"/>
          <p:cNvSpPr/>
          <p:nvPr/>
        </p:nvSpPr>
        <p:spPr>
          <a:xfrm>
            <a:off x="8449056" y="1665224"/>
            <a:ext cx="3175711" cy="3602736"/>
          </a:xfrm>
          <a:prstGeom prst="roundRect">
            <a:avLst>
              <a:gd name="adj" fmla="val 2303"/>
            </a:avLst>
          </a:prstGeom>
          <a:solidFill>
            <a:srgbClr val="FFFFFF"/>
          </a:solidFill>
          <a:ln w="12700">
            <a:solidFill>
              <a:srgbClr val="E2E7EC"/>
            </a:solidFill>
            <a:prstDash val="solid"/>
          </a:ln>
        </p:spPr>
      </p:sp>
      <p:sp>
        <p:nvSpPr>
          <p:cNvPr id="9" name="Text 5"/>
          <p:cNvSpPr/>
          <p:nvPr/>
        </p:nvSpPr>
        <p:spPr>
          <a:xfrm>
            <a:off x="8650224" y="1829816"/>
            <a:ext cx="2788920" cy="182880"/>
          </a:xfrm>
          <a:prstGeom prst="rect">
            <a:avLst/>
          </a:prstGeom>
          <a:noFill/>
          <a:ln/>
        </p:spPr>
        <p:txBody>
          <a:bodyPr wrap="square" lIns="0" tIns="0" rIns="0" bIns="0" rtlCol="0" anchor="ctr"/>
          <a:lstStyle/>
          <a:p>
            <a:pPr indent="0" marL="0">
              <a:buNone/>
            </a:pPr>
            <a:r>
              <a:rPr lang="en-US" sz="800" b="1" spc="140" kern="0" dirty="0">
                <a:solidFill>
                  <a:srgbClr val="0B6F7D"/>
                </a:solidFill>
                <a:latin typeface="Consolas" pitchFamily="34" charset="0"/>
                <a:ea typeface="Consolas" pitchFamily="34" charset="-122"/>
                <a:cs typeface="Consolas" pitchFamily="34" charset="-120"/>
              </a:rPr>
              <a:t>ASSUMPTIONS WE ARE MAKING</a:t>
            </a:r>
            <a:endParaRPr lang="en-US" sz="800" dirty="0"/>
          </a:p>
        </p:txBody>
      </p:sp>
      <p:sp>
        <p:nvSpPr>
          <p:cNvPr id="10" name="Text 6"/>
          <p:cNvSpPr/>
          <p:nvPr/>
        </p:nvSpPr>
        <p:spPr>
          <a:xfrm>
            <a:off x="8650224" y="2067560"/>
            <a:ext cx="2788920" cy="347472"/>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Is any one of these false? Three of the four change the plan materially.</a:t>
            </a:r>
            <a:endParaRPr lang="en-US" sz="950" dirty="0"/>
          </a:p>
        </p:txBody>
      </p:sp>
      <p:sp>
        <p:nvSpPr>
          <p:cNvPr id="11" name="Text 7"/>
          <p:cNvSpPr/>
          <p:nvPr/>
        </p:nvSpPr>
        <p:spPr>
          <a:xfrm>
            <a:off x="8650224" y="2506472"/>
            <a:ext cx="2788920" cy="548640"/>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A non-production environment exists that </a:t>
            </a: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resembles production</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closely enough for latency numbers to mean something.</a:t>
            </a:r>
            <a:endParaRPr lang="en-US" sz="950" dirty="0"/>
          </a:p>
        </p:txBody>
      </p:sp>
      <p:sp>
        <p:nvSpPr>
          <p:cNvPr id="12" name="Text 8"/>
          <p:cNvSpPr/>
          <p:nvPr/>
        </p:nvSpPr>
        <p:spPr>
          <a:xfrm>
            <a:off x="8650224" y="3109976"/>
            <a:ext cx="2788920" cy="548640"/>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There is an </a:t>
            </a: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incumbent identity provider</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we can federate with, rather than a greenfield decision.</a:t>
            </a:r>
            <a:endParaRPr lang="en-US" sz="950" dirty="0"/>
          </a:p>
        </p:txBody>
      </p:sp>
      <p:sp>
        <p:nvSpPr>
          <p:cNvPr id="13" name="Text 9"/>
          <p:cNvSpPr/>
          <p:nvPr/>
        </p:nvSpPr>
        <p:spPr>
          <a:xfrm>
            <a:off x="8650224" y="3713480"/>
            <a:ext cx="2788920" cy="548640"/>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The first-path backend can be </a:t>
            </a: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configured to refuse un-mediated calls</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 even if that configuration does not exist yet.</a:t>
            </a:r>
            <a:endParaRPr lang="en-US" sz="950" dirty="0"/>
          </a:p>
        </p:txBody>
      </p:sp>
      <p:sp>
        <p:nvSpPr>
          <p:cNvPr id="14" name="Text 10"/>
          <p:cNvSpPr/>
          <p:nvPr/>
        </p:nvSpPr>
        <p:spPr>
          <a:xfrm>
            <a:off x="8650224" y="4316984"/>
            <a:ext cx="2788920" cy="548640"/>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[CLIENT] wants a </a:t>
            </a: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capability it operates</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not a demonstration it commissions.</a:t>
            </a:r>
            <a:endParaRPr lang="en-US" sz="950" dirty="0"/>
          </a:p>
        </p:txBody>
      </p:sp>
      <p:sp>
        <p:nvSpPr>
          <p:cNvPr id="15" name="Text 11"/>
          <p:cNvSpPr/>
          <p:nvPr/>
        </p:nvSpPr>
        <p:spPr>
          <a:xfrm>
            <a:off x="8650224" y="4902200"/>
            <a:ext cx="2788920" cy="457200"/>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950" b="1" dirty="0">
                <a:solidFill>
                  <a:srgbClr val="0B1622"/>
                </a:solidFill>
                <a:latin typeface="Calibri" pitchFamily="34" charset="0"/>
                <a:ea typeface="Calibri" pitchFamily="34" charset="-122"/>
                <a:cs typeface="Calibri" pitchFamily="34" charset="-120"/>
              </a:rPr>
              <a:t>The fourth matters most.</a:t>
            </a:r>
            <a:pPr indent="0" marL="0">
              <a:lnSpc>
                <a:spcPct val="110000"/>
              </a:lnSpc>
              <a:buNone/>
            </a:pPr>
            <a:r>
              <a:rPr lang="en-US" sz="950" dirty="0">
                <a:solidFill>
                  <a:srgbClr val="46586B"/>
                </a:solidFill>
                <a:latin typeface="Calibri" pitchFamily="34" charset="0"/>
                <a:ea typeface="Calibri" pitchFamily="34" charset="-122"/>
                <a:cs typeface="Calibri" pitchFamily="34" charset="-120"/>
              </a:rPr>
              <a:t> If what you want is a demonstration, we should design a very different twelve weeks — and we would say so.</a:t>
            </a:r>
            <a:endParaRPr lang="en-US" sz="950" dirty="0"/>
          </a:p>
        </p:txBody>
      </p:sp>
      <p:sp>
        <p:nvSpPr>
          <p:cNvPr id="16" name="Shape 12"/>
          <p:cNvSpPr/>
          <p:nvPr/>
        </p:nvSpPr>
        <p:spPr>
          <a:xfrm>
            <a:off x="566928" y="6382512"/>
            <a:ext cx="11057839" cy="0"/>
          </a:xfrm>
          <a:prstGeom prst="line">
            <a:avLst/>
          </a:prstGeom>
          <a:noFill/>
          <a:ln w="9525">
            <a:solidFill>
              <a:srgbClr val="E2E7EC"/>
            </a:solidFill>
            <a:prstDash val="solid"/>
          </a:ln>
        </p:spPr>
      </p:sp>
      <p:sp>
        <p:nvSpPr>
          <p:cNvPr id="17" name="Text 1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8" name="Text 1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04</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THE POC · WHAT EXISTS WHEN</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Every item is a noun you can point at.</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No workstreams, no alignment, no enablement. If it cannot be opened, run or read, it is not on this slide.</a:t>
            </a:r>
            <a:endParaRPr lang="en-US" sz="1250" dirty="0"/>
          </a:p>
        </p:txBody>
      </p:sp>
      <p:sp>
        <p:nvSpPr>
          <p:cNvPr id="7" name="Shape 4"/>
          <p:cNvSpPr/>
          <p:nvPr/>
        </p:nvSpPr>
        <p:spPr>
          <a:xfrm>
            <a:off x="566928" y="1517650"/>
            <a:ext cx="3588410" cy="3054096"/>
          </a:xfrm>
          <a:prstGeom prst="roundRect">
            <a:avLst>
              <a:gd name="adj" fmla="val 2395"/>
            </a:avLst>
          </a:prstGeom>
          <a:solidFill>
            <a:srgbClr val="FFFFFF"/>
          </a:solidFill>
          <a:ln w="12700">
            <a:solidFill>
              <a:srgbClr val="E2E7EC"/>
            </a:solidFill>
            <a:prstDash val="solid"/>
          </a:ln>
        </p:spPr>
      </p:sp>
      <p:sp>
        <p:nvSpPr>
          <p:cNvPr id="8" name="Shape 5"/>
          <p:cNvSpPr/>
          <p:nvPr/>
        </p:nvSpPr>
        <p:spPr>
          <a:xfrm>
            <a:off x="749808" y="1700530"/>
            <a:ext cx="1417320" cy="182880"/>
          </a:xfrm>
          <a:prstGeom prst="roundRect">
            <a:avLst>
              <a:gd name="adj" fmla="val 50000"/>
            </a:avLst>
          </a:prstGeom>
          <a:solidFill>
            <a:srgbClr val="EFF2F5"/>
          </a:solidFill>
          <a:ln w="12700">
            <a:solidFill>
              <a:srgbClr val="EFF2F5"/>
            </a:solidFill>
            <a:prstDash val="solid"/>
          </a:ln>
        </p:spPr>
      </p:sp>
      <p:sp>
        <p:nvSpPr>
          <p:cNvPr id="9" name="Text 6"/>
          <p:cNvSpPr/>
          <p:nvPr/>
        </p:nvSpPr>
        <p:spPr>
          <a:xfrm>
            <a:off x="749808" y="1700530"/>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DAY 1 · WEEK 1</a:t>
            </a:r>
            <a:endParaRPr lang="en-US" sz="750" dirty="0"/>
          </a:p>
        </p:txBody>
      </p:sp>
      <p:sp>
        <p:nvSpPr>
          <p:cNvPr id="10" name="Text 7"/>
          <p:cNvSpPr/>
          <p:nvPr/>
        </p:nvSpPr>
        <p:spPr>
          <a:xfrm>
            <a:off x="749808" y="2011426"/>
            <a:ext cx="3222650" cy="4297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written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autonomy frame</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 actors, actions, data classes, reversibility, consequence</a:t>
            </a:r>
            <a:endParaRPr lang="en-US" sz="1000" dirty="0"/>
          </a:p>
        </p:txBody>
      </p:sp>
      <p:sp>
        <p:nvSpPr>
          <p:cNvPr id="11" name="Text 8"/>
          <p:cNvSpPr/>
          <p:nvPr/>
        </p:nvSpPr>
        <p:spPr>
          <a:xfrm>
            <a:off x="749808" y="2505202"/>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Three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risk tiers</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defined, with an assignment owner</a:t>
            </a:r>
            <a:endParaRPr lang="en-US" sz="1000" dirty="0"/>
          </a:p>
        </p:txBody>
      </p:sp>
      <p:sp>
        <p:nvSpPr>
          <p:cNvPr id="12" name="Text 9"/>
          <p:cNvSpPr/>
          <p:nvPr/>
        </p:nvSpPr>
        <p:spPr>
          <a:xfrm>
            <a:off x="749808" y="2852674"/>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The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first path</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named, with an accountable owner</a:t>
            </a:r>
            <a:endParaRPr lang="en-US" sz="1000" dirty="0"/>
          </a:p>
        </p:txBody>
      </p:sp>
      <p:sp>
        <p:nvSpPr>
          <p:cNvPr id="13" name="Text 10"/>
          <p:cNvSpPr/>
          <p:nvPr/>
        </p:nvSpPr>
        <p:spPr>
          <a:xfrm>
            <a:off x="749808" y="3200146"/>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Seven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named people</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and a fixed weekly slot</a:t>
            </a:r>
            <a:endParaRPr lang="en-US" sz="1000" dirty="0"/>
          </a:p>
        </p:txBody>
      </p:sp>
      <p:sp>
        <p:nvSpPr>
          <p:cNvPr id="14" name="Text 11"/>
          <p:cNvSpPr/>
          <p:nvPr/>
        </p:nvSpPr>
        <p:spPr>
          <a:xfrm>
            <a:off x="749808" y="3547618"/>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decision log</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with entries in it</a:t>
            </a:r>
            <a:endParaRPr lang="en-US" sz="1000" dirty="0"/>
          </a:p>
        </p:txBody>
      </p:sp>
      <p:sp>
        <p:nvSpPr>
          <p:cNvPr id="15" name="Text 12"/>
          <p:cNvSpPr/>
          <p:nvPr/>
        </p:nvSpPr>
        <p:spPr>
          <a:xfrm>
            <a:off x="749808" y="3895090"/>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Access requests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raised</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with dates</a:t>
            </a:r>
            <a:endParaRPr lang="en-US" sz="1000" dirty="0"/>
          </a:p>
        </p:txBody>
      </p:sp>
      <p:sp>
        <p:nvSpPr>
          <p:cNvPr id="16" name="Shape 13"/>
          <p:cNvSpPr/>
          <p:nvPr/>
        </p:nvSpPr>
        <p:spPr>
          <a:xfrm>
            <a:off x="4301642" y="1517650"/>
            <a:ext cx="3588410" cy="3054096"/>
          </a:xfrm>
          <a:prstGeom prst="roundRect">
            <a:avLst>
              <a:gd name="adj" fmla="val 2395"/>
            </a:avLst>
          </a:prstGeom>
          <a:solidFill>
            <a:srgbClr val="E6F4F6"/>
          </a:solidFill>
          <a:ln w="12700">
            <a:solidFill>
              <a:srgbClr val="9CCED6"/>
            </a:solidFill>
            <a:prstDash val="solid"/>
          </a:ln>
        </p:spPr>
      </p:sp>
      <p:sp>
        <p:nvSpPr>
          <p:cNvPr id="17" name="Shape 14"/>
          <p:cNvSpPr/>
          <p:nvPr/>
        </p:nvSpPr>
        <p:spPr>
          <a:xfrm>
            <a:off x="4484522" y="1700530"/>
            <a:ext cx="1417320" cy="182880"/>
          </a:xfrm>
          <a:prstGeom prst="roundRect">
            <a:avLst>
              <a:gd name="adj" fmla="val 50000"/>
            </a:avLst>
          </a:prstGeom>
          <a:solidFill>
            <a:srgbClr val="FFFFFF"/>
          </a:solidFill>
          <a:ln w="12700">
            <a:solidFill>
              <a:srgbClr val="FFFFFF"/>
            </a:solidFill>
            <a:prstDash val="solid"/>
          </a:ln>
        </p:spPr>
      </p:sp>
      <p:sp>
        <p:nvSpPr>
          <p:cNvPr id="18" name="Text 15"/>
          <p:cNvSpPr/>
          <p:nvPr/>
        </p:nvSpPr>
        <p:spPr>
          <a:xfrm>
            <a:off x="4484522" y="1700530"/>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DAY 30 · WEEK 4</a:t>
            </a:r>
            <a:endParaRPr lang="en-US" sz="750" dirty="0"/>
          </a:p>
        </p:txBody>
      </p:sp>
      <p:sp>
        <p:nvSpPr>
          <p:cNvPr id="19" name="Text 16"/>
          <p:cNvSpPr/>
          <p:nvPr/>
        </p:nvSpPr>
        <p:spPr>
          <a:xfrm>
            <a:off x="4484522" y="2011426"/>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One real service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running behind the control boundary</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in non-production</a:t>
            </a:r>
            <a:endParaRPr lang="en-US" sz="1000" dirty="0"/>
          </a:p>
        </p:txBody>
      </p:sp>
      <p:sp>
        <p:nvSpPr>
          <p:cNvPr id="20" name="Text 17"/>
          <p:cNvSpPr/>
          <p:nvPr/>
        </p:nvSpPr>
        <p:spPr>
          <a:xfrm>
            <a:off x="4484522" y="2358898"/>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Grants being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issued, verified and expiring</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under real invocation</a:t>
            </a:r>
            <a:endParaRPr lang="en-US" sz="1000" dirty="0"/>
          </a:p>
        </p:txBody>
      </p:sp>
      <p:sp>
        <p:nvSpPr>
          <p:cNvPr id="21" name="Text 18"/>
          <p:cNvSpPr/>
          <p:nvPr/>
        </p:nvSpPr>
        <p:spPr>
          <a:xfrm>
            <a:off x="4484522" y="2706370"/>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correlated evidence record</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you can query yourself</a:t>
            </a:r>
            <a:endParaRPr lang="en-US" sz="1000" dirty="0"/>
          </a:p>
        </p:txBody>
      </p:sp>
      <p:sp>
        <p:nvSpPr>
          <p:cNvPr id="22" name="Text 19"/>
          <p:cNvSpPr/>
          <p:nvPr/>
        </p:nvSpPr>
        <p:spPr>
          <a:xfrm>
            <a:off x="4484522" y="3053842"/>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Measured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enforcement overhead</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against a real baseline</a:t>
            </a:r>
            <a:endParaRPr lang="en-US" sz="1000" dirty="0"/>
          </a:p>
        </p:txBody>
      </p:sp>
      <p:sp>
        <p:nvSpPr>
          <p:cNvPr id="23" name="Text 20"/>
          <p:cNvSpPr/>
          <p:nvPr/>
        </p:nvSpPr>
        <p:spPr>
          <a:xfrm>
            <a:off x="4484522" y="3401314"/>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working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circuit breaker</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with a measured time-to-stop</a:t>
            </a:r>
            <a:endParaRPr lang="en-US" sz="1000" dirty="0"/>
          </a:p>
        </p:txBody>
      </p:sp>
      <p:sp>
        <p:nvSpPr>
          <p:cNvPr id="24" name="Text 21"/>
          <p:cNvSpPr/>
          <p:nvPr/>
        </p:nvSpPr>
        <p:spPr>
          <a:xfrm>
            <a:off x="4484522" y="3748786"/>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frank week-5 gate paper —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including whether to stop</a:t>
            </a:r>
            <a:pPr indent="0" marL="0">
              <a:lnSpc>
                <a:spcPct val="110000"/>
              </a:lnSpc>
              <a:buNone/>
            </a:pPr>
            <a:endParaRPr lang="en-US" sz="1000" dirty="0"/>
          </a:p>
        </p:txBody>
      </p:sp>
      <p:sp>
        <p:nvSpPr>
          <p:cNvPr id="25" name="Shape 22"/>
          <p:cNvSpPr/>
          <p:nvPr/>
        </p:nvSpPr>
        <p:spPr>
          <a:xfrm>
            <a:off x="8036357" y="1517650"/>
            <a:ext cx="3588410" cy="3054096"/>
          </a:xfrm>
          <a:prstGeom prst="roundRect">
            <a:avLst>
              <a:gd name="adj" fmla="val 2395"/>
            </a:avLst>
          </a:prstGeom>
          <a:solidFill>
            <a:srgbClr val="FFFFFF"/>
          </a:solidFill>
          <a:ln w="12700">
            <a:solidFill>
              <a:srgbClr val="E2E7EC"/>
            </a:solidFill>
            <a:prstDash val="solid"/>
          </a:ln>
        </p:spPr>
      </p:sp>
      <p:sp>
        <p:nvSpPr>
          <p:cNvPr id="26" name="Shape 23"/>
          <p:cNvSpPr/>
          <p:nvPr/>
        </p:nvSpPr>
        <p:spPr>
          <a:xfrm>
            <a:off x="8219237" y="1700530"/>
            <a:ext cx="1417320" cy="182880"/>
          </a:xfrm>
          <a:prstGeom prst="roundRect">
            <a:avLst>
              <a:gd name="adj" fmla="val 50000"/>
            </a:avLst>
          </a:prstGeom>
          <a:solidFill>
            <a:srgbClr val="EFF2F5"/>
          </a:solidFill>
          <a:ln w="12700">
            <a:solidFill>
              <a:srgbClr val="EFF2F5"/>
            </a:solidFill>
            <a:prstDash val="solid"/>
          </a:ln>
        </p:spPr>
      </p:sp>
      <p:sp>
        <p:nvSpPr>
          <p:cNvPr id="27" name="Text 24"/>
          <p:cNvSpPr/>
          <p:nvPr/>
        </p:nvSpPr>
        <p:spPr>
          <a:xfrm>
            <a:off x="8219237" y="1700530"/>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DAY 90 · WEEK 12</a:t>
            </a:r>
            <a:endParaRPr lang="en-US" sz="750" dirty="0"/>
          </a:p>
        </p:txBody>
      </p:sp>
      <p:sp>
        <p:nvSpPr>
          <p:cNvPr id="28" name="Text 25"/>
          <p:cNvSpPr/>
          <p:nvPr/>
        </p:nvSpPr>
        <p:spPr>
          <a:xfrm>
            <a:off x="8219237" y="2011426"/>
            <a:ext cx="3222650" cy="4297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golden path</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registration, policy inheritance, templates, tests, dashboards, emergency controls</a:t>
            </a:r>
            <a:endParaRPr lang="en-US" sz="1000" dirty="0"/>
          </a:p>
        </p:txBody>
      </p:sp>
      <p:sp>
        <p:nvSpPr>
          <p:cNvPr id="29" name="Text 26"/>
          <p:cNvSpPr/>
          <p:nvPr/>
        </p:nvSpPr>
        <p:spPr>
          <a:xfrm>
            <a:off x="8219237" y="2505202"/>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Five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invariant tests</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in your CI, run against your adversarial cases</a:t>
            </a:r>
            <a:endParaRPr lang="en-US" sz="1000" dirty="0"/>
          </a:p>
        </p:txBody>
      </p:sp>
      <p:sp>
        <p:nvSpPr>
          <p:cNvPr id="30" name="Text 27"/>
          <p:cNvSpPr/>
          <p:nvPr/>
        </p:nvSpPr>
        <p:spPr>
          <a:xfrm>
            <a:off x="8219237" y="2852674"/>
            <a:ext cx="3222650" cy="4297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service page</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with capability, owner, health, version, effective policy and the off switch</a:t>
            </a:r>
            <a:endParaRPr lang="en-US" sz="1000" dirty="0"/>
          </a:p>
        </p:txBody>
      </p:sp>
      <p:sp>
        <p:nvSpPr>
          <p:cNvPr id="31" name="Text 28"/>
          <p:cNvSpPr/>
          <p:nvPr/>
        </p:nvSpPr>
        <p:spPr>
          <a:xfrm>
            <a:off x="8219237" y="3346450"/>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control crosswalk</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with sample evidence, reviewed by your audit team</a:t>
            </a:r>
            <a:endParaRPr lang="en-US" sz="1000" dirty="0"/>
          </a:p>
        </p:txBody>
      </p:sp>
      <p:sp>
        <p:nvSpPr>
          <p:cNvPr id="32" name="Text 29"/>
          <p:cNvSpPr/>
          <p:nvPr/>
        </p:nvSpPr>
        <p:spPr>
          <a:xfrm>
            <a:off x="8219237" y="3693922"/>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runbook</a:t>
            </a:r>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 and a second team that onboarded without us</a:t>
            </a:r>
            <a:endParaRPr lang="en-US" sz="1000" dirty="0"/>
          </a:p>
        </p:txBody>
      </p:sp>
      <p:sp>
        <p:nvSpPr>
          <p:cNvPr id="33" name="Text 30"/>
          <p:cNvSpPr/>
          <p:nvPr/>
        </p:nvSpPr>
        <p:spPr>
          <a:xfrm>
            <a:off x="8219237" y="4041394"/>
            <a:ext cx="3222650" cy="283464"/>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All of it </a:t>
            </a:r>
            <a:pPr indent="0" marL="0">
              <a:lnSpc>
                <a:spcPct val="110000"/>
              </a:lnSpc>
              <a:buNone/>
            </a:pPr>
            <a:r>
              <a:rPr lang="en-US" sz="1000" b="1" dirty="0">
                <a:solidFill>
                  <a:srgbClr val="0B1622"/>
                </a:solidFill>
                <a:latin typeface="Calibri" pitchFamily="34" charset="0"/>
                <a:ea typeface="Calibri" pitchFamily="34" charset="-122"/>
                <a:cs typeface="Calibri" pitchFamily="34" charset="-120"/>
              </a:rPr>
              <a:t>yours whether or not you continue with us</a:t>
            </a:r>
            <a:pPr indent="0" marL="0">
              <a:lnSpc>
                <a:spcPct val="110000"/>
              </a:lnSpc>
              <a:buNone/>
            </a:pPr>
            <a:endParaRPr lang="en-US" sz="1000" dirty="0"/>
          </a:p>
        </p:txBody>
      </p:sp>
      <p:sp>
        <p:nvSpPr>
          <p:cNvPr id="34" name="Shape 31"/>
          <p:cNvSpPr/>
          <p:nvPr/>
        </p:nvSpPr>
        <p:spPr>
          <a:xfrm>
            <a:off x="566928" y="6382512"/>
            <a:ext cx="11057839" cy="0"/>
          </a:xfrm>
          <a:prstGeom prst="line">
            <a:avLst/>
          </a:prstGeom>
          <a:noFill/>
          <a:ln w="9525">
            <a:solidFill>
              <a:srgbClr val="E2E7EC"/>
            </a:solidFill>
            <a:prstDash val="solid"/>
          </a:ln>
        </p:spPr>
      </p:sp>
      <p:sp>
        <p:nvSpPr>
          <p:cNvPr id="35" name="Text 32"/>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36" name="Text 33"/>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A CAPABILITY YOU CANNOT OPERATE WITHOUT ITS AUTHORS IS NOT A CAPABILITY</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05</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CLOSE</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Five decisions, and we start Monday.</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Taken one at a time. Where we cannot decide today, we need a name and a date rather than a maybe — an undecided item with no owner becomes a slipped gate in week three.</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65224"/>
          <a:ext cx="11057839" cy="914400"/>
        </p:xfrm>
        <a:graphic>
          <a:graphicData uri="http://schemas.openxmlformats.org/drawingml/2006/table">
            <a:tbl>
              <a:tblPr/>
              <a:tblGrid>
                <a:gridCol w="2743200"/>
                <a:gridCol w="5486400"/>
                <a:gridCol w="1600200"/>
                <a:gridCol w="1234440"/>
              </a:tblGrid>
              <a:tr h="0">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DECISION</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WHAT WE NEED TO HEAR</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OWNER</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c>
                  <a:txBody>
                    <a:bodyPr/>
                    <a:lstStyle/>
                    <a:p>
                      <a:pPr indent="0" marL="0">
                        <a:buNone/>
                      </a:pPr>
                      <a:r>
                        <a:rPr lang="en-US" sz="750" b="1" spc="140" kern="0" dirty="0">
                          <a:solidFill>
                            <a:srgbClr val="7E8C9B"/>
                          </a:solidFill>
                          <a:latin typeface="Consolas" pitchFamily="34" charset="0"/>
                          <a:ea typeface="Consolas" pitchFamily="34" charset="-122"/>
                          <a:cs typeface="Consolas" pitchFamily="34" charset="-120"/>
                        </a:rPr>
                        <a:t>STATUS</a:t>
                      </a:r>
                      <a:endParaRPr lang="en-US" sz="750" dirty="0">
                        <a:latin typeface="Consolas" charset="0"/>
                        <a:ea typeface="Consolas" charset="0"/>
                        <a:cs typeface="Consolas" charset="0"/>
                      </a:endParaRPr>
                    </a:p>
                  </a:txBody>
                  <a:tcPr marL="76200" marR="76200" marT="25400" marB="63500" anchor="b">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BFBF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1  The first path</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A named path and an accountable owner who can say yes without convening four other teams. Plus a named fallback candidate.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A6210"/>
                          </a:solidFill>
                          <a:latin typeface="Consolas" pitchFamily="34" charset="0"/>
                          <a:ea typeface="Consolas" pitchFamily="34" charset="-122"/>
                          <a:cs typeface="Consolas" pitchFamily="34" charset="-120"/>
                        </a:rPr>
                        <a:t>OPEN</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2  Risk tiers</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Three tiers, roughly defined, and who has the authority to assign a capability to one. We will sharpen the definitions in week 1.</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A6210"/>
                          </a:solidFill>
                          <a:latin typeface="Consolas" pitchFamily="34" charset="0"/>
                          <a:ea typeface="Consolas" pitchFamily="34" charset="-122"/>
                          <a:cs typeface="Consolas" pitchFamily="34" charset="-120"/>
                        </a:rPr>
                        <a:t>OPEN</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3  Reuse-first incumbents</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Confirmation of the identity provider, observability backend and API gateway we integrate with rather than replace.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A6210"/>
                          </a:solidFill>
                          <a:latin typeface="Consolas" pitchFamily="34" charset="0"/>
                          <a:ea typeface="Consolas" pitchFamily="34" charset="-122"/>
                          <a:cs typeface="Consolas" pitchFamily="34" charset="-120"/>
                        </a:rPr>
                        <a:t>OPEN</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4  The joint team and cadence</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Seven names from slide 28 — or a date by which we will have them — and a fixed weekly slot starting this week.</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A6210"/>
                          </a:solidFill>
                          <a:latin typeface="Consolas" pitchFamily="34" charset="0"/>
                          <a:ea typeface="Consolas" pitchFamily="34" charset="-122"/>
                          <a:cs typeface="Consolas" pitchFamily="34" charset="-120"/>
                        </a:rPr>
                        <a:t>OPEN</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r>
              <a:tr h="0">
                <a:tc>
                  <a:txBody>
                    <a:bodyPr/>
                    <a:lstStyle/>
                    <a:p>
                      <a:pPr indent="0" marL="0">
                        <a:buNone/>
                      </a:pPr>
                      <a:r>
                        <a:rPr lang="en-US" sz="950" b="1" dirty="0">
                          <a:solidFill>
                            <a:srgbClr val="0B1622"/>
                          </a:solidFill>
                          <a:latin typeface="Calibri" pitchFamily="34" charset="0"/>
                          <a:ea typeface="Calibri" pitchFamily="34" charset="-122"/>
                          <a:cs typeface="Calibri" pitchFamily="34" charset="-120"/>
                        </a:rPr>
                        <a:t>5  The kill criteria</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46586B"/>
                          </a:solidFill>
                          <a:latin typeface="Calibri" pitchFamily="34" charset="0"/>
                          <a:ea typeface="Calibri" pitchFamily="34" charset="-122"/>
                          <a:cs typeface="Calibri" pitchFamily="34" charset="-120"/>
                        </a:rPr>
                        <a:t>Approved as written, tightened, or amended today — including whatever sixth criterion this room wants to add.</a:t>
                      </a:r>
                      <a:endParaRPr lang="en-US" sz="950" dirty="0">
                        <a:latin typeface="Calibri" charset="0"/>
                        <a:ea typeface="Calibri" charset="0"/>
                        <a:cs typeface="Calibri"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indent="0" marL="0">
                        <a:buNone/>
                      </a:pPr>
                      <a:r>
                        <a:rPr lang="en-US" sz="950" dirty="0">
                          <a:solidFill>
                            <a:srgbClr val="7E8C9B"/>
                          </a:solidFill>
                          <a:latin typeface="Consolas" pitchFamily="34" charset="0"/>
                          <a:ea typeface="Consolas" pitchFamily="34" charset="-122"/>
                          <a:cs typeface="Consolas" pitchFamily="34" charset="-120"/>
                        </a:rPr>
                        <a:t>—</a:t>
                      </a:r>
                      <a:endParaRPr lang="en-US" sz="9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8A6210"/>
                          </a:solidFill>
                          <a:latin typeface="Consolas" pitchFamily="34" charset="0"/>
                          <a:ea typeface="Consolas" pitchFamily="34" charset="-122"/>
                          <a:cs typeface="Consolas" pitchFamily="34" charset="-120"/>
                        </a:rPr>
                        <a:t>OPEN</a:t>
                      </a:r>
                      <a:endParaRPr lang="en-US" sz="850" dirty="0">
                        <a:latin typeface="Consolas" charset="0"/>
                        <a:ea typeface="Consolas" charset="0"/>
                        <a:cs typeface="Consolas" charset="0"/>
                      </a:endParaRPr>
                    </a:p>
                  </a:txBody>
                  <a:tcPr marL="76200" marR="76200" marT="63500" marB="63500" anchor="t">
                    <a:lnL w="6350" cap="flat" cmpd="sng" algn="ctr">
                      <a:solidFill>
                        <a:srgbClr val="EFF2F5"/>
                      </a:solidFill>
                      <a:prstDash val="solid"/>
                      <a:round/>
                      <a:headEnd type="none" w="med" len="med"/>
                      <a:tailEnd type="none" w="med" len="med"/>
                    </a:lnL>
                    <a:lnR w="6350" cap="flat" cmpd="sng" algn="ctr">
                      <a:solidFill>
                        <a:srgbClr val="EFF2F5"/>
                      </a:solidFill>
                      <a:prstDash val="solid"/>
                      <a:round/>
                      <a:headEnd type="none" w="med" len="med"/>
                      <a:tailEnd type="none" w="med" len="med"/>
                    </a:lnR>
                    <a:lnT w="6350" cap="flat" cmpd="sng" algn="ctr">
                      <a:solidFill>
                        <a:srgbClr val="EFF2F5"/>
                      </a:solidFill>
                      <a:prstDash val="solid"/>
                      <a:round/>
                      <a:headEnd type="none" w="med" len="med"/>
                      <a:tailEnd type="none" w="med" len="med"/>
                    </a:lnT>
                    <a:lnB w="6350" cap="flat" cmpd="sng" algn="ctr">
                      <a:solidFill>
                        <a:srgbClr val="EFF2F5"/>
                      </a:solidFill>
                      <a:prstDash val="solid"/>
                      <a:round/>
                      <a:headEnd type="none" w="med" len="med"/>
                      <a:tailEnd type="none" w="med" len="med"/>
                    </a:lnB>
                    <a:solidFill>
                      <a:srgbClr val="FDF3DA"/>
                    </a:solidFill>
                  </a:tcPr>
                </a:tc>
              </a:tr>
            </a:tbl>
          </a:graphicData>
        </a:graphic>
      </p:graphicFrame>
      <p:sp>
        <p:nvSpPr>
          <p:cNvPr id="8" name="Shape 4"/>
          <p:cNvSpPr/>
          <p:nvPr/>
        </p:nvSpPr>
        <p:spPr>
          <a:xfrm>
            <a:off x="566928" y="4553712"/>
            <a:ext cx="5455768" cy="1005840"/>
          </a:xfrm>
          <a:prstGeom prst="roundRect">
            <a:avLst>
              <a:gd name="adj" fmla="val 7273"/>
            </a:avLst>
          </a:prstGeom>
          <a:solidFill>
            <a:srgbClr val="E6F4F6"/>
          </a:solidFill>
          <a:ln w="12700">
            <a:solidFill>
              <a:srgbClr val="9CCED6"/>
            </a:solidFill>
            <a:prstDash val="solid"/>
          </a:ln>
        </p:spPr>
      </p:sp>
      <p:sp>
        <p:nvSpPr>
          <p:cNvPr id="9" name="Shape 5"/>
          <p:cNvSpPr/>
          <p:nvPr/>
        </p:nvSpPr>
        <p:spPr>
          <a:xfrm>
            <a:off x="749808" y="4736592"/>
            <a:ext cx="1417320" cy="182880"/>
          </a:xfrm>
          <a:prstGeom prst="roundRect">
            <a:avLst>
              <a:gd name="adj" fmla="val 50000"/>
            </a:avLst>
          </a:prstGeom>
          <a:solidFill>
            <a:srgbClr val="FFFFFF"/>
          </a:solidFill>
          <a:ln w="12700">
            <a:solidFill>
              <a:srgbClr val="FFFFFF"/>
            </a:solidFill>
            <a:prstDash val="solid"/>
          </a:ln>
        </p:spPr>
      </p:sp>
      <p:sp>
        <p:nvSpPr>
          <p:cNvPr id="10" name="Text 6"/>
          <p:cNvSpPr/>
          <p:nvPr/>
        </p:nvSpPr>
        <p:spPr>
          <a:xfrm>
            <a:off x="749808" y="4736592"/>
            <a:ext cx="1417320" cy="182880"/>
          </a:xfrm>
          <a:prstGeom prst="rect">
            <a:avLst/>
          </a:prstGeom>
          <a:noFill/>
          <a:ln/>
        </p:spPr>
        <p:txBody>
          <a:bodyPr wrap="square" lIns="0" tIns="0" rIns="0" bIns="0" rtlCol="0" anchor="ctr"/>
          <a:lstStyle/>
          <a:p>
            <a:pPr algn="ctr" indent="0" marL="0">
              <a:buNone/>
            </a:pPr>
            <a:r>
              <a:rPr lang="en-US" sz="750" b="1" spc="100" kern="0" dirty="0">
                <a:solidFill>
                  <a:srgbClr val="0B6F7D"/>
                </a:solidFill>
                <a:latin typeface="Consolas" pitchFamily="34" charset="0"/>
                <a:ea typeface="Consolas" pitchFamily="34" charset="-122"/>
                <a:cs typeface="Consolas" pitchFamily="34" charset="-120"/>
              </a:rPr>
              <a:t>WITHIN 24 HOURS</a:t>
            </a:r>
            <a:endParaRPr lang="en-US" sz="750" dirty="0"/>
          </a:p>
        </p:txBody>
      </p:sp>
      <p:sp>
        <p:nvSpPr>
          <p:cNvPr id="11" name="Text 7"/>
          <p:cNvSpPr/>
          <p:nvPr/>
        </p:nvSpPr>
        <p:spPr>
          <a:xfrm>
            <a:off x="749808" y="5047488"/>
            <a:ext cx="5090008" cy="4297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Written confirmation of every decision above, the access requests raised with dates, and the first weekly session in calendars. Nothing agreed in this room survives on memory alone.</a:t>
            </a:r>
            <a:endParaRPr lang="en-US" sz="1000" dirty="0"/>
          </a:p>
        </p:txBody>
      </p:sp>
      <p:sp>
        <p:nvSpPr>
          <p:cNvPr id="12" name="Shape 8"/>
          <p:cNvSpPr/>
          <p:nvPr/>
        </p:nvSpPr>
        <p:spPr>
          <a:xfrm>
            <a:off x="6169000" y="4553712"/>
            <a:ext cx="5455768" cy="1005840"/>
          </a:xfrm>
          <a:prstGeom prst="roundRect">
            <a:avLst>
              <a:gd name="adj" fmla="val 7273"/>
            </a:avLst>
          </a:prstGeom>
          <a:solidFill>
            <a:srgbClr val="FFFFFF"/>
          </a:solidFill>
          <a:ln w="12700">
            <a:solidFill>
              <a:srgbClr val="E2E7EC"/>
            </a:solidFill>
            <a:prstDash val="solid"/>
          </a:ln>
        </p:spPr>
      </p:sp>
      <p:sp>
        <p:nvSpPr>
          <p:cNvPr id="13" name="Shape 9"/>
          <p:cNvSpPr/>
          <p:nvPr/>
        </p:nvSpPr>
        <p:spPr>
          <a:xfrm>
            <a:off x="6351880" y="4736592"/>
            <a:ext cx="1417320" cy="182880"/>
          </a:xfrm>
          <a:prstGeom prst="roundRect">
            <a:avLst>
              <a:gd name="adj" fmla="val 50000"/>
            </a:avLst>
          </a:prstGeom>
          <a:solidFill>
            <a:srgbClr val="EFF2F5"/>
          </a:solidFill>
          <a:ln w="12700">
            <a:solidFill>
              <a:srgbClr val="EFF2F5"/>
            </a:solidFill>
            <a:prstDash val="solid"/>
          </a:ln>
        </p:spPr>
      </p:sp>
      <p:sp>
        <p:nvSpPr>
          <p:cNvPr id="14" name="Text 10"/>
          <p:cNvSpPr/>
          <p:nvPr/>
        </p:nvSpPr>
        <p:spPr>
          <a:xfrm>
            <a:off x="6351880" y="4736592"/>
            <a:ext cx="1417320" cy="182880"/>
          </a:xfrm>
          <a:prstGeom prst="rect">
            <a:avLst/>
          </a:prstGeom>
          <a:noFill/>
          <a:ln/>
        </p:spPr>
        <p:txBody>
          <a:bodyPr wrap="square" lIns="0" tIns="0" rIns="0" bIns="0" rtlCol="0" anchor="ctr"/>
          <a:lstStyle/>
          <a:p>
            <a:pPr algn="ctr" indent="0" marL="0">
              <a:buNone/>
            </a:pPr>
            <a:r>
              <a:rPr lang="en-US" sz="750" b="1" spc="100" kern="0" dirty="0">
                <a:solidFill>
                  <a:srgbClr val="46586B"/>
                </a:solidFill>
                <a:latin typeface="Consolas" pitchFamily="34" charset="0"/>
                <a:ea typeface="Consolas" pitchFamily="34" charset="-122"/>
                <a:cs typeface="Consolas" pitchFamily="34" charset="-120"/>
              </a:rPr>
              <a:t>WITHIN 5 WORKING DAYS</a:t>
            </a:r>
            <a:endParaRPr lang="en-US" sz="750" dirty="0"/>
          </a:p>
        </p:txBody>
      </p:sp>
      <p:sp>
        <p:nvSpPr>
          <p:cNvPr id="15" name="Text 11"/>
          <p:cNvSpPr/>
          <p:nvPr/>
        </p:nvSpPr>
        <p:spPr>
          <a:xfrm>
            <a:off x="6351880" y="5047488"/>
            <a:ext cx="5090008" cy="429768"/>
          </a:xfrm>
          <a:prstGeom prst="rect">
            <a:avLst/>
          </a:prstGeom>
          <a:noFill/>
          <a:ln/>
        </p:spPr>
        <p:txBody>
          <a:bodyPr wrap="square" lIns="0" tIns="0" rIns="0" bIns="0" rtlCol="0" anchor="t"/>
          <a:lstStyle/>
          <a:p>
            <a:pPr indent="0" marL="0">
              <a:lnSpc>
                <a:spcPct val="110000"/>
              </a:lnSpc>
              <a:buNone/>
            </a:pPr>
            <a:r>
              <a:rPr lang="en-US" sz="1000" dirty="0">
                <a:solidFill>
                  <a:srgbClr val="46586B"/>
                </a:solidFill>
                <a:latin typeface="Calibri" pitchFamily="34" charset="0"/>
                <a:ea typeface="Calibri" pitchFamily="34" charset="-122"/>
                <a:cs typeface="Calibri" pitchFamily="34" charset="-120"/>
              </a:rPr>
              <a:t>The week-1 autonomy-framing workshop — half a day, the seven named people, and the estate map on slide 16 completed properly rather than live-edited.</a:t>
            </a:r>
            <a:endParaRPr lang="en-US" sz="1000" dirty="0"/>
          </a:p>
        </p:txBody>
      </p:sp>
      <p:sp>
        <p:nvSpPr>
          <p:cNvPr id="16" name="Shape 12"/>
          <p:cNvSpPr/>
          <p:nvPr/>
        </p:nvSpPr>
        <p:spPr>
          <a:xfrm>
            <a:off x="566928" y="6382512"/>
            <a:ext cx="11057839" cy="0"/>
          </a:xfrm>
          <a:prstGeom prst="line">
            <a:avLst/>
          </a:prstGeom>
          <a:noFill/>
          <a:ln w="9525">
            <a:solidFill>
              <a:srgbClr val="E2E7EC"/>
            </a:solidFill>
            <a:prstDash val="solid"/>
          </a:ln>
        </p:spPr>
      </p:sp>
      <p:sp>
        <p:nvSpPr>
          <p:cNvPr id="17" name="Text 1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18" name="Text 1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ENTERPRISE AI OPERATING MODEL · POC KICKOFF</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8172A"/>
        </a:solidFill>
      </p:bgPr>
    </p:bg>
    <p:spTree>
      <p:nvGrpSpPr>
        <p:cNvPr id="1" name=""/>
        <p:cNvGrpSpPr/>
        <p:nvPr/>
      </p:nvGrpSpPr>
      <p:grpSpPr>
        <a:xfrm>
          <a:off x="0" y="0"/>
          <a:ext cx="0" cy="0"/>
          <a:chOff x="0" y="0"/>
          <a:chExt cx="0" cy="0"/>
        </a:xfrm>
      </p:grpSpPr>
      <p:sp>
        <p:nvSpPr>
          <p:cNvPr id="3" name="Shape 0"/>
          <p:cNvSpPr/>
          <p:nvPr/>
        </p:nvSpPr>
        <p:spPr>
          <a:xfrm>
            <a:off x="566928" y="2286000"/>
            <a:ext cx="41148" cy="2103120"/>
          </a:xfrm>
          <a:prstGeom prst="rect">
            <a:avLst/>
          </a:prstGeom>
          <a:solidFill>
            <a:srgbClr val="5FD8E6"/>
          </a:solidFill>
          <a:ln w="12700">
            <a:solidFill>
              <a:srgbClr val="333333"/>
            </a:solidFill>
            <a:prstDash val="solid"/>
          </a:ln>
        </p:spPr>
      </p:sp>
      <p:sp>
        <p:nvSpPr>
          <p:cNvPr id="4" name="Text 1"/>
          <p:cNvSpPr/>
          <p:nvPr/>
        </p:nvSpPr>
        <p:spPr>
          <a:xfrm>
            <a:off x="896112" y="2286000"/>
            <a:ext cx="10515600" cy="2103120"/>
          </a:xfrm>
          <a:prstGeom prst="rect">
            <a:avLst/>
          </a:prstGeom>
          <a:noFill/>
          <a:ln/>
        </p:spPr>
        <p:txBody>
          <a:bodyPr wrap="square" lIns="0" tIns="0" rIns="0" bIns="0" rtlCol="0" anchor="ctr"/>
          <a:lstStyle/>
          <a:p>
            <a:pPr indent="0" marL="0">
              <a:lnSpc>
                <a:spcPct val="122000"/>
              </a:lnSpc>
              <a:buNone/>
            </a:pPr>
            <a:r>
              <a:rPr lang="en-US" sz="2800" b="1" dirty="0">
                <a:solidFill>
                  <a:srgbClr val="FFFFFF"/>
                </a:solidFill>
                <a:latin typeface="Calibri" pitchFamily="34" charset="0"/>
                <a:ea typeface="Calibri" pitchFamily="34" charset="-122"/>
                <a:cs typeface="Calibri" pitchFamily="34" charset="-120"/>
              </a:rPr>
              <a:t>Formal enough to preserve</a:t>
            </a:r>
            <a:endParaRPr lang="en-US" sz="2800" dirty="0"/>
          </a:p>
          <a:p>
            <a:pPr indent="0" marL="0">
              <a:lnSpc>
                <a:spcPct val="122000"/>
              </a:lnSpc>
              <a:buNone/>
            </a:pPr>
            <a:r>
              <a:rPr lang="en-US" sz="2800" b="1" dirty="0">
                <a:solidFill>
                  <a:srgbClr val="FFFFFF"/>
                </a:solidFill>
                <a:latin typeface="Calibri" pitchFamily="34" charset="0"/>
                <a:ea typeface="Calibri" pitchFamily="34" charset="-122"/>
                <a:cs typeface="Calibri" pitchFamily="34" charset="-120"/>
              </a:rPr>
              <a:t>the security properties.</a:t>
            </a:r>
            <a:endParaRPr lang="en-US" sz="2800" dirty="0"/>
          </a:p>
          <a:p>
            <a:pPr indent="0" marL="0">
              <a:lnSpc>
                <a:spcPct val="122000"/>
              </a:lnSpc>
              <a:buNone/>
            </a:pPr>
            <a:r>
              <a:rPr lang="en-US" sz="2800" b="1" dirty="0">
                <a:solidFill>
                  <a:srgbClr val="FFFFFF"/>
                </a:solidFill>
                <a:latin typeface="Calibri" pitchFamily="34" charset="0"/>
                <a:ea typeface="Calibri" pitchFamily="34" charset="-122"/>
                <a:cs typeface="Calibri" pitchFamily="34" charset="-120"/>
              </a:rPr>
              <a:t>Pragmatic enough to ship one useful</a:t>
            </a:r>
            <a:endParaRPr lang="en-US" sz="2800" dirty="0"/>
          </a:p>
          <a:p>
            <a:pPr indent="0" marL="0">
              <a:lnSpc>
                <a:spcPct val="122000"/>
              </a:lnSpc>
              <a:buNone/>
            </a:pPr>
            <a:r>
              <a:rPr lang="en-US" sz="2800" b="1" dirty="0">
                <a:solidFill>
                  <a:srgbClr val="FFFFFF"/>
                </a:solidFill>
                <a:latin typeface="Calibri" pitchFamily="34" charset="0"/>
                <a:ea typeface="Calibri" pitchFamily="34" charset="-122"/>
                <a:cs typeface="Calibri" pitchFamily="34" charset="-120"/>
              </a:rPr>
              <a:t>service before building a cathedral.</a:t>
            </a:r>
            <a:endParaRPr lang="en-US" sz="2800" dirty="0"/>
          </a:p>
        </p:txBody>
      </p:sp>
      <p:sp>
        <p:nvSpPr>
          <p:cNvPr id="5" name="Shape 2"/>
          <p:cNvSpPr/>
          <p:nvPr/>
        </p:nvSpPr>
        <p:spPr>
          <a:xfrm>
            <a:off x="566928" y="6382512"/>
            <a:ext cx="11057839" cy="0"/>
          </a:xfrm>
          <a:prstGeom prst="line">
            <a:avLst/>
          </a:prstGeom>
          <a:noFill/>
          <a:ln w="9525">
            <a:solidFill>
              <a:srgbClr val="20364C"/>
            </a:solidFill>
            <a:prstDash val="solid"/>
          </a:ln>
        </p:spPr>
      </p:sp>
      <p:sp>
        <p:nvSpPr>
          <p:cNvPr id="6" name="Text 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C7D6E2"/>
                </a:solidFill>
                <a:latin typeface="Consolas" pitchFamily="34" charset="0"/>
                <a:ea typeface="Consolas" pitchFamily="34" charset="-122"/>
                <a:cs typeface="Consolas" pitchFamily="34" charset="-120"/>
              </a:rPr>
              <a:t>AEGISES</a:t>
            </a:r>
            <a:endParaRPr lang="en-US" sz="850" dirty="0"/>
          </a:p>
        </p:txBody>
      </p:sp>
      <p:sp>
        <p:nvSpPr>
          <p:cNvPr id="7" name="Text 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8AA3B8"/>
                </a:solidFill>
                <a:latin typeface="Consolas" pitchFamily="34" charset="0"/>
                <a:ea typeface="Consolas" pitchFamily="34" charset="-122"/>
                <a:cs typeface="Consolas" pitchFamily="34" charset="-120"/>
              </a:rPr>
              <a:t>STANDARDIZE THE CONTROL CONTRACT · PRESERVE TECHNOLOGY CHOICE · PROVE ONE CONSEQUENTIAL PATH · THEN SCALE</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A1</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APPENDIX · TEMPLATE</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Week-0 intake — the fields this deck is parameterised on.</a:t>
            </a:r>
            <a:endParaRPr lang="en-US" sz="3000" dirty="0"/>
          </a:p>
        </p:txBody>
      </p:sp>
      <p:sp>
        <p:nvSpPr>
          <p:cNvPr id="6" name="Text 3"/>
          <p:cNvSpPr/>
          <p:nvPr/>
        </p:nvSpPr>
        <p:spPr>
          <a:xfrm>
            <a:off x="1389888" y="1150620"/>
            <a:ext cx="10051999" cy="40487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Every bracketed field in the preceding 33 slides resolves from this sheet. Filled in before the session, the kickoff runs thirty minutes shorter.</a:t>
            </a:r>
            <a:endParaRPr lang="en-US" sz="1250" dirty="0"/>
          </a:p>
        </p:txBody>
      </p:sp>
      <p:sp>
        <p:nvSpPr>
          <p:cNvPr id="7" name="Shape 4"/>
          <p:cNvSpPr/>
          <p:nvPr/>
        </p:nvSpPr>
        <p:spPr>
          <a:xfrm>
            <a:off x="566928" y="1701800"/>
            <a:ext cx="3588410" cy="3108960"/>
          </a:xfrm>
          <a:prstGeom prst="roundRect">
            <a:avLst>
              <a:gd name="adj" fmla="val 2353"/>
            </a:avLst>
          </a:prstGeom>
          <a:solidFill>
            <a:srgbClr val="FFFFFF"/>
          </a:solidFill>
          <a:ln w="12700">
            <a:solidFill>
              <a:srgbClr val="E2E7EC"/>
            </a:solidFill>
            <a:prstDash val="solid"/>
          </a:ln>
        </p:spPr>
      </p:sp>
      <p:sp>
        <p:nvSpPr>
          <p:cNvPr id="8" name="Text 5"/>
          <p:cNvSpPr/>
          <p:nvPr/>
        </p:nvSpPr>
        <p:spPr>
          <a:xfrm>
            <a:off x="749808" y="1866392"/>
            <a:ext cx="3222650" cy="182880"/>
          </a:xfrm>
          <a:prstGeom prst="rect">
            <a:avLst/>
          </a:prstGeom>
          <a:noFill/>
          <a:ln/>
        </p:spPr>
        <p:txBody>
          <a:bodyPr wrap="square" lIns="0" tIns="0" rIns="0" bIns="0" rtlCol="0" anchor="ctr"/>
          <a:lstStyle/>
          <a:p>
            <a:pPr indent="0" marL="0">
              <a:buNone/>
            </a:pPr>
            <a:r>
              <a:rPr lang="en-US" sz="800" b="1" spc="140" kern="0" dirty="0">
                <a:solidFill>
                  <a:srgbClr val="0B6F7D"/>
                </a:solidFill>
                <a:latin typeface="Consolas" pitchFamily="34" charset="0"/>
                <a:ea typeface="Consolas" pitchFamily="34" charset="-122"/>
                <a:cs typeface="Consolas" pitchFamily="34" charset="-120"/>
              </a:rPr>
              <a:t>ENGAGEMENT</a:t>
            </a:r>
            <a:endParaRPr lang="en-US" sz="800" dirty="0"/>
          </a:p>
        </p:txBody>
      </p:sp>
      <p:sp>
        <p:nvSpPr>
          <p:cNvPr id="9" name="Text 6"/>
          <p:cNvSpPr/>
          <p:nvPr/>
        </p:nvSpPr>
        <p:spPr>
          <a:xfrm>
            <a:off x="749808" y="215900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[CLIENT]</a:t>
            </a:r>
            <a:endParaRPr lang="en-US" sz="950" dirty="0"/>
          </a:p>
        </p:txBody>
      </p:sp>
      <p:sp>
        <p:nvSpPr>
          <p:cNvPr id="10" name="Text 7"/>
          <p:cNvSpPr/>
          <p:nvPr/>
        </p:nvSpPr>
        <p:spPr>
          <a:xfrm>
            <a:off x="3496970" y="215900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11" name="Shape 8"/>
          <p:cNvSpPr/>
          <p:nvPr/>
        </p:nvSpPr>
        <p:spPr>
          <a:xfrm>
            <a:off x="749808" y="2396744"/>
            <a:ext cx="3222650" cy="0"/>
          </a:xfrm>
          <a:prstGeom prst="line">
            <a:avLst/>
          </a:prstGeom>
          <a:noFill/>
          <a:ln w="9525">
            <a:solidFill>
              <a:srgbClr val="EFF2F5"/>
            </a:solidFill>
            <a:prstDash val="solid"/>
          </a:ln>
        </p:spPr>
      </p:sp>
      <p:sp>
        <p:nvSpPr>
          <p:cNvPr id="12" name="Text 9"/>
          <p:cNvSpPr/>
          <p:nvPr/>
        </p:nvSpPr>
        <p:spPr>
          <a:xfrm>
            <a:off x="749808" y="246989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[DATE] · kickoff</a:t>
            </a:r>
            <a:endParaRPr lang="en-US" sz="950" dirty="0"/>
          </a:p>
        </p:txBody>
      </p:sp>
      <p:sp>
        <p:nvSpPr>
          <p:cNvPr id="13" name="Text 10"/>
          <p:cNvSpPr/>
          <p:nvPr/>
        </p:nvSpPr>
        <p:spPr>
          <a:xfrm>
            <a:off x="3496970" y="246989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14" name="Shape 11"/>
          <p:cNvSpPr/>
          <p:nvPr/>
        </p:nvSpPr>
        <p:spPr>
          <a:xfrm>
            <a:off x="749808" y="2707640"/>
            <a:ext cx="3222650" cy="0"/>
          </a:xfrm>
          <a:prstGeom prst="line">
            <a:avLst/>
          </a:prstGeom>
          <a:noFill/>
          <a:ln w="9525">
            <a:solidFill>
              <a:srgbClr val="EFF2F5"/>
            </a:solidFill>
            <a:prstDash val="solid"/>
          </a:ln>
        </p:spPr>
      </p:sp>
      <p:sp>
        <p:nvSpPr>
          <p:cNvPr id="15" name="Text 12"/>
          <p:cNvSpPr/>
          <p:nvPr/>
        </p:nvSpPr>
        <p:spPr>
          <a:xfrm>
            <a:off x="749808" y="2780792"/>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[START DATE] · week 1</a:t>
            </a:r>
            <a:endParaRPr lang="en-US" sz="950" dirty="0"/>
          </a:p>
        </p:txBody>
      </p:sp>
      <p:sp>
        <p:nvSpPr>
          <p:cNvPr id="16" name="Text 13"/>
          <p:cNvSpPr/>
          <p:nvPr/>
        </p:nvSpPr>
        <p:spPr>
          <a:xfrm>
            <a:off x="3496970" y="2780792"/>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17" name="Shape 14"/>
          <p:cNvSpPr/>
          <p:nvPr/>
        </p:nvSpPr>
        <p:spPr>
          <a:xfrm>
            <a:off x="749808" y="3018536"/>
            <a:ext cx="3222650" cy="0"/>
          </a:xfrm>
          <a:prstGeom prst="line">
            <a:avLst/>
          </a:prstGeom>
          <a:noFill/>
          <a:ln w="9525">
            <a:solidFill>
              <a:srgbClr val="EFF2F5"/>
            </a:solidFill>
            <a:prstDash val="solid"/>
          </a:ln>
        </p:spPr>
      </p:sp>
      <p:sp>
        <p:nvSpPr>
          <p:cNvPr id="18" name="Text 15"/>
          <p:cNvSpPr/>
          <p:nvPr/>
        </p:nvSpPr>
        <p:spPr>
          <a:xfrm>
            <a:off x="749808" y="3091688"/>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[ENGAGEMENT ID]</a:t>
            </a:r>
            <a:endParaRPr lang="en-US" sz="950" dirty="0"/>
          </a:p>
        </p:txBody>
      </p:sp>
      <p:sp>
        <p:nvSpPr>
          <p:cNvPr id="19" name="Text 16"/>
          <p:cNvSpPr/>
          <p:nvPr/>
        </p:nvSpPr>
        <p:spPr>
          <a:xfrm>
            <a:off x="3496970" y="3091688"/>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20" name="Shape 17"/>
          <p:cNvSpPr/>
          <p:nvPr/>
        </p:nvSpPr>
        <p:spPr>
          <a:xfrm>
            <a:off x="749808" y="3329432"/>
            <a:ext cx="3222650" cy="0"/>
          </a:xfrm>
          <a:prstGeom prst="line">
            <a:avLst/>
          </a:prstGeom>
          <a:noFill/>
          <a:ln w="9525">
            <a:solidFill>
              <a:srgbClr val="EFF2F5"/>
            </a:solidFill>
            <a:prstDash val="solid"/>
          </a:ln>
        </p:spPr>
      </p:sp>
      <p:sp>
        <p:nvSpPr>
          <p:cNvPr id="21" name="Text 18"/>
          <p:cNvSpPr/>
          <p:nvPr/>
        </p:nvSpPr>
        <p:spPr>
          <a:xfrm>
            <a:off x="749808" y="3402584"/>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[DOMAIN] · business area</a:t>
            </a:r>
            <a:endParaRPr lang="en-US" sz="950" dirty="0"/>
          </a:p>
        </p:txBody>
      </p:sp>
      <p:sp>
        <p:nvSpPr>
          <p:cNvPr id="22" name="Text 19"/>
          <p:cNvSpPr/>
          <p:nvPr/>
        </p:nvSpPr>
        <p:spPr>
          <a:xfrm>
            <a:off x="3496970" y="3402584"/>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23" name="Shape 20"/>
          <p:cNvSpPr/>
          <p:nvPr/>
        </p:nvSpPr>
        <p:spPr>
          <a:xfrm>
            <a:off x="749808" y="3640328"/>
            <a:ext cx="3222650" cy="0"/>
          </a:xfrm>
          <a:prstGeom prst="line">
            <a:avLst/>
          </a:prstGeom>
          <a:noFill/>
          <a:ln w="9525">
            <a:solidFill>
              <a:srgbClr val="EFF2F5"/>
            </a:solidFill>
            <a:prstDash val="solid"/>
          </a:ln>
        </p:spPr>
      </p:sp>
      <p:sp>
        <p:nvSpPr>
          <p:cNvPr id="24" name="Text 21"/>
          <p:cNvSpPr/>
          <p:nvPr/>
        </p:nvSpPr>
        <p:spPr>
          <a:xfrm>
            <a:off x="749808" y="371348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Binding regulatory frameworks</a:t>
            </a:r>
            <a:endParaRPr lang="en-US" sz="950" dirty="0"/>
          </a:p>
        </p:txBody>
      </p:sp>
      <p:sp>
        <p:nvSpPr>
          <p:cNvPr id="25" name="Text 22"/>
          <p:cNvSpPr/>
          <p:nvPr/>
        </p:nvSpPr>
        <p:spPr>
          <a:xfrm>
            <a:off x="3496970" y="371348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26" name="Shape 23"/>
          <p:cNvSpPr/>
          <p:nvPr/>
        </p:nvSpPr>
        <p:spPr>
          <a:xfrm>
            <a:off x="749808" y="3951224"/>
            <a:ext cx="3222650" cy="0"/>
          </a:xfrm>
          <a:prstGeom prst="line">
            <a:avLst/>
          </a:prstGeom>
          <a:noFill/>
          <a:ln w="9525">
            <a:solidFill>
              <a:srgbClr val="EFF2F5"/>
            </a:solidFill>
            <a:prstDash val="solid"/>
          </a:ln>
        </p:spPr>
      </p:sp>
      <p:sp>
        <p:nvSpPr>
          <p:cNvPr id="27" name="Text 24"/>
          <p:cNvSpPr/>
          <p:nvPr/>
        </p:nvSpPr>
        <p:spPr>
          <a:xfrm>
            <a:off x="749808" y="402437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Change freezes in window</a:t>
            </a:r>
            <a:endParaRPr lang="en-US" sz="950" dirty="0"/>
          </a:p>
        </p:txBody>
      </p:sp>
      <p:sp>
        <p:nvSpPr>
          <p:cNvPr id="28" name="Text 25"/>
          <p:cNvSpPr/>
          <p:nvPr/>
        </p:nvSpPr>
        <p:spPr>
          <a:xfrm>
            <a:off x="3496970" y="402437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29" name="Shape 26"/>
          <p:cNvSpPr/>
          <p:nvPr/>
        </p:nvSpPr>
        <p:spPr>
          <a:xfrm>
            <a:off x="749808" y="4262120"/>
            <a:ext cx="3222650" cy="0"/>
          </a:xfrm>
          <a:prstGeom prst="line">
            <a:avLst/>
          </a:prstGeom>
          <a:noFill/>
          <a:ln w="9525">
            <a:solidFill>
              <a:srgbClr val="EFF2F5"/>
            </a:solidFill>
            <a:prstDash val="solid"/>
          </a:ln>
        </p:spPr>
      </p:sp>
      <p:sp>
        <p:nvSpPr>
          <p:cNvPr id="30" name="Shape 27"/>
          <p:cNvSpPr/>
          <p:nvPr/>
        </p:nvSpPr>
        <p:spPr>
          <a:xfrm>
            <a:off x="4301642" y="1701800"/>
            <a:ext cx="3588410" cy="3108960"/>
          </a:xfrm>
          <a:prstGeom prst="roundRect">
            <a:avLst>
              <a:gd name="adj" fmla="val 2353"/>
            </a:avLst>
          </a:prstGeom>
          <a:solidFill>
            <a:srgbClr val="FFFFFF"/>
          </a:solidFill>
          <a:ln w="12700">
            <a:solidFill>
              <a:srgbClr val="E2E7EC"/>
            </a:solidFill>
            <a:prstDash val="solid"/>
          </a:ln>
        </p:spPr>
      </p:sp>
      <p:sp>
        <p:nvSpPr>
          <p:cNvPr id="31" name="Text 28"/>
          <p:cNvSpPr/>
          <p:nvPr/>
        </p:nvSpPr>
        <p:spPr>
          <a:xfrm>
            <a:off x="4484522" y="1866392"/>
            <a:ext cx="3222650" cy="182880"/>
          </a:xfrm>
          <a:prstGeom prst="rect">
            <a:avLst/>
          </a:prstGeom>
          <a:noFill/>
          <a:ln/>
        </p:spPr>
        <p:txBody>
          <a:bodyPr wrap="square" lIns="0" tIns="0" rIns="0" bIns="0" rtlCol="0" anchor="ctr"/>
          <a:lstStyle/>
          <a:p>
            <a:pPr indent="0" marL="0">
              <a:buNone/>
            </a:pPr>
            <a:r>
              <a:rPr lang="en-US" sz="800" b="1" spc="140" kern="0" dirty="0">
                <a:solidFill>
                  <a:srgbClr val="0B6F7D"/>
                </a:solidFill>
                <a:latin typeface="Consolas" pitchFamily="34" charset="0"/>
                <a:ea typeface="Consolas" pitchFamily="34" charset="-122"/>
                <a:cs typeface="Consolas" pitchFamily="34" charset="-120"/>
              </a:rPr>
              <a:t>FIRST PATH &amp; THRESHOLDS</a:t>
            </a:r>
            <a:endParaRPr lang="en-US" sz="800" dirty="0"/>
          </a:p>
        </p:txBody>
      </p:sp>
      <p:sp>
        <p:nvSpPr>
          <p:cNvPr id="32" name="Text 29"/>
          <p:cNvSpPr/>
          <p:nvPr/>
        </p:nvSpPr>
        <p:spPr>
          <a:xfrm>
            <a:off x="4484522" y="215900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[FIRST PATH]</a:t>
            </a:r>
            <a:endParaRPr lang="en-US" sz="950" dirty="0"/>
          </a:p>
        </p:txBody>
      </p:sp>
      <p:sp>
        <p:nvSpPr>
          <p:cNvPr id="33" name="Text 30"/>
          <p:cNvSpPr/>
          <p:nvPr/>
        </p:nvSpPr>
        <p:spPr>
          <a:xfrm>
            <a:off x="7231685" y="215900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34" name="Shape 31"/>
          <p:cNvSpPr/>
          <p:nvPr/>
        </p:nvSpPr>
        <p:spPr>
          <a:xfrm>
            <a:off x="4484522" y="2396744"/>
            <a:ext cx="3222650" cy="0"/>
          </a:xfrm>
          <a:prstGeom prst="line">
            <a:avLst/>
          </a:prstGeom>
          <a:noFill/>
          <a:ln w="9525">
            <a:solidFill>
              <a:srgbClr val="EFF2F5"/>
            </a:solidFill>
            <a:prstDash val="solid"/>
          </a:ln>
        </p:spPr>
      </p:sp>
      <p:sp>
        <p:nvSpPr>
          <p:cNvPr id="35" name="Text 32"/>
          <p:cNvSpPr/>
          <p:nvPr/>
        </p:nvSpPr>
        <p:spPr>
          <a:xfrm>
            <a:off x="4484522" y="246989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[ACTION] · the capability</a:t>
            </a:r>
            <a:endParaRPr lang="en-US" sz="950" dirty="0"/>
          </a:p>
        </p:txBody>
      </p:sp>
      <p:sp>
        <p:nvSpPr>
          <p:cNvPr id="36" name="Text 33"/>
          <p:cNvSpPr/>
          <p:nvPr/>
        </p:nvSpPr>
        <p:spPr>
          <a:xfrm>
            <a:off x="7231685" y="246989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37" name="Shape 34"/>
          <p:cNvSpPr/>
          <p:nvPr/>
        </p:nvSpPr>
        <p:spPr>
          <a:xfrm>
            <a:off x="4484522" y="2707640"/>
            <a:ext cx="3222650" cy="0"/>
          </a:xfrm>
          <a:prstGeom prst="line">
            <a:avLst/>
          </a:prstGeom>
          <a:noFill/>
          <a:ln w="9525">
            <a:solidFill>
              <a:srgbClr val="EFF2F5"/>
            </a:solidFill>
            <a:prstDash val="solid"/>
          </a:ln>
        </p:spPr>
      </p:sp>
      <p:sp>
        <p:nvSpPr>
          <p:cNvPr id="38" name="Text 35"/>
          <p:cNvSpPr/>
          <p:nvPr/>
        </p:nvSpPr>
        <p:spPr>
          <a:xfrm>
            <a:off x="4484522" y="2780792"/>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Fallback candidate path</a:t>
            </a:r>
            <a:endParaRPr lang="en-US" sz="950" dirty="0"/>
          </a:p>
        </p:txBody>
      </p:sp>
      <p:sp>
        <p:nvSpPr>
          <p:cNvPr id="39" name="Text 36"/>
          <p:cNvSpPr/>
          <p:nvPr/>
        </p:nvSpPr>
        <p:spPr>
          <a:xfrm>
            <a:off x="7231685" y="2780792"/>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40" name="Shape 37"/>
          <p:cNvSpPr/>
          <p:nvPr/>
        </p:nvSpPr>
        <p:spPr>
          <a:xfrm>
            <a:off x="4484522" y="3018536"/>
            <a:ext cx="3222650" cy="0"/>
          </a:xfrm>
          <a:prstGeom prst="line">
            <a:avLst/>
          </a:prstGeom>
          <a:noFill/>
          <a:ln w="9525">
            <a:solidFill>
              <a:srgbClr val="EFF2F5"/>
            </a:solidFill>
            <a:prstDash val="solid"/>
          </a:ln>
        </p:spPr>
      </p:sp>
      <p:sp>
        <p:nvSpPr>
          <p:cNvPr id="41" name="Text 38"/>
          <p:cNvSpPr/>
          <p:nvPr/>
        </p:nvSpPr>
        <p:spPr>
          <a:xfrm>
            <a:off x="4484522" y="3091688"/>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Attribution latency target</a:t>
            </a:r>
            <a:endParaRPr lang="en-US" sz="950" dirty="0"/>
          </a:p>
        </p:txBody>
      </p:sp>
      <p:sp>
        <p:nvSpPr>
          <p:cNvPr id="42" name="Text 39"/>
          <p:cNvSpPr/>
          <p:nvPr/>
        </p:nvSpPr>
        <p:spPr>
          <a:xfrm>
            <a:off x="7231685" y="3091688"/>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43" name="Shape 40"/>
          <p:cNvSpPr/>
          <p:nvPr/>
        </p:nvSpPr>
        <p:spPr>
          <a:xfrm>
            <a:off x="4484522" y="3329432"/>
            <a:ext cx="3222650" cy="0"/>
          </a:xfrm>
          <a:prstGeom prst="line">
            <a:avLst/>
          </a:prstGeom>
          <a:noFill/>
          <a:ln w="9525">
            <a:solidFill>
              <a:srgbClr val="EFF2F5"/>
            </a:solidFill>
            <a:prstDash val="solid"/>
          </a:ln>
        </p:spPr>
      </p:sp>
      <p:sp>
        <p:nvSpPr>
          <p:cNvPr id="44" name="Text 41"/>
          <p:cNvSpPr/>
          <p:nvPr/>
        </p:nvSpPr>
        <p:spPr>
          <a:xfrm>
            <a:off x="4484522" y="3402584"/>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Enforcement overhead budget · p99</a:t>
            </a:r>
            <a:endParaRPr lang="en-US" sz="950" dirty="0"/>
          </a:p>
        </p:txBody>
      </p:sp>
      <p:sp>
        <p:nvSpPr>
          <p:cNvPr id="45" name="Text 42"/>
          <p:cNvSpPr/>
          <p:nvPr/>
        </p:nvSpPr>
        <p:spPr>
          <a:xfrm>
            <a:off x="7231685" y="3402584"/>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46" name="Shape 43"/>
          <p:cNvSpPr/>
          <p:nvPr/>
        </p:nvSpPr>
        <p:spPr>
          <a:xfrm>
            <a:off x="4484522" y="3640328"/>
            <a:ext cx="3222650" cy="0"/>
          </a:xfrm>
          <a:prstGeom prst="line">
            <a:avLst/>
          </a:prstGeom>
          <a:noFill/>
          <a:ln w="9525">
            <a:solidFill>
              <a:srgbClr val="EFF2F5"/>
            </a:solidFill>
            <a:prstDash val="solid"/>
          </a:ln>
        </p:spPr>
      </p:sp>
      <p:sp>
        <p:nvSpPr>
          <p:cNvPr id="47" name="Text 44"/>
          <p:cNvSpPr/>
          <p:nvPr/>
        </p:nvSpPr>
        <p:spPr>
          <a:xfrm>
            <a:off x="4484522" y="371348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Time-to-stop target</a:t>
            </a:r>
            <a:endParaRPr lang="en-US" sz="950" dirty="0"/>
          </a:p>
        </p:txBody>
      </p:sp>
      <p:sp>
        <p:nvSpPr>
          <p:cNvPr id="48" name="Text 45"/>
          <p:cNvSpPr/>
          <p:nvPr/>
        </p:nvSpPr>
        <p:spPr>
          <a:xfrm>
            <a:off x="7231685" y="371348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49" name="Shape 46"/>
          <p:cNvSpPr/>
          <p:nvPr/>
        </p:nvSpPr>
        <p:spPr>
          <a:xfrm>
            <a:off x="4484522" y="3951224"/>
            <a:ext cx="3222650" cy="0"/>
          </a:xfrm>
          <a:prstGeom prst="line">
            <a:avLst/>
          </a:prstGeom>
          <a:noFill/>
          <a:ln w="9525">
            <a:solidFill>
              <a:srgbClr val="EFF2F5"/>
            </a:solidFill>
            <a:prstDash val="solid"/>
          </a:ln>
        </p:spPr>
      </p:sp>
      <p:sp>
        <p:nvSpPr>
          <p:cNvPr id="50" name="Text 47"/>
          <p:cNvSpPr/>
          <p:nvPr/>
        </p:nvSpPr>
        <p:spPr>
          <a:xfrm>
            <a:off x="4484522" y="402437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Evidence completeness target</a:t>
            </a:r>
            <a:endParaRPr lang="en-US" sz="950" dirty="0"/>
          </a:p>
        </p:txBody>
      </p:sp>
      <p:sp>
        <p:nvSpPr>
          <p:cNvPr id="51" name="Text 48"/>
          <p:cNvSpPr/>
          <p:nvPr/>
        </p:nvSpPr>
        <p:spPr>
          <a:xfrm>
            <a:off x="7231685" y="402437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52" name="Shape 49"/>
          <p:cNvSpPr/>
          <p:nvPr/>
        </p:nvSpPr>
        <p:spPr>
          <a:xfrm>
            <a:off x="4484522" y="4262120"/>
            <a:ext cx="3222650" cy="0"/>
          </a:xfrm>
          <a:prstGeom prst="line">
            <a:avLst/>
          </a:prstGeom>
          <a:noFill/>
          <a:ln w="9525">
            <a:solidFill>
              <a:srgbClr val="EFF2F5"/>
            </a:solidFill>
            <a:prstDash val="solid"/>
          </a:ln>
        </p:spPr>
      </p:sp>
      <p:sp>
        <p:nvSpPr>
          <p:cNvPr id="53" name="Text 50"/>
          <p:cNvSpPr/>
          <p:nvPr/>
        </p:nvSpPr>
        <p:spPr>
          <a:xfrm>
            <a:off x="4484522" y="4335272"/>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Unassisted adoption target</a:t>
            </a:r>
            <a:endParaRPr lang="en-US" sz="950" dirty="0"/>
          </a:p>
        </p:txBody>
      </p:sp>
      <p:sp>
        <p:nvSpPr>
          <p:cNvPr id="54" name="Text 51"/>
          <p:cNvSpPr/>
          <p:nvPr/>
        </p:nvSpPr>
        <p:spPr>
          <a:xfrm>
            <a:off x="7231685" y="4335272"/>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55" name="Shape 52"/>
          <p:cNvSpPr/>
          <p:nvPr/>
        </p:nvSpPr>
        <p:spPr>
          <a:xfrm>
            <a:off x="4484522" y="4573016"/>
            <a:ext cx="3222650" cy="0"/>
          </a:xfrm>
          <a:prstGeom prst="line">
            <a:avLst/>
          </a:prstGeom>
          <a:noFill/>
          <a:ln w="9525">
            <a:solidFill>
              <a:srgbClr val="EFF2F5"/>
            </a:solidFill>
            <a:prstDash val="solid"/>
          </a:ln>
        </p:spPr>
      </p:sp>
      <p:sp>
        <p:nvSpPr>
          <p:cNvPr id="56" name="Shape 53"/>
          <p:cNvSpPr/>
          <p:nvPr/>
        </p:nvSpPr>
        <p:spPr>
          <a:xfrm>
            <a:off x="8036357" y="1701800"/>
            <a:ext cx="3588410" cy="3108960"/>
          </a:xfrm>
          <a:prstGeom prst="roundRect">
            <a:avLst>
              <a:gd name="adj" fmla="val 2353"/>
            </a:avLst>
          </a:prstGeom>
          <a:solidFill>
            <a:srgbClr val="FFFFFF"/>
          </a:solidFill>
          <a:ln w="12700">
            <a:solidFill>
              <a:srgbClr val="E2E7EC"/>
            </a:solidFill>
            <a:prstDash val="solid"/>
          </a:ln>
        </p:spPr>
      </p:sp>
      <p:sp>
        <p:nvSpPr>
          <p:cNvPr id="57" name="Text 54"/>
          <p:cNvSpPr/>
          <p:nvPr/>
        </p:nvSpPr>
        <p:spPr>
          <a:xfrm>
            <a:off x="8219237" y="1866392"/>
            <a:ext cx="3222650" cy="182880"/>
          </a:xfrm>
          <a:prstGeom prst="rect">
            <a:avLst/>
          </a:prstGeom>
          <a:noFill/>
          <a:ln/>
        </p:spPr>
        <p:txBody>
          <a:bodyPr wrap="square" lIns="0" tIns="0" rIns="0" bIns="0" rtlCol="0" anchor="ctr"/>
          <a:lstStyle/>
          <a:p>
            <a:pPr indent="0" marL="0">
              <a:buNone/>
            </a:pPr>
            <a:r>
              <a:rPr lang="en-US" sz="800" b="1" spc="140" kern="0" dirty="0">
                <a:solidFill>
                  <a:srgbClr val="0B6F7D"/>
                </a:solidFill>
                <a:latin typeface="Consolas" pitchFamily="34" charset="0"/>
                <a:ea typeface="Consolas" pitchFamily="34" charset="-122"/>
                <a:cs typeface="Consolas" pitchFamily="34" charset="-120"/>
              </a:rPr>
              <a:t>ESTATE &amp; PEOPLE</a:t>
            </a:r>
            <a:endParaRPr lang="en-US" sz="800" dirty="0"/>
          </a:p>
        </p:txBody>
      </p:sp>
      <p:sp>
        <p:nvSpPr>
          <p:cNvPr id="58" name="Text 55"/>
          <p:cNvSpPr/>
          <p:nvPr/>
        </p:nvSpPr>
        <p:spPr>
          <a:xfrm>
            <a:off x="8219237" y="215900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Identity provider</a:t>
            </a:r>
            <a:endParaRPr lang="en-US" sz="950" dirty="0"/>
          </a:p>
        </p:txBody>
      </p:sp>
      <p:sp>
        <p:nvSpPr>
          <p:cNvPr id="59" name="Text 56"/>
          <p:cNvSpPr/>
          <p:nvPr/>
        </p:nvSpPr>
        <p:spPr>
          <a:xfrm>
            <a:off x="10966399" y="215900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60" name="Shape 57"/>
          <p:cNvSpPr/>
          <p:nvPr/>
        </p:nvSpPr>
        <p:spPr>
          <a:xfrm>
            <a:off x="8219237" y="2396744"/>
            <a:ext cx="3222650" cy="0"/>
          </a:xfrm>
          <a:prstGeom prst="line">
            <a:avLst/>
          </a:prstGeom>
          <a:noFill/>
          <a:ln w="9525">
            <a:solidFill>
              <a:srgbClr val="EFF2F5"/>
            </a:solidFill>
            <a:prstDash val="solid"/>
          </a:ln>
        </p:spPr>
      </p:sp>
      <p:sp>
        <p:nvSpPr>
          <p:cNvPr id="61" name="Text 58"/>
          <p:cNvSpPr/>
          <p:nvPr/>
        </p:nvSpPr>
        <p:spPr>
          <a:xfrm>
            <a:off x="8219237" y="246989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Observability backend</a:t>
            </a:r>
            <a:endParaRPr lang="en-US" sz="950" dirty="0"/>
          </a:p>
        </p:txBody>
      </p:sp>
      <p:sp>
        <p:nvSpPr>
          <p:cNvPr id="62" name="Text 59"/>
          <p:cNvSpPr/>
          <p:nvPr/>
        </p:nvSpPr>
        <p:spPr>
          <a:xfrm>
            <a:off x="10966399" y="246989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63" name="Shape 60"/>
          <p:cNvSpPr/>
          <p:nvPr/>
        </p:nvSpPr>
        <p:spPr>
          <a:xfrm>
            <a:off x="8219237" y="2707640"/>
            <a:ext cx="3222650" cy="0"/>
          </a:xfrm>
          <a:prstGeom prst="line">
            <a:avLst/>
          </a:prstGeom>
          <a:noFill/>
          <a:ln w="9525">
            <a:solidFill>
              <a:srgbClr val="EFF2F5"/>
            </a:solidFill>
            <a:prstDash val="solid"/>
          </a:ln>
        </p:spPr>
      </p:sp>
      <p:sp>
        <p:nvSpPr>
          <p:cNvPr id="64" name="Text 61"/>
          <p:cNvSpPr/>
          <p:nvPr/>
        </p:nvSpPr>
        <p:spPr>
          <a:xfrm>
            <a:off x="8219237" y="2780792"/>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API gateway / mesh</a:t>
            </a:r>
            <a:endParaRPr lang="en-US" sz="950" dirty="0"/>
          </a:p>
        </p:txBody>
      </p:sp>
      <p:sp>
        <p:nvSpPr>
          <p:cNvPr id="65" name="Text 62"/>
          <p:cNvSpPr/>
          <p:nvPr/>
        </p:nvSpPr>
        <p:spPr>
          <a:xfrm>
            <a:off x="10966399" y="2780792"/>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66" name="Shape 63"/>
          <p:cNvSpPr/>
          <p:nvPr/>
        </p:nvSpPr>
        <p:spPr>
          <a:xfrm>
            <a:off x="8219237" y="3018536"/>
            <a:ext cx="3222650" cy="0"/>
          </a:xfrm>
          <a:prstGeom prst="line">
            <a:avLst/>
          </a:prstGeom>
          <a:noFill/>
          <a:ln w="9525">
            <a:solidFill>
              <a:srgbClr val="EFF2F5"/>
            </a:solidFill>
            <a:prstDash val="solid"/>
          </a:ln>
        </p:spPr>
      </p:sp>
      <p:sp>
        <p:nvSpPr>
          <p:cNvPr id="67" name="Text 64"/>
          <p:cNvSpPr/>
          <p:nvPr/>
        </p:nvSpPr>
        <p:spPr>
          <a:xfrm>
            <a:off x="8219237" y="3091688"/>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Compute platform</a:t>
            </a:r>
            <a:endParaRPr lang="en-US" sz="950" dirty="0"/>
          </a:p>
        </p:txBody>
      </p:sp>
      <p:sp>
        <p:nvSpPr>
          <p:cNvPr id="68" name="Text 65"/>
          <p:cNvSpPr/>
          <p:nvPr/>
        </p:nvSpPr>
        <p:spPr>
          <a:xfrm>
            <a:off x="10966399" y="3091688"/>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69" name="Shape 66"/>
          <p:cNvSpPr/>
          <p:nvPr/>
        </p:nvSpPr>
        <p:spPr>
          <a:xfrm>
            <a:off x="8219237" y="3329432"/>
            <a:ext cx="3222650" cy="0"/>
          </a:xfrm>
          <a:prstGeom prst="line">
            <a:avLst/>
          </a:prstGeom>
          <a:noFill/>
          <a:ln w="9525">
            <a:solidFill>
              <a:srgbClr val="EFF2F5"/>
            </a:solidFill>
            <a:prstDash val="solid"/>
          </a:ln>
        </p:spPr>
      </p:sp>
      <p:sp>
        <p:nvSpPr>
          <p:cNvPr id="70" name="Text 67"/>
          <p:cNvSpPr/>
          <p:nvPr/>
        </p:nvSpPr>
        <p:spPr>
          <a:xfrm>
            <a:off x="8219237" y="3402584"/>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Service catalog / CMDB</a:t>
            </a:r>
            <a:endParaRPr lang="en-US" sz="950" dirty="0"/>
          </a:p>
        </p:txBody>
      </p:sp>
      <p:sp>
        <p:nvSpPr>
          <p:cNvPr id="71" name="Text 68"/>
          <p:cNvSpPr/>
          <p:nvPr/>
        </p:nvSpPr>
        <p:spPr>
          <a:xfrm>
            <a:off x="10966399" y="3402584"/>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72" name="Shape 69"/>
          <p:cNvSpPr/>
          <p:nvPr/>
        </p:nvSpPr>
        <p:spPr>
          <a:xfrm>
            <a:off x="8219237" y="3640328"/>
            <a:ext cx="3222650" cy="0"/>
          </a:xfrm>
          <a:prstGeom prst="line">
            <a:avLst/>
          </a:prstGeom>
          <a:noFill/>
          <a:ln w="9525">
            <a:solidFill>
              <a:srgbClr val="EFF2F5"/>
            </a:solidFill>
            <a:prstDash val="solid"/>
          </a:ln>
        </p:spPr>
      </p:sp>
      <p:sp>
        <p:nvSpPr>
          <p:cNvPr id="73" name="Text 70"/>
          <p:cNvSpPr/>
          <p:nvPr/>
        </p:nvSpPr>
        <p:spPr>
          <a:xfrm>
            <a:off x="8219237" y="3713480"/>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Workflow engine</a:t>
            </a:r>
            <a:endParaRPr lang="en-US" sz="950" dirty="0"/>
          </a:p>
        </p:txBody>
      </p:sp>
      <p:sp>
        <p:nvSpPr>
          <p:cNvPr id="74" name="Text 71"/>
          <p:cNvSpPr/>
          <p:nvPr/>
        </p:nvSpPr>
        <p:spPr>
          <a:xfrm>
            <a:off x="10966399" y="3713480"/>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75" name="Shape 72"/>
          <p:cNvSpPr/>
          <p:nvPr/>
        </p:nvSpPr>
        <p:spPr>
          <a:xfrm>
            <a:off x="8219237" y="3951224"/>
            <a:ext cx="3222650" cy="0"/>
          </a:xfrm>
          <a:prstGeom prst="line">
            <a:avLst/>
          </a:prstGeom>
          <a:noFill/>
          <a:ln w="9525">
            <a:solidFill>
              <a:srgbClr val="EFF2F5"/>
            </a:solidFill>
            <a:prstDash val="solid"/>
          </a:ln>
        </p:spPr>
      </p:sp>
      <p:sp>
        <p:nvSpPr>
          <p:cNvPr id="76" name="Text 73"/>
          <p:cNvSpPr/>
          <p:nvPr/>
        </p:nvSpPr>
        <p:spPr>
          <a:xfrm>
            <a:off x="8219237" y="4024376"/>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Data classes in scope · and out</a:t>
            </a:r>
            <a:endParaRPr lang="en-US" sz="950" dirty="0"/>
          </a:p>
        </p:txBody>
      </p:sp>
      <p:sp>
        <p:nvSpPr>
          <p:cNvPr id="77" name="Text 74"/>
          <p:cNvSpPr/>
          <p:nvPr/>
        </p:nvSpPr>
        <p:spPr>
          <a:xfrm>
            <a:off x="10966399" y="4024376"/>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78" name="Shape 75"/>
          <p:cNvSpPr/>
          <p:nvPr/>
        </p:nvSpPr>
        <p:spPr>
          <a:xfrm>
            <a:off x="8219237" y="4262120"/>
            <a:ext cx="3222650" cy="0"/>
          </a:xfrm>
          <a:prstGeom prst="line">
            <a:avLst/>
          </a:prstGeom>
          <a:noFill/>
          <a:ln w="9525">
            <a:solidFill>
              <a:srgbClr val="EFF2F5"/>
            </a:solidFill>
            <a:prstDash val="solid"/>
          </a:ln>
        </p:spPr>
      </p:sp>
      <p:sp>
        <p:nvSpPr>
          <p:cNvPr id="79" name="Text 76"/>
          <p:cNvSpPr/>
          <p:nvPr/>
        </p:nvSpPr>
        <p:spPr>
          <a:xfrm>
            <a:off x="8219237" y="4335272"/>
            <a:ext cx="2674010" cy="219456"/>
          </a:xfrm>
          <a:prstGeom prst="rect">
            <a:avLst/>
          </a:prstGeom>
          <a:noFill/>
          <a:ln/>
        </p:spPr>
        <p:txBody>
          <a:bodyPr wrap="square" lIns="0" tIns="0" rIns="0" bIns="0" rtlCol="0" anchor="t"/>
          <a:lstStyle/>
          <a:p>
            <a:pPr indent="0" marL="0">
              <a:lnSpc>
                <a:spcPct val="110000"/>
              </a:lnSpc>
              <a:buNone/>
            </a:pPr>
            <a:r>
              <a:rPr lang="en-US" sz="950" dirty="0">
                <a:solidFill>
                  <a:srgbClr val="46586B"/>
                </a:solidFill>
                <a:latin typeface="Calibri" pitchFamily="34" charset="0"/>
                <a:ea typeface="Calibri" pitchFamily="34" charset="-122"/>
                <a:cs typeface="Calibri" pitchFamily="34" charset="-120"/>
              </a:rPr>
              <a:t>Seven named roles · slide 28</a:t>
            </a:r>
            <a:endParaRPr lang="en-US" sz="950" dirty="0"/>
          </a:p>
        </p:txBody>
      </p:sp>
      <p:sp>
        <p:nvSpPr>
          <p:cNvPr id="80" name="Text 77"/>
          <p:cNvSpPr/>
          <p:nvPr/>
        </p:nvSpPr>
        <p:spPr>
          <a:xfrm>
            <a:off x="10966399" y="4335272"/>
            <a:ext cx="475488" cy="182880"/>
          </a:xfrm>
          <a:prstGeom prst="rect">
            <a:avLst/>
          </a:prstGeom>
          <a:noFill/>
          <a:ln/>
        </p:spPr>
        <p:txBody>
          <a:bodyPr wrap="square" lIns="0" tIns="0" rIns="0" bIns="0" rtlCol="0" anchor="ctr"/>
          <a:lstStyle/>
          <a:p>
            <a:pPr algn="r" indent="0" marL="0">
              <a:buNone/>
            </a:pPr>
            <a:r>
              <a:rPr lang="en-US" sz="900" dirty="0">
                <a:solidFill>
                  <a:srgbClr val="7E8C9B"/>
                </a:solidFill>
                <a:latin typeface="Consolas" pitchFamily="34" charset="0"/>
                <a:ea typeface="Consolas" pitchFamily="34" charset="-122"/>
                <a:cs typeface="Consolas" pitchFamily="34" charset="-120"/>
              </a:rPr>
              <a:t>—</a:t>
            </a:r>
            <a:endParaRPr lang="en-US" sz="900" dirty="0"/>
          </a:p>
        </p:txBody>
      </p:sp>
      <p:sp>
        <p:nvSpPr>
          <p:cNvPr id="81" name="Shape 78"/>
          <p:cNvSpPr/>
          <p:nvPr/>
        </p:nvSpPr>
        <p:spPr>
          <a:xfrm>
            <a:off x="8219237" y="4573016"/>
            <a:ext cx="3222650" cy="0"/>
          </a:xfrm>
          <a:prstGeom prst="line">
            <a:avLst/>
          </a:prstGeom>
          <a:noFill/>
          <a:ln w="9525">
            <a:solidFill>
              <a:srgbClr val="EFF2F5"/>
            </a:solidFill>
            <a:prstDash val="solid"/>
          </a:ln>
        </p:spPr>
      </p:sp>
      <p:sp>
        <p:nvSpPr>
          <p:cNvPr id="82" name="Shape 79"/>
          <p:cNvSpPr/>
          <p:nvPr/>
        </p:nvSpPr>
        <p:spPr>
          <a:xfrm>
            <a:off x="566928" y="4956048"/>
            <a:ext cx="11057839" cy="603504"/>
          </a:xfrm>
          <a:prstGeom prst="roundRect">
            <a:avLst>
              <a:gd name="adj" fmla="val 12121"/>
            </a:avLst>
          </a:prstGeom>
          <a:solidFill>
            <a:srgbClr val="E6F4F6"/>
          </a:solidFill>
          <a:ln w="12700">
            <a:solidFill>
              <a:srgbClr val="9CCED6"/>
            </a:solidFill>
            <a:prstDash val="solid"/>
          </a:ln>
        </p:spPr>
      </p:sp>
      <p:sp>
        <p:nvSpPr>
          <p:cNvPr id="83" name="Text 80"/>
          <p:cNvSpPr/>
          <p:nvPr/>
        </p:nvSpPr>
        <p:spPr>
          <a:xfrm>
            <a:off x="749808" y="5084064"/>
            <a:ext cx="10692079" cy="402336"/>
          </a:xfrm>
          <a:prstGeom prst="rect">
            <a:avLst/>
          </a:prstGeom>
          <a:noFill/>
          <a:ln/>
        </p:spPr>
        <p:txBody>
          <a:bodyPr wrap="square" lIns="0" tIns="0" rIns="0" bIns="0" rtlCol="0" anchor="t"/>
          <a:lstStyle/>
          <a:p>
            <a:pPr indent="0" marL="0">
              <a:lnSpc>
                <a:spcPct val="110000"/>
              </a:lnSpc>
              <a:buNone/>
            </a:pPr>
            <a:pPr indent="0" marL="0">
              <a:lnSpc>
                <a:spcPct val="110000"/>
              </a:lnSpc>
              <a:buNone/>
            </a:pPr>
            <a:r>
              <a:rPr lang="en-US" sz="1050" b="1" dirty="0">
                <a:solidFill>
                  <a:srgbClr val="0B1622"/>
                </a:solidFill>
                <a:latin typeface="Calibri" pitchFamily="34" charset="0"/>
                <a:ea typeface="Calibri" pitchFamily="34" charset="-122"/>
                <a:cs typeface="Calibri" pitchFamily="34" charset="-120"/>
              </a:rPr>
              <a:t>Where this arrives filled in before the session</a:t>
            </a:r>
            <a:pPr indent="0" marL="0">
              <a:lnSpc>
                <a:spcPct val="110000"/>
              </a:lnSpc>
              <a:buNone/>
            </a:pPr>
            <a:r>
              <a:rPr lang="en-US" sz="1050" dirty="0">
                <a:solidFill>
                  <a:srgbClr val="46586B"/>
                </a:solidFill>
                <a:latin typeface="Calibri" pitchFamily="34" charset="0"/>
                <a:ea typeface="Calibri" pitchFamily="34" charset="-122"/>
                <a:cs typeface="Calibri" pitchFamily="34" charset="-120"/>
              </a:rPr>
              <a:t>, the kickoff runs thirty minutes shorter and slide 16 becomes a review rather than a live exercise. That is the single highest-leverage piece of preparation available.</a:t>
            </a:r>
            <a:endParaRPr lang="en-US" sz="1050" dirty="0"/>
          </a:p>
        </p:txBody>
      </p:sp>
      <p:sp>
        <p:nvSpPr>
          <p:cNvPr id="84" name="Shape 81"/>
          <p:cNvSpPr/>
          <p:nvPr/>
        </p:nvSpPr>
        <p:spPr>
          <a:xfrm>
            <a:off x="566928" y="6382512"/>
            <a:ext cx="11057839" cy="0"/>
          </a:xfrm>
          <a:prstGeom prst="line">
            <a:avLst/>
          </a:prstGeom>
          <a:noFill/>
          <a:ln w="9525">
            <a:solidFill>
              <a:srgbClr val="E2E7EC"/>
            </a:solidFill>
            <a:prstDash val="solid"/>
          </a:ln>
        </p:spPr>
      </p:sp>
      <p:sp>
        <p:nvSpPr>
          <p:cNvPr id="85" name="Text 82"/>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86" name="Text 83"/>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APPENDIX · NOT PRESENTED</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BFA"/>
        </a:solidFill>
      </p:bgPr>
    </p:bg>
    <p:spTree>
      <p:nvGrpSpPr>
        <p:cNvPr id="1" name=""/>
        <p:cNvGrpSpPr/>
        <p:nvPr/>
      </p:nvGrpSpPr>
      <p:grpSpPr>
        <a:xfrm>
          <a:off x="0" y="0"/>
          <a:ext cx="0" cy="0"/>
          <a:chOff x="0" y="0"/>
          <a:chExt cx="0" cy="0"/>
        </a:xfrm>
      </p:grpSpPr>
      <p:sp>
        <p:nvSpPr>
          <p:cNvPr id="3" name="Text 0"/>
          <p:cNvSpPr/>
          <p:nvPr/>
        </p:nvSpPr>
        <p:spPr>
          <a:xfrm>
            <a:off x="566928" y="384048"/>
            <a:ext cx="731520" cy="219456"/>
          </a:xfrm>
          <a:prstGeom prst="rect">
            <a:avLst/>
          </a:prstGeom>
          <a:noFill/>
          <a:ln/>
        </p:spPr>
        <p:txBody>
          <a:bodyPr wrap="square" lIns="0" tIns="0" rIns="0" bIns="0" rtlCol="0" anchor="ctr"/>
          <a:lstStyle/>
          <a:p>
            <a:pPr indent="0" marL="0">
              <a:buNone/>
            </a:pPr>
            <a:r>
              <a:rPr lang="en-US" sz="1000" b="1" spc="160" kern="0" dirty="0">
                <a:solidFill>
                  <a:srgbClr val="0B6F7D"/>
                </a:solidFill>
                <a:latin typeface="Consolas" pitchFamily="34" charset="0"/>
                <a:ea typeface="Consolas" pitchFamily="34" charset="-122"/>
                <a:cs typeface="Consolas" pitchFamily="34" charset="-120"/>
              </a:rPr>
              <a:t>A2</a:t>
            </a:r>
            <a:endParaRPr lang="en-US" sz="1000" dirty="0"/>
          </a:p>
        </p:txBody>
      </p:sp>
      <p:sp>
        <p:nvSpPr>
          <p:cNvPr id="4" name="Text 1"/>
          <p:cNvSpPr/>
          <p:nvPr/>
        </p:nvSpPr>
        <p:spPr>
          <a:xfrm>
            <a:off x="1389888" y="384048"/>
            <a:ext cx="10234879" cy="219456"/>
          </a:xfrm>
          <a:prstGeom prst="rect">
            <a:avLst/>
          </a:prstGeom>
          <a:noFill/>
          <a:ln/>
        </p:spPr>
        <p:txBody>
          <a:bodyPr wrap="square" lIns="0" tIns="0" rIns="0" bIns="0" rtlCol="0" anchor="ctr"/>
          <a:lstStyle/>
          <a:p>
            <a:pPr indent="0" marL="0">
              <a:buNone/>
            </a:pPr>
            <a:r>
              <a:rPr lang="en-US" sz="1000" b="1" spc="220" kern="0" dirty="0">
                <a:solidFill>
                  <a:srgbClr val="0B6F7D"/>
                </a:solidFill>
                <a:latin typeface="Consolas" pitchFamily="34" charset="0"/>
                <a:ea typeface="Consolas" pitchFamily="34" charset="-122"/>
                <a:cs typeface="Consolas" pitchFamily="34" charset="-120"/>
              </a:rPr>
              <a:t>APPENDIX · VOCABULARY</a:t>
            </a:r>
            <a:endParaRPr lang="en-US" sz="1000" dirty="0"/>
          </a:p>
        </p:txBody>
      </p:sp>
      <p:sp>
        <p:nvSpPr>
          <p:cNvPr id="5" name="Text 2"/>
          <p:cNvSpPr/>
          <p:nvPr/>
        </p:nvSpPr>
        <p:spPr>
          <a:xfrm>
            <a:off x="1389888" y="621792"/>
            <a:ext cx="10234879" cy="473964"/>
          </a:xfrm>
          <a:prstGeom prst="rect">
            <a:avLst/>
          </a:prstGeom>
          <a:noFill/>
          <a:ln/>
        </p:spPr>
        <p:txBody>
          <a:bodyPr wrap="square" lIns="0" tIns="0" rIns="0" bIns="0" rtlCol="0" anchor="t"/>
          <a:lstStyle/>
          <a:p>
            <a:pPr indent="0" marL="0">
              <a:buNone/>
            </a:pPr>
            <a:r>
              <a:rPr lang="en-US" sz="3000" b="1" dirty="0">
                <a:solidFill>
                  <a:srgbClr val="0B1622"/>
                </a:solidFill>
                <a:latin typeface="Calibri" pitchFamily="34" charset="0"/>
                <a:ea typeface="Calibri" pitchFamily="34" charset="-122"/>
                <a:cs typeface="Calibri" pitchFamily="34" charset="-120"/>
              </a:rPr>
              <a:t>Six terms this deck uses precisely.</a:t>
            </a:r>
            <a:endParaRPr lang="en-US" sz="3000" dirty="0"/>
          </a:p>
        </p:txBody>
      </p:sp>
      <p:sp>
        <p:nvSpPr>
          <p:cNvPr id="6" name="Text 3"/>
          <p:cNvSpPr/>
          <p:nvPr/>
        </p:nvSpPr>
        <p:spPr>
          <a:xfrm>
            <a:off x="1389888" y="1150620"/>
            <a:ext cx="10051999" cy="220726"/>
          </a:xfrm>
          <a:prstGeom prst="rect">
            <a:avLst/>
          </a:prstGeom>
          <a:noFill/>
          <a:ln/>
        </p:spPr>
        <p:txBody>
          <a:bodyPr wrap="square" lIns="0" tIns="0" rIns="0" bIns="0" rtlCol="0" anchor="t"/>
          <a:lstStyle/>
          <a:p>
            <a:pPr indent="0" marL="0">
              <a:lnSpc>
                <a:spcPct val="112000"/>
              </a:lnSpc>
              <a:buNone/>
            </a:pPr>
            <a:r>
              <a:rPr lang="en-US" sz="1250" dirty="0">
                <a:solidFill>
                  <a:srgbClr val="46586B"/>
                </a:solidFill>
                <a:latin typeface="Calibri" pitchFamily="34" charset="0"/>
                <a:ea typeface="Calibri" pitchFamily="34" charset="-122"/>
                <a:cs typeface="Calibri" pitchFamily="34" charset="-120"/>
              </a:rPr>
              <a:t>Each is commonly used loosely. Where a definitional argument starts, it usually ends here.</a:t>
            </a:r>
            <a:endParaRPr lang="en-US" sz="1250" dirty="0"/>
          </a:p>
        </p:txBody>
      </p:sp>
      <p:sp>
        <p:nvSpPr>
          <p:cNvPr id="7" name="Shape 4"/>
          <p:cNvSpPr/>
          <p:nvPr/>
        </p:nvSpPr>
        <p:spPr>
          <a:xfrm>
            <a:off x="566928" y="1517650"/>
            <a:ext cx="5437480" cy="987552"/>
          </a:xfrm>
          <a:prstGeom prst="roundRect">
            <a:avLst>
              <a:gd name="adj" fmla="val 7407"/>
            </a:avLst>
          </a:prstGeom>
          <a:solidFill>
            <a:srgbClr val="FFFFFF"/>
          </a:solidFill>
          <a:ln w="12700">
            <a:solidFill>
              <a:srgbClr val="E2E7EC"/>
            </a:solidFill>
            <a:prstDash val="solid"/>
          </a:ln>
        </p:spPr>
      </p:sp>
      <p:sp>
        <p:nvSpPr>
          <p:cNvPr id="8" name="Text 5"/>
          <p:cNvSpPr/>
          <p:nvPr/>
        </p:nvSpPr>
        <p:spPr>
          <a:xfrm>
            <a:off x="749808" y="1645666"/>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Ambient authority</a:t>
            </a:r>
            <a:endParaRPr lang="en-US" sz="1300" dirty="0"/>
          </a:p>
        </p:txBody>
      </p:sp>
      <p:sp>
        <p:nvSpPr>
          <p:cNvPr id="9" name="Text 6"/>
          <p:cNvSpPr/>
          <p:nvPr/>
        </p:nvSpPr>
        <p:spPr>
          <a:xfrm>
            <a:off x="749808" y="1901698"/>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Permission an actor holds by virtue of where it is running rather than by an explicit, attributable grant. A long-lived service-account key on a pod is ambient authority — the default state of most estates, and the thing this architecture exists to remove.</a:t>
            </a:r>
            <a:endParaRPr lang="en-US" sz="980" dirty="0"/>
          </a:p>
        </p:txBody>
      </p:sp>
      <p:sp>
        <p:nvSpPr>
          <p:cNvPr id="10" name="Shape 7"/>
          <p:cNvSpPr/>
          <p:nvPr/>
        </p:nvSpPr>
        <p:spPr>
          <a:xfrm>
            <a:off x="6187288" y="1517650"/>
            <a:ext cx="5437480" cy="987552"/>
          </a:xfrm>
          <a:prstGeom prst="roundRect">
            <a:avLst>
              <a:gd name="adj" fmla="val 7407"/>
            </a:avLst>
          </a:prstGeom>
          <a:solidFill>
            <a:srgbClr val="FFFFFF"/>
          </a:solidFill>
          <a:ln w="12700">
            <a:solidFill>
              <a:srgbClr val="E2E7EC"/>
            </a:solidFill>
            <a:prstDash val="solid"/>
          </a:ln>
        </p:spPr>
      </p:sp>
      <p:sp>
        <p:nvSpPr>
          <p:cNvPr id="11" name="Text 8"/>
          <p:cNvSpPr/>
          <p:nvPr/>
        </p:nvSpPr>
        <p:spPr>
          <a:xfrm>
            <a:off x="6370168" y="1645666"/>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Capability grant</a:t>
            </a:r>
            <a:endParaRPr lang="en-US" sz="1300" dirty="0"/>
          </a:p>
        </p:txBody>
      </p:sp>
      <p:sp>
        <p:nvSpPr>
          <p:cNvPr id="12" name="Text 9"/>
          <p:cNvSpPr/>
          <p:nvPr/>
        </p:nvSpPr>
        <p:spPr>
          <a:xfrm>
            <a:off x="6370168" y="1901698"/>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A short-lived, audience-bound, attenuable credential conveying a specific authorization decision to the point that enforces it. Distinct from a role, which describes what an actor is and persists indefinitely.</a:t>
            </a:r>
            <a:endParaRPr lang="en-US" sz="980" dirty="0"/>
          </a:p>
        </p:txBody>
      </p:sp>
      <p:sp>
        <p:nvSpPr>
          <p:cNvPr id="13" name="Shape 10"/>
          <p:cNvSpPr/>
          <p:nvPr/>
        </p:nvSpPr>
        <p:spPr>
          <a:xfrm>
            <a:off x="566928" y="2633218"/>
            <a:ext cx="5437480" cy="987552"/>
          </a:xfrm>
          <a:prstGeom prst="roundRect">
            <a:avLst>
              <a:gd name="adj" fmla="val 7407"/>
            </a:avLst>
          </a:prstGeom>
          <a:solidFill>
            <a:srgbClr val="FFFFFF"/>
          </a:solidFill>
          <a:ln w="12700">
            <a:solidFill>
              <a:srgbClr val="E2E7EC"/>
            </a:solidFill>
            <a:prstDash val="solid"/>
          </a:ln>
        </p:spPr>
      </p:sp>
      <p:sp>
        <p:nvSpPr>
          <p:cNvPr id="14" name="Text 11"/>
          <p:cNvSpPr/>
          <p:nvPr/>
        </p:nvSpPr>
        <p:spPr>
          <a:xfrm>
            <a:off x="749808" y="2761234"/>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Attenuation</a:t>
            </a:r>
            <a:endParaRPr lang="en-US" sz="1300" dirty="0"/>
          </a:p>
        </p:txBody>
      </p:sp>
      <p:sp>
        <p:nvSpPr>
          <p:cNvPr id="15" name="Text 12"/>
          <p:cNvSpPr/>
          <p:nvPr/>
        </p:nvSpPr>
        <p:spPr>
          <a:xfrm>
            <a:off x="749808" y="3017266"/>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The property that a holder of authority can pass on a narrower version of it and never a wider one. This is what makes multi-agent delegation governable rather than merely observable.</a:t>
            </a:r>
            <a:endParaRPr lang="en-US" sz="980" dirty="0"/>
          </a:p>
        </p:txBody>
      </p:sp>
      <p:sp>
        <p:nvSpPr>
          <p:cNvPr id="16" name="Shape 13"/>
          <p:cNvSpPr/>
          <p:nvPr/>
        </p:nvSpPr>
        <p:spPr>
          <a:xfrm>
            <a:off x="6187288" y="2633218"/>
            <a:ext cx="5437480" cy="987552"/>
          </a:xfrm>
          <a:prstGeom prst="roundRect">
            <a:avLst>
              <a:gd name="adj" fmla="val 7407"/>
            </a:avLst>
          </a:prstGeom>
          <a:solidFill>
            <a:srgbClr val="FFFFFF"/>
          </a:solidFill>
          <a:ln w="12700">
            <a:solidFill>
              <a:srgbClr val="E2E7EC"/>
            </a:solidFill>
            <a:prstDash val="solid"/>
          </a:ln>
        </p:spPr>
      </p:sp>
      <p:sp>
        <p:nvSpPr>
          <p:cNvPr id="17" name="Text 14"/>
          <p:cNvSpPr/>
          <p:nvPr/>
        </p:nvSpPr>
        <p:spPr>
          <a:xfrm>
            <a:off x="6370168" y="2761234"/>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Mediation boundary</a:t>
            </a:r>
            <a:endParaRPr lang="en-US" sz="1300" dirty="0"/>
          </a:p>
        </p:txBody>
      </p:sp>
      <p:sp>
        <p:nvSpPr>
          <p:cNvPr id="18" name="Text 15"/>
          <p:cNvSpPr/>
          <p:nvPr/>
        </p:nvSpPr>
        <p:spPr>
          <a:xfrm>
            <a:off x="6370168" y="3017266"/>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The enforcement point that verifies a grant and exposes only the approved interfaces of a resource. May be a sidecar, a gateway plugin, a portable runtime or a native component — the pattern is fixed, the implementation is not.</a:t>
            </a:r>
            <a:endParaRPr lang="en-US" sz="980" dirty="0"/>
          </a:p>
        </p:txBody>
      </p:sp>
      <p:sp>
        <p:nvSpPr>
          <p:cNvPr id="19" name="Shape 16"/>
          <p:cNvSpPr/>
          <p:nvPr/>
        </p:nvSpPr>
        <p:spPr>
          <a:xfrm>
            <a:off x="566928" y="3748786"/>
            <a:ext cx="5437480" cy="987552"/>
          </a:xfrm>
          <a:prstGeom prst="roundRect">
            <a:avLst>
              <a:gd name="adj" fmla="val 7407"/>
            </a:avLst>
          </a:prstGeom>
          <a:solidFill>
            <a:srgbClr val="FFFFFF"/>
          </a:solidFill>
          <a:ln w="12700">
            <a:solidFill>
              <a:srgbClr val="E2E7EC"/>
            </a:solidFill>
            <a:prstDash val="solid"/>
          </a:ln>
        </p:spPr>
      </p:sp>
      <p:sp>
        <p:nvSpPr>
          <p:cNvPr id="20" name="Text 17"/>
          <p:cNvSpPr/>
          <p:nvPr/>
        </p:nvSpPr>
        <p:spPr>
          <a:xfrm>
            <a:off x="749808" y="3876802"/>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Golden path</a:t>
            </a:r>
            <a:endParaRPr lang="en-US" sz="1300" dirty="0"/>
          </a:p>
        </p:txBody>
      </p:sp>
      <p:sp>
        <p:nvSpPr>
          <p:cNvPr id="21" name="Text 18"/>
          <p:cNvSpPr/>
          <p:nvPr/>
        </p:nvSpPr>
        <p:spPr>
          <a:xfrm>
            <a:off x="749808" y="4132834"/>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The supported, templated, instrumented route by which a team registers and operates a capability. Its quality is measured by adoption without its authors present — success criterion 7.</a:t>
            </a:r>
            <a:endParaRPr lang="en-US" sz="980" dirty="0"/>
          </a:p>
        </p:txBody>
      </p:sp>
      <p:sp>
        <p:nvSpPr>
          <p:cNvPr id="22" name="Shape 19"/>
          <p:cNvSpPr/>
          <p:nvPr/>
        </p:nvSpPr>
        <p:spPr>
          <a:xfrm>
            <a:off x="6187288" y="3748786"/>
            <a:ext cx="5437480" cy="987552"/>
          </a:xfrm>
          <a:prstGeom prst="roundRect">
            <a:avLst>
              <a:gd name="adj" fmla="val 7407"/>
            </a:avLst>
          </a:prstGeom>
          <a:solidFill>
            <a:srgbClr val="FFFFFF"/>
          </a:solidFill>
          <a:ln w="12700">
            <a:solidFill>
              <a:srgbClr val="E2E7EC"/>
            </a:solidFill>
            <a:prstDash val="solid"/>
          </a:ln>
        </p:spPr>
      </p:sp>
      <p:sp>
        <p:nvSpPr>
          <p:cNvPr id="23" name="Text 20"/>
          <p:cNvSpPr/>
          <p:nvPr/>
        </p:nvSpPr>
        <p:spPr>
          <a:xfrm>
            <a:off x="6370168" y="3876802"/>
            <a:ext cx="5071720" cy="219456"/>
          </a:xfrm>
          <a:prstGeom prst="rect">
            <a:avLst/>
          </a:prstGeom>
          <a:noFill/>
          <a:ln/>
        </p:spPr>
        <p:txBody>
          <a:bodyPr wrap="square" lIns="0" tIns="0" rIns="0" bIns="0" rtlCol="0" anchor="t"/>
          <a:lstStyle/>
          <a:p>
            <a:pPr indent="0" marL="0">
              <a:buNone/>
            </a:pPr>
            <a:r>
              <a:rPr lang="en-US" sz="1300" b="1" dirty="0">
                <a:solidFill>
                  <a:srgbClr val="0B1622"/>
                </a:solidFill>
                <a:latin typeface="Calibri" pitchFamily="34" charset="0"/>
                <a:ea typeface="Calibri" pitchFamily="34" charset="-122"/>
                <a:cs typeface="Calibri" pitchFamily="34" charset="-120"/>
              </a:rPr>
              <a:t>Evidence</a:t>
            </a:r>
            <a:endParaRPr lang="en-US" sz="1300" dirty="0"/>
          </a:p>
        </p:txBody>
      </p:sp>
      <p:sp>
        <p:nvSpPr>
          <p:cNvPr id="24" name="Text 21"/>
          <p:cNvSpPr/>
          <p:nvPr/>
        </p:nvSpPr>
        <p:spPr>
          <a:xfrm>
            <a:off x="6370168" y="4132834"/>
            <a:ext cx="5071720" cy="512064"/>
          </a:xfrm>
          <a:prstGeom prst="rect">
            <a:avLst/>
          </a:prstGeom>
          <a:noFill/>
          <a:ln/>
        </p:spPr>
        <p:txBody>
          <a:bodyPr wrap="square" lIns="0" tIns="0" rIns="0" bIns="0" rtlCol="0" anchor="t"/>
          <a:lstStyle/>
          <a:p>
            <a:pPr indent="0" marL="0">
              <a:lnSpc>
                <a:spcPct val="110000"/>
              </a:lnSpc>
              <a:buNone/>
            </a:pPr>
            <a:r>
              <a:rPr lang="en-US" sz="980" dirty="0">
                <a:solidFill>
                  <a:srgbClr val="46586B"/>
                </a:solidFill>
                <a:latin typeface="Calibri" pitchFamily="34" charset="0"/>
                <a:ea typeface="Calibri" pitchFamily="34" charset="-122"/>
                <a:cs typeface="Calibri" pitchFamily="34" charset="-120"/>
              </a:rPr>
              <a:t>Telemetry correlated well enough to answer a question under adversarial scrutiny. Distinct from logs, which are what you have, and dashboards, which are what you look at.</a:t>
            </a:r>
            <a:endParaRPr lang="en-US" sz="980" dirty="0"/>
          </a:p>
        </p:txBody>
      </p:sp>
      <p:sp>
        <p:nvSpPr>
          <p:cNvPr id="25" name="Shape 22"/>
          <p:cNvSpPr/>
          <p:nvPr/>
        </p:nvSpPr>
        <p:spPr>
          <a:xfrm>
            <a:off x="566928" y="6382512"/>
            <a:ext cx="11057839" cy="0"/>
          </a:xfrm>
          <a:prstGeom prst="line">
            <a:avLst/>
          </a:prstGeom>
          <a:noFill/>
          <a:ln w="9525">
            <a:solidFill>
              <a:srgbClr val="E2E7EC"/>
            </a:solidFill>
            <a:prstDash val="solid"/>
          </a:ln>
        </p:spPr>
      </p:sp>
      <p:sp>
        <p:nvSpPr>
          <p:cNvPr id="26" name="Text 23"/>
          <p:cNvSpPr/>
          <p:nvPr/>
        </p:nvSpPr>
        <p:spPr>
          <a:xfrm>
            <a:off x="566928" y="6455664"/>
            <a:ext cx="1828800" cy="219456"/>
          </a:xfrm>
          <a:prstGeom prst="rect">
            <a:avLst/>
          </a:prstGeom>
          <a:noFill/>
          <a:ln/>
        </p:spPr>
        <p:txBody>
          <a:bodyPr wrap="square" lIns="0" tIns="0" rIns="0" bIns="0" rtlCol="0" anchor="ctr"/>
          <a:lstStyle/>
          <a:p>
            <a:pPr indent="0" marL="0">
              <a:buNone/>
            </a:pPr>
            <a:r>
              <a:rPr lang="en-US" sz="850" b="1" spc="240" kern="0" dirty="0">
                <a:solidFill>
                  <a:srgbClr val="46586B"/>
                </a:solidFill>
                <a:latin typeface="Consolas" pitchFamily="34" charset="0"/>
                <a:ea typeface="Consolas" pitchFamily="34" charset="-122"/>
                <a:cs typeface="Consolas" pitchFamily="34" charset="-120"/>
              </a:rPr>
              <a:t>AEGISES</a:t>
            </a:r>
            <a:endParaRPr lang="en-US" sz="850" dirty="0"/>
          </a:p>
        </p:txBody>
      </p:sp>
      <p:sp>
        <p:nvSpPr>
          <p:cNvPr id="27" name="Text 24"/>
          <p:cNvSpPr/>
          <p:nvPr/>
        </p:nvSpPr>
        <p:spPr>
          <a:xfrm>
            <a:off x="2395728" y="6455664"/>
            <a:ext cx="9229039" cy="219456"/>
          </a:xfrm>
          <a:prstGeom prst="rect">
            <a:avLst/>
          </a:prstGeom>
          <a:noFill/>
          <a:ln/>
        </p:spPr>
        <p:txBody>
          <a:bodyPr wrap="square" lIns="0" tIns="0" rIns="0" bIns="0" rtlCol="0" anchor="ctr"/>
          <a:lstStyle/>
          <a:p>
            <a:pPr algn="r" indent="0" marL="0">
              <a:buNone/>
            </a:pPr>
            <a:r>
              <a:rPr lang="en-US" sz="850" spc="160" kern="0" dirty="0">
                <a:solidFill>
                  <a:srgbClr val="7E8C9B"/>
                </a:solidFill>
                <a:latin typeface="Consolas" pitchFamily="34" charset="0"/>
                <a:ea typeface="Consolas" pitchFamily="34" charset="-122"/>
                <a:cs typeface="Consolas" pitchFamily="34" charset="-120"/>
              </a:rPr>
              <a:t>APPENDIX · NOT PRESENTED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AI Operating Model — POC Kickoff</dc:title>
  <dc:subject>PptxGenJS Presentation</dc:subject>
  <dc:creator>AEGISES</dc:creator>
  <cp:lastModifiedBy>AEGISES</cp:lastModifiedBy>
  <cp:revision>1</cp:revision>
  <dcterms:created xsi:type="dcterms:W3CDTF">2026-07-31T01:08:49Z</dcterms:created>
  <dcterms:modified xsi:type="dcterms:W3CDTF">2026-07-31T01:08:49Z</dcterms:modified>
</cp:coreProperties>
</file>