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is decided in the first ninety seconds. This room should feel like the start of something, not the start of a risk review.
Open: "Most of you have sat through an AI kickoff before. This one differs in one specific way — by day 30 you will have agents doing real work inside your own estate, and every person here will know exactly which part is theirs."
Say the shape out loud: 90 minutes. One answer, one canvas, one plan, five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CEO leaves after five minutes, this is the slide they saw. Treat it as the whole deck.
Read it as three sentences, then stop: "Models are no longer the constraint. What stops the second and tenth agent is that nothing is shared between them. So we build the shared part once — and we prove it on your own software delivery, because that is internal, reversible and measurable inside three weeks."
Then point at the four ratios. "Those are the only four numbers this programme moves. Everything on the next twenty slides serves one of them. If a slide cannot be traced to one, tell me and I will cut it."
The ask is deliberately small. One squad, twelve weeks, four days a week of your people, no licences. Say that out loud — the size of the ask is itself an argument.
Do not read the situation/complication boxes aloud. They are there so the sponsor can reconstruct the logic later without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argued properly. Three minutes.
The line that does the work: "Every team here can build one agent. None of them can build the hundredth — because the hundredth needs a fabric, and building a fabric is nobody's job description."
Then the economics, slowly: "Look at the two curves. Without shared substrate the cost of capability ten is the same as capability one, so the portfolio never compounds and every business case is evaluated as if it were the first. That is why forty pilots produce zero production systems — not because the pilots failed, but because the arithmetic never improved."
If the room has pilots in flight, name them. "You are not behind. You are at exactly the point where the next decision determines whether the curve bends."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separates a recommendation from a pitch. Nobody trusts an option that was never compared.
Say: "There are four credible ways to respond to that constraint. We are recommending the fourth, and I want to show you why the other three lose — including the one that costs nothing."
Be genuinely fair to option 2. Federated DIY is what most organisations are doing by default and it is not stupid — it is fast at capability one. It loses at capability five, and the loss is invisible until then. That honesty is what makes option 4 credible.
On option 3, be careful. If the client already bought a platform, the answer is not "you were wrong" — it is "then you already own part of row 4; we build the control and event layers around it." Never make a sunk cost into an argument.
The closing question: "Is there a fifth option we should have considered?" Ask it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Everything else in the deck is a zoom into part of it. Budget fifteen minutes and do not rush.
Read it in four moves, in this order:
- Top — "Four outcomes. Every block below exists to serve one of these. If a block can't be traced to an outcome, we shouldn't build it."
- Left rail — "Seven roles. Find yourself. Your row tells you which lanes you work in — and that everyone here has a lane."
- Middle — "Seven planes. You already own most of the bottom three. We're adding the middle."
- Bottom — "The rhythm. This is how work actually moves — a weekly loop, not a governance board."
Then hand them the interaction: "Click any block and it opens — what it is, who owns it, what it unlocks, what maturity looks like, and whether it's in POC scope. Ask me for any one of them."
Best possible moment: someone asks you to click their own box. Let them drive. This slide is the whole engagement in one picture and it should be theirs by the end of it.
Say once, clearly: "Everything in green is in the twelve weeks. Everything else is the path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slide. Every item is a noun the client can point at, open or run. No workstreams, no enablement, no alignment.
Say: "Four things leave our hands and stay in yours: a working fabric, agents already doing real work, the road your teams build on, and the operating rhythm that keeps it moving."
The line that reassures the sceptics: "Notice the second column. By day 30 you have agents reviewing your own pull requests. Not a demo environment — your repositories."
Each deliverable names the ratio it moves. If someone asks why a deliverable exists, the answer is on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a CFO will actually interrogate. Do not rush it, and do not defend the numbers.
Open with the honesty move, because it buys everything after it: "The right-hand column is illustrative. Not a forecast, not a benchmark, and definitely not a promise — it exists so you can argue with the assumptions rather than with a conclusion. Every one of those inputs gets replaced with your measured data by week five."
Then invite the attack: "Which input do you think is most wrong?" Whatever they say, agree it is uncertain and show the sensitivity strip. A value case you can attack is a value case that survives.
The structural point that matters more than the arithmetic: "Notice driver two. It is the only one that grows with every capability you add — the other three are one-time step changes. After about two quarters, driver two dominates everything else on this page. That is why this is a platform decision, not a project decision."
If they push for a hard ROI number today: "I can give you one in week five, measured. I can give you one today, invented. You should want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on one page: what it costs, and why that cost is small.
Say the count out loud: "Fourteen components. On our read you already own ten, two need a convention added, and two are genuinely new. We are adding a thin layer, not an estate."
Then fill the middle column live with the room. Nothing builds joint ownership faster than watching their own tool names appear inside your architecture. If they correct a posture, change it on the spot.
Watch for the relief. This is usually where the platform lead's shoulders drop — they came in expecting to be told to run something new.
On the cost table, the line that matters is the last one: no licence commitment is required to start. That removes procurement from the critical path, which is often the single biggest schedule risk in an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of the compounding argument, so use it to teach the pattern.
Say: "You are probably already being asked to fund an observability upgrade. Fund it once, as an event plane, and you get three things instead of one — and the second and third are what make agents possible at all."
The insight to land: "An agent that can only be called is a tool. An agent that can be triggered is a colleague. Same spine, and most enterprises build it twice because observability and eventing sit in different budgets."
Be honest about the trade-off — it is on the slide for a reason. One spine means one thing to get right, and back-pressure discipline matters. Say it before an SRE says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permission slip, never as a control. The point is not that agents are dangerous — it is that sandboxing is what lets you say yes to things you would otherwise refuse.
Say: "The reason most enterprises keep agents read-only is that the only way to let an agent act is to hand it a credential — and once handed over, nobody can bound what it does with it. Capability sandboxing removes that trade. The agent gets exactly the doors it declared, and nothing else exists for it."
The comparison table is the whole slide. Walk the left column, then the right, then stop.
Anyone wanting the mechanism gets appendix A5. Do not go there unprompted — if the room wanted runtime isolation detail they would have asked for a different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for the data and governance audience — and the one that most often converts a sceptic into a sponsor.
Say: "Shared meaning sounds like an abstraction until you notice that two of your most expensive recurring costs are both caused by the lack of it: assembling compliance evidence, and integrating teams that describe the same customer four different ways."
Be very clear on sequencing — this is where these programmes die: "We are not starting an ontology programme. In the twelve weeks we do provenance and grounded retrieval only. The vocabulary grows where it earns its keep, one domain at a time, and every capability we register contributes to it for free."
If they already have an ontology or data-mesh programme: ally, immediately. "Everything the fabric emits — capability semantics, provenance, ownership — is a structured input that programme can consume. We feed it; we do not compete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that makes this POC different from every other one they have been offered.
Say: "Our default first workload is your own software delivery. Agents that review pull requests, generate tests, upgrade dependencies, write release notes and gate deploys — running on the fabric, on your repositories, from week three."
The four reasons are the argument. Say all four: internal so no customer exposure; reversible because git is reversible; measurable in three weeks against a baseline you already have; and it exercises every plane of the fabric under genuine load — identity, policy, grants, triggers, evidence, sandboxing — because software delivery touches all of them.
The self-referential point is the one people remember: "The fabric gets built using the fabric. If it is awkward to work with, we are the first to feel it — and we will feel it in week four, not after handover."
If someone pushes for a customer-facing capability first: "That is path two, designed in week ten with everything we learned. Doing it first means learning the fabric and the business domain simultaneously, which is how twelve weeks becomes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delight slide. Slow right down and tell it as a story about one person. Abstractions do not make people want something; a Tuesday does.
Say: "This is Priya, a senior engineer on the payments squad, on an ordinary Tuesday in month four. Nothing here is speculative — every moment is a capability the fabric supports on day 90."
Pause on 09:40 — "she disagrees with the agent and says so, and that disagreement is the training signal." That single detail defuses more fear than any governance slide, because it makes clear humans stay in charge.
Then the turn, which is the real payload: "Now notice what the platform lead, the risk analyst and the product owner each got out of that same Tuesday — without attending a single meeting about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finds themselves on this slide. Do not summarise it — work it.
Say: "Seven roles, and I want each of you to check that the middle column is right. If the thing you care most about is missing, that is a gap in our understanding and I want it now."
Then read the right-hand column slowly. That is the commitment — small, specific, and nowhere near a full-time job for anyone.
The reassurance to say explicitly: "Nobody on this list is being asked to become an AI specialist. You are being asked to keep doing your job, on a slightly better substrate, one day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clarity slide. Read the key first, then let people scan.
Say: "Blue is us. Gold is you. Purple is genuinely joint — and there are only five, because 'joint' usually means nobody. Where you see gold, that is a decision or an access only your organisation can provide."
The line that matters: "Notice the last two rows. Running it and owning it are gold. From day one, everything we build is built for the moment we leave."
If the sponsor worries about dependency, point at the last row — the week-11 exercise where a second squad onboards from documentation alone, with us out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this becoming a committee. Most AI governance failures are not bad decisions — they are decisions with no named owner, escalated by default.
Say: "Seven recurring decisions. Each has exactly one decider, one forum and one cadence. If a decision is not on this list, it does not need a meeting."
The row to point at is the breaker. "Notice row five. Tripping a circuit breaker has no forum and no consultation — the on-call engineer acts first and explains afterwards. If stopping something requires a meeting, you do not have an off switch, you have a suggestion."
The row that usually gets debated is tier assignment. Let them debate it; that is exactly the conversation week 1 exists for. Note the outcome and move on.
Ask directly before leaving the slide: "Does any of these belong to a forum you already have?" Reusing an existing forum is always better than creating one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functions, four different anxieties. Address each by name — and lead with what they gain, never with what they must do.
- Platform fears being handed something to operate at 3am that they did not design. Answer: "You own it after week twelve, so you get a vote starting Monday."
- AI practice fears being slowed down. Answer: "Every constraint here exists so you can say yes more often."
- Data engineering fears being handed a retrieval platform to run. Answer: "No new pipelines. Curated existing sources only."
- Governance fears a shadow data programme. Answer: "This is the first place a classification becomes enforceable at access time rather than asserted in a catalog."
The middle row is the honest one. Read it out. Every function gives up something small and specific — naming it is what makes the gains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makes this feel gradual rather than a leap. Nobody has to be at level three, and nothing here requires a transformation programme.
Say: "Five segments, three levels. The blue column is what the twelve weeks delivers — genuinely all of it. Everything to the right is a choice you make later, with better information than you have today."
Then run the live exercise, and this is the most valuable ninety seconds on the slide: "Mark where you are today in the left-hand column, and tell me which segment matters most. Because that is the one we push hardest on."
Different stakeholders will pick different segments — governance picks knowledge, platform picks the event plane, AI practice picks agentic delivery. Surface that disagreement rather than smoothing it; it is a real prioritisation conversation and it is cheaper to have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most distinguishes us from a vendor pitch. Every card states what you get and what it costs you. A roadmap without trade-offs is a wish list.
Say: "Six moves. Each has a reason, two or three payoffs, and an honest cost. The first two are inside the twelve weeks. The rest are choices — and some may be wrong for you."
Teach the pattern rather than the six items: "Every good move here has more than one payoff. That is the test — if an investment only pays off once, it is a feature, not a platform move."
Do not sell the level-three item. Say plainly: "Autonomous operations is on this page because it is where this goes, not because I think you should do it next year." That restraint is what makes the first two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architect's slide, and the one that proves the plan is designed rather than assembled.
Say: "The order is not a preference. Each step removes the constraint on the next one, and the bottom row shows what actually breaks if you reorder."
The clearest example to talk through is step four. "Templates can only encode conventions that already exist. Build the paved road first and you template guesses — then every squad inherits your guesses, and unpicking that costs more than the road saved."
If a client wants the paved road earlier — and platform leads often do, because it is the visible deliverable — this slide is the answer. It is not a refusal, it is an explanation of what they would be buying.
Useful challenge to invite: "Is there a constraint in your environment that forces a different order?" A regulated client with a long IdP change window sometimes genuinely needs step one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gates, not the phases. Phases are activity; gates are decisions, and the sponsor only cares about decisions.
The number to emphasise is week three. "Three weeks from Monday you have agents reviewing pull requests on a real repository. Everything after that is widening and hardening."
Ask the calendar question before you finish: "What falls inside this window on your side — change freezes, quarter close, audits, holidays?" Freezes have derailed more of these than any technical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executive's favourite slide, because it answers the only question they hold: what will exist that does not exist now?
Every item is a noun. If it cannot be opened, run or read, it is not on this slide.
The line to land at the end: "Everything in the third column is yours whether or not you continue with us. A capability you cannot operate without its authors is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is where twelve-week engagements quietly become sixteen-week engagements.
Say the arithmetic plainly: "If repository and environment access lands in week three instead of week one, gate 2 moves to week seven and everything shifts. I am not being dramatic — that is the arithmetic."
Ask the question people underestimate: "How long does a namespace, an IdP tenant and repository access genuinely take here — not the SLA, the reality?" The honest answer is often weeks, which means it starts before the contract is signed.
Best possible outcome: someone says "I can get you that on Thursday" — write their name next to it,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Work the room decision by decision — do not present this.
Say: "I am going to ask for each of these individually. Where we cannot decide today, I want a name and a date rather than a maybe."
A "we'll come back to it" with no owner is a no, and it will surface as a slipped gate in week three. Write the answers on the slide, in front of them.
Then read back what was agreed, out loud, before anyone leaves — and send it in writing inside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thing you say. Fifteen seconds, then stop talking.
Do not offer to take more questions from the front of the room — take them individually while people pack up. That is where the real ones surface.
If you want one line beyond the slide: "Three weeks from Monday, an agent reviews a pull request on your codebase. Everything else follows from getting that one thing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Not presented. This is the canvas on slide 4 in its architectural form, for the architects who will want it after the session.
Go here only if asked. If you do: the point is that responsibilities are fixed and product selections are contextual — the same argument the canvas makes, in a language architects read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the security architect and the IAM lead, after the session.
The one row that is genuinely unfamiliar in most enterprises is capability grants. If asked to summarise: a role describes what an actor is and persists; a grant describes what an actor may do — bound to an audience, an action, a scope and an expiry — and is designed to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technical sequence behind the six plain-language steps on slide 13, plus the evidence record it produces.
The evidence block is the part worth showing an auditor or a security architect — it is the deliverable that makes every assurance claim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Principles with stated tests. Offer this to the security lead and invite them to design the adversarial cases for tests 2, 3 and 5 — that single act converts the most likely blocker into a co-author.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tiering model behind "tier 1 and 2 ship on the road; tier 3 needs a conversation."
The important design point: isolation cost is matched to consequence, not applied uniformly. Uniform isolation is either too expensive everywhere or too weak where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the risk, audit and compliance audience — deliver as a document in week nine rather than as a slide today.
The framing if it comes up: "We are not proposing a new control framework. We are proposing that the architecture emit evidence in a shape your existing frameworks already accept."
State the limit plainly: a twelve-week POC produces evidence samples mapped to controls. It does not produce a certified control or an audit pass. Never let anyone leave believing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but raise it yourself if the sponsor asks "what could go wrong". A risk you name first is a risk you are managing; a risk they find is a risk you were hiding.
The stop conditions are the credibility move. Consultancies do not usually pre-commit to the conditions of their own failure. Offer them: "If you want, we will write these into the statement of work."
Note the pattern out loud: almost every mitigation is early detection rather than clever engineering. These are cheap in week two and expensive in week 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architects, after the session.
The only column that carries our opinion is the working posture. The options column is deliberately neutral — and naming products we have no relationship with is what makes that neutrality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Six terms this deck uses precisely and that are commonly used loosely. Worth pointing at if a definitional argument starts — a shared vocabulary ends most of them in under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week-0 intake sheet that resolves every bracketed placeholder in the deck.
Sent ahead of the session, the kickoff runs thirty minutes shorter and the estate map on slide 7 becomes a review rather than a live exercise. It is the highest-leverage preparation available.
Press E on any slide to highlight every placeholder this sheet resolves.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72A"/>
        </a:solidFill>
      </p:bgPr>
    </p:bg>
    <p:spTree>
      <p:nvGrpSpPr>
        <p:cNvPr id="1" name=""/>
        <p:cNvGrpSpPr/>
        <p:nvPr/>
      </p:nvGrpSpPr>
      <p:grpSpPr>
        <a:xfrm>
          <a:off x="0" y="0"/>
          <a:ext cx="0" cy="0"/>
          <a:chOff x="0" y="0"/>
          <a:chExt cx="0" cy="0"/>
        </a:xfrm>
      </p:grpSpPr>
      <p:sp>
        <p:nvSpPr>
          <p:cNvPr id="3" name="Shape 0"/>
          <p:cNvSpPr/>
          <p:nvPr/>
        </p:nvSpPr>
        <p:spPr>
          <a:xfrm>
            <a:off x="7955280" y="-1463040"/>
            <a:ext cx="6035040" cy="6035040"/>
          </a:xfrm>
          <a:prstGeom prst="ellipse">
            <a:avLst/>
          </a:prstGeom>
          <a:solidFill>
            <a:srgbClr val="08172A"/>
          </a:solidFill>
          <a:ln w="12700">
            <a:solidFill>
              <a:srgbClr val="15304A"/>
            </a:solidFill>
            <a:prstDash val="solid"/>
          </a:ln>
        </p:spPr>
      </p:sp>
      <p:sp>
        <p:nvSpPr>
          <p:cNvPr id="4" name="Shape 1"/>
          <p:cNvSpPr/>
          <p:nvPr/>
        </p:nvSpPr>
        <p:spPr>
          <a:xfrm>
            <a:off x="9692640" y="1691640"/>
            <a:ext cx="1371600" cy="1371600"/>
          </a:xfrm>
          <a:prstGeom prst="ellipse">
            <a:avLst/>
          </a:prstGeom>
          <a:solidFill>
            <a:srgbClr val="08172A"/>
          </a:solidFill>
          <a:ln w="12700">
            <a:solidFill>
              <a:srgbClr val="1E5A66"/>
            </a:solidFill>
            <a:prstDash val="solid"/>
          </a:ln>
        </p:spPr>
      </p:sp>
      <p:sp>
        <p:nvSpPr>
          <p:cNvPr id="5" name="Text 2"/>
          <p:cNvSpPr/>
          <p:nvPr/>
        </p:nvSpPr>
        <p:spPr>
          <a:xfrm>
            <a:off x="566928" y="1874520"/>
            <a:ext cx="7863840" cy="237744"/>
          </a:xfrm>
          <a:prstGeom prst="rect">
            <a:avLst/>
          </a:prstGeom>
          <a:noFill/>
          <a:ln/>
        </p:spPr>
        <p:txBody>
          <a:bodyPr wrap="square" lIns="0" tIns="0" rIns="0" bIns="0" rtlCol="0" anchor="ctr"/>
          <a:lstStyle/>
          <a:p>
            <a:pPr indent="0" marL="0">
              <a:buNone/>
            </a:pPr>
            <a:r>
              <a:rPr lang="en-US" sz="1050" b="1" spc="220" kern="0" dirty="0">
                <a:solidFill>
                  <a:srgbClr val="5FD8E6"/>
                </a:solidFill>
                <a:latin typeface="Consolas" pitchFamily="34" charset="0"/>
                <a:ea typeface="Consolas" pitchFamily="34" charset="-122"/>
                <a:cs typeface="Consolas" pitchFamily="34" charset="-120"/>
              </a:rPr>
              <a:t>ENTERPRISE AI OPERATING MODEL  ·  PROOF OF CONCEPT KICKOFF</a:t>
            </a:r>
            <a:endParaRPr lang="en-US" sz="1050" dirty="0"/>
          </a:p>
        </p:txBody>
      </p:sp>
      <p:sp>
        <p:nvSpPr>
          <p:cNvPr id="6" name="Text 3"/>
          <p:cNvSpPr/>
          <p:nvPr/>
        </p:nvSpPr>
        <p:spPr>
          <a:xfrm>
            <a:off x="512064" y="2212848"/>
            <a:ext cx="7863840" cy="1737360"/>
          </a:xfrm>
          <a:prstGeom prst="rect">
            <a:avLst/>
          </a:prstGeom>
          <a:noFill/>
          <a:ln/>
        </p:spPr>
        <p:txBody>
          <a:bodyPr wrap="square" lIns="0" tIns="0" rIns="0" bIns="0" rtlCol="0" anchor="t"/>
          <a:lstStyle/>
          <a:p>
            <a:pPr indent="0" marL="0">
              <a:lnSpc>
                <a:spcPct val="96000"/>
              </a:lnSpc>
              <a:buNone/>
            </a:pPr>
            <a:r>
              <a:rPr lang="en-US" sz="5000" b="1" dirty="0">
                <a:solidFill>
                  <a:srgbClr val="FFFFFF"/>
                </a:solidFill>
                <a:latin typeface="Calibri" pitchFamily="34" charset="0"/>
                <a:ea typeface="Calibri" pitchFamily="34" charset="-122"/>
                <a:cs typeface="Calibri" pitchFamily="34" charset="-120"/>
              </a:rPr>
              <a:t>Standing up your</a:t>
            </a:r>
            <a:endParaRPr lang="en-US" sz="5000" dirty="0"/>
          </a:p>
          <a:p>
            <a:pPr indent="0" marL="0">
              <a:lnSpc>
                <a:spcPct val="96000"/>
              </a:lnSpc>
              <a:buNone/>
            </a:pPr>
            <a:r>
              <a:rPr lang="en-US" sz="5000" b="1" dirty="0">
                <a:solidFill>
                  <a:srgbClr val="FFFFFF"/>
                </a:solidFill>
                <a:latin typeface="Calibri" pitchFamily="34" charset="0"/>
                <a:ea typeface="Calibri" pitchFamily="34" charset="-122"/>
                <a:cs typeface="Calibri" pitchFamily="34" charset="-120"/>
              </a:rPr>
              <a:t>agent fabric</a:t>
            </a:r>
            <a:endParaRPr lang="en-US" sz="5000" dirty="0"/>
          </a:p>
        </p:txBody>
      </p:sp>
      <p:sp>
        <p:nvSpPr>
          <p:cNvPr id="7" name="Shape 4"/>
          <p:cNvSpPr/>
          <p:nvPr/>
        </p:nvSpPr>
        <p:spPr>
          <a:xfrm>
            <a:off x="566928" y="4059936"/>
            <a:ext cx="566928" cy="32004"/>
          </a:xfrm>
          <a:prstGeom prst="rect">
            <a:avLst/>
          </a:prstGeom>
          <a:solidFill>
            <a:srgbClr val="5FD8E6"/>
          </a:solidFill>
          <a:ln w="12700">
            <a:solidFill>
              <a:srgbClr val="333333"/>
            </a:solidFill>
            <a:prstDash val="solid"/>
          </a:ln>
        </p:spPr>
      </p:sp>
      <p:sp>
        <p:nvSpPr>
          <p:cNvPr id="8" name="Text 5"/>
          <p:cNvSpPr/>
          <p:nvPr/>
        </p:nvSpPr>
        <p:spPr>
          <a:xfrm>
            <a:off x="566928" y="4315968"/>
            <a:ext cx="6949440" cy="1097280"/>
          </a:xfrm>
          <a:prstGeom prst="rect">
            <a:avLst/>
          </a:prstGeom>
          <a:noFill/>
          <a:ln/>
        </p:spPr>
        <p:txBody>
          <a:bodyPr wrap="square" lIns="0" tIns="0" rIns="0" bIns="0" rtlCol="0" anchor="t"/>
          <a:lstStyle/>
          <a:p>
            <a:pPr indent="0" marL="0">
              <a:lnSpc>
                <a:spcPct val="120000"/>
              </a:lnSpc>
              <a:buNone/>
            </a:pPr>
            <a:r>
              <a:rPr lang="en-US" sz="1400" dirty="0">
                <a:solidFill>
                  <a:srgbClr val="C7D6E2"/>
                </a:solidFill>
                <a:latin typeface="Calibri" pitchFamily="34" charset="0"/>
                <a:ea typeface="Calibri" pitchFamily="34" charset="-122"/>
                <a:cs typeface="Calibri" pitchFamily="34" charset="-120"/>
              </a:rPr>
              <a:t>Build the substrate once. Prove it on your own software delivery. Then every capability after it gets faster, cheaper and safer to ship — measurably, from week three.</a:t>
            </a:r>
            <a:endParaRPr lang="en-US" sz="1400" dirty="0"/>
          </a:p>
        </p:txBody>
      </p:sp>
      <p:sp>
        <p:nvSpPr>
          <p:cNvPr id="9" name="Shape 6"/>
          <p:cNvSpPr/>
          <p:nvPr/>
        </p:nvSpPr>
        <p:spPr>
          <a:xfrm>
            <a:off x="566928" y="6382512"/>
            <a:ext cx="11057839" cy="0"/>
          </a:xfrm>
          <a:prstGeom prst="line">
            <a:avLst/>
          </a:prstGeom>
          <a:noFill/>
          <a:ln w="9525">
            <a:solidFill>
              <a:srgbClr val="20364C"/>
            </a:solidFill>
            <a:prstDash val="solid"/>
          </a:ln>
        </p:spPr>
      </p:sp>
      <p:sp>
        <p:nvSpPr>
          <p:cNvPr id="10"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C7D6E2"/>
                </a:solidFill>
                <a:latin typeface="Consolas" pitchFamily="34" charset="0"/>
                <a:ea typeface="Consolas" pitchFamily="34" charset="-122"/>
                <a:cs typeface="Consolas" pitchFamily="34" charset="-120"/>
              </a:rPr>
              <a:t>AEGISES</a:t>
            </a:r>
            <a:endParaRPr lang="en-US" sz="850" dirty="0"/>
          </a:p>
        </p:txBody>
      </p:sp>
      <p:sp>
        <p:nvSpPr>
          <p:cNvPr id="11"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8AA3B8"/>
                </a:solidFill>
                <a:latin typeface="Consolas" pitchFamily="34" charset="0"/>
                <a:ea typeface="Consolas" pitchFamily="34" charset="-122"/>
                <a:cs typeface="Consolas" pitchFamily="34" charset="-120"/>
              </a:rPr>
              <a:t>CLIENT · [CLIENT]  ·  KICKOFF · [DATE]  ·  REF · [ENGAGEMENT ID]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00</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EXECUTIVE SUMMARY · THE ANSWER</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0B1622"/>
                </a:solidFill>
                <a:latin typeface="Calibri" pitchFamily="34" charset="0"/>
                <a:ea typeface="Calibri" pitchFamily="34" charset="-122"/>
                <a:cs typeface="Calibri" pitchFamily="34" charset="-120"/>
              </a:rPr>
              <a:t>Build the fabric once, prove it on your own software delivery, and every capability after it gets faster, cheaper and safer.</a:t>
            </a:r>
            <a:endParaRPr lang="en-US" sz="2500" dirty="0"/>
          </a:p>
        </p:txBody>
      </p:sp>
      <p:sp>
        <p:nvSpPr>
          <p:cNvPr id="6" name="Shape 3"/>
          <p:cNvSpPr/>
          <p:nvPr/>
        </p:nvSpPr>
        <p:spPr>
          <a:xfrm>
            <a:off x="566928" y="1481328"/>
            <a:ext cx="3600602" cy="1078992"/>
          </a:xfrm>
          <a:prstGeom prst="roundRect">
            <a:avLst>
              <a:gd name="adj" fmla="val 6780"/>
            </a:avLst>
          </a:prstGeom>
          <a:solidFill>
            <a:srgbClr val="FFFFFF"/>
          </a:solidFill>
          <a:ln w="12700">
            <a:solidFill>
              <a:srgbClr val="E2E7EC"/>
            </a:solidFill>
            <a:prstDash val="solid"/>
          </a:ln>
        </p:spPr>
      </p:sp>
      <p:sp>
        <p:nvSpPr>
          <p:cNvPr id="7" name="Text 4"/>
          <p:cNvSpPr/>
          <p:nvPr/>
        </p:nvSpPr>
        <p:spPr>
          <a:xfrm>
            <a:off x="731520" y="1609344"/>
            <a:ext cx="3271418"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SITUATION</a:t>
            </a:r>
            <a:endParaRPr lang="en-US" sz="750" dirty="0"/>
          </a:p>
        </p:txBody>
      </p:sp>
      <p:sp>
        <p:nvSpPr>
          <p:cNvPr id="8" name="Text 5"/>
          <p:cNvSpPr/>
          <p:nvPr/>
        </p:nvSpPr>
        <p:spPr>
          <a:xfrm>
            <a:off x="731520" y="1810512"/>
            <a:ext cx="3271418" cy="6766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Models are good enough. [CLIENT]'s teams can each build an agent, and several already have.</a:t>
            </a:r>
            <a:endParaRPr lang="en-US" sz="1000" dirty="0"/>
          </a:p>
        </p:txBody>
      </p:sp>
      <p:sp>
        <p:nvSpPr>
          <p:cNvPr id="9" name="Shape 6"/>
          <p:cNvSpPr/>
          <p:nvPr/>
        </p:nvSpPr>
        <p:spPr>
          <a:xfrm>
            <a:off x="4295546" y="1481328"/>
            <a:ext cx="3600602" cy="1078992"/>
          </a:xfrm>
          <a:prstGeom prst="roundRect">
            <a:avLst>
              <a:gd name="adj" fmla="val 6780"/>
            </a:avLst>
          </a:prstGeom>
          <a:solidFill>
            <a:srgbClr val="FFFFFF"/>
          </a:solidFill>
          <a:ln w="12700">
            <a:solidFill>
              <a:srgbClr val="E2E7EC"/>
            </a:solidFill>
            <a:prstDash val="solid"/>
          </a:ln>
        </p:spPr>
      </p:sp>
      <p:sp>
        <p:nvSpPr>
          <p:cNvPr id="10" name="Text 7"/>
          <p:cNvSpPr/>
          <p:nvPr/>
        </p:nvSpPr>
        <p:spPr>
          <a:xfrm>
            <a:off x="4460138" y="1609344"/>
            <a:ext cx="3271418"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COMPLICATION</a:t>
            </a:r>
            <a:endParaRPr lang="en-US" sz="750" dirty="0"/>
          </a:p>
        </p:txBody>
      </p:sp>
      <p:sp>
        <p:nvSpPr>
          <p:cNvPr id="11" name="Text 8"/>
          <p:cNvSpPr/>
          <p:nvPr/>
        </p:nvSpPr>
        <p:spPr>
          <a:xfrm>
            <a:off x="4460138" y="1810512"/>
            <a:ext cx="3271418" cy="6766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Nothing is shared between them. Every agent re-solves identity, policy, telemetry and release — so cost per capability never falls and nothing reaches production.</a:t>
            </a:r>
            <a:endParaRPr lang="en-US" sz="1000" dirty="0"/>
          </a:p>
        </p:txBody>
      </p:sp>
      <p:sp>
        <p:nvSpPr>
          <p:cNvPr id="12" name="Shape 9"/>
          <p:cNvSpPr/>
          <p:nvPr/>
        </p:nvSpPr>
        <p:spPr>
          <a:xfrm>
            <a:off x="8024165" y="1481328"/>
            <a:ext cx="3600602" cy="1078992"/>
          </a:xfrm>
          <a:prstGeom prst="roundRect">
            <a:avLst>
              <a:gd name="adj" fmla="val 6780"/>
            </a:avLst>
          </a:prstGeom>
          <a:solidFill>
            <a:srgbClr val="E6F4F6"/>
          </a:solidFill>
          <a:ln w="12700">
            <a:solidFill>
              <a:srgbClr val="9CCED6"/>
            </a:solidFill>
            <a:prstDash val="solid"/>
          </a:ln>
        </p:spPr>
      </p:sp>
      <p:sp>
        <p:nvSpPr>
          <p:cNvPr id="13" name="Text 10"/>
          <p:cNvSpPr/>
          <p:nvPr/>
        </p:nvSpPr>
        <p:spPr>
          <a:xfrm>
            <a:off x="8188757" y="1609344"/>
            <a:ext cx="3271418" cy="164592"/>
          </a:xfrm>
          <a:prstGeom prst="rect">
            <a:avLst/>
          </a:prstGeom>
          <a:noFill/>
          <a:ln/>
        </p:spPr>
        <p:txBody>
          <a:bodyPr wrap="square" lIns="0" tIns="0" rIns="0" bIns="0" rtlCol="0" anchor="ctr"/>
          <a:lstStyle/>
          <a:p>
            <a:pPr indent="0" marL="0">
              <a:buNone/>
            </a:pPr>
            <a:r>
              <a:rPr lang="en-US" sz="750" b="1" spc="140" kern="0" dirty="0">
                <a:solidFill>
                  <a:srgbClr val="0B6F7D"/>
                </a:solidFill>
                <a:latin typeface="Consolas" pitchFamily="34" charset="0"/>
                <a:ea typeface="Consolas" pitchFamily="34" charset="-122"/>
                <a:cs typeface="Consolas" pitchFamily="34" charset="-120"/>
              </a:rPr>
              <a:t>RESOLUTION</a:t>
            </a:r>
            <a:endParaRPr lang="en-US" sz="750" dirty="0"/>
          </a:p>
        </p:txBody>
      </p:sp>
      <p:sp>
        <p:nvSpPr>
          <p:cNvPr id="14" name="Text 11"/>
          <p:cNvSpPr/>
          <p:nvPr/>
        </p:nvSpPr>
        <p:spPr>
          <a:xfrm>
            <a:off x="8188757" y="1810512"/>
            <a:ext cx="3271418" cy="6766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Build the shared substrate once — registry, authority, one event spine, a paved road — and prove it on agentic software delivery, which is internal, reversible and measurable in three weeks.</a:t>
            </a:r>
            <a:endParaRPr lang="en-US" sz="1000" dirty="0"/>
          </a:p>
        </p:txBody>
      </p:sp>
      <p:sp>
        <p:nvSpPr>
          <p:cNvPr id="15" name="Text 12"/>
          <p:cNvSpPr/>
          <p:nvPr/>
        </p:nvSpPr>
        <p:spPr>
          <a:xfrm>
            <a:off x="566928" y="2688336"/>
            <a:ext cx="5486400"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THE FABRIC MOVES FOUR RATIOS — AND ONLY THESE FOUR</a:t>
            </a:r>
            <a:endParaRPr lang="en-US" sz="750" dirty="0"/>
          </a:p>
        </p:txBody>
      </p:sp>
      <p:sp>
        <p:nvSpPr>
          <p:cNvPr id="16" name="Shape 13"/>
          <p:cNvSpPr/>
          <p:nvPr/>
        </p:nvSpPr>
        <p:spPr>
          <a:xfrm>
            <a:off x="566928" y="2907792"/>
            <a:ext cx="2682164" cy="914400"/>
          </a:xfrm>
          <a:prstGeom prst="roundRect">
            <a:avLst>
              <a:gd name="adj" fmla="val 8000"/>
            </a:avLst>
          </a:prstGeom>
          <a:solidFill>
            <a:srgbClr val="FFFFFF"/>
          </a:solidFill>
          <a:ln w="12700">
            <a:solidFill>
              <a:srgbClr val="E2E7EC"/>
            </a:solidFill>
            <a:prstDash val="solid"/>
          </a:ln>
        </p:spPr>
      </p:sp>
      <p:sp>
        <p:nvSpPr>
          <p:cNvPr id="17" name="Text 14"/>
          <p:cNvSpPr/>
          <p:nvPr/>
        </p:nvSpPr>
        <p:spPr>
          <a:xfrm>
            <a:off x="713232" y="3017520"/>
            <a:ext cx="256032" cy="274320"/>
          </a:xfrm>
          <a:prstGeom prst="rect">
            <a:avLst/>
          </a:prstGeom>
          <a:noFill/>
          <a:ln/>
        </p:spPr>
        <p:txBody>
          <a:bodyPr wrap="square" lIns="0" tIns="0" rIns="0" bIns="0" rtlCol="0" anchor="ctr"/>
          <a:lstStyle/>
          <a:p>
            <a:pPr indent="0" marL="0">
              <a:buNone/>
            </a:pPr>
            <a:r>
              <a:rPr lang="en-US" sz="1900" b="1" dirty="0">
                <a:solidFill>
                  <a:srgbClr val="0B6F7D"/>
                </a:solidFill>
                <a:latin typeface="Calibri" pitchFamily="34" charset="0"/>
                <a:ea typeface="Calibri" pitchFamily="34" charset="-122"/>
                <a:cs typeface="Calibri" pitchFamily="34" charset="-120"/>
              </a:rPr>
              <a:t>↓</a:t>
            </a:r>
            <a:endParaRPr lang="en-US" sz="1900" dirty="0"/>
          </a:p>
        </p:txBody>
      </p:sp>
      <p:sp>
        <p:nvSpPr>
          <p:cNvPr id="18" name="Text 15"/>
          <p:cNvSpPr/>
          <p:nvPr/>
        </p:nvSpPr>
        <p:spPr>
          <a:xfrm>
            <a:off x="1005840" y="3035808"/>
            <a:ext cx="2096948" cy="219456"/>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Time-to-capability</a:t>
            </a:r>
            <a:endParaRPr lang="en-US" sz="1200" dirty="0"/>
          </a:p>
        </p:txBody>
      </p:sp>
      <p:sp>
        <p:nvSpPr>
          <p:cNvPr id="19" name="Text 16"/>
          <p:cNvSpPr/>
          <p:nvPr/>
        </p:nvSpPr>
        <p:spPr>
          <a:xfrm>
            <a:off x="713232" y="3328416"/>
            <a:ext cx="2389556" cy="40233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Days from "we want this" to it running in production, governed.</a:t>
            </a:r>
            <a:endParaRPr lang="en-US" sz="920" dirty="0"/>
          </a:p>
        </p:txBody>
      </p:sp>
      <p:sp>
        <p:nvSpPr>
          <p:cNvPr id="20" name="Shape 17"/>
          <p:cNvSpPr/>
          <p:nvPr/>
        </p:nvSpPr>
        <p:spPr>
          <a:xfrm>
            <a:off x="3358820" y="2907792"/>
            <a:ext cx="2682164" cy="914400"/>
          </a:xfrm>
          <a:prstGeom prst="roundRect">
            <a:avLst>
              <a:gd name="adj" fmla="val 8000"/>
            </a:avLst>
          </a:prstGeom>
          <a:solidFill>
            <a:srgbClr val="FFFFFF"/>
          </a:solidFill>
          <a:ln w="12700">
            <a:solidFill>
              <a:srgbClr val="E2E7EC"/>
            </a:solidFill>
            <a:prstDash val="solid"/>
          </a:ln>
        </p:spPr>
      </p:sp>
      <p:sp>
        <p:nvSpPr>
          <p:cNvPr id="21" name="Text 18"/>
          <p:cNvSpPr/>
          <p:nvPr/>
        </p:nvSpPr>
        <p:spPr>
          <a:xfrm>
            <a:off x="3505124" y="3017520"/>
            <a:ext cx="256032" cy="274320"/>
          </a:xfrm>
          <a:prstGeom prst="rect">
            <a:avLst/>
          </a:prstGeom>
          <a:noFill/>
          <a:ln/>
        </p:spPr>
        <p:txBody>
          <a:bodyPr wrap="square" lIns="0" tIns="0" rIns="0" bIns="0" rtlCol="0" anchor="ctr"/>
          <a:lstStyle/>
          <a:p>
            <a:pPr indent="0" marL="0">
              <a:buNone/>
            </a:pPr>
            <a:r>
              <a:rPr lang="en-US" sz="1900" b="1" dirty="0">
                <a:solidFill>
                  <a:srgbClr val="0B6F7D"/>
                </a:solidFill>
                <a:latin typeface="Calibri" pitchFamily="34" charset="0"/>
                <a:ea typeface="Calibri" pitchFamily="34" charset="-122"/>
                <a:cs typeface="Calibri" pitchFamily="34" charset="-120"/>
              </a:rPr>
              <a:t>↓</a:t>
            </a:r>
            <a:endParaRPr lang="en-US" sz="1900" dirty="0"/>
          </a:p>
        </p:txBody>
      </p:sp>
      <p:sp>
        <p:nvSpPr>
          <p:cNvPr id="22" name="Text 19"/>
          <p:cNvSpPr/>
          <p:nvPr/>
        </p:nvSpPr>
        <p:spPr>
          <a:xfrm>
            <a:off x="3797732" y="3035808"/>
            <a:ext cx="2096948" cy="219456"/>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Cost-per-capability</a:t>
            </a:r>
            <a:endParaRPr lang="en-US" sz="1200" dirty="0"/>
          </a:p>
        </p:txBody>
      </p:sp>
      <p:sp>
        <p:nvSpPr>
          <p:cNvPr id="23" name="Text 20"/>
          <p:cNvSpPr/>
          <p:nvPr/>
        </p:nvSpPr>
        <p:spPr>
          <a:xfrm>
            <a:off x="3505124" y="3328416"/>
            <a:ext cx="2389556" cy="40233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Fully loaded cost of capability n. The compounding term.</a:t>
            </a:r>
            <a:endParaRPr lang="en-US" sz="920" dirty="0"/>
          </a:p>
        </p:txBody>
      </p:sp>
      <p:sp>
        <p:nvSpPr>
          <p:cNvPr id="24" name="Shape 21"/>
          <p:cNvSpPr/>
          <p:nvPr/>
        </p:nvSpPr>
        <p:spPr>
          <a:xfrm>
            <a:off x="6150712" y="2907792"/>
            <a:ext cx="2682164" cy="914400"/>
          </a:xfrm>
          <a:prstGeom prst="roundRect">
            <a:avLst>
              <a:gd name="adj" fmla="val 8000"/>
            </a:avLst>
          </a:prstGeom>
          <a:solidFill>
            <a:srgbClr val="FFFFFF"/>
          </a:solidFill>
          <a:ln w="12700">
            <a:solidFill>
              <a:srgbClr val="E2E7EC"/>
            </a:solidFill>
            <a:prstDash val="solid"/>
          </a:ln>
        </p:spPr>
      </p:sp>
      <p:sp>
        <p:nvSpPr>
          <p:cNvPr id="25" name="Text 22"/>
          <p:cNvSpPr/>
          <p:nvPr/>
        </p:nvSpPr>
        <p:spPr>
          <a:xfrm>
            <a:off x="6297016" y="3017520"/>
            <a:ext cx="256032" cy="274320"/>
          </a:xfrm>
          <a:prstGeom prst="rect">
            <a:avLst/>
          </a:prstGeom>
          <a:noFill/>
          <a:ln/>
        </p:spPr>
        <p:txBody>
          <a:bodyPr wrap="square" lIns="0" tIns="0" rIns="0" bIns="0" rtlCol="0" anchor="ctr"/>
          <a:lstStyle/>
          <a:p>
            <a:pPr indent="0" marL="0">
              <a:buNone/>
            </a:pPr>
            <a:r>
              <a:rPr lang="en-US" sz="1900" b="1" dirty="0">
                <a:solidFill>
                  <a:srgbClr val="0B6F7D"/>
                </a:solidFill>
                <a:latin typeface="Calibri" pitchFamily="34" charset="0"/>
                <a:ea typeface="Calibri" pitchFamily="34" charset="-122"/>
                <a:cs typeface="Calibri" pitchFamily="34" charset="-120"/>
              </a:rPr>
              <a:t>↓</a:t>
            </a:r>
            <a:endParaRPr lang="en-US" sz="1900" dirty="0"/>
          </a:p>
        </p:txBody>
      </p:sp>
      <p:sp>
        <p:nvSpPr>
          <p:cNvPr id="26" name="Text 23"/>
          <p:cNvSpPr/>
          <p:nvPr/>
        </p:nvSpPr>
        <p:spPr>
          <a:xfrm>
            <a:off x="6589624" y="3035808"/>
            <a:ext cx="2096948" cy="219456"/>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Risk-per-capability</a:t>
            </a:r>
            <a:endParaRPr lang="en-US" sz="1200" dirty="0"/>
          </a:p>
        </p:txBody>
      </p:sp>
      <p:sp>
        <p:nvSpPr>
          <p:cNvPr id="27" name="Text 24"/>
          <p:cNvSpPr/>
          <p:nvPr/>
        </p:nvSpPr>
        <p:spPr>
          <a:xfrm>
            <a:off x="6297016" y="3328416"/>
            <a:ext cx="2389556" cy="40233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Blast radius × exposure, evidenced rather than asserted.</a:t>
            </a:r>
            <a:endParaRPr lang="en-US" sz="920" dirty="0"/>
          </a:p>
        </p:txBody>
      </p:sp>
      <p:sp>
        <p:nvSpPr>
          <p:cNvPr id="28" name="Shape 25"/>
          <p:cNvSpPr/>
          <p:nvPr/>
        </p:nvSpPr>
        <p:spPr>
          <a:xfrm>
            <a:off x="8942603" y="2907792"/>
            <a:ext cx="2682164" cy="914400"/>
          </a:xfrm>
          <a:prstGeom prst="roundRect">
            <a:avLst>
              <a:gd name="adj" fmla="val 8000"/>
            </a:avLst>
          </a:prstGeom>
          <a:solidFill>
            <a:srgbClr val="FFFFFF"/>
          </a:solidFill>
          <a:ln w="12700">
            <a:solidFill>
              <a:srgbClr val="E2E7EC"/>
            </a:solidFill>
            <a:prstDash val="solid"/>
          </a:ln>
        </p:spPr>
      </p:sp>
      <p:sp>
        <p:nvSpPr>
          <p:cNvPr id="29" name="Text 26"/>
          <p:cNvSpPr/>
          <p:nvPr/>
        </p:nvSpPr>
        <p:spPr>
          <a:xfrm>
            <a:off x="9088907" y="3017520"/>
            <a:ext cx="256032" cy="274320"/>
          </a:xfrm>
          <a:prstGeom prst="rect">
            <a:avLst/>
          </a:prstGeom>
          <a:noFill/>
          <a:ln/>
        </p:spPr>
        <p:txBody>
          <a:bodyPr wrap="square" lIns="0" tIns="0" rIns="0" bIns="0" rtlCol="0" anchor="ctr"/>
          <a:lstStyle/>
          <a:p>
            <a:pPr indent="0" marL="0">
              <a:buNone/>
            </a:pPr>
            <a:r>
              <a:rPr lang="en-US" sz="1900" b="1" dirty="0">
                <a:solidFill>
                  <a:srgbClr val="0B6F7D"/>
                </a:solidFill>
                <a:latin typeface="Calibri" pitchFamily="34" charset="0"/>
                <a:ea typeface="Calibri" pitchFamily="34" charset="-122"/>
                <a:cs typeface="Calibri" pitchFamily="34" charset="-120"/>
              </a:rPr>
              <a:t>↑</a:t>
            </a:r>
            <a:endParaRPr lang="en-US" sz="1900" dirty="0"/>
          </a:p>
        </p:txBody>
      </p:sp>
      <p:sp>
        <p:nvSpPr>
          <p:cNvPr id="30" name="Text 27"/>
          <p:cNvSpPr/>
          <p:nvPr/>
        </p:nvSpPr>
        <p:spPr>
          <a:xfrm>
            <a:off x="9381515" y="3035808"/>
            <a:ext cx="2096948" cy="219456"/>
          </a:xfrm>
          <a:prstGeom prst="rect">
            <a:avLst/>
          </a:prstGeom>
          <a:noFill/>
          <a:ln/>
        </p:spPr>
        <p:txBody>
          <a:bodyPr wrap="square" lIns="0" tIns="0" rIns="0" bIns="0" rtlCol="0" anchor="ctr"/>
          <a:lstStyle/>
          <a:p>
            <a:pPr indent="0" marL="0">
              <a:buNone/>
            </a:pPr>
            <a:r>
              <a:rPr lang="en-US" sz="1200" b="1" dirty="0">
                <a:solidFill>
                  <a:srgbClr val="0B1622"/>
                </a:solidFill>
                <a:latin typeface="Calibri" pitchFamily="34" charset="0"/>
                <a:ea typeface="Calibri" pitchFamily="34" charset="-122"/>
                <a:cs typeface="Calibri" pitchFamily="34" charset="-120"/>
              </a:rPr>
              <a:t>Reuse rate</a:t>
            </a:r>
            <a:endParaRPr lang="en-US" sz="1200" dirty="0"/>
          </a:p>
        </p:txBody>
      </p:sp>
      <p:sp>
        <p:nvSpPr>
          <p:cNvPr id="31" name="Text 28"/>
          <p:cNvSpPr/>
          <p:nvPr/>
        </p:nvSpPr>
        <p:spPr>
          <a:xfrm>
            <a:off x="9088907" y="3328416"/>
            <a:ext cx="2389556" cy="40233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Share of a new capability composed from ones that already exist.</a:t>
            </a:r>
            <a:endParaRPr lang="en-US" sz="920" dirty="0"/>
          </a:p>
        </p:txBody>
      </p:sp>
      <p:sp>
        <p:nvSpPr>
          <p:cNvPr id="32" name="Shape 29"/>
          <p:cNvSpPr/>
          <p:nvPr/>
        </p:nvSpPr>
        <p:spPr>
          <a:xfrm>
            <a:off x="566928" y="3986784"/>
            <a:ext cx="2193280" cy="841248"/>
          </a:xfrm>
          <a:prstGeom prst="roundRect">
            <a:avLst>
              <a:gd name="adj" fmla="val 8696"/>
            </a:avLst>
          </a:prstGeom>
          <a:solidFill>
            <a:srgbClr val="FFFFFF"/>
          </a:solidFill>
          <a:ln w="12700">
            <a:solidFill>
              <a:srgbClr val="E2E7EC"/>
            </a:solidFill>
            <a:prstDash val="solid"/>
          </a:ln>
        </p:spPr>
      </p:sp>
      <p:sp>
        <p:nvSpPr>
          <p:cNvPr id="33" name="Text 30"/>
          <p:cNvSpPr/>
          <p:nvPr/>
        </p:nvSpPr>
        <p:spPr>
          <a:xfrm>
            <a:off x="713232" y="4114800"/>
            <a:ext cx="1918960" cy="146304"/>
          </a:xfrm>
          <a:prstGeom prst="rect">
            <a:avLst/>
          </a:prstGeom>
          <a:noFill/>
          <a:ln/>
        </p:spPr>
        <p:txBody>
          <a:bodyPr wrap="square" lIns="0" tIns="0" rIns="0" bIns="0" rtlCol="0" anchor="ctr"/>
          <a:lstStyle/>
          <a:p>
            <a:pPr indent="0" marL="0">
              <a:buNone/>
            </a:pPr>
            <a:r>
              <a:rPr lang="en-US" sz="700" b="1" spc="120" kern="0" dirty="0">
                <a:solidFill>
                  <a:srgbClr val="7E8C9B"/>
                </a:solidFill>
                <a:latin typeface="Consolas" pitchFamily="34" charset="0"/>
                <a:ea typeface="Consolas" pitchFamily="34" charset="-122"/>
                <a:cs typeface="Consolas" pitchFamily="34" charset="-120"/>
              </a:rPr>
              <a:t>THE ASK</a:t>
            </a:r>
            <a:endParaRPr lang="en-US" sz="700" dirty="0"/>
          </a:p>
        </p:txBody>
      </p:sp>
      <p:sp>
        <p:nvSpPr>
          <p:cNvPr id="34" name="Text 31"/>
          <p:cNvSpPr/>
          <p:nvPr/>
        </p:nvSpPr>
        <p:spPr>
          <a:xfrm>
            <a:off x="713232" y="4297680"/>
            <a:ext cx="1918960" cy="438912"/>
          </a:xfrm>
          <a:prstGeom prst="rect">
            <a:avLst/>
          </a:prstGeom>
          <a:noFill/>
          <a:ln/>
        </p:spPr>
        <p:txBody>
          <a:bodyPr wrap="square" lIns="0" tIns="0" rIns="0" bIns="0" rtlCol="0" anchor="t"/>
          <a:lstStyle/>
          <a:p>
            <a:pPr indent="0" marL="0">
              <a:lnSpc>
                <a:spcPct val="108000"/>
              </a:lnSpc>
              <a:buNone/>
            </a:pPr>
            <a:r>
              <a:rPr lang="en-US" sz="1000" b="1" dirty="0">
                <a:solidFill>
                  <a:srgbClr val="0B1622"/>
                </a:solidFill>
                <a:latin typeface="Calibri" pitchFamily="34" charset="0"/>
                <a:ea typeface="Calibri" pitchFamily="34" charset="-122"/>
                <a:cs typeface="Calibri" pitchFamily="34" charset="-120"/>
              </a:rPr>
              <a:t>One squad, twelve weeks</a:t>
            </a:r>
            <a:endParaRPr lang="en-US" sz="1000" dirty="0"/>
          </a:p>
        </p:txBody>
      </p:sp>
      <p:sp>
        <p:nvSpPr>
          <p:cNvPr id="35" name="Shape 32"/>
          <p:cNvSpPr/>
          <p:nvPr/>
        </p:nvSpPr>
        <p:spPr>
          <a:xfrm>
            <a:off x="2778496" y="3986784"/>
            <a:ext cx="2193280" cy="841248"/>
          </a:xfrm>
          <a:prstGeom prst="roundRect">
            <a:avLst>
              <a:gd name="adj" fmla="val 8696"/>
            </a:avLst>
          </a:prstGeom>
          <a:solidFill>
            <a:srgbClr val="FFFFFF"/>
          </a:solidFill>
          <a:ln w="12700">
            <a:solidFill>
              <a:srgbClr val="E2E7EC"/>
            </a:solidFill>
            <a:prstDash val="solid"/>
          </a:ln>
        </p:spPr>
      </p:sp>
      <p:sp>
        <p:nvSpPr>
          <p:cNvPr id="36" name="Text 33"/>
          <p:cNvSpPr/>
          <p:nvPr/>
        </p:nvSpPr>
        <p:spPr>
          <a:xfrm>
            <a:off x="2924800" y="4114800"/>
            <a:ext cx="1918960" cy="146304"/>
          </a:xfrm>
          <a:prstGeom prst="rect">
            <a:avLst/>
          </a:prstGeom>
          <a:noFill/>
          <a:ln/>
        </p:spPr>
        <p:txBody>
          <a:bodyPr wrap="square" lIns="0" tIns="0" rIns="0" bIns="0" rtlCol="0" anchor="ctr"/>
          <a:lstStyle/>
          <a:p>
            <a:pPr indent="0" marL="0">
              <a:buNone/>
            </a:pPr>
            <a:r>
              <a:rPr lang="en-US" sz="700" b="1" spc="120" kern="0" dirty="0">
                <a:solidFill>
                  <a:srgbClr val="7E8C9B"/>
                </a:solidFill>
                <a:latin typeface="Consolas" pitchFamily="34" charset="0"/>
                <a:ea typeface="Consolas" pitchFamily="34" charset="-122"/>
                <a:cs typeface="Consolas" pitchFamily="34" charset="-120"/>
              </a:rPr>
              <a:t>FROM YOU</a:t>
            </a:r>
            <a:endParaRPr lang="en-US" sz="700" dirty="0"/>
          </a:p>
        </p:txBody>
      </p:sp>
      <p:sp>
        <p:nvSpPr>
          <p:cNvPr id="37" name="Text 34"/>
          <p:cNvSpPr/>
          <p:nvPr/>
        </p:nvSpPr>
        <p:spPr>
          <a:xfrm>
            <a:off x="2924800" y="4297680"/>
            <a:ext cx="1918960" cy="438912"/>
          </a:xfrm>
          <a:prstGeom prst="rect">
            <a:avLst/>
          </a:prstGeom>
          <a:noFill/>
          <a:ln/>
        </p:spPr>
        <p:txBody>
          <a:bodyPr wrap="square" lIns="0" tIns="0" rIns="0" bIns="0" rtlCol="0" anchor="t"/>
          <a:lstStyle/>
          <a:p>
            <a:pPr indent="0" marL="0">
              <a:lnSpc>
                <a:spcPct val="108000"/>
              </a:lnSpc>
              <a:buNone/>
            </a:pPr>
            <a:r>
              <a:rPr lang="en-US" sz="1000" b="1" dirty="0">
                <a:solidFill>
                  <a:srgbClr val="0B1622"/>
                </a:solidFill>
                <a:latin typeface="Calibri" pitchFamily="34" charset="0"/>
                <a:ea typeface="Calibri" pitchFamily="34" charset="-122"/>
                <a:cs typeface="Calibri" pitchFamily="34" charset="-120"/>
              </a:rPr>
              <a:t>~4 days/week across seven named people</a:t>
            </a:r>
            <a:endParaRPr lang="en-US" sz="1000" dirty="0"/>
          </a:p>
        </p:txBody>
      </p:sp>
      <p:sp>
        <p:nvSpPr>
          <p:cNvPr id="38" name="Shape 35"/>
          <p:cNvSpPr/>
          <p:nvPr/>
        </p:nvSpPr>
        <p:spPr>
          <a:xfrm>
            <a:off x="4990064" y="3986784"/>
            <a:ext cx="2193280" cy="841248"/>
          </a:xfrm>
          <a:prstGeom prst="roundRect">
            <a:avLst>
              <a:gd name="adj" fmla="val 8696"/>
            </a:avLst>
          </a:prstGeom>
          <a:solidFill>
            <a:srgbClr val="FFFFFF"/>
          </a:solidFill>
          <a:ln w="12700">
            <a:solidFill>
              <a:srgbClr val="E2E7EC"/>
            </a:solidFill>
            <a:prstDash val="solid"/>
          </a:ln>
        </p:spPr>
      </p:sp>
      <p:sp>
        <p:nvSpPr>
          <p:cNvPr id="39" name="Text 36"/>
          <p:cNvSpPr/>
          <p:nvPr/>
        </p:nvSpPr>
        <p:spPr>
          <a:xfrm>
            <a:off x="5136368" y="4114800"/>
            <a:ext cx="1918960" cy="146304"/>
          </a:xfrm>
          <a:prstGeom prst="rect">
            <a:avLst/>
          </a:prstGeom>
          <a:noFill/>
          <a:ln/>
        </p:spPr>
        <p:txBody>
          <a:bodyPr wrap="square" lIns="0" tIns="0" rIns="0" bIns="0" rtlCol="0" anchor="ctr"/>
          <a:lstStyle/>
          <a:p>
            <a:pPr indent="0" marL="0">
              <a:buNone/>
            </a:pPr>
            <a:r>
              <a:rPr lang="en-US" sz="700" b="1" spc="120" kern="0" dirty="0">
                <a:solidFill>
                  <a:srgbClr val="7E8C9B"/>
                </a:solidFill>
                <a:latin typeface="Consolas" pitchFamily="34" charset="0"/>
                <a:ea typeface="Consolas" pitchFamily="34" charset="-122"/>
                <a:cs typeface="Consolas" pitchFamily="34" charset="-120"/>
              </a:rPr>
              <a:t>NEW SPEND</a:t>
            </a:r>
            <a:endParaRPr lang="en-US" sz="700" dirty="0"/>
          </a:p>
        </p:txBody>
      </p:sp>
      <p:sp>
        <p:nvSpPr>
          <p:cNvPr id="40" name="Text 37"/>
          <p:cNvSpPr/>
          <p:nvPr/>
        </p:nvSpPr>
        <p:spPr>
          <a:xfrm>
            <a:off x="5136368" y="4297680"/>
            <a:ext cx="1918960" cy="438912"/>
          </a:xfrm>
          <a:prstGeom prst="rect">
            <a:avLst/>
          </a:prstGeom>
          <a:noFill/>
          <a:ln/>
        </p:spPr>
        <p:txBody>
          <a:bodyPr wrap="square" lIns="0" tIns="0" rIns="0" bIns="0" rtlCol="0" anchor="t"/>
          <a:lstStyle/>
          <a:p>
            <a:pPr indent="0" marL="0">
              <a:lnSpc>
                <a:spcPct val="108000"/>
              </a:lnSpc>
              <a:buNone/>
            </a:pPr>
            <a:r>
              <a:rPr lang="en-US" sz="1000" b="1" dirty="0">
                <a:solidFill>
                  <a:srgbClr val="0B1622"/>
                </a:solidFill>
                <a:latin typeface="Calibri" pitchFamily="34" charset="0"/>
                <a:ea typeface="Calibri" pitchFamily="34" charset="-122"/>
                <a:cs typeface="Calibri" pitchFamily="34" charset="-120"/>
              </a:rPr>
              <a:t>No licences. Runs on what you already operate</a:t>
            </a:r>
            <a:endParaRPr lang="en-US" sz="1000" dirty="0"/>
          </a:p>
        </p:txBody>
      </p:sp>
      <p:sp>
        <p:nvSpPr>
          <p:cNvPr id="41" name="Shape 38"/>
          <p:cNvSpPr/>
          <p:nvPr/>
        </p:nvSpPr>
        <p:spPr>
          <a:xfrm>
            <a:off x="7201632" y="3986784"/>
            <a:ext cx="2193280" cy="841248"/>
          </a:xfrm>
          <a:prstGeom prst="roundRect">
            <a:avLst>
              <a:gd name="adj" fmla="val 8696"/>
            </a:avLst>
          </a:prstGeom>
          <a:solidFill>
            <a:srgbClr val="FFFFFF"/>
          </a:solidFill>
          <a:ln w="12700">
            <a:solidFill>
              <a:srgbClr val="E2E7EC"/>
            </a:solidFill>
            <a:prstDash val="solid"/>
          </a:ln>
        </p:spPr>
      </p:sp>
      <p:sp>
        <p:nvSpPr>
          <p:cNvPr id="42" name="Text 39"/>
          <p:cNvSpPr/>
          <p:nvPr/>
        </p:nvSpPr>
        <p:spPr>
          <a:xfrm>
            <a:off x="7347936" y="4114800"/>
            <a:ext cx="1918960" cy="146304"/>
          </a:xfrm>
          <a:prstGeom prst="rect">
            <a:avLst/>
          </a:prstGeom>
          <a:noFill/>
          <a:ln/>
        </p:spPr>
        <p:txBody>
          <a:bodyPr wrap="square" lIns="0" tIns="0" rIns="0" bIns="0" rtlCol="0" anchor="ctr"/>
          <a:lstStyle/>
          <a:p>
            <a:pPr indent="0" marL="0">
              <a:buNone/>
            </a:pPr>
            <a:r>
              <a:rPr lang="en-US" sz="700" b="1" spc="120" kern="0" dirty="0">
                <a:solidFill>
                  <a:srgbClr val="7E8C9B"/>
                </a:solidFill>
                <a:latin typeface="Consolas" pitchFamily="34" charset="0"/>
                <a:ea typeface="Consolas" pitchFamily="34" charset="-122"/>
                <a:cs typeface="Consolas" pitchFamily="34" charset="-120"/>
              </a:rPr>
              <a:t>FIRST PROOF</a:t>
            </a:r>
            <a:endParaRPr lang="en-US" sz="700" dirty="0"/>
          </a:p>
        </p:txBody>
      </p:sp>
      <p:sp>
        <p:nvSpPr>
          <p:cNvPr id="43" name="Text 40"/>
          <p:cNvSpPr/>
          <p:nvPr/>
        </p:nvSpPr>
        <p:spPr>
          <a:xfrm>
            <a:off x="7347936" y="4297680"/>
            <a:ext cx="1918960" cy="438912"/>
          </a:xfrm>
          <a:prstGeom prst="rect">
            <a:avLst/>
          </a:prstGeom>
          <a:noFill/>
          <a:ln/>
        </p:spPr>
        <p:txBody>
          <a:bodyPr wrap="square" lIns="0" tIns="0" rIns="0" bIns="0" rtlCol="0" anchor="t"/>
          <a:lstStyle/>
          <a:p>
            <a:pPr indent="0" marL="0">
              <a:lnSpc>
                <a:spcPct val="108000"/>
              </a:lnSpc>
              <a:buNone/>
            </a:pPr>
            <a:r>
              <a:rPr lang="en-US" sz="1000" b="1" dirty="0">
                <a:solidFill>
                  <a:srgbClr val="0B1622"/>
                </a:solidFill>
                <a:latin typeface="Calibri" pitchFamily="34" charset="0"/>
                <a:ea typeface="Calibri" pitchFamily="34" charset="-122"/>
                <a:cs typeface="Calibri" pitchFamily="34" charset="-120"/>
              </a:rPr>
              <a:t>Week 3 — agents reviewing real pull requests</a:t>
            </a:r>
            <a:endParaRPr lang="en-US" sz="1000" dirty="0"/>
          </a:p>
        </p:txBody>
      </p:sp>
      <p:sp>
        <p:nvSpPr>
          <p:cNvPr id="44" name="Shape 41"/>
          <p:cNvSpPr/>
          <p:nvPr/>
        </p:nvSpPr>
        <p:spPr>
          <a:xfrm>
            <a:off x="9413199" y="3986784"/>
            <a:ext cx="2193280" cy="841248"/>
          </a:xfrm>
          <a:prstGeom prst="roundRect">
            <a:avLst>
              <a:gd name="adj" fmla="val 8696"/>
            </a:avLst>
          </a:prstGeom>
          <a:solidFill>
            <a:srgbClr val="E6F4F6"/>
          </a:solidFill>
          <a:ln w="12700">
            <a:solidFill>
              <a:srgbClr val="9CCED6"/>
            </a:solidFill>
            <a:prstDash val="solid"/>
          </a:ln>
        </p:spPr>
      </p:sp>
      <p:sp>
        <p:nvSpPr>
          <p:cNvPr id="45" name="Text 42"/>
          <p:cNvSpPr/>
          <p:nvPr/>
        </p:nvSpPr>
        <p:spPr>
          <a:xfrm>
            <a:off x="9559503" y="4114800"/>
            <a:ext cx="1918960" cy="146304"/>
          </a:xfrm>
          <a:prstGeom prst="rect">
            <a:avLst/>
          </a:prstGeom>
          <a:noFill/>
          <a:ln/>
        </p:spPr>
        <p:txBody>
          <a:bodyPr wrap="square" lIns="0" tIns="0" rIns="0" bIns="0" rtlCol="0" anchor="ctr"/>
          <a:lstStyle/>
          <a:p>
            <a:pPr indent="0" marL="0">
              <a:buNone/>
            </a:pPr>
            <a:r>
              <a:rPr lang="en-US" sz="700" b="1" spc="120" kern="0" dirty="0">
                <a:solidFill>
                  <a:srgbClr val="0B6F7D"/>
                </a:solidFill>
                <a:latin typeface="Consolas" pitchFamily="34" charset="0"/>
                <a:ea typeface="Consolas" pitchFamily="34" charset="-122"/>
                <a:cs typeface="Consolas" pitchFamily="34" charset="-120"/>
              </a:rPr>
              <a:t>DECISION TODAY</a:t>
            </a:r>
            <a:endParaRPr lang="en-US" sz="700" dirty="0"/>
          </a:p>
        </p:txBody>
      </p:sp>
      <p:sp>
        <p:nvSpPr>
          <p:cNvPr id="46" name="Text 43"/>
          <p:cNvSpPr/>
          <p:nvPr/>
        </p:nvSpPr>
        <p:spPr>
          <a:xfrm>
            <a:off x="9559503" y="4297680"/>
            <a:ext cx="1918960" cy="438912"/>
          </a:xfrm>
          <a:prstGeom prst="rect">
            <a:avLst/>
          </a:prstGeom>
          <a:noFill/>
          <a:ln/>
        </p:spPr>
        <p:txBody>
          <a:bodyPr wrap="square" lIns="0" tIns="0" rIns="0" bIns="0" rtlCol="0" anchor="t"/>
          <a:lstStyle/>
          <a:p>
            <a:pPr indent="0" marL="0">
              <a:lnSpc>
                <a:spcPct val="108000"/>
              </a:lnSpc>
              <a:buNone/>
            </a:pPr>
            <a:r>
              <a:rPr lang="en-US" sz="1000" b="1" dirty="0">
                <a:solidFill>
                  <a:srgbClr val="0B1622"/>
                </a:solidFill>
                <a:latin typeface="Calibri" pitchFamily="34" charset="0"/>
                <a:ea typeface="Calibri" pitchFamily="34" charset="-122"/>
                <a:cs typeface="Calibri" pitchFamily="34" charset="-120"/>
              </a:rPr>
              <a:t>Five, all listed on slide 24</a:t>
            </a:r>
            <a:endParaRPr lang="en-US" sz="1000" dirty="0"/>
          </a:p>
        </p:txBody>
      </p:sp>
      <p:sp>
        <p:nvSpPr>
          <p:cNvPr id="47" name="Shape 44"/>
          <p:cNvSpPr/>
          <p:nvPr/>
        </p:nvSpPr>
        <p:spPr>
          <a:xfrm>
            <a:off x="566928" y="4974336"/>
            <a:ext cx="11057839" cy="566928"/>
          </a:xfrm>
          <a:prstGeom prst="roundRect">
            <a:avLst>
              <a:gd name="adj" fmla="val 12903"/>
            </a:avLst>
          </a:prstGeom>
          <a:solidFill>
            <a:srgbClr val="E6F4F6"/>
          </a:solidFill>
          <a:ln w="12700">
            <a:solidFill>
              <a:srgbClr val="9CCED6"/>
            </a:solidFill>
            <a:prstDash val="solid"/>
          </a:ln>
        </p:spPr>
      </p:sp>
      <p:sp>
        <p:nvSpPr>
          <p:cNvPr id="48" name="Text 45"/>
          <p:cNvSpPr/>
          <p:nvPr/>
        </p:nvSpPr>
        <p:spPr>
          <a:xfrm>
            <a:off x="749808" y="5120640"/>
            <a:ext cx="10692079" cy="3657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Everything on the following slides serves one of the four ratios.</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If a slide cannot be traced to one of them, tell us and we will cut it — from this deck and from the twelve weeks.</a:t>
            </a:r>
            <a:endParaRPr lang="en-US" sz="1050" dirty="0"/>
          </a:p>
        </p:txBody>
      </p:sp>
      <p:sp>
        <p:nvSpPr>
          <p:cNvPr id="49" name="Shape 46"/>
          <p:cNvSpPr/>
          <p:nvPr/>
        </p:nvSpPr>
        <p:spPr>
          <a:xfrm>
            <a:off x="566928" y="6382512"/>
            <a:ext cx="11057839" cy="0"/>
          </a:xfrm>
          <a:prstGeom prst="line">
            <a:avLst/>
          </a:prstGeom>
          <a:noFill/>
          <a:ln w="9525">
            <a:solidFill>
              <a:srgbClr val="E2E7EC"/>
            </a:solidFill>
            <a:prstDash val="solid"/>
          </a:ln>
        </p:spPr>
      </p:sp>
      <p:sp>
        <p:nvSpPr>
          <p:cNvPr id="50" name="Text 4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1" name="Text 4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EVERYTHING THAT FOLLOWS SERVES ONE OF THE FOUR RATIOS</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172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5FD8E6"/>
                </a:solidFill>
                <a:latin typeface="Consolas" pitchFamily="34" charset="0"/>
                <a:ea typeface="Consolas" pitchFamily="34" charset="-122"/>
                <a:cs typeface="Consolas" pitchFamily="34" charset="-120"/>
              </a:rPr>
              <a:t>01</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5FD8E6"/>
                </a:solidFill>
                <a:latin typeface="Consolas" pitchFamily="34" charset="0"/>
                <a:ea typeface="Consolas" pitchFamily="34" charset="-122"/>
                <a:cs typeface="Consolas" pitchFamily="34" charset="-120"/>
              </a:rPr>
              <a:t>THE ANSWER · THE CONSTRAINT</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FFFFFF"/>
                </a:solidFill>
                <a:latin typeface="Calibri" pitchFamily="34" charset="0"/>
                <a:ea typeface="Calibri" pitchFamily="34" charset="-122"/>
                <a:cs typeface="Calibri" pitchFamily="34" charset="-120"/>
              </a:rPr>
              <a:t>The constraint is no longer model capability — it is that nothing is shared between one agent and the next.</a:t>
            </a:r>
            <a:endParaRPr lang="en-US" sz="2500" dirty="0"/>
          </a:p>
        </p:txBody>
      </p:sp>
      <p:sp>
        <p:nvSpPr>
          <p:cNvPr id="6" name="Text 3"/>
          <p:cNvSpPr/>
          <p:nvPr/>
        </p:nvSpPr>
        <p:spPr>
          <a:xfrm>
            <a:off x="1389888" y="14300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C7D6E2"/>
                </a:solidFill>
                <a:latin typeface="Calibri" pitchFamily="34" charset="0"/>
                <a:ea typeface="Calibri" pitchFamily="34" charset="-122"/>
                <a:cs typeface="Calibri" pitchFamily="34" charset="-120"/>
              </a:rPr>
              <a:t>Every team can build one agent. None can build the hundredth, because the hundredth needs a fabric and building a fabric is nobody’s job description. So each capability re-solves identity, policy, telemetry, release and evidence from scratch.</a:t>
            </a:r>
            <a:endParaRPr lang="en-US" sz="1250" dirty="0"/>
          </a:p>
        </p:txBody>
      </p:sp>
      <p:sp>
        <p:nvSpPr>
          <p:cNvPr id="7" name="Text 4"/>
          <p:cNvSpPr/>
          <p:nvPr/>
        </p:nvSpPr>
        <p:spPr>
          <a:xfrm>
            <a:off x="566928" y="2432304"/>
            <a:ext cx="5486400" cy="164592"/>
          </a:xfrm>
          <a:prstGeom prst="rect">
            <a:avLst/>
          </a:prstGeom>
          <a:noFill/>
          <a:ln/>
        </p:spPr>
        <p:txBody>
          <a:bodyPr wrap="square" lIns="0" tIns="0" rIns="0" bIns="0" rtlCol="0" anchor="ctr"/>
          <a:lstStyle/>
          <a:p>
            <a:pPr indent="0" marL="0">
              <a:buNone/>
            </a:pPr>
            <a:r>
              <a:rPr lang="en-US" sz="750" b="1" spc="140" kern="0" dirty="0">
                <a:solidFill>
                  <a:srgbClr val="5FD8E6"/>
                </a:solidFill>
                <a:latin typeface="Consolas" pitchFamily="34" charset="0"/>
                <a:ea typeface="Consolas" pitchFamily="34" charset="-122"/>
                <a:cs typeface="Consolas" pitchFamily="34" charset="-120"/>
              </a:rPr>
              <a:t>COST PER CAPABILITY — THE TWO TRAJECTORIES</a:t>
            </a:r>
            <a:endParaRPr lang="en-US" sz="750" dirty="0"/>
          </a:p>
        </p:txBody>
      </p:sp>
      <p:sp>
        <p:nvSpPr>
          <p:cNvPr id="8" name="Shape 5"/>
          <p:cNvSpPr/>
          <p:nvPr/>
        </p:nvSpPr>
        <p:spPr>
          <a:xfrm>
            <a:off x="566928" y="2651760"/>
            <a:ext cx="5943600" cy="2157984"/>
          </a:xfrm>
          <a:prstGeom prst="roundRect">
            <a:avLst>
              <a:gd name="adj" fmla="val 3390"/>
            </a:avLst>
          </a:prstGeom>
          <a:solidFill>
            <a:srgbClr val="0E2437"/>
          </a:solidFill>
          <a:ln w="12700">
            <a:solidFill>
              <a:srgbClr val="1E3A52"/>
            </a:solidFill>
            <a:prstDash val="solid"/>
          </a:ln>
        </p:spPr>
      </p:sp>
      <p:sp>
        <p:nvSpPr>
          <p:cNvPr id="9" name="Shape 6"/>
          <p:cNvSpPr/>
          <p:nvPr/>
        </p:nvSpPr>
        <p:spPr>
          <a:xfrm>
            <a:off x="877824" y="3084820"/>
            <a:ext cx="548640" cy="975116"/>
          </a:xfrm>
          <a:prstGeom prst="roundRect">
            <a:avLst>
              <a:gd name="adj" fmla="val 6667"/>
            </a:avLst>
          </a:prstGeom>
          <a:solidFill>
            <a:srgbClr val="7E8C9B"/>
          </a:solidFill>
          <a:ln w="12700">
            <a:solidFill>
              <a:srgbClr val="7E8C9B"/>
            </a:solidFill>
            <a:prstDash val="solid"/>
          </a:ln>
        </p:spPr>
      </p:sp>
      <p:sp>
        <p:nvSpPr>
          <p:cNvPr id="10" name="Shape 7"/>
          <p:cNvSpPr/>
          <p:nvPr/>
        </p:nvSpPr>
        <p:spPr>
          <a:xfrm>
            <a:off x="1664208" y="3107497"/>
            <a:ext cx="548640" cy="952439"/>
          </a:xfrm>
          <a:prstGeom prst="roundRect">
            <a:avLst>
              <a:gd name="adj" fmla="val 6667"/>
            </a:avLst>
          </a:prstGeom>
          <a:solidFill>
            <a:srgbClr val="7E8C9B"/>
          </a:solidFill>
          <a:ln w="12700">
            <a:solidFill>
              <a:srgbClr val="7E8C9B"/>
            </a:solidFill>
            <a:prstDash val="solid"/>
          </a:ln>
        </p:spPr>
      </p:sp>
      <p:sp>
        <p:nvSpPr>
          <p:cNvPr id="11" name="Shape 8"/>
          <p:cNvSpPr/>
          <p:nvPr/>
        </p:nvSpPr>
        <p:spPr>
          <a:xfrm>
            <a:off x="2450592" y="3073481"/>
            <a:ext cx="548640" cy="986455"/>
          </a:xfrm>
          <a:prstGeom prst="roundRect">
            <a:avLst>
              <a:gd name="adj" fmla="val 6667"/>
            </a:avLst>
          </a:prstGeom>
          <a:solidFill>
            <a:srgbClr val="7E8C9B"/>
          </a:solidFill>
          <a:ln w="12700">
            <a:solidFill>
              <a:srgbClr val="7E8C9B"/>
            </a:solidFill>
            <a:prstDash val="solid"/>
          </a:ln>
        </p:spPr>
      </p:sp>
      <p:sp>
        <p:nvSpPr>
          <p:cNvPr id="12" name="Shape 9"/>
          <p:cNvSpPr/>
          <p:nvPr/>
        </p:nvSpPr>
        <p:spPr>
          <a:xfrm>
            <a:off x="4023360" y="2948757"/>
            <a:ext cx="548640" cy="1111179"/>
          </a:xfrm>
          <a:prstGeom prst="roundRect">
            <a:avLst>
              <a:gd name="adj" fmla="val 6667"/>
            </a:avLst>
          </a:prstGeom>
          <a:solidFill>
            <a:srgbClr val="5FD8E6"/>
          </a:solidFill>
          <a:ln w="12700">
            <a:solidFill>
              <a:srgbClr val="5FD8E6"/>
            </a:solidFill>
            <a:prstDash val="solid"/>
          </a:ln>
        </p:spPr>
      </p:sp>
      <p:sp>
        <p:nvSpPr>
          <p:cNvPr id="13" name="Shape 10"/>
          <p:cNvSpPr/>
          <p:nvPr/>
        </p:nvSpPr>
        <p:spPr>
          <a:xfrm>
            <a:off x="4809744" y="3527024"/>
            <a:ext cx="548640" cy="532912"/>
          </a:xfrm>
          <a:prstGeom prst="roundRect">
            <a:avLst>
              <a:gd name="adj" fmla="val 6863"/>
            </a:avLst>
          </a:prstGeom>
          <a:solidFill>
            <a:srgbClr val="5FD8E6"/>
          </a:solidFill>
          <a:ln w="12700">
            <a:solidFill>
              <a:srgbClr val="5FD8E6"/>
            </a:solidFill>
            <a:prstDash val="solid"/>
          </a:ln>
        </p:spPr>
      </p:sp>
      <p:sp>
        <p:nvSpPr>
          <p:cNvPr id="14" name="Shape 11"/>
          <p:cNvSpPr/>
          <p:nvPr/>
        </p:nvSpPr>
        <p:spPr>
          <a:xfrm>
            <a:off x="5596128" y="3799149"/>
            <a:ext cx="548640" cy="260787"/>
          </a:xfrm>
          <a:prstGeom prst="roundRect">
            <a:avLst>
              <a:gd name="adj" fmla="val 14025"/>
            </a:avLst>
          </a:prstGeom>
          <a:solidFill>
            <a:srgbClr val="5FD8E6"/>
          </a:solidFill>
          <a:ln w="12700">
            <a:solidFill>
              <a:srgbClr val="5FD8E6"/>
            </a:solidFill>
            <a:prstDash val="solid"/>
          </a:ln>
        </p:spPr>
      </p:sp>
      <p:sp>
        <p:nvSpPr>
          <p:cNvPr id="15" name="Text 12"/>
          <p:cNvSpPr/>
          <p:nvPr/>
        </p:nvSpPr>
        <p:spPr>
          <a:xfrm>
            <a:off x="786384" y="4133088"/>
            <a:ext cx="2286000" cy="164592"/>
          </a:xfrm>
          <a:prstGeom prst="rect">
            <a:avLst/>
          </a:prstGeom>
          <a:noFill/>
          <a:ln/>
        </p:spPr>
        <p:txBody>
          <a:bodyPr wrap="square" lIns="0" tIns="0" rIns="0" bIns="0" rtlCol="0" anchor="ctr"/>
          <a:lstStyle/>
          <a:p>
            <a:pPr algn="ctr" indent="0" marL="0">
              <a:buNone/>
            </a:pPr>
            <a:r>
              <a:rPr lang="en-US" sz="700" dirty="0">
                <a:solidFill>
                  <a:srgbClr val="8AA3B8"/>
                </a:solidFill>
                <a:latin typeface="Consolas" pitchFamily="34" charset="0"/>
                <a:ea typeface="Consolas" pitchFamily="34" charset="-122"/>
                <a:cs typeface="Consolas" pitchFamily="34" charset="-120"/>
              </a:rPr>
              <a:t>WITHOUT A FABRIC · #1 · #5 · #10</a:t>
            </a:r>
            <a:endParaRPr lang="en-US" sz="700" dirty="0"/>
          </a:p>
        </p:txBody>
      </p:sp>
      <p:sp>
        <p:nvSpPr>
          <p:cNvPr id="16" name="Text 13"/>
          <p:cNvSpPr/>
          <p:nvPr/>
        </p:nvSpPr>
        <p:spPr>
          <a:xfrm>
            <a:off x="3950208" y="4133088"/>
            <a:ext cx="2286000" cy="164592"/>
          </a:xfrm>
          <a:prstGeom prst="rect">
            <a:avLst/>
          </a:prstGeom>
          <a:noFill/>
          <a:ln/>
        </p:spPr>
        <p:txBody>
          <a:bodyPr wrap="square" lIns="0" tIns="0" rIns="0" bIns="0" rtlCol="0" anchor="ctr"/>
          <a:lstStyle/>
          <a:p>
            <a:pPr algn="ctr" indent="0" marL="0">
              <a:buNone/>
            </a:pPr>
            <a:r>
              <a:rPr lang="en-US" sz="700" dirty="0">
                <a:solidFill>
                  <a:srgbClr val="5FD8E6"/>
                </a:solidFill>
                <a:latin typeface="Consolas" pitchFamily="34" charset="0"/>
                <a:ea typeface="Consolas" pitchFamily="34" charset="-122"/>
                <a:cs typeface="Consolas" pitchFamily="34" charset="-120"/>
              </a:rPr>
              <a:t>WITH A FABRIC · #1 · #5 · #10</a:t>
            </a:r>
            <a:endParaRPr lang="en-US" sz="700" dirty="0"/>
          </a:p>
        </p:txBody>
      </p:sp>
      <p:sp>
        <p:nvSpPr>
          <p:cNvPr id="17" name="Text 14"/>
          <p:cNvSpPr/>
          <p:nvPr/>
        </p:nvSpPr>
        <p:spPr>
          <a:xfrm>
            <a:off x="786384" y="4370832"/>
            <a:ext cx="5486400" cy="402336"/>
          </a:xfrm>
          <a:prstGeom prst="rect">
            <a:avLst/>
          </a:prstGeom>
          <a:noFill/>
          <a:ln/>
        </p:spPr>
        <p:txBody>
          <a:bodyPr wrap="square" lIns="0" tIns="0" rIns="0" bIns="0" rtlCol="0" anchor="t"/>
          <a:lstStyle/>
          <a:p>
            <a:pPr indent="0" marL="0">
              <a:lnSpc>
                <a:spcPct val="110000"/>
              </a:lnSpc>
              <a:buNone/>
            </a:pPr>
            <a:r>
              <a:rPr lang="en-US" sz="920" dirty="0">
                <a:solidFill>
                  <a:srgbClr val="C7D6E2"/>
                </a:solidFill>
                <a:latin typeface="Calibri" pitchFamily="34" charset="0"/>
                <a:ea typeface="Calibri" pitchFamily="34" charset="-122"/>
                <a:cs typeface="Calibri" pitchFamily="34" charset="-120"/>
              </a:rPr>
              <a:t>Illustrative shape. Capability #1 </a:t>
            </a:r>
            <a:pPr indent="0" marL="0">
              <a:lnSpc>
                <a:spcPct val="110000"/>
              </a:lnSpc>
              <a:buNone/>
            </a:pPr>
            <a:r>
              <a:rPr lang="en-US" sz="920" b="1" dirty="0">
                <a:solidFill>
                  <a:srgbClr val="5FD8E6"/>
                </a:solidFill>
                <a:latin typeface="Calibri" pitchFamily="34" charset="0"/>
                <a:ea typeface="Calibri" pitchFamily="34" charset="-122"/>
                <a:cs typeface="Calibri" pitchFamily="34" charset="-120"/>
              </a:rPr>
              <a:t>pays for the fabric</a:t>
            </a:r>
            <a:pPr indent="0" marL="0">
              <a:lnSpc>
                <a:spcPct val="110000"/>
              </a:lnSpc>
              <a:buNone/>
            </a:pPr>
            <a:r>
              <a:rPr lang="en-US" sz="920" dirty="0">
                <a:solidFill>
                  <a:srgbClr val="C7D6E2"/>
                </a:solidFill>
                <a:latin typeface="Calibri" pitchFamily="34" charset="0"/>
                <a:ea typeface="Calibri" pitchFamily="34" charset="-122"/>
                <a:cs typeface="Calibri" pitchFamily="34" charset="-120"/>
              </a:rPr>
              <a:t>; #10 carries only itself. Any business case that prices agent number one as a product decision will always say no — and will always be wrong.</a:t>
            </a:r>
            <a:endParaRPr lang="en-US" sz="920" dirty="0"/>
          </a:p>
        </p:txBody>
      </p:sp>
      <p:sp>
        <p:nvSpPr>
          <p:cNvPr id="18" name="Text 15"/>
          <p:cNvSpPr/>
          <p:nvPr/>
        </p:nvSpPr>
        <p:spPr>
          <a:xfrm>
            <a:off x="6729984" y="2432304"/>
            <a:ext cx="4572000" cy="164592"/>
          </a:xfrm>
          <a:prstGeom prst="rect">
            <a:avLst/>
          </a:prstGeom>
          <a:noFill/>
          <a:ln/>
        </p:spPr>
        <p:txBody>
          <a:bodyPr wrap="square" lIns="0" tIns="0" rIns="0" bIns="0" rtlCol="0" anchor="ctr"/>
          <a:lstStyle/>
          <a:p>
            <a:pPr indent="0" marL="0">
              <a:buNone/>
            </a:pPr>
            <a:r>
              <a:rPr lang="en-US" sz="750" b="1" spc="140" kern="0" dirty="0">
                <a:solidFill>
                  <a:srgbClr val="5FD8E6"/>
                </a:solidFill>
                <a:latin typeface="Consolas" pitchFamily="34" charset="0"/>
                <a:ea typeface="Consolas" pitchFamily="34" charset="-122"/>
                <a:cs typeface="Consolas" pitchFamily="34" charset="-120"/>
              </a:rPr>
              <a:t>WHAT THAT ARITHMETIC PRODUCES</a:t>
            </a:r>
            <a:endParaRPr lang="en-US" sz="750" dirty="0"/>
          </a:p>
        </p:txBody>
      </p:sp>
      <p:sp>
        <p:nvSpPr>
          <p:cNvPr id="19" name="Shape 16"/>
          <p:cNvSpPr/>
          <p:nvPr/>
        </p:nvSpPr>
        <p:spPr>
          <a:xfrm>
            <a:off x="6729984" y="2651760"/>
            <a:ext cx="4894783" cy="475488"/>
          </a:xfrm>
          <a:prstGeom prst="roundRect">
            <a:avLst>
              <a:gd name="adj" fmla="val 15385"/>
            </a:avLst>
          </a:prstGeom>
          <a:solidFill>
            <a:srgbClr val="0E2437"/>
          </a:solidFill>
          <a:ln w="12700">
            <a:solidFill>
              <a:srgbClr val="1E3A52"/>
            </a:solidFill>
            <a:prstDash val="solid"/>
          </a:ln>
        </p:spPr>
      </p:sp>
      <p:sp>
        <p:nvSpPr>
          <p:cNvPr id="20" name="Text 17"/>
          <p:cNvSpPr/>
          <p:nvPr/>
        </p:nvSpPr>
        <p:spPr>
          <a:xfrm>
            <a:off x="6912864" y="2706624"/>
            <a:ext cx="4572000"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Pilots that cannot graduate</a:t>
            </a:r>
            <a:endParaRPr lang="en-US" sz="1050" dirty="0"/>
          </a:p>
        </p:txBody>
      </p:sp>
      <p:sp>
        <p:nvSpPr>
          <p:cNvPr id="21" name="Text 18"/>
          <p:cNvSpPr/>
          <p:nvPr/>
        </p:nvSpPr>
        <p:spPr>
          <a:xfrm>
            <a:off x="6912864" y="2880360"/>
            <a:ext cx="4572000" cy="219456"/>
          </a:xfrm>
          <a:prstGeom prst="rect">
            <a:avLst/>
          </a:prstGeom>
          <a:noFill/>
          <a:ln/>
        </p:spPr>
        <p:txBody>
          <a:bodyPr wrap="square" lIns="0" tIns="0" rIns="0" bIns="0" rtlCol="0" anchor="t"/>
          <a:lstStyle/>
          <a:p>
            <a:pPr indent="0" marL="0">
              <a:buNone/>
            </a:pPr>
            <a:r>
              <a:rPr lang="en-US" sz="840" dirty="0">
                <a:solidFill>
                  <a:srgbClr val="C7D6E2"/>
                </a:solidFill>
                <a:latin typeface="Calibri" pitchFamily="34" charset="0"/>
                <a:ea typeface="Calibri" pitchFamily="34" charset="-122"/>
                <a:cs typeface="Calibri" pitchFamily="34" charset="-120"/>
              </a:rPr>
              <a:t>Every promotion triggers a bespoke security, platform and data review, because there is no shared posture to inherit.</a:t>
            </a:r>
            <a:endParaRPr lang="en-US" sz="840" dirty="0"/>
          </a:p>
        </p:txBody>
      </p:sp>
      <p:sp>
        <p:nvSpPr>
          <p:cNvPr id="22" name="Shape 19"/>
          <p:cNvSpPr/>
          <p:nvPr/>
        </p:nvSpPr>
        <p:spPr>
          <a:xfrm>
            <a:off x="6729984" y="3200400"/>
            <a:ext cx="4894783" cy="475488"/>
          </a:xfrm>
          <a:prstGeom prst="roundRect">
            <a:avLst>
              <a:gd name="adj" fmla="val 15385"/>
            </a:avLst>
          </a:prstGeom>
          <a:solidFill>
            <a:srgbClr val="0E2437"/>
          </a:solidFill>
          <a:ln w="12700">
            <a:solidFill>
              <a:srgbClr val="1E3A52"/>
            </a:solidFill>
            <a:prstDash val="solid"/>
          </a:ln>
        </p:spPr>
      </p:sp>
      <p:sp>
        <p:nvSpPr>
          <p:cNvPr id="23" name="Text 20"/>
          <p:cNvSpPr/>
          <p:nvPr/>
        </p:nvSpPr>
        <p:spPr>
          <a:xfrm>
            <a:off x="6912864" y="3255264"/>
            <a:ext cx="4572000"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 parallel estate, quietly</a:t>
            </a:r>
            <a:endParaRPr lang="en-US" sz="1050" dirty="0"/>
          </a:p>
        </p:txBody>
      </p:sp>
      <p:sp>
        <p:nvSpPr>
          <p:cNvPr id="24" name="Text 21"/>
          <p:cNvSpPr/>
          <p:nvPr/>
        </p:nvSpPr>
        <p:spPr>
          <a:xfrm>
            <a:off x="6912864" y="3429000"/>
            <a:ext cx="4572000" cy="219456"/>
          </a:xfrm>
          <a:prstGeom prst="rect">
            <a:avLst/>
          </a:prstGeom>
          <a:noFill/>
          <a:ln/>
        </p:spPr>
        <p:txBody>
          <a:bodyPr wrap="square" lIns="0" tIns="0" rIns="0" bIns="0" rtlCol="0" anchor="t"/>
          <a:lstStyle/>
          <a:p>
            <a:pPr indent="0" marL="0">
              <a:buNone/>
            </a:pPr>
            <a:r>
              <a:rPr lang="en-US" sz="840" dirty="0">
                <a:solidFill>
                  <a:srgbClr val="C7D6E2"/>
                </a:solidFill>
                <a:latin typeface="Calibri" pitchFamily="34" charset="0"/>
                <a:ea typeface="Calibri" pitchFamily="34" charset="-122"/>
                <a:cs typeface="Calibri" pitchFamily="34" charset="-120"/>
              </a:rPr>
              <a:t>The AI team stands up its own identity, secrets and logging — because waiting for the platform team was slower.</a:t>
            </a:r>
            <a:endParaRPr lang="en-US" sz="840" dirty="0"/>
          </a:p>
        </p:txBody>
      </p:sp>
      <p:sp>
        <p:nvSpPr>
          <p:cNvPr id="25" name="Shape 22"/>
          <p:cNvSpPr/>
          <p:nvPr/>
        </p:nvSpPr>
        <p:spPr>
          <a:xfrm>
            <a:off x="6729984" y="3749040"/>
            <a:ext cx="4894783" cy="475488"/>
          </a:xfrm>
          <a:prstGeom prst="roundRect">
            <a:avLst>
              <a:gd name="adj" fmla="val 15385"/>
            </a:avLst>
          </a:prstGeom>
          <a:solidFill>
            <a:srgbClr val="0E2437"/>
          </a:solidFill>
          <a:ln w="12700">
            <a:solidFill>
              <a:srgbClr val="1E3A52"/>
            </a:solidFill>
            <a:prstDash val="solid"/>
          </a:ln>
        </p:spPr>
      </p:sp>
      <p:sp>
        <p:nvSpPr>
          <p:cNvPr id="26" name="Text 23"/>
          <p:cNvSpPr/>
          <p:nvPr/>
        </p:nvSpPr>
        <p:spPr>
          <a:xfrm>
            <a:off x="6912864" y="3803904"/>
            <a:ext cx="4572000"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Answers nobody can evidence</a:t>
            </a:r>
            <a:endParaRPr lang="en-US" sz="1050" dirty="0"/>
          </a:p>
        </p:txBody>
      </p:sp>
      <p:sp>
        <p:nvSpPr>
          <p:cNvPr id="27" name="Text 24"/>
          <p:cNvSpPr/>
          <p:nvPr/>
        </p:nvSpPr>
        <p:spPr>
          <a:xfrm>
            <a:off x="6912864" y="3977640"/>
            <a:ext cx="4572000" cy="219456"/>
          </a:xfrm>
          <a:prstGeom prst="rect">
            <a:avLst/>
          </a:prstGeom>
          <a:noFill/>
          <a:ln/>
        </p:spPr>
        <p:txBody>
          <a:bodyPr wrap="square" lIns="0" tIns="0" rIns="0" bIns="0" rtlCol="0" anchor="t"/>
          <a:lstStyle/>
          <a:p>
            <a:pPr indent="0" marL="0">
              <a:buNone/>
            </a:pPr>
            <a:r>
              <a:rPr lang="en-US" sz="840" dirty="0">
                <a:solidFill>
                  <a:srgbClr val="C7D6E2"/>
                </a:solidFill>
                <a:latin typeface="Calibri" pitchFamily="34" charset="0"/>
                <a:ea typeface="Calibri" pitchFamily="34" charset="-122"/>
                <a:cs typeface="Calibri" pitchFamily="34" charset="-120"/>
              </a:rPr>
              <a:t>"The model decided" offered to Risk, which no dashboard repairs after the fact.</a:t>
            </a:r>
            <a:endParaRPr lang="en-US" sz="840" dirty="0"/>
          </a:p>
        </p:txBody>
      </p:sp>
      <p:sp>
        <p:nvSpPr>
          <p:cNvPr id="28" name="Shape 25"/>
          <p:cNvSpPr/>
          <p:nvPr/>
        </p:nvSpPr>
        <p:spPr>
          <a:xfrm>
            <a:off x="6729984" y="4297680"/>
            <a:ext cx="4894783" cy="475488"/>
          </a:xfrm>
          <a:prstGeom prst="roundRect">
            <a:avLst>
              <a:gd name="adj" fmla="val 15385"/>
            </a:avLst>
          </a:prstGeom>
          <a:solidFill>
            <a:srgbClr val="0C3A44"/>
          </a:solidFill>
          <a:ln w="12700">
            <a:solidFill>
              <a:srgbClr val="1E5A66"/>
            </a:solidFill>
            <a:prstDash val="solid"/>
          </a:ln>
        </p:spPr>
      </p:sp>
      <p:sp>
        <p:nvSpPr>
          <p:cNvPr id="29" name="Text 26"/>
          <p:cNvSpPr/>
          <p:nvPr/>
        </p:nvSpPr>
        <p:spPr>
          <a:xfrm>
            <a:off x="6912864" y="4352544"/>
            <a:ext cx="4572000"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None of these are model problems</a:t>
            </a:r>
            <a:endParaRPr lang="en-US" sz="1050" dirty="0"/>
          </a:p>
        </p:txBody>
      </p:sp>
      <p:sp>
        <p:nvSpPr>
          <p:cNvPr id="30" name="Text 27"/>
          <p:cNvSpPr/>
          <p:nvPr/>
        </p:nvSpPr>
        <p:spPr>
          <a:xfrm>
            <a:off x="6912864" y="4526280"/>
            <a:ext cx="4572000" cy="219456"/>
          </a:xfrm>
          <a:prstGeom prst="rect">
            <a:avLst/>
          </a:prstGeom>
          <a:noFill/>
          <a:ln/>
        </p:spPr>
        <p:txBody>
          <a:bodyPr wrap="square" lIns="0" tIns="0" rIns="0" bIns="0" rtlCol="0" anchor="t"/>
          <a:lstStyle/>
          <a:p>
            <a:pPr indent="0" marL="0">
              <a:buNone/>
            </a:pPr>
            <a:r>
              <a:rPr lang="en-US" sz="840" dirty="0">
                <a:solidFill>
                  <a:srgbClr val="C7D6E2"/>
                </a:solidFill>
                <a:latin typeface="Calibri" pitchFamily="34" charset="0"/>
                <a:ea typeface="Calibri" pitchFamily="34" charset="-122"/>
                <a:cs typeface="Calibri" pitchFamily="34" charset="-120"/>
              </a:rPr>
              <a:t>All three are the same missing substrate, showing up in three different committees.</a:t>
            </a:r>
            <a:endParaRPr lang="en-US" sz="840" dirty="0"/>
          </a:p>
        </p:txBody>
      </p:sp>
      <p:sp>
        <p:nvSpPr>
          <p:cNvPr id="31" name="Shape 28"/>
          <p:cNvSpPr/>
          <p:nvPr/>
        </p:nvSpPr>
        <p:spPr>
          <a:xfrm>
            <a:off x="566928" y="6382512"/>
            <a:ext cx="11057839" cy="0"/>
          </a:xfrm>
          <a:prstGeom prst="line">
            <a:avLst/>
          </a:prstGeom>
          <a:noFill/>
          <a:ln w="9525">
            <a:solidFill>
              <a:srgbClr val="20364C"/>
            </a:solidFill>
            <a:prstDash val="solid"/>
          </a:ln>
        </p:spPr>
      </p:sp>
      <p:sp>
        <p:nvSpPr>
          <p:cNvPr id="32" name="Text 29"/>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C7D6E2"/>
                </a:solidFill>
                <a:latin typeface="Consolas" pitchFamily="34" charset="0"/>
                <a:ea typeface="Consolas" pitchFamily="34" charset="-122"/>
                <a:cs typeface="Consolas" pitchFamily="34" charset="-120"/>
              </a:rPr>
              <a:t>AEGISES</a:t>
            </a:r>
            <a:endParaRPr lang="en-US" sz="850" dirty="0"/>
          </a:p>
        </p:txBody>
      </p:sp>
      <p:sp>
        <p:nvSpPr>
          <p:cNvPr id="33" name="Text 30"/>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8AA3B8"/>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01</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ANSWER · OPTIONS CONSIDERED</a:t>
            </a:r>
            <a:endParaRPr lang="en-US" sz="1000" dirty="0"/>
          </a:p>
        </p:txBody>
      </p:sp>
      <p:sp>
        <p:nvSpPr>
          <p:cNvPr id="5" name="Text 2"/>
          <p:cNvSpPr/>
          <p:nvPr/>
        </p:nvSpPr>
        <p:spPr>
          <a:xfrm>
            <a:off x="1389888" y="621792"/>
            <a:ext cx="10234879" cy="781304"/>
          </a:xfrm>
          <a:prstGeom prst="rect">
            <a:avLst/>
          </a:prstGeom>
          <a:noFill/>
          <a:ln/>
        </p:spPr>
        <p:txBody>
          <a:bodyPr wrap="square" lIns="0" tIns="0" rIns="0" bIns="0" rtlCol="0" anchor="t"/>
          <a:lstStyle/>
          <a:p>
            <a:pPr indent="0" marL="0">
              <a:buNone/>
            </a:pPr>
            <a:r>
              <a:rPr lang="en-US" sz="2600" b="1" dirty="0">
                <a:solidFill>
                  <a:srgbClr val="0B1622"/>
                </a:solidFill>
                <a:latin typeface="Calibri" pitchFamily="34" charset="0"/>
                <a:ea typeface="Calibri" pitchFamily="34" charset="-122"/>
                <a:cs typeface="Calibri" pitchFamily="34" charset="-120"/>
              </a:rPr>
              <a:t>Four credible responses. Only one bends the cost curve without creating a second estate.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476248"/>
          <a:ext cx="11057839" cy="914400"/>
        </p:xfrm>
        <a:graphic>
          <a:graphicData uri="http://schemas.openxmlformats.org/drawingml/2006/table">
            <a:tbl>
              <a:tblPr/>
              <a:tblGrid>
                <a:gridCol w="1600200"/>
                <a:gridCol w="1874520"/>
                <a:gridCol w="1234440"/>
                <a:gridCol w="1463040"/>
                <a:gridCol w="1554480"/>
                <a:gridCol w="3328416"/>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OPTION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IT IS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TIME TO FIRST VALUE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COST OF CAPABILITY #10</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CONTROL POSTURE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WHY IT WINS OR LOSES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1 · Wait</a:t>
                      </a:r>
                      <a:endParaRPr lang="en-US" sz="860" dirty="0">
                        <a:latin typeface="Calibri" charset="0"/>
                        <a:ea typeface="Calibri" charset="0"/>
                        <a:cs typeface="Calibri" charset="0"/>
                      </a:endParaRPr>
                    </a:p>
                    <a:p>
                      <a:pPr indent="0" marL="0">
                        <a:buNone/>
                      </a:pPr>
                      <a:r>
                        <a:rPr lang="en-US" sz="860" b="1" dirty="0">
                          <a:solidFill>
                            <a:srgbClr val="0B1622"/>
                          </a:solidFill>
                          <a:latin typeface="Calibri" pitchFamily="34" charset="0"/>
                          <a:ea typeface="Calibri" pitchFamily="34" charset="-122"/>
                          <a:cs typeface="Calibri" pitchFamily="34" charset="-120"/>
                        </a:rPr>
                        <a:t>Let the market mature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Keep pilots in sandboxes; revisit in a year.</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None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Unchanged — no learning curve started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Unchanged; shadow usage continues regardless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LOSES. The fabric is where the learning compounds, and none of it is model-dependent. Waiting defers the learning, not the risk.</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2 · Federated DIY</a:t>
                      </a:r>
                      <a:endParaRPr lang="en-US" sz="860" dirty="0">
                        <a:latin typeface="Calibri" charset="0"/>
                        <a:ea typeface="Calibri" charset="0"/>
                        <a:cs typeface="Calibri" charset="0"/>
                      </a:endParaRPr>
                    </a:p>
                    <a:p>
                      <a:pPr indent="0" marL="0">
                        <a:buNone/>
                      </a:pPr>
                      <a:r>
                        <a:rPr lang="en-US" sz="860" b="1" dirty="0">
                          <a:solidFill>
                            <a:srgbClr val="0B1622"/>
                          </a:solidFill>
                          <a:latin typeface="Calibri" pitchFamily="34" charset="0"/>
                          <a:ea typeface="Calibri" pitchFamily="34" charset="-122"/>
                          <a:cs typeface="Calibri" pitchFamily="34" charset="-120"/>
                        </a:rPr>
                        <a:t>Every squad builds its own</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Teams ship agents independently with whatever they can reach.</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Fastest — weeks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 same as #1 — nothing is shared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Divergent; ambient credentials by default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LOSES AT CAPABILITY FIVE. Genuinely the fastest to capability one — which is why most organisations are already here without deciding to be.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3 · Buy a platform</a:t>
                      </a:r>
                      <a:endParaRPr lang="en-US" sz="860" dirty="0">
                        <a:latin typeface="Calibri" charset="0"/>
                        <a:ea typeface="Calibri" charset="0"/>
                        <a:cs typeface="Calibri" charset="0"/>
                      </a:endParaRPr>
                    </a:p>
                    <a:p>
                      <a:pPr indent="0" marL="0">
                        <a:buNone/>
                      </a:pPr>
                      <a:r>
                        <a:rPr lang="en-US" sz="860" b="1" dirty="0">
                          <a:solidFill>
                            <a:srgbClr val="0B1622"/>
                          </a:solidFill>
                          <a:latin typeface="Calibri" pitchFamily="34" charset="0"/>
                          <a:ea typeface="Calibri" pitchFamily="34" charset="-122"/>
                          <a:cs typeface="Calibri" pitchFamily="34" charset="-120"/>
                        </a:rPr>
                        <a:t>Single vendor suite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Adopt one vendor's agent platform end to end.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Months — procurement first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Low, inside the suite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Strong but vendor-shaped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LOSES ON FIT AND EXIT. Assumes one vendor spans identity, data, platform and control. If a suite is already owned, we build around it rather than replace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6F7D"/>
                          </a:solidFill>
                          <a:latin typeface="Calibri" pitchFamily="34" charset="0"/>
                          <a:ea typeface="Calibri" pitchFamily="34" charset="-122"/>
                          <a:cs typeface="Calibri" pitchFamily="34" charset="-120"/>
                        </a:rPr>
                        <a:t>4 · Platform-first, thin</a:t>
                      </a:r>
                      <a:endParaRPr lang="en-US" sz="860" dirty="0">
                        <a:latin typeface="Calibri" charset="0"/>
                        <a:ea typeface="Calibri" charset="0"/>
                        <a:cs typeface="Calibri" charset="0"/>
                      </a:endParaRPr>
                    </a:p>
                    <a:p>
                      <a:pPr indent="0" marL="0">
                        <a:buNone/>
                      </a:pPr>
                      <a:r>
                        <a:rPr lang="en-US" sz="860" b="1" dirty="0">
                          <a:solidFill>
                            <a:srgbClr val="0B6F7D"/>
                          </a:solidFill>
                          <a:latin typeface="Calibri" pitchFamily="34" charset="0"/>
                          <a:ea typeface="Calibri" pitchFamily="34" charset="-122"/>
                          <a:cs typeface="Calibri" pitchFamily="34" charset="-120"/>
                        </a:rPr>
                        <a:t>RECOMMENDED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Build only the shared contract — registry, authority, event spine, paved road — on incumbents.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60" b="1" dirty="0">
                          <a:solidFill>
                            <a:srgbClr val="0B6F7D"/>
                          </a:solidFill>
                          <a:latin typeface="Calibri" pitchFamily="34" charset="0"/>
                          <a:ea typeface="Calibri" pitchFamily="34" charset="-122"/>
                          <a:cs typeface="Calibri" pitchFamily="34" charset="-120"/>
                        </a:rPr>
                        <a:t>Week 3 first proof</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Materially lower — the fabric is already paid for</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Uniform, evidenced, and yours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WINS. Twelve of fourteen components are reused. Two are new. Nothing is replaced, and every product underneath stays swappable.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r>
            </a:tbl>
          </a:graphicData>
        </a:graphic>
      </p:graphicFrame>
      <p:sp>
        <p:nvSpPr>
          <p:cNvPr id="7" name="Shape 3"/>
          <p:cNvSpPr/>
          <p:nvPr/>
        </p:nvSpPr>
        <p:spPr>
          <a:xfrm>
            <a:off x="566928" y="4846320"/>
            <a:ext cx="5437480" cy="713232"/>
          </a:xfrm>
          <a:prstGeom prst="roundRect">
            <a:avLst>
              <a:gd name="adj" fmla="val 10256"/>
            </a:avLst>
          </a:prstGeom>
          <a:solidFill>
            <a:srgbClr val="E6F4F6"/>
          </a:solidFill>
          <a:ln w="12700">
            <a:solidFill>
              <a:srgbClr val="9CCED6"/>
            </a:solidFill>
            <a:prstDash val="solid"/>
          </a:ln>
        </p:spPr>
      </p:sp>
      <p:sp>
        <p:nvSpPr>
          <p:cNvPr id="8" name="Text 4"/>
          <p:cNvSpPr/>
          <p:nvPr/>
        </p:nvSpPr>
        <p:spPr>
          <a:xfrm>
            <a:off x="749808" y="4974336"/>
            <a:ext cx="5071720"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What makes option 4 cheap is what makes it credible:</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it does not ask you to replace a single incumbent. Identity, CI/CD, observability, gateway, event bus and catalog all stay.</a:t>
            </a:r>
            <a:endParaRPr lang="en-US" sz="980" dirty="0"/>
          </a:p>
        </p:txBody>
      </p:sp>
      <p:sp>
        <p:nvSpPr>
          <p:cNvPr id="9" name="Shape 5"/>
          <p:cNvSpPr/>
          <p:nvPr/>
        </p:nvSpPr>
        <p:spPr>
          <a:xfrm>
            <a:off x="6187288" y="4846320"/>
            <a:ext cx="5437480" cy="713232"/>
          </a:xfrm>
          <a:prstGeom prst="roundRect">
            <a:avLst>
              <a:gd name="adj" fmla="val 10256"/>
            </a:avLst>
          </a:prstGeom>
          <a:solidFill>
            <a:srgbClr val="FFFFFF"/>
          </a:solidFill>
          <a:ln w="12700">
            <a:solidFill>
              <a:srgbClr val="E2E7EC"/>
            </a:solidFill>
            <a:prstDash val="solid"/>
          </a:ln>
        </p:spPr>
      </p:sp>
      <p:sp>
        <p:nvSpPr>
          <p:cNvPr id="10" name="Text 6"/>
          <p:cNvSpPr/>
          <p:nvPr/>
        </p:nvSpPr>
        <p:spPr>
          <a:xfrm>
            <a:off x="6370168" y="4974336"/>
            <a:ext cx="5071720"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question we would like from this room:</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is there a fifth option we should have considered? If your organisation has a constraint that rules option 4 out, we would rather hear it in minute fifteen than discover it in week six.</a:t>
            </a:r>
            <a:endParaRPr lang="en-US" sz="980" dirty="0"/>
          </a:p>
        </p:txBody>
      </p:sp>
      <p:sp>
        <p:nvSpPr>
          <p:cNvPr id="11" name="Shape 7"/>
          <p:cNvSpPr/>
          <p:nvPr/>
        </p:nvSpPr>
        <p:spPr>
          <a:xfrm>
            <a:off x="566928" y="6382512"/>
            <a:ext cx="11057839" cy="0"/>
          </a:xfrm>
          <a:prstGeom prst="line">
            <a:avLst/>
          </a:prstGeom>
          <a:noFill/>
          <a:ln w="9525">
            <a:solidFill>
              <a:srgbClr val="E2E7EC"/>
            </a:solidFill>
            <a:prstDash val="solid"/>
          </a:ln>
        </p:spPr>
      </p:sp>
      <p:sp>
        <p:nvSpPr>
          <p:cNvPr id="12" name="Text 8"/>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3" name="Text 9"/>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29184"/>
            <a:ext cx="548640" cy="201168"/>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01</a:t>
            </a:r>
            <a:endParaRPr lang="en-US" sz="1000" dirty="0"/>
          </a:p>
        </p:txBody>
      </p:sp>
      <p:sp>
        <p:nvSpPr>
          <p:cNvPr id="4" name="Text 1"/>
          <p:cNvSpPr/>
          <p:nvPr/>
        </p:nvSpPr>
        <p:spPr>
          <a:xfrm>
            <a:off x="1207008" y="329184"/>
            <a:ext cx="7315200" cy="201168"/>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OPERATING MODEL · ONE CANVAS</a:t>
            </a:r>
            <a:endParaRPr lang="en-US" sz="1000" dirty="0"/>
          </a:p>
        </p:txBody>
      </p:sp>
      <p:sp>
        <p:nvSpPr>
          <p:cNvPr id="5" name="Text 2"/>
          <p:cNvSpPr/>
          <p:nvPr/>
        </p:nvSpPr>
        <p:spPr>
          <a:xfrm>
            <a:off x="1207008" y="548640"/>
            <a:ext cx="10415016" cy="402336"/>
          </a:xfrm>
          <a:prstGeom prst="rect">
            <a:avLst/>
          </a:prstGeom>
          <a:noFill/>
          <a:ln/>
        </p:spPr>
        <p:txBody>
          <a:bodyPr wrap="square" lIns="0" tIns="0" rIns="0" bIns="0" rtlCol="0" anchor="t"/>
          <a:lstStyle/>
          <a:p>
            <a:pPr indent="0" marL="0">
              <a:buNone/>
            </a:pPr>
            <a:r>
              <a:rPr lang="en-US" sz="2400" b="1" dirty="0">
                <a:solidFill>
                  <a:srgbClr val="0B1622"/>
                </a:solidFill>
                <a:latin typeface="Calibri" pitchFamily="34" charset="0"/>
                <a:ea typeface="Calibri" pitchFamily="34" charset="-122"/>
                <a:cs typeface="Calibri" pitchFamily="34" charset="-120"/>
              </a:rPr>
              <a:t>Every block earns its place by moving one of the four ratios.</a:t>
            </a:r>
            <a:endParaRPr lang="en-US" sz="2400" dirty="0"/>
          </a:p>
        </p:txBody>
      </p:sp>
      <p:sp>
        <p:nvSpPr>
          <p:cNvPr id="6" name="Shape 3"/>
          <p:cNvSpPr/>
          <p:nvPr/>
        </p:nvSpPr>
        <p:spPr>
          <a:xfrm>
            <a:off x="1801368" y="1060704"/>
            <a:ext cx="2407844" cy="457200"/>
          </a:xfrm>
          <a:prstGeom prst="roundRect">
            <a:avLst>
              <a:gd name="adj" fmla="val 16000"/>
            </a:avLst>
          </a:prstGeom>
          <a:solidFill>
            <a:srgbClr val="0B6F7D"/>
          </a:solidFill>
          <a:ln w="12700">
            <a:solidFill>
              <a:srgbClr val="0B6F7D"/>
            </a:solidFill>
            <a:prstDash val="solid"/>
          </a:ln>
        </p:spPr>
      </p:sp>
      <p:sp>
        <p:nvSpPr>
          <p:cNvPr id="7" name="Text 4"/>
          <p:cNvSpPr/>
          <p:nvPr/>
        </p:nvSpPr>
        <p:spPr>
          <a:xfrm>
            <a:off x="1911096"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Time-to-capability</a:t>
            </a:r>
            <a:endParaRPr lang="en-US" sz="1050" dirty="0"/>
          </a:p>
        </p:txBody>
      </p:sp>
      <p:sp>
        <p:nvSpPr>
          <p:cNvPr id="8" name="Text 5"/>
          <p:cNvSpPr/>
          <p:nvPr/>
        </p:nvSpPr>
        <p:spPr>
          <a:xfrm>
            <a:off x="1911096"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Days from "we want this" to production</a:t>
            </a:r>
            <a:endParaRPr lang="en-US" sz="760" dirty="0"/>
          </a:p>
        </p:txBody>
      </p:sp>
      <p:sp>
        <p:nvSpPr>
          <p:cNvPr id="9" name="Shape 6"/>
          <p:cNvSpPr/>
          <p:nvPr/>
        </p:nvSpPr>
        <p:spPr>
          <a:xfrm>
            <a:off x="4273220" y="1060704"/>
            <a:ext cx="2407844" cy="457200"/>
          </a:xfrm>
          <a:prstGeom prst="roundRect">
            <a:avLst>
              <a:gd name="adj" fmla="val 16000"/>
            </a:avLst>
          </a:prstGeom>
          <a:solidFill>
            <a:srgbClr val="0B6F7D"/>
          </a:solidFill>
          <a:ln w="12700">
            <a:solidFill>
              <a:srgbClr val="0B6F7D"/>
            </a:solidFill>
            <a:prstDash val="solid"/>
          </a:ln>
        </p:spPr>
      </p:sp>
      <p:sp>
        <p:nvSpPr>
          <p:cNvPr id="10" name="Text 7"/>
          <p:cNvSpPr/>
          <p:nvPr/>
        </p:nvSpPr>
        <p:spPr>
          <a:xfrm>
            <a:off x="4382948"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Cost-per-capability</a:t>
            </a:r>
            <a:endParaRPr lang="en-US" sz="1050" dirty="0"/>
          </a:p>
        </p:txBody>
      </p:sp>
      <p:sp>
        <p:nvSpPr>
          <p:cNvPr id="11" name="Text 8"/>
          <p:cNvSpPr/>
          <p:nvPr/>
        </p:nvSpPr>
        <p:spPr>
          <a:xfrm>
            <a:off x="4382948"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The compounding term</a:t>
            </a:r>
            <a:endParaRPr lang="en-US" sz="760" dirty="0"/>
          </a:p>
        </p:txBody>
      </p:sp>
      <p:sp>
        <p:nvSpPr>
          <p:cNvPr id="12" name="Shape 9"/>
          <p:cNvSpPr/>
          <p:nvPr/>
        </p:nvSpPr>
        <p:spPr>
          <a:xfrm>
            <a:off x="6745072" y="1060704"/>
            <a:ext cx="2407844" cy="457200"/>
          </a:xfrm>
          <a:prstGeom prst="roundRect">
            <a:avLst>
              <a:gd name="adj" fmla="val 16000"/>
            </a:avLst>
          </a:prstGeom>
          <a:solidFill>
            <a:srgbClr val="0B6F7D"/>
          </a:solidFill>
          <a:ln w="12700">
            <a:solidFill>
              <a:srgbClr val="0B6F7D"/>
            </a:solidFill>
            <a:prstDash val="solid"/>
          </a:ln>
        </p:spPr>
      </p:sp>
      <p:sp>
        <p:nvSpPr>
          <p:cNvPr id="13" name="Text 10"/>
          <p:cNvSpPr/>
          <p:nvPr/>
        </p:nvSpPr>
        <p:spPr>
          <a:xfrm>
            <a:off x="6854800"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Risk-per-capability</a:t>
            </a:r>
            <a:endParaRPr lang="en-US" sz="1050" dirty="0"/>
          </a:p>
        </p:txBody>
      </p:sp>
      <p:sp>
        <p:nvSpPr>
          <p:cNvPr id="14" name="Text 11"/>
          <p:cNvSpPr/>
          <p:nvPr/>
        </p:nvSpPr>
        <p:spPr>
          <a:xfrm>
            <a:off x="6854800"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Blast radius × exposure, evidenced</a:t>
            </a:r>
            <a:endParaRPr lang="en-US" sz="760" dirty="0"/>
          </a:p>
        </p:txBody>
      </p:sp>
      <p:sp>
        <p:nvSpPr>
          <p:cNvPr id="15" name="Shape 12"/>
          <p:cNvSpPr/>
          <p:nvPr/>
        </p:nvSpPr>
        <p:spPr>
          <a:xfrm>
            <a:off x="9216923" y="1060704"/>
            <a:ext cx="2407844" cy="457200"/>
          </a:xfrm>
          <a:prstGeom prst="roundRect">
            <a:avLst>
              <a:gd name="adj" fmla="val 16000"/>
            </a:avLst>
          </a:prstGeom>
          <a:solidFill>
            <a:srgbClr val="0B6F7D"/>
          </a:solidFill>
          <a:ln w="12700">
            <a:solidFill>
              <a:srgbClr val="0B6F7D"/>
            </a:solidFill>
            <a:prstDash val="solid"/>
          </a:ln>
        </p:spPr>
      </p:sp>
      <p:sp>
        <p:nvSpPr>
          <p:cNvPr id="16" name="Text 13"/>
          <p:cNvSpPr/>
          <p:nvPr/>
        </p:nvSpPr>
        <p:spPr>
          <a:xfrm>
            <a:off x="9326651" y="1106424"/>
            <a:ext cx="2188388" cy="1828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Reuse rate</a:t>
            </a:r>
            <a:endParaRPr lang="en-US" sz="1050" dirty="0"/>
          </a:p>
        </p:txBody>
      </p:sp>
      <p:sp>
        <p:nvSpPr>
          <p:cNvPr id="17" name="Text 14"/>
          <p:cNvSpPr/>
          <p:nvPr/>
        </p:nvSpPr>
        <p:spPr>
          <a:xfrm>
            <a:off x="9326651" y="1289304"/>
            <a:ext cx="2188388" cy="182880"/>
          </a:xfrm>
          <a:prstGeom prst="rect">
            <a:avLst/>
          </a:prstGeom>
          <a:noFill/>
          <a:ln/>
        </p:spPr>
        <p:txBody>
          <a:bodyPr wrap="square" lIns="0" tIns="0" rIns="0" bIns="0" rtlCol="0" anchor="ctr"/>
          <a:lstStyle/>
          <a:p>
            <a:pPr indent="0" marL="0">
              <a:buNone/>
            </a:pPr>
            <a:r>
              <a:rPr lang="en-US" sz="760" dirty="0">
                <a:solidFill>
                  <a:srgbClr val="D9EEF1"/>
                </a:solidFill>
                <a:latin typeface="Calibri" pitchFamily="34" charset="0"/>
                <a:ea typeface="Calibri" pitchFamily="34" charset="-122"/>
                <a:cs typeface="Calibri" pitchFamily="34" charset="-120"/>
              </a:rPr>
              <a:t>Composed from what already exists</a:t>
            </a:r>
            <a:endParaRPr lang="en-US" sz="760" dirty="0"/>
          </a:p>
        </p:txBody>
      </p:sp>
      <p:sp>
        <p:nvSpPr>
          <p:cNvPr id="18" name="Text 15"/>
          <p:cNvSpPr/>
          <p:nvPr/>
        </p:nvSpPr>
        <p:spPr>
          <a:xfrm>
            <a:off x="566928" y="1097280"/>
            <a:ext cx="1170432" cy="402336"/>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RATIOS</a:t>
            </a:r>
            <a:endParaRPr lang="en-US" sz="750" dirty="0"/>
          </a:p>
          <a:p>
            <a:pPr indent="0" marL="0">
              <a:buNone/>
            </a:pPr>
            <a:r>
              <a:rPr lang="en-US" sz="750" b="1" spc="120" kern="0" dirty="0">
                <a:solidFill>
                  <a:srgbClr val="7E8C9B"/>
                </a:solidFill>
                <a:latin typeface="Consolas" pitchFamily="34" charset="0"/>
                <a:ea typeface="Consolas" pitchFamily="34" charset="-122"/>
                <a:cs typeface="Consolas" pitchFamily="34" charset="-120"/>
              </a:rPr>
              <a:t>WE MOVE</a:t>
            </a:r>
            <a:endParaRPr lang="en-US" sz="750" dirty="0"/>
          </a:p>
        </p:txBody>
      </p:sp>
      <p:sp>
        <p:nvSpPr>
          <p:cNvPr id="19" name="Shape 16"/>
          <p:cNvSpPr/>
          <p:nvPr/>
        </p:nvSpPr>
        <p:spPr>
          <a:xfrm>
            <a:off x="566928" y="1627632"/>
            <a:ext cx="1170432" cy="498348"/>
          </a:xfrm>
          <a:prstGeom prst="roundRect">
            <a:avLst>
              <a:gd name="adj" fmla="val 14679"/>
            </a:avLst>
          </a:prstGeom>
          <a:solidFill>
            <a:srgbClr val="FFFFFF"/>
          </a:solidFill>
          <a:ln w="12700">
            <a:solidFill>
              <a:srgbClr val="E2E7EC"/>
            </a:solidFill>
            <a:prstDash val="solid"/>
          </a:ln>
        </p:spPr>
      </p:sp>
      <p:sp>
        <p:nvSpPr>
          <p:cNvPr id="20" name="Text 17"/>
          <p:cNvSpPr/>
          <p:nvPr/>
        </p:nvSpPr>
        <p:spPr>
          <a:xfrm>
            <a:off x="640080" y="1691640"/>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Product &amp; business</a:t>
            </a:r>
            <a:endParaRPr lang="en-US" sz="780" dirty="0"/>
          </a:p>
        </p:txBody>
      </p:sp>
      <p:sp>
        <p:nvSpPr>
          <p:cNvPr id="21" name="Text 18"/>
          <p:cNvSpPr/>
          <p:nvPr/>
        </p:nvSpPr>
        <p:spPr>
          <a:xfrm>
            <a:off x="640080" y="1901952"/>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Names the capability</a:t>
            </a:r>
            <a:endParaRPr lang="en-US" sz="660" dirty="0"/>
          </a:p>
        </p:txBody>
      </p:sp>
      <p:sp>
        <p:nvSpPr>
          <p:cNvPr id="22" name="Shape 19"/>
          <p:cNvSpPr/>
          <p:nvPr/>
        </p:nvSpPr>
        <p:spPr>
          <a:xfrm>
            <a:off x="566928" y="2189988"/>
            <a:ext cx="1170432" cy="498348"/>
          </a:xfrm>
          <a:prstGeom prst="roundRect">
            <a:avLst>
              <a:gd name="adj" fmla="val 14679"/>
            </a:avLst>
          </a:prstGeom>
          <a:solidFill>
            <a:srgbClr val="FFFFFF"/>
          </a:solidFill>
          <a:ln w="12700">
            <a:solidFill>
              <a:srgbClr val="E2E7EC"/>
            </a:solidFill>
            <a:prstDash val="solid"/>
          </a:ln>
        </p:spPr>
      </p:sp>
      <p:sp>
        <p:nvSpPr>
          <p:cNvPr id="23" name="Text 20"/>
          <p:cNvSpPr/>
          <p:nvPr/>
        </p:nvSpPr>
        <p:spPr>
          <a:xfrm>
            <a:off x="640080" y="2253996"/>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AI practice</a:t>
            </a:r>
            <a:endParaRPr lang="en-US" sz="780" dirty="0"/>
          </a:p>
        </p:txBody>
      </p:sp>
      <p:sp>
        <p:nvSpPr>
          <p:cNvPr id="24" name="Text 21"/>
          <p:cNvSpPr/>
          <p:nvPr/>
        </p:nvSpPr>
        <p:spPr>
          <a:xfrm>
            <a:off x="640080" y="2464308"/>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Ships agents on the road</a:t>
            </a:r>
            <a:endParaRPr lang="en-US" sz="660" dirty="0"/>
          </a:p>
        </p:txBody>
      </p:sp>
      <p:sp>
        <p:nvSpPr>
          <p:cNvPr id="25" name="Shape 22"/>
          <p:cNvSpPr/>
          <p:nvPr/>
        </p:nvSpPr>
        <p:spPr>
          <a:xfrm>
            <a:off x="566928" y="2752344"/>
            <a:ext cx="1170432" cy="498348"/>
          </a:xfrm>
          <a:prstGeom prst="roundRect">
            <a:avLst>
              <a:gd name="adj" fmla="val 14679"/>
            </a:avLst>
          </a:prstGeom>
          <a:solidFill>
            <a:srgbClr val="FFFFFF"/>
          </a:solidFill>
          <a:ln w="12700">
            <a:solidFill>
              <a:srgbClr val="E2E7EC"/>
            </a:solidFill>
            <a:prstDash val="solid"/>
          </a:ln>
        </p:spPr>
      </p:sp>
      <p:sp>
        <p:nvSpPr>
          <p:cNvPr id="26" name="Text 23"/>
          <p:cNvSpPr/>
          <p:nvPr/>
        </p:nvSpPr>
        <p:spPr>
          <a:xfrm>
            <a:off x="640080" y="2816352"/>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Architecture</a:t>
            </a:r>
            <a:endParaRPr lang="en-US" sz="780" dirty="0"/>
          </a:p>
        </p:txBody>
      </p:sp>
      <p:sp>
        <p:nvSpPr>
          <p:cNvPr id="27" name="Text 24"/>
          <p:cNvSpPr/>
          <p:nvPr/>
        </p:nvSpPr>
        <p:spPr>
          <a:xfrm>
            <a:off x="640080" y="3026664"/>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Owns coherence</a:t>
            </a:r>
            <a:endParaRPr lang="en-US" sz="660" dirty="0"/>
          </a:p>
        </p:txBody>
      </p:sp>
      <p:sp>
        <p:nvSpPr>
          <p:cNvPr id="28" name="Shape 25"/>
          <p:cNvSpPr/>
          <p:nvPr/>
        </p:nvSpPr>
        <p:spPr>
          <a:xfrm>
            <a:off x="566928" y="3314700"/>
            <a:ext cx="1170432" cy="498348"/>
          </a:xfrm>
          <a:prstGeom prst="roundRect">
            <a:avLst>
              <a:gd name="adj" fmla="val 14679"/>
            </a:avLst>
          </a:prstGeom>
          <a:solidFill>
            <a:srgbClr val="FFFFFF"/>
          </a:solidFill>
          <a:ln w="12700">
            <a:solidFill>
              <a:srgbClr val="E2E7EC"/>
            </a:solidFill>
            <a:prstDash val="solid"/>
          </a:ln>
        </p:spPr>
      </p:sp>
      <p:sp>
        <p:nvSpPr>
          <p:cNvPr id="29" name="Text 26"/>
          <p:cNvSpPr/>
          <p:nvPr/>
        </p:nvSpPr>
        <p:spPr>
          <a:xfrm>
            <a:off x="640080" y="3378708"/>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Platform &amp; DevOps</a:t>
            </a:r>
            <a:endParaRPr lang="en-US" sz="780" dirty="0"/>
          </a:p>
        </p:txBody>
      </p:sp>
      <p:sp>
        <p:nvSpPr>
          <p:cNvPr id="30" name="Text 27"/>
          <p:cNvSpPr/>
          <p:nvPr/>
        </p:nvSpPr>
        <p:spPr>
          <a:xfrm>
            <a:off x="640080" y="3589020"/>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Runs the road</a:t>
            </a:r>
            <a:endParaRPr lang="en-US" sz="660" dirty="0"/>
          </a:p>
        </p:txBody>
      </p:sp>
      <p:sp>
        <p:nvSpPr>
          <p:cNvPr id="31" name="Shape 28"/>
          <p:cNvSpPr/>
          <p:nvPr/>
        </p:nvSpPr>
        <p:spPr>
          <a:xfrm>
            <a:off x="566928" y="3877056"/>
            <a:ext cx="1170432" cy="498348"/>
          </a:xfrm>
          <a:prstGeom prst="roundRect">
            <a:avLst>
              <a:gd name="adj" fmla="val 14679"/>
            </a:avLst>
          </a:prstGeom>
          <a:solidFill>
            <a:srgbClr val="FFFFFF"/>
          </a:solidFill>
          <a:ln w="12700">
            <a:solidFill>
              <a:srgbClr val="E2E7EC"/>
            </a:solidFill>
            <a:prstDash val="solid"/>
          </a:ln>
        </p:spPr>
      </p:sp>
      <p:sp>
        <p:nvSpPr>
          <p:cNvPr id="32" name="Text 29"/>
          <p:cNvSpPr/>
          <p:nvPr/>
        </p:nvSpPr>
        <p:spPr>
          <a:xfrm>
            <a:off x="640080" y="3941064"/>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Data engineering</a:t>
            </a:r>
            <a:endParaRPr lang="en-US" sz="780" dirty="0"/>
          </a:p>
        </p:txBody>
      </p:sp>
      <p:sp>
        <p:nvSpPr>
          <p:cNvPr id="33" name="Text 30"/>
          <p:cNvSpPr/>
          <p:nvPr/>
        </p:nvSpPr>
        <p:spPr>
          <a:xfrm>
            <a:off x="640080" y="4151376"/>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Owns data contracts</a:t>
            </a:r>
            <a:endParaRPr lang="en-US" sz="660" dirty="0"/>
          </a:p>
        </p:txBody>
      </p:sp>
      <p:sp>
        <p:nvSpPr>
          <p:cNvPr id="34" name="Shape 31"/>
          <p:cNvSpPr/>
          <p:nvPr/>
        </p:nvSpPr>
        <p:spPr>
          <a:xfrm>
            <a:off x="566928" y="4439412"/>
            <a:ext cx="1170432" cy="498348"/>
          </a:xfrm>
          <a:prstGeom prst="roundRect">
            <a:avLst>
              <a:gd name="adj" fmla="val 14679"/>
            </a:avLst>
          </a:prstGeom>
          <a:solidFill>
            <a:srgbClr val="FFFFFF"/>
          </a:solidFill>
          <a:ln w="12700">
            <a:solidFill>
              <a:srgbClr val="E2E7EC"/>
            </a:solidFill>
            <a:prstDash val="solid"/>
          </a:ln>
        </p:spPr>
      </p:sp>
      <p:sp>
        <p:nvSpPr>
          <p:cNvPr id="35" name="Text 32"/>
          <p:cNvSpPr/>
          <p:nvPr/>
        </p:nvSpPr>
        <p:spPr>
          <a:xfrm>
            <a:off x="640080" y="4503420"/>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Governance &amp; risk</a:t>
            </a:r>
            <a:endParaRPr lang="en-US" sz="780" dirty="0"/>
          </a:p>
        </p:txBody>
      </p:sp>
      <p:sp>
        <p:nvSpPr>
          <p:cNvPr id="36" name="Text 33"/>
          <p:cNvSpPr/>
          <p:nvPr/>
        </p:nvSpPr>
        <p:spPr>
          <a:xfrm>
            <a:off x="640080" y="4713732"/>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Sets the tiers</a:t>
            </a:r>
            <a:endParaRPr lang="en-US" sz="660" dirty="0"/>
          </a:p>
        </p:txBody>
      </p:sp>
      <p:sp>
        <p:nvSpPr>
          <p:cNvPr id="37" name="Shape 34"/>
          <p:cNvSpPr/>
          <p:nvPr/>
        </p:nvSpPr>
        <p:spPr>
          <a:xfrm>
            <a:off x="566928" y="5001768"/>
            <a:ext cx="1170432" cy="498348"/>
          </a:xfrm>
          <a:prstGeom prst="roundRect">
            <a:avLst>
              <a:gd name="adj" fmla="val 14679"/>
            </a:avLst>
          </a:prstGeom>
          <a:solidFill>
            <a:srgbClr val="FFFFFF"/>
          </a:solidFill>
          <a:ln w="12700">
            <a:solidFill>
              <a:srgbClr val="E2E7EC"/>
            </a:solidFill>
            <a:prstDash val="solid"/>
          </a:ln>
        </p:spPr>
      </p:sp>
      <p:sp>
        <p:nvSpPr>
          <p:cNvPr id="38" name="Text 35"/>
          <p:cNvSpPr/>
          <p:nvPr/>
        </p:nvSpPr>
        <p:spPr>
          <a:xfrm>
            <a:off x="640080" y="5065776"/>
            <a:ext cx="1024128" cy="201168"/>
          </a:xfrm>
          <a:prstGeom prst="rect">
            <a:avLst/>
          </a:prstGeom>
          <a:noFill/>
          <a:ln/>
        </p:spPr>
        <p:txBody>
          <a:bodyPr wrap="square" lIns="0" tIns="0" rIns="0" bIns="0" rtlCol="0" anchor="ctr"/>
          <a:lstStyle/>
          <a:p>
            <a:pPr indent="0" marL="0">
              <a:buNone/>
            </a:pPr>
            <a:r>
              <a:rPr lang="en-US" sz="780" b="1" dirty="0">
                <a:solidFill>
                  <a:srgbClr val="0B1622"/>
                </a:solidFill>
                <a:latin typeface="Calibri" pitchFamily="34" charset="0"/>
                <a:ea typeface="Calibri" pitchFamily="34" charset="-122"/>
                <a:cs typeface="Calibri" pitchFamily="34" charset="-120"/>
              </a:rPr>
              <a:t>Our FDE team</a:t>
            </a:r>
            <a:endParaRPr lang="en-US" sz="780" dirty="0"/>
          </a:p>
        </p:txBody>
      </p:sp>
      <p:sp>
        <p:nvSpPr>
          <p:cNvPr id="39" name="Text 36"/>
          <p:cNvSpPr/>
          <p:nvPr/>
        </p:nvSpPr>
        <p:spPr>
          <a:xfrm>
            <a:off x="640080" y="5276088"/>
            <a:ext cx="1024128"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Builds, then hands over</a:t>
            </a:r>
            <a:endParaRPr lang="en-US" sz="660" dirty="0"/>
          </a:p>
        </p:txBody>
      </p:sp>
      <p:sp>
        <p:nvSpPr>
          <p:cNvPr id="40" name="Shape 37"/>
          <p:cNvSpPr/>
          <p:nvPr/>
        </p:nvSpPr>
        <p:spPr>
          <a:xfrm>
            <a:off x="1801368" y="1627632"/>
            <a:ext cx="1417320" cy="498348"/>
          </a:xfrm>
          <a:prstGeom prst="roundRect">
            <a:avLst>
              <a:gd name="adj" fmla="val 14679"/>
            </a:avLst>
          </a:prstGeom>
          <a:solidFill>
            <a:srgbClr val="256ABF"/>
          </a:solidFill>
          <a:ln w="12700">
            <a:solidFill>
              <a:srgbClr val="256ABF"/>
            </a:solidFill>
            <a:prstDash val="solid"/>
          </a:ln>
        </p:spPr>
      </p:sp>
      <p:sp>
        <p:nvSpPr>
          <p:cNvPr id="41" name="Text 38"/>
          <p:cNvSpPr/>
          <p:nvPr/>
        </p:nvSpPr>
        <p:spPr>
          <a:xfrm>
            <a:off x="1892808" y="1709928"/>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Experience</a:t>
            </a:r>
            <a:endParaRPr lang="en-US" sz="950" dirty="0"/>
          </a:p>
        </p:txBody>
      </p:sp>
      <p:sp>
        <p:nvSpPr>
          <p:cNvPr id="42" name="Text 39"/>
          <p:cNvSpPr/>
          <p:nvPr/>
        </p:nvSpPr>
        <p:spPr>
          <a:xfrm>
            <a:off x="1892808" y="1892808"/>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How work arrives</a:t>
            </a:r>
            <a:endParaRPr lang="en-US" sz="680" dirty="0"/>
          </a:p>
        </p:txBody>
      </p:sp>
      <p:sp>
        <p:nvSpPr>
          <p:cNvPr id="43" name="Shape 40"/>
          <p:cNvSpPr/>
          <p:nvPr/>
        </p:nvSpPr>
        <p:spPr>
          <a:xfrm>
            <a:off x="3282696" y="1627632"/>
            <a:ext cx="1715186" cy="498348"/>
          </a:xfrm>
          <a:prstGeom prst="roundRect">
            <a:avLst>
              <a:gd name="adj" fmla="val 14679"/>
            </a:avLst>
          </a:prstGeom>
          <a:solidFill>
            <a:srgbClr val="FFFFFF"/>
          </a:solidFill>
          <a:ln w="12700">
            <a:solidFill>
              <a:srgbClr val="E2E7EC"/>
            </a:solidFill>
            <a:prstDash val="solid"/>
          </a:ln>
        </p:spPr>
      </p:sp>
      <p:sp>
        <p:nvSpPr>
          <p:cNvPr id="44" name="Text 41"/>
          <p:cNvSpPr/>
          <p:nvPr/>
        </p:nvSpPr>
        <p:spPr>
          <a:xfrm>
            <a:off x="3364992"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portal</a:t>
            </a:r>
            <a:endParaRPr lang="en-US" sz="840" dirty="0"/>
          </a:p>
        </p:txBody>
      </p:sp>
      <p:sp>
        <p:nvSpPr>
          <p:cNvPr id="45" name="Text 42"/>
          <p:cNvSpPr/>
          <p:nvPr/>
        </p:nvSpPr>
        <p:spPr>
          <a:xfrm>
            <a:off x="3364992"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Browse, request</a:t>
            </a:r>
            <a:endParaRPr lang="en-US" sz="660" dirty="0"/>
          </a:p>
        </p:txBody>
      </p:sp>
      <p:sp>
        <p:nvSpPr>
          <p:cNvPr id="46" name="Shape 43"/>
          <p:cNvSpPr/>
          <p:nvPr/>
        </p:nvSpPr>
        <p:spPr>
          <a:xfrm>
            <a:off x="5061890" y="1627632"/>
            <a:ext cx="1715186" cy="498348"/>
          </a:xfrm>
          <a:prstGeom prst="roundRect">
            <a:avLst>
              <a:gd name="adj" fmla="val 14679"/>
            </a:avLst>
          </a:prstGeom>
          <a:solidFill>
            <a:srgbClr val="FFFFFF"/>
          </a:solidFill>
          <a:ln w="12700">
            <a:solidFill>
              <a:srgbClr val="E2E7EC"/>
            </a:solidFill>
            <a:prstDash val="solid"/>
          </a:ln>
        </p:spPr>
      </p:sp>
      <p:sp>
        <p:nvSpPr>
          <p:cNvPr id="47" name="Text 44"/>
          <p:cNvSpPr/>
          <p:nvPr/>
        </p:nvSpPr>
        <p:spPr>
          <a:xfrm>
            <a:off x="5144186"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Copilots &amp; chat</a:t>
            </a:r>
            <a:endParaRPr lang="en-US" sz="840" dirty="0"/>
          </a:p>
        </p:txBody>
      </p:sp>
      <p:sp>
        <p:nvSpPr>
          <p:cNvPr id="48" name="Text 45"/>
          <p:cNvSpPr/>
          <p:nvPr/>
        </p:nvSpPr>
        <p:spPr>
          <a:xfrm>
            <a:off x="5144186"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In the tools people use</a:t>
            </a:r>
            <a:endParaRPr lang="en-US" sz="660" dirty="0"/>
          </a:p>
        </p:txBody>
      </p:sp>
      <p:sp>
        <p:nvSpPr>
          <p:cNvPr id="49" name="Shape 46"/>
          <p:cNvSpPr/>
          <p:nvPr/>
        </p:nvSpPr>
        <p:spPr>
          <a:xfrm>
            <a:off x="6841084" y="1627632"/>
            <a:ext cx="1715186" cy="498348"/>
          </a:xfrm>
          <a:prstGeom prst="roundRect">
            <a:avLst>
              <a:gd name="adj" fmla="val 14679"/>
            </a:avLst>
          </a:prstGeom>
          <a:solidFill>
            <a:srgbClr val="FFFFFF"/>
          </a:solidFill>
          <a:ln w="12700">
            <a:solidFill>
              <a:srgbClr val="E2E7EC"/>
            </a:solidFill>
            <a:prstDash val="solid"/>
          </a:ln>
        </p:spPr>
      </p:sp>
      <p:sp>
        <p:nvSpPr>
          <p:cNvPr id="50" name="Text 47"/>
          <p:cNvSpPr/>
          <p:nvPr/>
        </p:nvSpPr>
        <p:spPr>
          <a:xfrm>
            <a:off x="6923380"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Business workflow</a:t>
            </a:r>
            <a:endParaRPr lang="en-US" sz="840" dirty="0"/>
          </a:p>
        </p:txBody>
      </p:sp>
      <p:sp>
        <p:nvSpPr>
          <p:cNvPr id="51" name="Text 48"/>
          <p:cNvSpPr/>
          <p:nvPr/>
        </p:nvSpPr>
        <p:spPr>
          <a:xfrm>
            <a:off x="6923380"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Durable process</a:t>
            </a:r>
            <a:endParaRPr lang="en-US" sz="660" dirty="0"/>
          </a:p>
        </p:txBody>
      </p:sp>
      <p:sp>
        <p:nvSpPr>
          <p:cNvPr id="52" name="Shape 49"/>
          <p:cNvSpPr/>
          <p:nvPr/>
        </p:nvSpPr>
        <p:spPr>
          <a:xfrm>
            <a:off x="8620277" y="1627632"/>
            <a:ext cx="1715186" cy="498348"/>
          </a:xfrm>
          <a:prstGeom prst="roundRect">
            <a:avLst>
              <a:gd name="adj" fmla="val 14679"/>
            </a:avLst>
          </a:prstGeom>
          <a:solidFill>
            <a:srgbClr val="FFFFFF"/>
          </a:solidFill>
          <a:ln w="12700">
            <a:solidFill>
              <a:srgbClr val="E2E7EC"/>
            </a:solidFill>
            <a:prstDash val="solid"/>
          </a:ln>
        </p:spPr>
      </p:sp>
      <p:sp>
        <p:nvSpPr>
          <p:cNvPr id="53" name="Text 50"/>
          <p:cNvSpPr/>
          <p:nvPr/>
        </p:nvSpPr>
        <p:spPr>
          <a:xfrm>
            <a:off x="8702573" y="168249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Human in the loop</a:t>
            </a:r>
            <a:endParaRPr lang="en-US" sz="840" dirty="0"/>
          </a:p>
        </p:txBody>
      </p:sp>
      <p:sp>
        <p:nvSpPr>
          <p:cNvPr id="54" name="Text 51"/>
          <p:cNvSpPr/>
          <p:nvPr/>
        </p:nvSpPr>
        <p:spPr>
          <a:xfrm>
            <a:off x="8702573" y="184708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Approvals, escalation</a:t>
            </a:r>
            <a:endParaRPr lang="en-US" sz="660" dirty="0"/>
          </a:p>
        </p:txBody>
      </p:sp>
      <p:sp>
        <p:nvSpPr>
          <p:cNvPr id="55" name="Shape 52"/>
          <p:cNvSpPr/>
          <p:nvPr/>
        </p:nvSpPr>
        <p:spPr>
          <a:xfrm>
            <a:off x="1801368" y="2189988"/>
            <a:ext cx="1417320" cy="498348"/>
          </a:xfrm>
          <a:prstGeom prst="roundRect">
            <a:avLst>
              <a:gd name="adj" fmla="val 14679"/>
            </a:avLst>
          </a:prstGeom>
          <a:solidFill>
            <a:srgbClr val="1B5E8C"/>
          </a:solidFill>
          <a:ln w="12700">
            <a:solidFill>
              <a:srgbClr val="1B5E8C"/>
            </a:solidFill>
            <a:prstDash val="solid"/>
          </a:ln>
        </p:spPr>
      </p:sp>
      <p:sp>
        <p:nvSpPr>
          <p:cNvPr id="56" name="Text 53"/>
          <p:cNvSpPr/>
          <p:nvPr/>
        </p:nvSpPr>
        <p:spPr>
          <a:xfrm>
            <a:off x="1892808" y="2272284"/>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Fabric</a:t>
            </a:r>
            <a:endParaRPr lang="en-US" sz="950" dirty="0"/>
          </a:p>
        </p:txBody>
      </p:sp>
      <p:sp>
        <p:nvSpPr>
          <p:cNvPr id="57" name="Text 54"/>
          <p:cNvSpPr/>
          <p:nvPr/>
        </p:nvSpPr>
        <p:spPr>
          <a:xfrm>
            <a:off x="1892808" y="2455164"/>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The paved road</a:t>
            </a:r>
            <a:endParaRPr lang="en-US" sz="680" dirty="0"/>
          </a:p>
        </p:txBody>
      </p:sp>
      <p:sp>
        <p:nvSpPr>
          <p:cNvPr id="58" name="Shape 55"/>
          <p:cNvSpPr/>
          <p:nvPr/>
        </p:nvSpPr>
        <p:spPr>
          <a:xfrm>
            <a:off x="3282696" y="2189988"/>
            <a:ext cx="1715186" cy="498348"/>
          </a:xfrm>
          <a:prstGeom prst="roundRect">
            <a:avLst>
              <a:gd name="adj" fmla="val 14679"/>
            </a:avLst>
          </a:prstGeom>
          <a:solidFill>
            <a:srgbClr val="FFFFFF"/>
          </a:solidFill>
          <a:ln w="12700">
            <a:solidFill>
              <a:srgbClr val="E2E7EC"/>
            </a:solidFill>
            <a:prstDash val="solid"/>
          </a:ln>
        </p:spPr>
      </p:sp>
      <p:sp>
        <p:nvSpPr>
          <p:cNvPr id="59" name="Text 56"/>
          <p:cNvSpPr/>
          <p:nvPr/>
        </p:nvSpPr>
        <p:spPr>
          <a:xfrm>
            <a:off x="3364992"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registry</a:t>
            </a:r>
            <a:endParaRPr lang="en-US" sz="840" dirty="0"/>
          </a:p>
        </p:txBody>
      </p:sp>
      <p:sp>
        <p:nvSpPr>
          <p:cNvPr id="60" name="Text 57"/>
          <p:cNvSpPr/>
          <p:nvPr/>
        </p:nvSpPr>
        <p:spPr>
          <a:xfrm>
            <a:off x="3364992"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What exists, who owns it</a:t>
            </a:r>
            <a:endParaRPr lang="en-US" sz="660" dirty="0"/>
          </a:p>
        </p:txBody>
      </p:sp>
      <p:sp>
        <p:nvSpPr>
          <p:cNvPr id="61" name="Text 58"/>
          <p:cNvSpPr/>
          <p:nvPr/>
        </p:nvSpPr>
        <p:spPr>
          <a:xfrm>
            <a:off x="3364992"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62" name="Shape 59"/>
          <p:cNvSpPr/>
          <p:nvPr/>
        </p:nvSpPr>
        <p:spPr>
          <a:xfrm>
            <a:off x="5061890" y="2189988"/>
            <a:ext cx="1715186" cy="498348"/>
          </a:xfrm>
          <a:prstGeom prst="roundRect">
            <a:avLst>
              <a:gd name="adj" fmla="val 14679"/>
            </a:avLst>
          </a:prstGeom>
          <a:solidFill>
            <a:srgbClr val="FFFFFF"/>
          </a:solidFill>
          <a:ln w="12700">
            <a:solidFill>
              <a:srgbClr val="E2E7EC"/>
            </a:solidFill>
            <a:prstDash val="solid"/>
          </a:ln>
        </p:spPr>
      </p:sp>
      <p:sp>
        <p:nvSpPr>
          <p:cNvPr id="63" name="Text 60"/>
          <p:cNvSpPr/>
          <p:nvPr/>
        </p:nvSpPr>
        <p:spPr>
          <a:xfrm>
            <a:off x="5144186"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Orchestration</a:t>
            </a:r>
            <a:endParaRPr lang="en-US" sz="840" dirty="0"/>
          </a:p>
        </p:txBody>
      </p:sp>
      <p:sp>
        <p:nvSpPr>
          <p:cNvPr id="64" name="Text 61"/>
          <p:cNvSpPr/>
          <p:nvPr/>
        </p:nvSpPr>
        <p:spPr>
          <a:xfrm>
            <a:off x="5144186"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Planning, coordination</a:t>
            </a:r>
            <a:endParaRPr lang="en-US" sz="660" dirty="0"/>
          </a:p>
        </p:txBody>
      </p:sp>
      <p:sp>
        <p:nvSpPr>
          <p:cNvPr id="65" name="Text 62"/>
          <p:cNvSpPr/>
          <p:nvPr/>
        </p:nvSpPr>
        <p:spPr>
          <a:xfrm>
            <a:off x="5144186"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66" name="Shape 63"/>
          <p:cNvSpPr/>
          <p:nvPr/>
        </p:nvSpPr>
        <p:spPr>
          <a:xfrm>
            <a:off x="6841084" y="2189988"/>
            <a:ext cx="1715186" cy="498348"/>
          </a:xfrm>
          <a:prstGeom prst="roundRect">
            <a:avLst>
              <a:gd name="adj" fmla="val 14679"/>
            </a:avLst>
          </a:prstGeom>
          <a:solidFill>
            <a:srgbClr val="FFFFFF"/>
          </a:solidFill>
          <a:ln w="12700">
            <a:solidFill>
              <a:srgbClr val="E2E7EC"/>
            </a:solidFill>
            <a:prstDash val="solid"/>
          </a:ln>
        </p:spPr>
      </p:sp>
      <p:sp>
        <p:nvSpPr>
          <p:cNvPr id="67" name="Text 64"/>
          <p:cNvSpPr/>
          <p:nvPr/>
        </p:nvSpPr>
        <p:spPr>
          <a:xfrm>
            <a:off x="6923380"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Delegation</a:t>
            </a:r>
            <a:endParaRPr lang="en-US" sz="840" dirty="0"/>
          </a:p>
        </p:txBody>
      </p:sp>
      <p:sp>
        <p:nvSpPr>
          <p:cNvPr id="68" name="Text 65"/>
          <p:cNvSpPr/>
          <p:nvPr/>
        </p:nvSpPr>
        <p:spPr>
          <a:xfrm>
            <a:off x="6923380"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Agents calling agents</a:t>
            </a:r>
            <a:endParaRPr lang="en-US" sz="660" dirty="0"/>
          </a:p>
        </p:txBody>
      </p:sp>
      <p:sp>
        <p:nvSpPr>
          <p:cNvPr id="69" name="Text 66"/>
          <p:cNvSpPr/>
          <p:nvPr/>
        </p:nvSpPr>
        <p:spPr>
          <a:xfrm>
            <a:off x="6923380"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70" name="Shape 67"/>
          <p:cNvSpPr/>
          <p:nvPr/>
        </p:nvSpPr>
        <p:spPr>
          <a:xfrm>
            <a:off x="8620277" y="2189988"/>
            <a:ext cx="1715186" cy="498348"/>
          </a:xfrm>
          <a:prstGeom prst="roundRect">
            <a:avLst>
              <a:gd name="adj" fmla="val 14679"/>
            </a:avLst>
          </a:prstGeom>
          <a:solidFill>
            <a:srgbClr val="FFFFFF"/>
          </a:solidFill>
          <a:ln w="12700">
            <a:solidFill>
              <a:srgbClr val="E2E7EC"/>
            </a:solidFill>
            <a:prstDash val="solid"/>
          </a:ln>
        </p:spPr>
      </p:sp>
      <p:sp>
        <p:nvSpPr>
          <p:cNvPr id="71" name="Text 68"/>
          <p:cNvSpPr/>
          <p:nvPr/>
        </p:nvSpPr>
        <p:spPr>
          <a:xfrm>
            <a:off x="8702573" y="224485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Golden-path templates</a:t>
            </a:r>
            <a:endParaRPr lang="en-US" sz="840" dirty="0"/>
          </a:p>
        </p:txBody>
      </p:sp>
      <p:sp>
        <p:nvSpPr>
          <p:cNvPr id="72" name="Text 69"/>
          <p:cNvSpPr/>
          <p:nvPr/>
        </p:nvSpPr>
        <p:spPr>
          <a:xfrm>
            <a:off x="8702573" y="240944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New agent in a day</a:t>
            </a:r>
            <a:endParaRPr lang="en-US" sz="660" dirty="0"/>
          </a:p>
        </p:txBody>
      </p:sp>
      <p:sp>
        <p:nvSpPr>
          <p:cNvPr id="73" name="Text 70"/>
          <p:cNvSpPr/>
          <p:nvPr/>
        </p:nvSpPr>
        <p:spPr>
          <a:xfrm>
            <a:off x="8702573" y="2555748"/>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74" name="Shape 71"/>
          <p:cNvSpPr/>
          <p:nvPr/>
        </p:nvSpPr>
        <p:spPr>
          <a:xfrm>
            <a:off x="1801368" y="2752344"/>
            <a:ext cx="1417320" cy="498348"/>
          </a:xfrm>
          <a:prstGeom prst="roundRect">
            <a:avLst>
              <a:gd name="adj" fmla="val 14679"/>
            </a:avLst>
          </a:prstGeom>
          <a:solidFill>
            <a:srgbClr val="0B6F7D"/>
          </a:solidFill>
          <a:ln w="12700">
            <a:solidFill>
              <a:srgbClr val="0B6F7D"/>
            </a:solidFill>
            <a:prstDash val="solid"/>
          </a:ln>
        </p:spPr>
      </p:sp>
      <p:sp>
        <p:nvSpPr>
          <p:cNvPr id="75" name="Text 72"/>
          <p:cNvSpPr/>
          <p:nvPr/>
        </p:nvSpPr>
        <p:spPr>
          <a:xfrm>
            <a:off x="1892808" y="2834640"/>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Control</a:t>
            </a:r>
            <a:endParaRPr lang="en-US" sz="950" dirty="0"/>
          </a:p>
        </p:txBody>
      </p:sp>
      <p:sp>
        <p:nvSpPr>
          <p:cNvPr id="76" name="Text 73"/>
          <p:cNvSpPr/>
          <p:nvPr/>
        </p:nvSpPr>
        <p:spPr>
          <a:xfrm>
            <a:off x="1892808" y="3017520"/>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Authority, thin and fast</a:t>
            </a:r>
            <a:endParaRPr lang="en-US" sz="680" dirty="0"/>
          </a:p>
        </p:txBody>
      </p:sp>
      <p:sp>
        <p:nvSpPr>
          <p:cNvPr id="77" name="Shape 74"/>
          <p:cNvSpPr/>
          <p:nvPr/>
        </p:nvSpPr>
        <p:spPr>
          <a:xfrm>
            <a:off x="3282696" y="2752344"/>
            <a:ext cx="1715186" cy="498348"/>
          </a:xfrm>
          <a:prstGeom prst="roundRect">
            <a:avLst>
              <a:gd name="adj" fmla="val 14679"/>
            </a:avLst>
          </a:prstGeom>
          <a:solidFill>
            <a:srgbClr val="E6F4F6"/>
          </a:solidFill>
          <a:ln w="12700">
            <a:solidFill>
              <a:srgbClr val="9CCED6"/>
            </a:solidFill>
            <a:prstDash val="solid"/>
          </a:ln>
        </p:spPr>
      </p:sp>
      <p:sp>
        <p:nvSpPr>
          <p:cNvPr id="78" name="Text 75"/>
          <p:cNvSpPr/>
          <p:nvPr/>
        </p:nvSpPr>
        <p:spPr>
          <a:xfrm>
            <a:off x="3364992"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Identity</a:t>
            </a:r>
            <a:endParaRPr lang="en-US" sz="840" dirty="0"/>
          </a:p>
        </p:txBody>
      </p:sp>
      <p:sp>
        <p:nvSpPr>
          <p:cNvPr id="79" name="Text 76"/>
          <p:cNvSpPr/>
          <p:nvPr/>
        </p:nvSpPr>
        <p:spPr>
          <a:xfrm>
            <a:off x="3364992"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People, workloads, agents</a:t>
            </a:r>
            <a:endParaRPr lang="en-US" sz="660" dirty="0"/>
          </a:p>
        </p:txBody>
      </p:sp>
      <p:sp>
        <p:nvSpPr>
          <p:cNvPr id="80" name="Text 77"/>
          <p:cNvSpPr/>
          <p:nvPr/>
        </p:nvSpPr>
        <p:spPr>
          <a:xfrm>
            <a:off x="3364992"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81" name="Shape 78"/>
          <p:cNvSpPr/>
          <p:nvPr/>
        </p:nvSpPr>
        <p:spPr>
          <a:xfrm>
            <a:off x="5061890" y="2752344"/>
            <a:ext cx="1715186" cy="498348"/>
          </a:xfrm>
          <a:prstGeom prst="roundRect">
            <a:avLst>
              <a:gd name="adj" fmla="val 14679"/>
            </a:avLst>
          </a:prstGeom>
          <a:solidFill>
            <a:srgbClr val="E6F4F6"/>
          </a:solidFill>
          <a:ln w="12700">
            <a:solidFill>
              <a:srgbClr val="9CCED6"/>
            </a:solidFill>
            <a:prstDash val="solid"/>
          </a:ln>
        </p:spPr>
      </p:sp>
      <p:sp>
        <p:nvSpPr>
          <p:cNvPr id="82" name="Text 79"/>
          <p:cNvSpPr/>
          <p:nvPr/>
        </p:nvSpPr>
        <p:spPr>
          <a:xfrm>
            <a:off x="5144186"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Policy &amp; risk tiers</a:t>
            </a:r>
            <a:endParaRPr lang="en-US" sz="840" dirty="0"/>
          </a:p>
        </p:txBody>
      </p:sp>
      <p:sp>
        <p:nvSpPr>
          <p:cNvPr id="83" name="Text 80"/>
          <p:cNvSpPr/>
          <p:nvPr/>
        </p:nvSpPr>
        <p:spPr>
          <a:xfrm>
            <a:off x="5144186"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Business words</a:t>
            </a:r>
            <a:endParaRPr lang="en-US" sz="660" dirty="0"/>
          </a:p>
        </p:txBody>
      </p:sp>
      <p:sp>
        <p:nvSpPr>
          <p:cNvPr id="84" name="Text 81"/>
          <p:cNvSpPr/>
          <p:nvPr/>
        </p:nvSpPr>
        <p:spPr>
          <a:xfrm>
            <a:off x="5144186"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85" name="Shape 82"/>
          <p:cNvSpPr/>
          <p:nvPr/>
        </p:nvSpPr>
        <p:spPr>
          <a:xfrm>
            <a:off x="6841084" y="2752344"/>
            <a:ext cx="1715186" cy="498348"/>
          </a:xfrm>
          <a:prstGeom prst="roundRect">
            <a:avLst>
              <a:gd name="adj" fmla="val 14679"/>
            </a:avLst>
          </a:prstGeom>
          <a:solidFill>
            <a:srgbClr val="E6F4F6"/>
          </a:solidFill>
          <a:ln w="12700">
            <a:solidFill>
              <a:srgbClr val="9CCED6"/>
            </a:solidFill>
            <a:prstDash val="solid"/>
          </a:ln>
        </p:spPr>
      </p:sp>
      <p:sp>
        <p:nvSpPr>
          <p:cNvPr id="86" name="Text 83"/>
          <p:cNvSpPr/>
          <p:nvPr/>
        </p:nvSpPr>
        <p:spPr>
          <a:xfrm>
            <a:off x="6923380"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grants</a:t>
            </a:r>
            <a:endParaRPr lang="en-US" sz="840" dirty="0"/>
          </a:p>
        </p:txBody>
      </p:sp>
      <p:sp>
        <p:nvSpPr>
          <p:cNvPr id="87" name="Text 84"/>
          <p:cNvSpPr/>
          <p:nvPr/>
        </p:nvSpPr>
        <p:spPr>
          <a:xfrm>
            <a:off x="6923380"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Scoped, short-lived</a:t>
            </a:r>
            <a:endParaRPr lang="en-US" sz="660" dirty="0"/>
          </a:p>
        </p:txBody>
      </p:sp>
      <p:sp>
        <p:nvSpPr>
          <p:cNvPr id="88" name="Text 85"/>
          <p:cNvSpPr/>
          <p:nvPr/>
        </p:nvSpPr>
        <p:spPr>
          <a:xfrm>
            <a:off x="6923380"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89" name="Shape 86"/>
          <p:cNvSpPr/>
          <p:nvPr/>
        </p:nvSpPr>
        <p:spPr>
          <a:xfrm>
            <a:off x="8620277" y="2752344"/>
            <a:ext cx="1715186" cy="498348"/>
          </a:xfrm>
          <a:prstGeom prst="roundRect">
            <a:avLst>
              <a:gd name="adj" fmla="val 14679"/>
            </a:avLst>
          </a:prstGeom>
          <a:solidFill>
            <a:srgbClr val="E6F4F6"/>
          </a:solidFill>
          <a:ln w="12700">
            <a:solidFill>
              <a:srgbClr val="9CCED6"/>
            </a:solidFill>
            <a:prstDash val="solid"/>
          </a:ln>
        </p:spPr>
      </p:sp>
      <p:sp>
        <p:nvSpPr>
          <p:cNvPr id="90" name="Text 87"/>
          <p:cNvSpPr/>
          <p:nvPr/>
        </p:nvSpPr>
        <p:spPr>
          <a:xfrm>
            <a:off x="8702573" y="2807208"/>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Lifecycle &amp; off switch</a:t>
            </a:r>
            <a:endParaRPr lang="en-US" sz="840" dirty="0"/>
          </a:p>
        </p:txBody>
      </p:sp>
      <p:sp>
        <p:nvSpPr>
          <p:cNvPr id="91" name="Text 88"/>
          <p:cNvSpPr/>
          <p:nvPr/>
        </p:nvSpPr>
        <p:spPr>
          <a:xfrm>
            <a:off x="8702573" y="2971800"/>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Version, roll out, stop</a:t>
            </a:r>
            <a:endParaRPr lang="en-US" sz="660" dirty="0"/>
          </a:p>
        </p:txBody>
      </p:sp>
      <p:sp>
        <p:nvSpPr>
          <p:cNvPr id="92" name="Text 89"/>
          <p:cNvSpPr/>
          <p:nvPr/>
        </p:nvSpPr>
        <p:spPr>
          <a:xfrm>
            <a:off x="8702573" y="3118104"/>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93" name="Shape 90"/>
          <p:cNvSpPr/>
          <p:nvPr/>
        </p:nvSpPr>
        <p:spPr>
          <a:xfrm>
            <a:off x="1801368" y="3314700"/>
            <a:ext cx="1417320" cy="498348"/>
          </a:xfrm>
          <a:prstGeom prst="roundRect">
            <a:avLst>
              <a:gd name="adj" fmla="val 14679"/>
            </a:avLst>
          </a:prstGeom>
          <a:solidFill>
            <a:srgbClr val="4A3AA7"/>
          </a:solidFill>
          <a:ln w="12700">
            <a:solidFill>
              <a:srgbClr val="4A3AA7"/>
            </a:solidFill>
            <a:prstDash val="solid"/>
          </a:ln>
        </p:spPr>
      </p:sp>
      <p:sp>
        <p:nvSpPr>
          <p:cNvPr id="94" name="Text 91"/>
          <p:cNvSpPr/>
          <p:nvPr/>
        </p:nvSpPr>
        <p:spPr>
          <a:xfrm>
            <a:off x="1892808" y="3396996"/>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Knowledge</a:t>
            </a:r>
            <a:endParaRPr lang="en-US" sz="950" dirty="0"/>
          </a:p>
        </p:txBody>
      </p:sp>
      <p:sp>
        <p:nvSpPr>
          <p:cNvPr id="95" name="Text 92"/>
          <p:cNvSpPr/>
          <p:nvPr/>
        </p:nvSpPr>
        <p:spPr>
          <a:xfrm>
            <a:off x="1892808" y="3579876"/>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Shared meaning</a:t>
            </a:r>
            <a:endParaRPr lang="en-US" sz="680" dirty="0"/>
          </a:p>
        </p:txBody>
      </p:sp>
      <p:sp>
        <p:nvSpPr>
          <p:cNvPr id="96" name="Shape 93"/>
          <p:cNvSpPr/>
          <p:nvPr/>
        </p:nvSpPr>
        <p:spPr>
          <a:xfrm>
            <a:off x="3282696" y="3314700"/>
            <a:ext cx="1715186" cy="498348"/>
          </a:xfrm>
          <a:prstGeom prst="roundRect">
            <a:avLst>
              <a:gd name="adj" fmla="val 14679"/>
            </a:avLst>
          </a:prstGeom>
          <a:solidFill>
            <a:srgbClr val="F3F1FB"/>
          </a:solidFill>
          <a:ln w="12700">
            <a:solidFill>
              <a:srgbClr val="C9C1EA"/>
            </a:solidFill>
            <a:prstDash val="dash"/>
          </a:ln>
        </p:spPr>
      </p:sp>
      <p:sp>
        <p:nvSpPr>
          <p:cNvPr id="97" name="Text 94"/>
          <p:cNvSpPr/>
          <p:nvPr/>
        </p:nvSpPr>
        <p:spPr>
          <a:xfrm>
            <a:off x="3364992"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Business ontology</a:t>
            </a:r>
            <a:endParaRPr lang="en-US" sz="840" dirty="0"/>
          </a:p>
        </p:txBody>
      </p:sp>
      <p:sp>
        <p:nvSpPr>
          <p:cNvPr id="98" name="Text 95"/>
          <p:cNvSpPr/>
          <p:nvPr/>
        </p:nvSpPr>
        <p:spPr>
          <a:xfrm>
            <a:off x="3364992"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One vocabulary</a:t>
            </a:r>
            <a:endParaRPr lang="en-US" sz="660" dirty="0"/>
          </a:p>
        </p:txBody>
      </p:sp>
      <p:sp>
        <p:nvSpPr>
          <p:cNvPr id="99" name="Shape 96"/>
          <p:cNvSpPr/>
          <p:nvPr/>
        </p:nvSpPr>
        <p:spPr>
          <a:xfrm>
            <a:off x="5061890" y="3314700"/>
            <a:ext cx="1715186" cy="498348"/>
          </a:xfrm>
          <a:prstGeom prst="roundRect">
            <a:avLst>
              <a:gd name="adj" fmla="val 14679"/>
            </a:avLst>
          </a:prstGeom>
          <a:solidFill>
            <a:srgbClr val="F3F1FB"/>
          </a:solidFill>
          <a:ln w="12700">
            <a:solidFill>
              <a:srgbClr val="C9C1EA"/>
            </a:solidFill>
            <a:prstDash val="dash"/>
          </a:ln>
        </p:spPr>
      </p:sp>
      <p:sp>
        <p:nvSpPr>
          <p:cNvPr id="100" name="Text 97"/>
          <p:cNvSpPr/>
          <p:nvPr/>
        </p:nvSpPr>
        <p:spPr>
          <a:xfrm>
            <a:off x="5144186"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Retrieval &amp; search</a:t>
            </a:r>
            <a:endParaRPr lang="en-US" sz="840" dirty="0"/>
          </a:p>
        </p:txBody>
      </p:sp>
      <p:sp>
        <p:nvSpPr>
          <p:cNvPr id="101" name="Text 98"/>
          <p:cNvSpPr/>
          <p:nvPr/>
        </p:nvSpPr>
        <p:spPr>
          <a:xfrm>
            <a:off x="5144186"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Grounding with citations</a:t>
            </a:r>
            <a:endParaRPr lang="en-US" sz="660" dirty="0"/>
          </a:p>
        </p:txBody>
      </p:sp>
      <p:sp>
        <p:nvSpPr>
          <p:cNvPr id="102" name="Text 99"/>
          <p:cNvSpPr/>
          <p:nvPr/>
        </p:nvSpPr>
        <p:spPr>
          <a:xfrm>
            <a:off x="5144186" y="3680460"/>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03" name="Shape 100"/>
          <p:cNvSpPr/>
          <p:nvPr/>
        </p:nvSpPr>
        <p:spPr>
          <a:xfrm>
            <a:off x="6841084" y="3314700"/>
            <a:ext cx="1715186" cy="498348"/>
          </a:xfrm>
          <a:prstGeom prst="roundRect">
            <a:avLst>
              <a:gd name="adj" fmla="val 14679"/>
            </a:avLst>
          </a:prstGeom>
          <a:solidFill>
            <a:srgbClr val="F3F1FB"/>
          </a:solidFill>
          <a:ln w="12700">
            <a:solidFill>
              <a:srgbClr val="C9C1EA"/>
            </a:solidFill>
            <a:prstDash val="dash"/>
          </a:ln>
        </p:spPr>
      </p:sp>
      <p:sp>
        <p:nvSpPr>
          <p:cNvPr id="104" name="Text 101"/>
          <p:cNvSpPr/>
          <p:nvPr/>
        </p:nvSpPr>
        <p:spPr>
          <a:xfrm>
            <a:off x="6923380"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Memory</a:t>
            </a:r>
            <a:endParaRPr lang="en-US" sz="840" dirty="0"/>
          </a:p>
        </p:txBody>
      </p:sp>
      <p:sp>
        <p:nvSpPr>
          <p:cNvPr id="105" name="Text 102"/>
          <p:cNvSpPr/>
          <p:nvPr/>
        </p:nvSpPr>
        <p:spPr>
          <a:xfrm>
            <a:off x="6923380"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Task, session, durable</a:t>
            </a:r>
            <a:endParaRPr lang="en-US" sz="660" dirty="0"/>
          </a:p>
        </p:txBody>
      </p:sp>
      <p:sp>
        <p:nvSpPr>
          <p:cNvPr id="106" name="Shape 103"/>
          <p:cNvSpPr/>
          <p:nvPr/>
        </p:nvSpPr>
        <p:spPr>
          <a:xfrm>
            <a:off x="8620277" y="3314700"/>
            <a:ext cx="1715186" cy="498348"/>
          </a:xfrm>
          <a:prstGeom prst="roundRect">
            <a:avLst>
              <a:gd name="adj" fmla="val 14679"/>
            </a:avLst>
          </a:prstGeom>
          <a:solidFill>
            <a:srgbClr val="F3F1FB"/>
          </a:solidFill>
          <a:ln w="12700">
            <a:solidFill>
              <a:srgbClr val="C9C1EA"/>
            </a:solidFill>
            <a:prstDash val="dash"/>
          </a:ln>
        </p:spPr>
      </p:sp>
      <p:sp>
        <p:nvSpPr>
          <p:cNvPr id="107" name="Text 104"/>
          <p:cNvSpPr/>
          <p:nvPr/>
        </p:nvSpPr>
        <p:spPr>
          <a:xfrm>
            <a:off x="8702573" y="3369564"/>
            <a:ext cx="1550594" cy="182880"/>
          </a:xfrm>
          <a:prstGeom prst="rect">
            <a:avLst/>
          </a:prstGeom>
          <a:noFill/>
          <a:ln/>
        </p:spPr>
        <p:txBody>
          <a:bodyPr wrap="square" lIns="0" tIns="0" rIns="0" bIns="0" rtlCol="0" anchor="ctr"/>
          <a:lstStyle/>
          <a:p>
            <a:pPr indent="0" marL="0">
              <a:buNone/>
            </a:pPr>
            <a:r>
              <a:rPr lang="en-US" sz="840" b="1" dirty="0">
                <a:solidFill>
                  <a:srgbClr val="4A3AA7"/>
                </a:solidFill>
                <a:latin typeface="Calibri" pitchFamily="34" charset="0"/>
                <a:ea typeface="Calibri" pitchFamily="34" charset="-122"/>
                <a:cs typeface="Calibri" pitchFamily="34" charset="-120"/>
              </a:rPr>
              <a:t>Provenance</a:t>
            </a:r>
            <a:endParaRPr lang="en-US" sz="840" dirty="0"/>
          </a:p>
        </p:txBody>
      </p:sp>
      <p:sp>
        <p:nvSpPr>
          <p:cNvPr id="108" name="Text 105"/>
          <p:cNvSpPr/>
          <p:nvPr/>
        </p:nvSpPr>
        <p:spPr>
          <a:xfrm>
            <a:off x="8702573" y="3534156"/>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Source, freshness, owner</a:t>
            </a:r>
            <a:endParaRPr lang="en-US" sz="660" dirty="0"/>
          </a:p>
        </p:txBody>
      </p:sp>
      <p:sp>
        <p:nvSpPr>
          <p:cNvPr id="109" name="Text 106"/>
          <p:cNvSpPr/>
          <p:nvPr/>
        </p:nvSpPr>
        <p:spPr>
          <a:xfrm>
            <a:off x="8702573" y="3680460"/>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10" name="Shape 107"/>
          <p:cNvSpPr/>
          <p:nvPr/>
        </p:nvSpPr>
        <p:spPr>
          <a:xfrm>
            <a:off x="1801368" y="3877056"/>
            <a:ext cx="1417320" cy="498348"/>
          </a:xfrm>
          <a:prstGeom prst="roundRect">
            <a:avLst>
              <a:gd name="adj" fmla="val 14679"/>
            </a:avLst>
          </a:prstGeom>
          <a:solidFill>
            <a:srgbClr val="0E5A66"/>
          </a:solidFill>
          <a:ln w="12700">
            <a:solidFill>
              <a:srgbClr val="0E5A66"/>
            </a:solidFill>
            <a:prstDash val="solid"/>
          </a:ln>
        </p:spPr>
      </p:sp>
      <p:sp>
        <p:nvSpPr>
          <p:cNvPr id="111" name="Text 108"/>
          <p:cNvSpPr/>
          <p:nvPr/>
        </p:nvSpPr>
        <p:spPr>
          <a:xfrm>
            <a:off x="1892808" y="3959352"/>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Event Plane</a:t>
            </a:r>
            <a:endParaRPr lang="en-US" sz="950" dirty="0"/>
          </a:p>
        </p:txBody>
      </p:sp>
      <p:sp>
        <p:nvSpPr>
          <p:cNvPr id="112" name="Text 109"/>
          <p:cNvSpPr/>
          <p:nvPr/>
        </p:nvSpPr>
        <p:spPr>
          <a:xfrm>
            <a:off x="1892808" y="4142232"/>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One spine, three payoffs</a:t>
            </a:r>
            <a:endParaRPr lang="en-US" sz="680" dirty="0"/>
          </a:p>
        </p:txBody>
      </p:sp>
      <p:sp>
        <p:nvSpPr>
          <p:cNvPr id="113" name="Shape 110"/>
          <p:cNvSpPr/>
          <p:nvPr/>
        </p:nvSpPr>
        <p:spPr>
          <a:xfrm>
            <a:off x="3282696" y="3877056"/>
            <a:ext cx="1715186" cy="498348"/>
          </a:xfrm>
          <a:prstGeom prst="roundRect">
            <a:avLst>
              <a:gd name="adj" fmla="val 14679"/>
            </a:avLst>
          </a:prstGeom>
          <a:solidFill>
            <a:srgbClr val="EAF6F8"/>
          </a:solidFill>
          <a:ln w="12700">
            <a:solidFill>
              <a:srgbClr val="9CCED6"/>
            </a:solidFill>
            <a:prstDash val="solid"/>
          </a:ln>
        </p:spPr>
      </p:sp>
      <p:sp>
        <p:nvSpPr>
          <p:cNvPr id="114" name="Text 111"/>
          <p:cNvSpPr/>
          <p:nvPr/>
        </p:nvSpPr>
        <p:spPr>
          <a:xfrm>
            <a:off x="3364992"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Unified telemetry</a:t>
            </a:r>
            <a:endParaRPr lang="en-US" sz="840" dirty="0"/>
          </a:p>
        </p:txBody>
      </p:sp>
      <p:sp>
        <p:nvSpPr>
          <p:cNvPr id="115" name="Text 112"/>
          <p:cNvSpPr/>
          <p:nvPr/>
        </p:nvSpPr>
        <p:spPr>
          <a:xfrm>
            <a:off x="3364992"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One context, end to end</a:t>
            </a:r>
            <a:endParaRPr lang="en-US" sz="660" dirty="0"/>
          </a:p>
        </p:txBody>
      </p:sp>
      <p:sp>
        <p:nvSpPr>
          <p:cNvPr id="116" name="Text 113"/>
          <p:cNvSpPr/>
          <p:nvPr/>
        </p:nvSpPr>
        <p:spPr>
          <a:xfrm>
            <a:off x="3364992" y="4242816"/>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17" name="Shape 114"/>
          <p:cNvSpPr/>
          <p:nvPr/>
        </p:nvSpPr>
        <p:spPr>
          <a:xfrm>
            <a:off x="5061890" y="3877056"/>
            <a:ext cx="1715186" cy="498348"/>
          </a:xfrm>
          <a:prstGeom prst="roundRect">
            <a:avLst>
              <a:gd name="adj" fmla="val 14679"/>
            </a:avLst>
          </a:prstGeom>
          <a:solidFill>
            <a:srgbClr val="EAF6F8"/>
          </a:solidFill>
          <a:ln w="12700">
            <a:solidFill>
              <a:srgbClr val="9CCED6"/>
            </a:solidFill>
            <a:prstDash val="solid"/>
          </a:ln>
        </p:spPr>
      </p:sp>
      <p:sp>
        <p:nvSpPr>
          <p:cNvPr id="118" name="Text 115"/>
          <p:cNvSpPr/>
          <p:nvPr/>
        </p:nvSpPr>
        <p:spPr>
          <a:xfrm>
            <a:off x="5144186"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Agent triggers</a:t>
            </a:r>
            <a:endParaRPr lang="en-US" sz="840" dirty="0"/>
          </a:p>
        </p:txBody>
      </p:sp>
      <p:sp>
        <p:nvSpPr>
          <p:cNvPr id="119" name="Text 116"/>
          <p:cNvSpPr/>
          <p:nvPr/>
        </p:nvSpPr>
        <p:spPr>
          <a:xfrm>
            <a:off x="5144186"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Events start work</a:t>
            </a:r>
            <a:endParaRPr lang="en-US" sz="660" dirty="0"/>
          </a:p>
        </p:txBody>
      </p:sp>
      <p:sp>
        <p:nvSpPr>
          <p:cNvPr id="120" name="Text 117"/>
          <p:cNvSpPr/>
          <p:nvPr/>
        </p:nvSpPr>
        <p:spPr>
          <a:xfrm>
            <a:off x="5144186" y="4242816"/>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21" name="Shape 118"/>
          <p:cNvSpPr/>
          <p:nvPr/>
        </p:nvSpPr>
        <p:spPr>
          <a:xfrm>
            <a:off x="6841084" y="3877056"/>
            <a:ext cx="1715186" cy="498348"/>
          </a:xfrm>
          <a:prstGeom prst="roundRect">
            <a:avLst>
              <a:gd name="adj" fmla="val 14679"/>
            </a:avLst>
          </a:prstGeom>
          <a:solidFill>
            <a:srgbClr val="EAF6F8"/>
          </a:solidFill>
          <a:ln w="12700">
            <a:solidFill>
              <a:srgbClr val="9CCED6"/>
            </a:solidFill>
            <a:prstDash val="solid"/>
          </a:ln>
        </p:spPr>
      </p:sp>
      <p:sp>
        <p:nvSpPr>
          <p:cNvPr id="122" name="Text 119"/>
          <p:cNvSpPr/>
          <p:nvPr/>
        </p:nvSpPr>
        <p:spPr>
          <a:xfrm>
            <a:off x="6923380"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Evidence stream</a:t>
            </a:r>
            <a:endParaRPr lang="en-US" sz="840" dirty="0"/>
          </a:p>
        </p:txBody>
      </p:sp>
      <p:sp>
        <p:nvSpPr>
          <p:cNvPr id="123" name="Text 120"/>
          <p:cNvSpPr/>
          <p:nvPr/>
        </p:nvSpPr>
        <p:spPr>
          <a:xfrm>
            <a:off x="6923380"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Compliance as exhaust</a:t>
            </a:r>
            <a:endParaRPr lang="en-US" sz="660" dirty="0"/>
          </a:p>
        </p:txBody>
      </p:sp>
      <p:sp>
        <p:nvSpPr>
          <p:cNvPr id="124" name="Text 121"/>
          <p:cNvSpPr/>
          <p:nvPr/>
        </p:nvSpPr>
        <p:spPr>
          <a:xfrm>
            <a:off x="6923380" y="4242816"/>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25" name="Shape 122"/>
          <p:cNvSpPr/>
          <p:nvPr/>
        </p:nvSpPr>
        <p:spPr>
          <a:xfrm>
            <a:off x="8620277" y="3877056"/>
            <a:ext cx="1715186" cy="498348"/>
          </a:xfrm>
          <a:prstGeom prst="roundRect">
            <a:avLst>
              <a:gd name="adj" fmla="val 14679"/>
            </a:avLst>
          </a:prstGeom>
          <a:solidFill>
            <a:srgbClr val="EAF6F8"/>
          </a:solidFill>
          <a:ln w="12700">
            <a:solidFill>
              <a:srgbClr val="9CCED6"/>
            </a:solidFill>
            <a:prstDash val="solid"/>
          </a:ln>
        </p:spPr>
      </p:sp>
      <p:sp>
        <p:nvSpPr>
          <p:cNvPr id="126" name="Text 123"/>
          <p:cNvSpPr/>
          <p:nvPr/>
        </p:nvSpPr>
        <p:spPr>
          <a:xfrm>
            <a:off x="8702573" y="3931920"/>
            <a:ext cx="1550594" cy="182880"/>
          </a:xfrm>
          <a:prstGeom prst="rect">
            <a:avLst/>
          </a:prstGeom>
          <a:noFill/>
          <a:ln/>
        </p:spPr>
        <p:txBody>
          <a:bodyPr wrap="square" lIns="0" tIns="0" rIns="0" bIns="0" rtlCol="0" anchor="ctr"/>
          <a:lstStyle/>
          <a:p>
            <a:pPr indent="0" marL="0">
              <a:buNone/>
            </a:pPr>
            <a:r>
              <a:rPr lang="en-US" sz="840" b="1" dirty="0">
                <a:solidFill>
                  <a:srgbClr val="0A5A66"/>
                </a:solidFill>
                <a:latin typeface="Calibri" pitchFamily="34" charset="0"/>
                <a:ea typeface="Calibri" pitchFamily="34" charset="-122"/>
                <a:cs typeface="Calibri" pitchFamily="34" charset="-120"/>
              </a:rPr>
              <a:t>Governed reaction</a:t>
            </a:r>
            <a:endParaRPr lang="en-US" sz="840" dirty="0"/>
          </a:p>
        </p:txBody>
      </p:sp>
      <p:sp>
        <p:nvSpPr>
          <p:cNvPr id="127" name="Text 124"/>
          <p:cNvSpPr/>
          <p:nvPr/>
        </p:nvSpPr>
        <p:spPr>
          <a:xfrm>
            <a:off x="8702573" y="4096512"/>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Automation with a leash</a:t>
            </a:r>
            <a:endParaRPr lang="en-US" sz="660" dirty="0"/>
          </a:p>
        </p:txBody>
      </p:sp>
      <p:sp>
        <p:nvSpPr>
          <p:cNvPr id="128" name="Shape 125"/>
          <p:cNvSpPr/>
          <p:nvPr/>
        </p:nvSpPr>
        <p:spPr>
          <a:xfrm>
            <a:off x="1801368" y="4439412"/>
            <a:ext cx="1417320" cy="498348"/>
          </a:xfrm>
          <a:prstGeom prst="roundRect">
            <a:avLst>
              <a:gd name="adj" fmla="val 14679"/>
            </a:avLst>
          </a:prstGeom>
          <a:solidFill>
            <a:srgbClr val="0D366B"/>
          </a:solidFill>
          <a:ln w="12700">
            <a:solidFill>
              <a:srgbClr val="0D366B"/>
            </a:solidFill>
            <a:prstDash val="solid"/>
          </a:ln>
        </p:spPr>
      </p:sp>
      <p:sp>
        <p:nvSpPr>
          <p:cNvPr id="129" name="Text 126"/>
          <p:cNvSpPr/>
          <p:nvPr/>
        </p:nvSpPr>
        <p:spPr>
          <a:xfrm>
            <a:off x="1892808" y="4521708"/>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Platform</a:t>
            </a:r>
            <a:endParaRPr lang="en-US" sz="950" dirty="0"/>
          </a:p>
        </p:txBody>
      </p:sp>
      <p:sp>
        <p:nvSpPr>
          <p:cNvPr id="130" name="Text 127"/>
          <p:cNvSpPr/>
          <p:nvPr/>
        </p:nvSpPr>
        <p:spPr>
          <a:xfrm>
            <a:off x="1892808" y="4704588"/>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Where it runs</a:t>
            </a:r>
            <a:endParaRPr lang="en-US" sz="680" dirty="0"/>
          </a:p>
        </p:txBody>
      </p:sp>
      <p:sp>
        <p:nvSpPr>
          <p:cNvPr id="131" name="Shape 128"/>
          <p:cNvSpPr/>
          <p:nvPr/>
        </p:nvSpPr>
        <p:spPr>
          <a:xfrm>
            <a:off x="3282696" y="4439412"/>
            <a:ext cx="1715186" cy="498348"/>
          </a:xfrm>
          <a:prstGeom prst="roundRect">
            <a:avLst>
              <a:gd name="adj" fmla="val 14679"/>
            </a:avLst>
          </a:prstGeom>
          <a:solidFill>
            <a:srgbClr val="FFFFFF"/>
          </a:solidFill>
          <a:ln w="12700">
            <a:solidFill>
              <a:srgbClr val="E2E7EC"/>
            </a:solidFill>
            <a:prstDash val="solid"/>
          </a:ln>
        </p:spPr>
      </p:sp>
      <p:sp>
        <p:nvSpPr>
          <p:cNvPr id="132" name="Text 129"/>
          <p:cNvSpPr/>
          <p:nvPr/>
        </p:nvSpPr>
        <p:spPr>
          <a:xfrm>
            <a:off x="3364992"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Compute</a:t>
            </a:r>
            <a:endParaRPr lang="en-US" sz="840" dirty="0"/>
          </a:p>
        </p:txBody>
      </p:sp>
      <p:sp>
        <p:nvSpPr>
          <p:cNvPr id="133" name="Text 130"/>
          <p:cNvSpPr/>
          <p:nvPr/>
        </p:nvSpPr>
        <p:spPr>
          <a:xfrm>
            <a:off x="3364992"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Your Kubernetes, your cloud</a:t>
            </a:r>
            <a:endParaRPr lang="en-US" sz="660" dirty="0"/>
          </a:p>
        </p:txBody>
      </p:sp>
      <p:sp>
        <p:nvSpPr>
          <p:cNvPr id="134" name="Shape 131"/>
          <p:cNvSpPr/>
          <p:nvPr/>
        </p:nvSpPr>
        <p:spPr>
          <a:xfrm>
            <a:off x="5061890" y="4439412"/>
            <a:ext cx="1715186" cy="498348"/>
          </a:xfrm>
          <a:prstGeom prst="roundRect">
            <a:avLst>
              <a:gd name="adj" fmla="val 14679"/>
            </a:avLst>
          </a:prstGeom>
          <a:solidFill>
            <a:srgbClr val="FFFFFF"/>
          </a:solidFill>
          <a:ln w="12700">
            <a:solidFill>
              <a:srgbClr val="E2E7EC"/>
            </a:solidFill>
            <a:prstDash val="solid"/>
          </a:ln>
        </p:spPr>
      </p:sp>
      <p:sp>
        <p:nvSpPr>
          <p:cNvPr id="135" name="Text 132"/>
          <p:cNvSpPr/>
          <p:nvPr/>
        </p:nvSpPr>
        <p:spPr>
          <a:xfrm>
            <a:off x="5144186"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WASI sandboxing</a:t>
            </a:r>
            <a:endParaRPr lang="en-US" sz="840" dirty="0"/>
          </a:p>
        </p:txBody>
      </p:sp>
      <p:sp>
        <p:nvSpPr>
          <p:cNvPr id="136" name="Text 133"/>
          <p:cNvSpPr/>
          <p:nvPr/>
        </p:nvSpPr>
        <p:spPr>
          <a:xfrm>
            <a:off x="5144186"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Held to capabilities</a:t>
            </a:r>
            <a:endParaRPr lang="en-US" sz="660" dirty="0"/>
          </a:p>
        </p:txBody>
      </p:sp>
      <p:sp>
        <p:nvSpPr>
          <p:cNvPr id="137" name="Text 134"/>
          <p:cNvSpPr/>
          <p:nvPr/>
        </p:nvSpPr>
        <p:spPr>
          <a:xfrm>
            <a:off x="5144186" y="4805172"/>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38" name="Shape 135"/>
          <p:cNvSpPr/>
          <p:nvPr/>
        </p:nvSpPr>
        <p:spPr>
          <a:xfrm>
            <a:off x="6841084" y="4439412"/>
            <a:ext cx="1715186" cy="498348"/>
          </a:xfrm>
          <a:prstGeom prst="roundRect">
            <a:avLst>
              <a:gd name="adj" fmla="val 14679"/>
            </a:avLst>
          </a:prstGeom>
          <a:solidFill>
            <a:srgbClr val="FFFFFF"/>
          </a:solidFill>
          <a:ln w="12700">
            <a:solidFill>
              <a:srgbClr val="E2E7EC"/>
            </a:solidFill>
            <a:prstDash val="solid"/>
          </a:ln>
        </p:spPr>
      </p:sp>
      <p:sp>
        <p:nvSpPr>
          <p:cNvPr id="139" name="Text 136"/>
          <p:cNvSpPr/>
          <p:nvPr/>
        </p:nvSpPr>
        <p:spPr>
          <a:xfrm>
            <a:off x="6923380"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Agentic CI/CD</a:t>
            </a:r>
            <a:endParaRPr lang="en-US" sz="840" dirty="0"/>
          </a:p>
        </p:txBody>
      </p:sp>
      <p:sp>
        <p:nvSpPr>
          <p:cNvPr id="140" name="Text 137"/>
          <p:cNvSpPr/>
          <p:nvPr/>
        </p:nvSpPr>
        <p:spPr>
          <a:xfrm>
            <a:off x="6923380"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Agents build and review</a:t>
            </a:r>
            <a:endParaRPr lang="en-US" sz="660" dirty="0"/>
          </a:p>
        </p:txBody>
      </p:sp>
      <p:sp>
        <p:nvSpPr>
          <p:cNvPr id="141" name="Text 138"/>
          <p:cNvSpPr/>
          <p:nvPr/>
        </p:nvSpPr>
        <p:spPr>
          <a:xfrm>
            <a:off x="6923380" y="4805172"/>
            <a:ext cx="1550594" cy="128016"/>
          </a:xfrm>
          <a:prstGeom prst="rect">
            <a:avLst/>
          </a:prstGeom>
          <a:noFill/>
          <a:ln/>
        </p:spPr>
        <p:txBody>
          <a:bodyPr wrap="square" lIns="0" tIns="0" rIns="0" bIns="0" rtlCol="0" anchor="ctr"/>
          <a:lstStyle/>
          <a:p>
            <a:pPr indent="0" marL="0">
              <a:buNone/>
            </a:pPr>
            <a:r>
              <a:rPr lang="en-US" sz="600" b="1" spc="80" kern="0" dirty="0">
                <a:solidFill>
                  <a:srgbClr val="0B6F7D"/>
                </a:solidFill>
                <a:latin typeface="Consolas" pitchFamily="34" charset="0"/>
                <a:ea typeface="Consolas" pitchFamily="34" charset="-122"/>
                <a:cs typeface="Consolas" pitchFamily="34" charset="-120"/>
              </a:rPr>
              <a:t>POC</a:t>
            </a:r>
            <a:endParaRPr lang="en-US" sz="600" dirty="0"/>
          </a:p>
        </p:txBody>
      </p:sp>
      <p:sp>
        <p:nvSpPr>
          <p:cNvPr id="142" name="Shape 139"/>
          <p:cNvSpPr/>
          <p:nvPr/>
        </p:nvSpPr>
        <p:spPr>
          <a:xfrm>
            <a:off x="8620277" y="4439412"/>
            <a:ext cx="1715186" cy="498348"/>
          </a:xfrm>
          <a:prstGeom prst="roundRect">
            <a:avLst>
              <a:gd name="adj" fmla="val 14679"/>
            </a:avLst>
          </a:prstGeom>
          <a:solidFill>
            <a:srgbClr val="FFFFFF"/>
          </a:solidFill>
          <a:ln w="12700">
            <a:solidFill>
              <a:srgbClr val="E2E7EC"/>
            </a:solidFill>
            <a:prstDash val="solid"/>
          </a:ln>
        </p:spPr>
      </p:sp>
      <p:sp>
        <p:nvSpPr>
          <p:cNvPr id="143" name="Text 140"/>
          <p:cNvSpPr/>
          <p:nvPr/>
        </p:nvSpPr>
        <p:spPr>
          <a:xfrm>
            <a:off x="8702573" y="4494276"/>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Gateway &amp; mesh</a:t>
            </a:r>
            <a:endParaRPr lang="en-US" sz="840" dirty="0"/>
          </a:p>
        </p:txBody>
      </p:sp>
      <p:sp>
        <p:nvSpPr>
          <p:cNvPr id="144" name="Text 141"/>
          <p:cNvSpPr/>
          <p:nvPr/>
        </p:nvSpPr>
        <p:spPr>
          <a:xfrm>
            <a:off x="8702573" y="4658868"/>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Ingress, quotas, routing</a:t>
            </a:r>
            <a:endParaRPr lang="en-US" sz="660" dirty="0"/>
          </a:p>
        </p:txBody>
      </p:sp>
      <p:sp>
        <p:nvSpPr>
          <p:cNvPr id="145" name="Shape 142"/>
          <p:cNvSpPr/>
          <p:nvPr/>
        </p:nvSpPr>
        <p:spPr>
          <a:xfrm>
            <a:off x="1801368" y="5001768"/>
            <a:ext cx="1417320" cy="498348"/>
          </a:xfrm>
          <a:prstGeom prst="roundRect">
            <a:avLst>
              <a:gd name="adj" fmla="val 14679"/>
            </a:avLst>
          </a:prstGeom>
          <a:solidFill>
            <a:srgbClr val="08223F"/>
          </a:solidFill>
          <a:ln w="12700">
            <a:solidFill>
              <a:srgbClr val="08223F"/>
            </a:solidFill>
            <a:prstDash val="solid"/>
          </a:ln>
        </p:spPr>
      </p:sp>
      <p:sp>
        <p:nvSpPr>
          <p:cNvPr id="146" name="Text 143"/>
          <p:cNvSpPr/>
          <p:nvPr/>
        </p:nvSpPr>
        <p:spPr>
          <a:xfrm>
            <a:off x="1892808" y="5084064"/>
            <a:ext cx="1234440" cy="18288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Systems</a:t>
            </a:r>
            <a:endParaRPr lang="en-US" sz="950" dirty="0"/>
          </a:p>
        </p:txBody>
      </p:sp>
      <p:sp>
        <p:nvSpPr>
          <p:cNvPr id="147" name="Text 144"/>
          <p:cNvSpPr/>
          <p:nvPr/>
        </p:nvSpPr>
        <p:spPr>
          <a:xfrm>
            <a:off x="1892808" y="5266944"/>
            <a:ext cx="1234440" cy="182880"/>
          </a:xfrm>
          <a:prstGeom prst="rect">
            <a:avLst/>
          </a:prstGeom>
          <a:noFill/>
          <a:ln/>
        </p:spPr>
        <p:txBody>
          <a:bodyPr wrap="square" lIns="0" tIns="0" rIns="0" bIns="0" rtlCol="0" anchor="ctr"/>
          <a:lstStyle/>
          <a:p>
            <a:pPr indent="0" marL="0">
              <a:buNone/>
            </a:pPr>
            <a:r>
              <a:rPr lang="en-US" sz="680" dirty="0">
                <a:solidFill>
                  <a:srgbClr val="D9E7EF"/>
                </a:solidFill>
                <a:latin typeface="Calibri" pitchFamily="34" charset="0"/>
                <a:ea typeface="Calibri" pitchFamily="34" charset="-122"/>
                <a:cs typeface="Calibri" pitchFamily="34" charset="-120"/>
              </a:rPr>
              <a:t>What it touches</a:t>
            </a:r>
            <a:endParaRPr lang="en-US" sz="680" dirty="0"/>
          </a:p>
        </p:txBody>
      </p:sp>
      <p:sp>
        <p:nvSpPr>
          <p:cNvPr id="148" name="Shape 145"/>
          <p:cNvSpPr/>
          <p:nvPr/>
        </p:nvSpPr>
        <p:spPr>
          <a:xfrm>
            <a:off x="3282696" y="5001768"/>
            <a:ext cx="1715186" cy="498348"/>
          </a:xfrm>
          <a:prstGeom prst="roundRect">
            <a:avLst>
              <a:gd name="adj" fmla="val 14679"/>
            </a:avLst>
          </a:prstGeom>
          <a:solidFill>
            <a:srgbClr val="FFFFFF"/>
          </a:solidFill>
          <a:ln w="12700">
            <a:solidFill>
              <a:srgbClr val="E2E7EC"/>
            </a:solidFill>
            <a:prstDash val="solid"/>
          </a:ln>
        </p:spPr>
      </p:sp>
      <p:sp>
        <p:nvSpPr>
          <p:cNvPr id="149" name="Text 146"/>
          <p:cNvSpPr/>
          <p:nvPr/>
        </p:nvSpPr>
        <p:spPr>
          <a:xfrm>
            <a:off x="3364992"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Enterprise SaaS</a:t>
            </a:r>
            <a:endParaRPr lang="en-US" sz="840" dirty="0"/>
          </a:p>
        </p:txBody>
      </p:sp>
      <p:sp>
        <p:nvSpPr>
          <p:cNvPr id="150" name="Text 147"/>
          <p:cNvSpPr/>
          <p:nvPr/>
        </p:nvSpPr>
        <p:spPr>
          <a:xfrm>
            <a:off x="3364992"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CRM, ERP, ITSM</a:t>
            </a:r>
            <a:endParaRPr lang="en-US" sz="660" dirty="0"/>
          </a:p>
        </p:txBody>
      </p:sp>
      <p:sp>
        <p:nvSpPr>
          <p:cNvPr id="151" name="Shape 148"/>
          <p:cNvSpPr/>
          <p:nvPr/>
        </p:nvSpPr>
        <p:spPr>
          <a:xfrm>
            <a:off x="5061890" y="5001768"/>
            <a:ext cx="1715186" cy="498348"/>
          </a:xfrm>
          <a:prstGeom prst="roundRect">
            <a:avLst>
              <a:gd name="adj" fmla="val 14679"/>
            </a:avLst>
          </a:prstGeom>
          <a:solidFill>
            <a:srgbClr val="FFFFFF"/>
          </a:solidFill>
          <a:ln w="12700">
            <a:solidFill>
              <a:srgbClr val="E2E7EC"/>
            </a:solidFill>
            <a:prstDash val="solid"/>
          </a:ln>
        </p:spPr>
      </p:sp>
      <p:sp>
        <p:nvSpPr>
          <p:cNvPr id="152" name="Text 149"/>
          <p:cNvSpPr/>
          <p:nvPr/>
        </p:nvSpPr>
        <p:spPr>
          <a:xfrm>
            <a:off x="5144186"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Data platforms</a:t>
            </a:r>
            <a:endParaRPr lang="en-US" sz="840" dirty="0"/>
          </a:p>
        </p:txBody>
      </p:sp>
      <p:sp>
        <p:nvSpPr>
          <p:cNvPr id="153" name="Text 150"/>
          <p:cNvSpPr/>
          <p:nvPr/>
        </p:nvSpPr>
        <p:spPr>
          <a:xfrm>
            <a:off x="5144186"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Lakes, warehouses</a:t>
            </a:r>
            <a:endParaRPr lang="en-US" sz="660" dirty="0"/>
          </a:p>
        </p:txBody>
      </p:sp>
      <p:sp>
        <p:nvSpPr>
          <p:cNvPr id="154" name="Shape 151"/>
          <p:cNvSpPr/>
          <p:nvPr/>
        </p:nvSpPr>
        <p:spPr>
          <a:xfrm>
            <a:off x="6841084" y="5001768"/>
            <a:ext cx="1715186" cy="498348"/>
          </a:xfrm>
          <a:prstGeom prst="roundRect">
            <a:avLst>
              <a:gd name="adj" fmla="val 14679"/>
            </a:avLst>
          </a:prstGeom>
          <a:solidFill>
            <a:srgbClr val="FFFFFF"/>
          </a:solidFill>
          <a:ln w="12700">
            <a:solidFill>
              <a:srgbClr val="E2E7EC"/>
            </a:solidFill>
            <a:prstDash val="solid"/>
          </a:ln>
        </p:spPr>
      </p:sp>
      <p:sp>
        <p:nvSpPr>
          <p:cNvPr id="155" name="Text 152"/>
          <p:cNvSpPr/>
          <p:nvPr/>
        </p:nvSpPr>
        <p:spPr>
          <a:xfrm>
            <a:off x="6923380"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Custom &amp; legacy</a:t>
            </a:r>
            <a:endParaRPr lang="en-US" sz="840" dirty="0"/>
          </a:p>
        </p:txBody>
      </p:sp>
      <p:sp>
        <p:nvSpPr>
          <p:cNvPr id="156" name="Text 153"/>
          <p:cNvSpPr/>
          <p:nvPr/>
        </p:nvSpPr>
        <p:spPr>
          <a:xfrm>
            <a:off x="6923380"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Internal, operational</a:t>
            </a:r>
            <a:endParaRPr lang="en-US" sz="660" dirty="0"/>
          </a:p>
        </p:txBody>
      </p:sp>
      <p:sp>
        <p:nvSpPr>
          <p:cNvPr id="157" name="Shape 154"/>
          <p:cNvSpPr/>
          <p:nvPr/>
        </p:nvSpPr>
        <p:spPr>
          <a:xfrm>
            <a:off x="8620277" y="5001768"/>
            <a:ext cx="1715186" cy="498348"/>
          </a:xfrm>
          <a:prstGeom prst="roundRect">
            <a:avLst>
              <a:gd name="adj" fmla="val 14679"/>
            </a:avLst>
          </a:prstGeom>
          <a:solidFill>
            <a:srgbClr val="FFFFFF"/>
          </a:solidFill>
          <a:ln w="12700">
            <a:solidFill>
              <a:srgbClr val="E2E7EC"/>
            </a:solidFill>
            <a:prstDash val="solid"/>
          </a:ln>
        </p:spPr>
      </p:sp>
      <p:sp>
        <p:nvSpPr>
          <p:cNvPr id="158" name="Text 155"/>
          <p:cNvSpPr/>
          <p:nvPr/>
        </p:nvSpPr>
        <p:spPr>
          <a:xfrm>
            <a:off x="8702573" y="5056632"/>
            <a:ext cx="1550594" cy="182880"/>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Models &amp; inference</a:t>
            </a:r>
            <a:endParaRPr lang="en-US" sz="840" dirty="0"/>
          </a:p>
        </p:txBody>
      </p:sp>
      <p:sp>
        <p:nvSpPr>
          <p:cNvPr id="159" name="Text 156"/>
          <p:cNvSpPr/>
          <p:nvPr/>
        </p:nvSpPr>
        <p:spPr>
          <a:xfrm>
            <a:off x="8702573" y="5221224"/>
            <a:ext cx="1550594" cy="164592"/>
          </a:xfrm>
          <a:prstGeom prst="rect">
            <a:avLst/>
          </a:prstGeom>
          <a:noFill/>
          <a:ln/>
        </p:spPr>
        <p:txBody>
          <a:bodyPr wrap="square" lIns="0" tIns="0" rIns="0" bIns="0" rtlCol="0" anchor="ctr"/>
          <a:lstStyle/>
          <a:p>
            <a:pPr indent="0" marL="0">
              <a:buNone/>
            </a:pPr>
            <a:r>
              <a:rPr lang="en-US" sz="660" dirty="0">
                <a:solidFill>
                  <a:srgbClr val="7E8C9B"/>
                </a:solidFill>
                <a:latin typeface="Calibri" pitchFamily="34" charset="0"/>
                <a:ea typeface="Calibri" pitchFamily="34" charset="-122"/>
                <a:cs typeface="Calibri" pitchFamily="34" charset="-120"/>
              </a:rPr>
              <a:t>Hosted, managed, local</a:t>
            </a:r>
            <a:endParaRPr lang="en-US" sz="660" dirty="0"/>
          </a:p>
        </p:txBody>
      </p:sp>
      <p:sp>
        <p:nvSpPr>
          <p:cNvPr id="160" name="Shape 157"/>
          <p:cNvSpPr/>
          <p:nvPr/>
        </p:nvSpPr>
        <p:spPr>
          <a:xfrm>
            <a:off x="10399471" y="1627632"/>
            <a:ext cx="1225296" cy="1248156"/>
          </a:xfrm>
          <a:prstGeom prst="roundRect">
            <a:avLst>
              <a:gd name="adj" fmla="val 5970"/>
            </a:avLst>
          </a:prstGeom>
          <a:solidFill>
            <a:srgbClr val="E6F4F6"/>
          </a:solidFill>
          <a:ln w="12700">
            <a:solidFill>
              <a:srgbClr val="9CCED6"/>
            </a:solidFill>
            <a:prstDash val="solid"/>
          </a:ln>
        </p:spPr>
      </p:sp>
      <p:sp>
        <p:nvSpPr>
          <p:cNvPr id="161" name="Text 158"/>
          <p:cNvSpPr/>
          <p:nvPr/>
        </p:nvSpPr>
        <p:spPr>
          <a:xfrm>
            <a:off x="10490911" y="1737360"/>
            <a:ext cx="1042416" cy="182880"/>
          </a:xfrm>
          <a:prstGeom prst="rect">
            <a:avLst/>
          </a:prstGeom>
          <a:noFill/>
          <a:ln/>
        </p:spPr>
        <p:txBody>
          <a:bodyPr wrap="square" lIns="0" tIns="0" rIns="0" bIns="0" rtlCol="0" anchor="ctr"/>
          <a:lstStyle/>
          <a:p>
            <a:pPr indent="0" marL="0">
              <a:buNone/>
            </a:pPr>
            <a:r>
              <a:rPr lang="en-US" sz="860" b="1" dirty="0">
                <a:solidFill>
                  <a:srgbClr val="0B1622"/>
                </a:solidFill>
                <a:latin typeface="Calibri" pitchFamily="34" charset="0"/>
                <a:ea typeface="Calibri" pitchFamily="34" charset="-122"/>
                <a:cs typeface="Calibri" pitchFamily="34" charset="-120"/>
              </a:rPr>
              <a:t>H1 · Foundation</a:t>
            </a:r>
            <a:endParaRPr lang="en-US" sz="860" dirty="0"/>
          </a:p>
        </p:txBody>
      </p:sp>
      <p:sp>
        <p:nvSpPr>
          <p:cNvPr id="162" name="Text 159"/>
          <p:cNvSpPr/>
          <p:nvPr/>
        </p:nvSpPr>
        <p:spPr>
          <a:xfrm>
            <a:off x="10490911" y="1938528"/>
            <a:ext cx="1042416" cy="548640"/>
          </a:xfrm>
          <a:prstGeom prst="rect">
            <a:avLst/>
          </a:prstGeom>
          <a:noFill/>
          <a:ln/>
        </p:spPr>
        <p:txBody>
          <a:bodyPr wrap="square" lIns="0" tIns="0" rIns="0" bIns="0" rtlCol="0" anchor="t"/>
          <a:lstStyle/>
          <a:p>
            <a:pPr indent="0" marL="0">
              <a:buNone/>
            </a:pPr>
            <a:r>
              <a:rPr lang="en-US" sz="680" dirty="0">
                <a:solidFill>
                  <a:srgbClr val="7E8C9B"/>
                </a:solidFill>
                <a:latin typeface="Calibri" pitchFamily="34" charset="0"/>
                <a:ea typeface="Calibri" pitchFamily="34" charset="-122"/>
                <a:cs typeface="Calibri" pitchFamily="34" charset="-120"/>
              </a:rPr>
              <a:t>Weeks 1–12. Fabric up, first agents in flight.</a:t>
            </a:r>
            <a:endParaRPr lang="en-US" sz="680" dirty="0"/>
          </a:p>
        </p:txBody>
      </p:sp>
      <p:sp>
        <p:nvSpPr>
          <p:cNvPr id="163" name="Shape 160"/>
          <p:cNvSpPr/>
          <p:nvPr/>
        </p:nvSpPr>
        <p:spPr>
          <a:xfrm>
            <a:off x="10399471" y="2939796"/>
            <a:ext cx="1225296" cy="1248156"/>
          </a:xfrm>
          <a:prstGeom prst="roundRect">
            <a:avLst>
              <a:gd name="adj" fmla="val 5970"/>
            </a:avLst>
          </a:prstGeom>
          <a:solidFill>
            <a:srgbClr val="FFFFFF"/>
          </a:solidFill>
          <a:ln w="12700">
            <a:solidFill>
              <a:srgbClr val="E2E7EC"/>
            </a:solidFill>
            <a:prstDash val="solid"/>
          </a:ln>
        </p:spPr>
      </p:sp>
      <p:sp>
        <p:nvSpPr>
          <p:cNvPr id="164" name="Text 161"/>
          <p:cNvSpPr/>
          <p:nvPr/>
        </p:nvSpPr>
        <p:spPr>
          <a:xfrm>
            <a:off x="10490911" y="3049524"/>
            <a:ext cx="1042416" cy="182880"/>
          </a:xfrm>
          <a:prstGeom prst="rect">
            <a:avLst/>
          </a:prstGeom>
          <a:noFill/>
          <a:ln/>
        </p:spPr>
        <p:txBody>
          <a:bodyPr wrap="square" lIns="0" tIns="0" rIns="0" bIns="0" rtlCol="0" anchor="ctr"/>
          <a:lstStyle/>
          <a:p>
            <a:pPr indent="0" marL="0">
              <a:buNone/>
            </a:pPr>
            <a:r>
              <a:rPr lang="en-US" sz="860" b="1" dirty="0">
                <a:solidFill>
                  <a:srgbClr val="0B1622"/>
                </a:solidFill>
                <a:latin typeface="Calibri" pitchFamily="34" charset="0"/>
                <a:ea typeface="Calibri" pitchFamily="34" charset="-122"/>
                <a:cs typeface="Calibri" pitchFamily="34" charset="-120"/>
              </a:rPr>
              <a:t>H2 · Scale</a:t>
            </a:r>
            <a:endParaRPr lang="en-US" sz="860" dirty="0"/>
          </a:p>
        </p:txBody>
      </p:sp>
      <p:sp>
        <p:nvSpPr>
          <p:cNvPr id="165" name="Text 162"/>
          <p:cNvSpPr/>
          <p:nvPr/>
        </p:nvSpPr>
        <p:spPr>
          <a:xfrm>
            <a:off x="10490911" y="3250692"/>
            <a:ext cx="1042416" cy="548640"/>
          </a:xfrm>
          <a:prstGeom prst="rect">
            <a:avLst/>
          </a:prstGeom>
          <a:noFill/>
          <a:ln/>
        </p:spPr>
        <p:txBody>
          <a:bodyPr wrap="square" lIns="0" tIns="0" rIns="0" bIns="0" rtlCol="0" anchor="t"/>
          <a:lstStyle/>
          <a:p>
            <a:pPr indent="0" marL="0">
              <a:buNone/>
            </a:pPr>
            <a:r>
              <a:rPr lang="en-US" sz="680" dirty="0">
                <a:solidFill>
                  <a:srgbClr val="7E8C9B"/>
                </a:solidFill>
                <a:latin typeface="Calibri" pitchFamily="34" charset="0"/>
                <a:ea typeface="Calibri" pitchFamily="34" charset="-122"/>
                <a:cs typeface="Calibri" pitchFamily="34" charset="-120"/>
              </a:rPr>
              <a:t>Q2–3. Many squads, many capabilities, one road.</a:t>
            </a:r>
            <a:endParaRPr lang="en-US" sz="680" dirty="0"/>
          </a:p>
        </p:txBody>
      </p:sp>
      <p:sp>
        <p:nvSpPr>
          <p:cNvPr id="166" name="Shape 163"/>
          <p:cNvSpPr/>
          <p:nvPr/>
        </p:nvSpPr>
        <p:spPr>
          <a:xfrm>
            <a:off x="10399471" y="4251960"/>
            <a:ext cx="1225296" cy="1248156"/>
          </a:xfrm>
          <a:prstGeom prst="roundRect">
            <a:avLst>
              <a:gd name="adj" fmla="val 5970"/>
            </a:avLst>
          </a:prstGeom>
          <a:solidFill>
            <a:srgbClr val="FFFFFF"/>
          </a:solidFill>
          <a:ln w="12700">
            <a:solidFill>
              <a:srgbClr val="E2E7EC"/>
            </a:solidFill>
            <a:prstDash val="solid"/>
          </a:ln>
        </p:spPr>
      </p:sp>
      <p:sp>
        <p:nvSpPr>
          <p:cNvPr id="167" name="Text 164"/>
          <p:cNvSpPr/>
          <p:nvPr/>
        </p:nvSpPr>
        <p:spPr>
          <a:xfrm>
            <a:off x="10490911" y="4361688"/>
            <a:ext cx="1042416" cy="182880"/>
          </a:xfrm>
          <a:prstGeom prst="rect">
            <a:avLst/>
          </a:prstGeom>
          <a:noFill/>
          <a:ln/>
        </p:spPr>
        <p:txBody>
          <a:bodyPr wrap="square" lIns="0" tIns="0" rIns="0" bIns="0" rtlCol="0" anchor="ctr"/>
          <a:lstStyle/>
          <a:p>
            <a:pPr indent="0" marL="0">
              <a:buNone/>
            </a:pPr>
            <a:r>
              <a:rPr lang="en-US" sz="860" b="1" dirty="0">
                <a:solidFill>
                  <a:srgbClr val="0B1622"/>
                </a:solidFill>
                <a:latin typeface="Calibri" pitchFamily="34" charset="0"/>
                <a:ea typeface="Calibri" pitchFamily="34" charset="-122"/>
                <a:cs typeface="Calibri" pitchFamily="34" charset="-120"/>
              </a:rPr>
              <a:t>H3 · Compounding</a:t>
            </a:r>
            <a:endParaRPr lang="en-US" sz="860" dirty="0"/>
          </a:p>
        </p:txBody>
      </p:sp>
      <p:sp>
        <p:nvSpPr>
          <p:cNvPr id="168" name="Text 165"/>
          <p:cNvSpPr/>
          <p:nvPr/>
        </p:nvSpPr>
        <p:spPr>
          <a:xfrm>
            <a:off x="10490911" y="4562856"/>
            <a:ext cx="1042416" cy="548640"/>
          </a:xfrm>
          <a:prstGeom prst="rect">
            <a:avLst/>
          </a:prstGeom>
          <a:noFill/>
          <a:ln/>
        </p:spPr>
        <p:txBody>
          <a:bodyPr wrap="square" lIns="0" tIns="0" rIns="0" bIns="0" rtlCol="0" anchor="t"/>
          <a:lstStyle/>
          <a:p>
            <a:pPr indent="0" marL="0">
              <a:buNone/>
            </a:pPr>
            <a:r>
              <a:rPr lang="en-US" sz="680" dirty="0">
                <a:solidFill>
                  <a:srgbClr val="7E8C9B"/>
                </a:solidFill>
                <a:latin typeface="Calibri" pitchFamily="34" charset="0"/>
                <a:ea typeface="Calibri" pitchFamily="34" charset="-122"/>
                <a:cs typeface="Calibri" pitchFamily="34" charset="-120"/>
              </a:rPr>
              <a:t>Q4+. Ontology, autonomous ops, portfolio effects.</a:t>
            </a:r>
            <a:endParaRPr lang="en-US" sz="680" dirty="0"/>
          </a:p>
        </p:txBody>
      </p:sp>
      <p:sp>
        <p:nvSpPr>
          <p:cNvPr id="169" name="Shape 166"/>
          <p:cNvSpPr/>
          <p:nvPr/>
        </p:nvSpPr>
        <p:spPr>
          <a:xfrm>
            <a:off x="566928" y="5564124"/>
            <a:ext cx="11057839" cy="566928"/>
          </a:xfrm>
          <a:prstGeom prst="roundRect">
            <a:avLst>
              <a:gd name="adj" fmla="val 12903"/>
            </a:avLst>
          </a:prstGeom>
          <a:solidFill>
            <a:srgbClr val="F1F5F7"/>
          </a:solidFill>
          <a:ln w="12700">
            <a:solidFill>
              <a:srgbClr val="E2E7EC"/>
            </a:solidFill>
            <a:prstDash val="solid"/>
          </a:ln>
        </p:spPr>
      </p:sp>
      <p:sp>
        <p:nvSpPr>
          <p:cNvPr id="170" name="Text 167"/>
          <p:cNvSpPr/>
          <p:nvPr/>
        </p:nvSpPr>
        <p:spPr>
          <a:xfrm>
            <a:off x="676656" y="5655564"/>
            <a:ext cx="1170432" cy="384048"/>
          </a:xfrm>
          <a:prstGeom prst="rect">
            <a:avLst/>
          </a:prstGeom>
          <a:noFill/>
          <a:ln/>
        </p:spPr>
        <p:txBody>
          <a:bodyPr wrap="square" lIns="0" tIns="0" rIns="0" bIns="0" rtlCol="0" anchor="ctr"/>
          <a:lstStyle/>
          <a:p>
            <a:pPr indent="0" marL="0">
              <a:buNone/>
            </a:pPr>
            <a:r>
              <a:rPr lang="en-US" sz="750" b="1" spc="120" kern="0" dirty="0">
                <a:solidFill>
                  <a:srgbClr val="7E8C9B"/>
                </a:solidFill>
                <a:latin typeface="Consolas" pitchFamily="34" charset="0"/>
                <a:ea typeface="Consolas" pitchFamily="34" charset="-122"/>
                <a:cs typeface="Consolas" pitchFamily="34" charset="-120"/>
              </a:rPr>
              <a:t>OPERATING</a:t>
            </a:r>
            <a:endParaRPr lang="en-US" sz="750" dirty="0"/>
          </a:p>
          <a:p>
            <a:pPr indent="0" marL="0">
              <a:buNone/>
            </a:pPr>
            <a:r>
              <a:rPr lang="en-US" sz="750" b="1" spc="120" kern="0" dirty="0">
                <a:solidFill>
                  <a:srgbClr val="7E8C9B"/>
                </a:solidFill>
                <a:latin typeface="Consolas" pitchFamily="34" charset="0"/>
                <a:ea typeface="Consolas" pitchFamily="34" charset="-122"/>
                <a:cs typeface="Consolas" pitchFamily="34" charset="-120"/>
              </a:rPr>
              <a:t>RHYTHM</a:t>
            </a:r>
            <a:endParaRPr lang="en-US" sz="750" dirty="0"/>
          </a:p>
        </p:txBody>
      </p:sp>
      <p:sp>
        <p:nvSpPr>
          <p:cNvPr id="171" name="Text 168"/>
          <p:cNvSpPr/>
          <p:nvPr/>
        </p:nvSpPr>
        <p:spPr>
          <a:xfrm>
            <a:off x="1801368"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WEEKLY</a:t>
            </a:r>
            <a:endParaRPr lang="en-US" sz="600" dirty="0"/>
          </a:p>
        </p:txBody>
      </p:sp>
      <p:sp>
        <p:nvSpPr>
          <p:cNvPr id="172" name="Text 169"/>
          <p:cNvSpPr/>
          <p:nvPr/>
        </p:nvSpPr>
        <p:spPr>
          <a:xfrm>
            <a:off x="1801368"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Capability intake</a:t>
            </a:r>
            <a:endParaRPr lang="en-US" sz="840" dirty="0"/>
          </a:p>
        </p:txBody>
      </p:sp>
      <p:sp>
        <p:nvSpPr>
          <p:cNvPr id="173" name="Text 170"/>
          <p:cNvSpPr/>
          <p:nvPr/>
        </p:nvSpPr>
        <p:spPr>
          <a:xfrm>
            <a:off x="1801368"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Business names an outcome; a tier is assigned</a:t>
            </a:r>
            <a:endParaRPr lang="en-US" sz="640" dirty="0"/>
          </a:p>
        </p:txBody>
      </p:sp>
      <p:sp>
        <p:nvSpPr>
          <p:cNvPr id="174" name="Text 171"/>
          <p:cNvSpPr/>
          <p:nvPr/>
        </p:nvSpPr>
        <p:spPr>
          <a:xfrm>
            <a:off x="3723985"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PER SPRINT</a:t>
            </a:r>
            <a:endParaRPr lang="en-US" sz="600" dirty="0"/>
          </a:p>
        </p:txBody>
      </p:sp>
      <p:sp>
        <p:nvSpPr>
          <p:cNvPr id="175" name="Text 172"/>
          <p:cNvSpPr/>
          <p:nvPr/>
        </p:nvSpPr>
        <p:spPr>
          <a:xfrm>
            <a:off x="3723985"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Build on the paved road</a:t>
            </a:r>
            <a:endParaRPr lang="en-US" sz="840" dirty="0"/>
          </a:p>
        </p:txBody>
      </p:sp>
      <p:sp>
        <p:nvSpPr>
          <p:cNvPr id="176" name="Text 173"/>
          <p:cNvSpPr/>
          <p:nvPr/>
        </p:nvSpPr>
        <p:spPr>
          <a:xfrm>
            <a:off x="3723985"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Template, register, test — agents assist</a:t>
            </a:r>
            <a:endParaRPr lang="en-US" sz="640" dirty="0"/>
          </a:p>
        </p:txBody>
      </p:sp>
      <p:sp>
        <p:nvSpPr>
          <p:cNvPr id="177" name="Text 174"/>
          <p:cNvSpPr/>
          <p:nvPr/>
        </p:nvSpPr>
        <p:spPr>
          <a:xfrm>
            <a:off x="5646603"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CONTINUOUS</a:t>
            </a:r>
            <a:endParaRPr lang="en-US" sz="600" dirty="0"/>
          </a:p>
        </p:txBody>
      </p:sp>
      <p:sp>
        <p:nvSpPr>
          <p:cNvPr id="178" name="Text 175"/>
          <p:cNvSpPr/>
          <p:nvPr/>
        </p:nvSpPr>
        <p:spPr>
          <a:xfrm>
            <a:off x="5646603"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Governed release</a:t>
            </a:r>
            <a:endParaRPr lang="en-US" sz="840" dirty="0"/>
          </a:p>
        </p:txBody>
      </p:sp>
      <p:sp>
        <p:nvSpPr>
          <p:cNvPr id="179" name="Text 176"/>
          <p:cNvSpPr/>
          <p:nvPr/>
        </p:nvSpPr>
        <p:spPr>
          <a:xfrm>
            <a:off x="5646603"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Agentic review, policy checks, staged rollout</a:t>
            </a:r>
            <a:endParaRPr lang="en-US" sz="640" dirty="0"/>
          </a:p>
        </p:txBody>
      </p:sp>
      <p:sp>
        <p:nvSpPr>
          <p:cNvPr id="180" name="Text 177"/>
          <p:cNvSpPr/>
          <p:nvPr/>
        </p:nvSpPr>
        <p:spPr>
          <a:xfrm>
            <a:off x="7569220"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MONTHLY</a:t>
            </a:r>
            <a:endParaRPr lang="en-US" sz="600" dirty="0"/>
          </a:p>
        </p:txBody>
      </p:sp>
      <p:sp>
        <p:nvSpPr>
          <p:cNvPr id="181" name="Text 178"/>
          <p:cNvSpPr/>
          <p:nvPr/>
        </p:nvSpPr>
        <p:spPr>
          <a:xfrm>
            <a:off x="7569220"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Evidence review</a:t>
            </a:r>
            <a:endParaRPr lang="en-US" sz="840" dirty="0"/>
          </a:p>
        </p:txBody>
      </p:sp>
      <p:sp>
        <p:nvSpPr>
          <p:cNvPr id="182" name="Text 179"/>
          <p:cNvSpPr/>
          <p:nvPr/>
        </p:nvSpPr>
        <p:spPr>
          <a:xfrm>
            <a:off x="7569220"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Value, quality and control from the event plane</a:t>
            </a:r>
            <a:endParaRPr lang="en-US" sz="640" dirty="0"/>
          </a:p>
        </p:txBody>
      </p:sp>
      <p:sp>
        <p:nvSpPr>
          <p:cNvPr id="183" name="Text 180"/>
          <p:cNvSpPr/>
          <p:nvPr/>
        </p:nvSpPr>
        <p:spPr>
          <a:xfrm>
            <a:off x="9491838" y="5628132"/>
            <a:ext cx="1831177" cy="128016"/>
          </a:xfrm>
          <a:prstGeom prst="rect">
            <a:avLst/>
          </a:prstGeom>
          <a:noFill/>
          <a:ln/>
        </p:spPr>
        <p:txBody>
          <a:bodyPr wrap="square" lIns="0" tIns="0" rIns="0" bIns="0" rtlCol="0" anchor="ctr"/>
          <a:lstStyle/>
          <a:p>
            <a:pPr indent="0" marL="0">
              <a:buNone/>
            </a:pPr>
            <a:r>
              <a:rPr lang="en-US" sz="600" b="1" spc="100" kern="0" dirty="0">
                <a:solidFill>
                  <a:srgbClr val="0B6F7D"/>
                </a:solidFill>
                <a:latin typeface="Consolas" pitchFamily="34" charset="0"/>
                <a:ea typeface="Consolas" pitchFamily="34" charset="-122"/>
                <a:cs typeface="Consolas" pitchFamily="34" charset="-120"/>
              </a:rPr>
              <a:t>QUARTERLY</a:t>
            </a:r>
            <a:endParaRPr lang="en-US" sz="600" dirty="0"/>
          </a:p>
        </p:txBody>
      </p:sp>
      <p:sp>
        <p:nvSpPr>
          <p:cNvPr id="184" name="Text 181"/>
          <p:cNvSpPr/>
          <p:nvPr/>
        </p:nvSpPr>
        <p:spPr>
          <a:xfrm>
            <a:off x="9491838" y="5756148"/>
            <a:ext cx="1831177" cy="146304"/>
          </a:xfrm>
          <a:prstGeom prst="rect">
            <a:avLst/>
          </a:prstGeom>
          <a:noFill/>
          <a:ln/>
        </p:spPr>
        <p:txBody>
          <a:bodyPr wrap="square" lIns="0" tIns="0" rIns="0" bIns="0" rtlCol="0" anchor="ctr"/>
          <a:lstStyle/>
          <a:p>
            <a:pPr indent="0" marL="0">
              <a:buNone/>
            </a:pPr>
            <a:r>
              <a:rPr lang="en-US" sz="840" b="1" dirty="0">
                <a:solidFill>
                  <a:srgbClr val="0B1622"/>
                </a:solidFill>
                <a:latin typeface="Calibri" pitchFamily="34" charset="0"/>
                <a:ea typeface="Calibri" pitchFamily="34" charset="-122"/>
                <a:cs typeface="Calibri" pitchFamily="34" charset="-120"/>
              </a:rPr>
              <a:t>Roadmap step</a:t>
            </a:r>
            <a:endParaRPr lang="en-US" sz="840" dirty="0"/>
          </a:p>
        </p:txBody>
      </p:sp>
      <p:sp>
        <p:nvSpPr>
          <p:cNvPr id="185" name="Text 182"/>
          <p:cNvSpPr/>
          <p:nvPr/>
        </p:nvSpPr>
        <p:spPr>
          <a:xfrm>
            <a:off x="9491838" y="5911596"/>
            <a:ext cx="1831177" cy="182880"/>
          </a:xfrm>
          <a:prstGeom prst="rect">
            <a:avLst/>
          </a:prstGeom>
          <a:noFill/>
          <a:ln/>
        </p:spPr>
        <p:txBody>
          <a:bodyPr wrap="square" lIns="0" tIns="0" rIns="0" bIns="0" rtlCol="0" anchor="ctr"/>
          <a:lstStyle/>
          <a:p>
            <a:pPr indent="0" marL="0">
              <a:buNone/>
            </a:pPr>
            <a:r>
              <a:rPr lang="en-US" sz="640" dirty="0">
                <a:solidFill>
                  <a:srgbClr val="7E8C9B"/>
                </a:solidFill>
                <a:latin typeface="Calibri" pitchFamily="34" charset="0"/>
                <a:ea typeface="Calibri" pitchFamily="34" charset="-122"/>
                <a:cs typeface="Calibri" pitchFamily="34" charset="-120"/>
              </a:rPr>
              <a:t>Next maturity move, chosen against trade-offs</a:t>
            </a:r>
            <a:endParaRPr lang="en-US" sz="640" dirty="0"/>
          </a:p>
        </p:txBody>
      </p:sp>
      <p:sp>
        <p:nvSpPr>
          <p:cNvPr id="186" name="Shape 183"/>
          <p:cNvSpPr/>
          <p:nvPr/>
        </p:nvSpPr>
        <p:spPr>
          <a:xfrm>
            <a:off x="566928" y="6382512"/>
            <a:ext cx="11057839" cy="0"/>
          </a:xfrm>
          <a:prstGeom prst="line">
            <a:avLst/>
          </a:prstGeom>
          <a:noFill/>
          <a:ln w="9525">
            <a:solidFill>
              <a:srgbClr val="E2E7EC"/>
            </a:solidFill>
            <a:prstDash val="solid"/>
          </a:ln>
        </p:spPr>
      </p:sp>
      <p:sp>
        <p:nvSpPr>
          <p:cNvPr id="187" name="Text 184"/>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8" name="Text 185"/>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POC-TAGGED BLOCKS ARE IN THE TWELVE WEEKS · EVERYTHING ELSE IS THE PATH AFTER</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OFFER</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Four things leave our hands and stay in yours — each moving a named ratio.</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Twelve weeks, one squad, working software. Everything below is either running in your estate or checked into your repositories when we finish.</a:t>
            </a:r>
            <a:endParaRPr lang="en-US" sz="1250" dirty="0"/>
          </a:p>
        </p:txBody>
      </p:sp>
      <p:sp>
        <p:nvSpPr>
          <p:cNvPr id="7" name="Shape 4"/>
          <p:cNvSpPr/>
          <p:nvPr/>
        </p:nvSpPr>
        <p:spPr>
          <a:xfrm>
            <a:off x="566928" y="1936750"/>
            <a:ext cx="2654732" cy="2926080"/>
          </a:xfrm>
          <a:prstGeom prst="roundRect">
            <a:avLst>
              <a:gd name="adj" fmla="val 2756"/>
            </a:avLst>
          </a:prstGeom>
          <a:solidFill>
            <a:srgbClr val="E6F4F6"/>
          </a:solidFill>
          <a:ln w="12700">
            <a:solidFill>
              <a:srgbClr val="9CCED6"/>
            </a:solidFill>
            <a:prstDash val="solid"/>
          </a:ln>
        </p:spPr>
      </p:sp>
      <p:sp>
        <p:nvSpPr>
          <p:cNvPr id="8" name="Shape 5"/>
          <p:cNvSpPr/>
          <p:nvPr/>
        </p:nvSpPr>
        <p:spPr>
          <a:xfrm>
            <a:off x="749808" y="2101342"/>
            <a:ext cx="15544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21013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MOVES COST/CAPABILITY</a:t>
            </a:r>
            <a:endParaRPr lang="en-US" sz="750" dirty="0"/>
          </a:p>
        </p:txBody>
      </p:sp>
      <p:sp>
        <p:nvSpPr>
          <p:cNvPr id="10" name="Text 7"/>
          <p:cNvSpPr/>
          <p:nvPr/>
        </p:nvSpPr>
        <p:spPr>
          <a:xfrm>
            <a:off x="749808" y="23939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 working agent fabric</a:t>
            </a:r>
            <a:endParaRPr lang="en-US" sz="1300" dirty="0"/>
          </a:p>
        </p:txBody>
      </p:sp>
      <p:sp>
        <p:nvSpPr>
          <p:cNvPr id="11" name="Text 8"/>
          <p:cNvSpPr/>
          <p:nvPr/>
        </p:nvSpPr>
        <p:spPr>
          <a:xfrm>
            <a:off x="749808" y="28968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Capability registry, orchestration, delegation, identity and policy — deployed in your environment, on your platform.</a:t>
            </a:r>
            <a:endParaRPr lang="en-US" sz="1000" dirty="0"/>
          </a:p>
        </p:txBody>
      </p:sp>
      <p:sp>
        <p:nvSpPr>
          <p:cNvPr id="12" name="Text 9"/>
          <p:cNvSpPr/>
          <p:nvPr/>
        </p:nvSpPr>
        <p:spPr>
          <a:xfrm>
            <a:off x="749808" y="3514090"/>
            <a:ext cx="2288972" cy="56235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register a new agent capability and see it appear with an owner, a tier, health and an off switch.</a:t>
            </a:r>
            <a:endParaRPr lang="en-US" sz="1000" dirty="0"/>
          </a:p>
        </p:txBody>
      </p:sp>
      <p:sp>
        <p:nvSpPr>
          <p:cNvPr id="13" name="Shape 10"/>
          <p:cNvSpPr/>
          <p:nvPr/>
        </p:nvSpPr>
        <p:spPr>
          <a:xfrm>
            <a:off x="3367964" y="1936750"/>
            <a:ext cx="2654732" cy="2926080"/>
          </a:xfrm>
          <a:prstGeom prst="roundRect">
            <a:avLst>
              <a:gd name="adj" fmla="val 2756"/>
            </a:avLst>
          </a:prstGeom>
          <a:solidFill>
            <a:srgbClr val="E6F4F6"/>
          </a:solidFill>
          <a:ln w="12700">
            <a:solidFill>
              <a:srgbClr val="9CCED6"/>
            </a:solidFill>
            <a:prstDash val="solid"/>
          </a:ln>
        </p:spPr>
      </p:sp>
      <p:sp>
        <p:nvSpPr>
          <p:cNvPr id="14" name="Shape 11"/>
          <p:cNvSpPr/>
          <p:nvPr/>
        </p:nvSpPr>
        <p:spPr>
          <a:xfrm>
            <a:off x="3550844" y="2101342"/>
            <a:ext cx="1554480" cy="182880"/>
          </a:xfrm>
          <a:prstGeom prst="roundRect">
            <a:avLst>
              <a:gd name="adj" fmla="val 50000"/>
            </a:avLst>
          </a:prstGeom>
          <a:solidFill>
            <a:srgbClr val="FFFFFF"/>
          </a:solidFill>
          <a:ln w="12700">
            <a:solidFill>
              <a:srgbClr val="FFFFFF"/>
            </a:solidFill>
            <a:prstDash val="solid"/>
          </a:ln>
        </p:spPr>
      </p:sp>
      <p:sp>
        <p:nvSpPr>
          <p:cNvPr id="15" name="Text 12"/>
          <p:cNvSpPr/>
          <p:nvPr/>
        </p:nvSpPr>
        <p:spPr>
          <a:xfrm>
            <a:off x="3550844" y="21013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MOVES TIME/CAPABILITY</a:t>
            </a:r>
            <a:endParaRPr lang="en-US" sz="750" dirty="0"/>
          </a:p>
        </p:txBody>
      </p:sp>
      <p:sp>
        <p:nvSpPr>
          <p:cNvPr id="16" name="Text 13"/>
          <p:cNvSpPr/>
          <p:nvPr/>
        </p:nvSpPr>
        <p:spPr>
          <a:xfrm>
            <a:off x="3550844" y="23939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Agents doing real work</a:t>
            </a:r>
            <a:endParaRPr lang="en-US" sz="1300" dirty="0"/>
          </a:p>
        </p:txBody>
      </p:sp>
      <p:sp>
        <p:nvSpPr>
          <p:cNvPr id="17" name="Text 14"/>
          <p:cNvSpPr/>
          <p:nvPr/>
        </p:nvSpPr>
        <p:spPr>
          <a:xfrm>
            <a:off x="3550844" y="28968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Agentic CI/CD: code review, test generation, dependency upgrades, release notes and deploy gating — on your repositories.</a:t>
            </a:r>
            <a:endParaRPr lang="en-US" sz="1000" dirty="0"/>
          </a:p>
        </p:txBody>
      </p:sp>
      <p:sp>
        <p:nvSpPr>
          <p:cNvPr id="18" name="Text 15"/>
          <p:cNvSpPr/>
          <p:nvPr/>
        </p:nvSpPr>
        <p:spPr>
          <a:xfrm>
            <a:off x="3550844" y="3514090"/>
            <a:ext cx="2288972"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open a pull request and get a substantive agent review before a human reads it.</a:t>
            </a:r>
            <a:endParaRPr lang="en-US" sz="1000" dirty="0"/>
          </a:p>
        </p:txBody>
      </p:sp>
      <p:sp>
        <p:nvSpPr>
          <p:cNvPr id="19" name="Shape 16"/>
          <p:cNvSpPr/>
          <p:nvPr/>
        </p:nvSpPr>
        <p:spPr>
          <a:xfrm>
            <a:off x="6169000" y="1936750"/>
            <a:ext cx="2654732" cy="2926080"/>
          </a:xfrm>
          <a:prstGeom prst="roundRect">
            <a:avLst>
              <a:gd name="adj" fmla="val 2756"/>
            </a:avLst>
          </a:prstGeom>
          <a:solidFill>
            <a:srgbClr val="FFFFFF"/>
          </a:solidFill>
          <a:ln w="12700">
            <a:solidFill>
              <a:srgbClr val="E2E7EC"/>
            </a:solidFill>
            <a:prstDash val="solid"/>
          </a:ln>
        </p:spPr>
      </p:sp>
      <p:sp>
        <p:nvSpPr>
          <p:cNvPr id="20" name="Shape 17"/>
          <p:cNvSpPr/>
          <p:nvPr/>
        </p:nvSpPr>
        <p:spPr>
          <a:xfrm>
            <a:off x="6351880" y="2101342"/>
            <a:ext cx="1554480" cy="182880"/>
          </a:xfrm>
          <a:prstGeom prst="roundRect">
            <a:avLst>
              <a:gd name="adj" fmla="val 50000"/>
            </a:avLst>
          </a:prstGeom>
          <a:solidFill>
            <a:srgbClr val="EFF2F5"/>
          </a:solidFill>
          <a:ln w="12700">
            <a:solidFill>
              <a:srgbClr val="EFF2F5"/>
            </a:solidFill>
            <a:prstDash val="solid"/>
          </a:ln>
        </p:spPr>
      </p:sp>
      <p:sp>
        <p:nvSpPr>
          <p:cNvPr id="21" name="Text 18"/>
          <p:cNvSpPr/>
          <p:nvPr/>
        </p:nvSpPr>
        <p:spPr>
          <a:xfrm>
            <a:off x="6351880" y="21013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MOVES REUSE RATE</a:t>
            </a:r>
            <a:endParaRPr lang="en-US" sz="750" dirty="0"/>
          </a:p>
        </p:txBody>
      </p:sp>
      <p:sp>
        <p:nvSpPr>
          <p:cNvPr id="22" name="Text 19"/>
          <p:cNvSpPr/>
          <p:nvPr/>
        </p:nvSpPr>
        <p:spPr>
          <a:xfrm>
            <a:off x="6351880" y="23939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The paved road</a:t>
            </a:r>
            <a:endParaRPr lang="en-US" sz="1300" dirty="0"/>
          </a:p>
        </p:txBody>
      </p:sp>
      <p:sp>
        <p:nvSpPr>
          <p:cNvPr id="23" name="Text 20"/>
          <p:cNvSpPr/>
          <p:nvPr/>
        </p:nvSpPr>
        <p:spPr>
          <a:xfrm>
            <a:off x="6351880" y="28968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Templates, registration, policy inheritance, test harness, dashboards and runbooks — so the next squad does not need us.</a:t>
            </a:r>
            <a:endParaRPr lang="en-US" sz="1000" dirty="0"/>
          </a:p>
        </p:txBody>
      </p:sp>
      <p:sp>
        <p:nvSpPr>
          <p:cNvPr id="24" name="Text 21"/>
          <p:cNvSpPr/>
          <p:nvPr/>
        </p:nvSpPr>
        <p:spPr>
          <a:xfrm>
            <a:off x="6351880" y="3514090"/>
            <a:ext cx="2288972"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stand up a new agent capability in about a day, from documentation alone.</a:t>
            </a:r>
            <a:endParaRPr lang="en-US" sz="1000" dirty="0"/>
          </a:p>
        </p:txBody>
      </p:sp>
      <p:sp>
        <p:nvSpPr>
          <p:cNvPr id="25" name="Shape 22"/>
          <p:cNvSpPr/>
          <p:nvPr/>
        </p:nvSpPr>
        <p:spPr>
          <a:xfrm>
            <a:off x="8970035" y="1936750"/>
            <a:ext cx="2654732" cy="2926080"/>
          </a:xfrm>
          <a:prstGeom prst="roundRect">
            <a:avLst>
              <a:gd name="adj" fmla="val 2756"/>
            </a:avLst>
          </a:prstGeom>
          <a:solidFill>
            <a:srgbClr val="FFFFFF"/>
          </a:solidFill>
          <a:ln w="12700">
            <a:solidFill>
              <a:srgbClr val="E2E7EC"/>
            </a:solidFill>
            <a:prstDash val="solid"/>
          </a:ln>
        </p:spPr>
      </p:sp>
      <p:sp>
        <p:nvSpPr>
          <p:cNvPr id="26" name="Shape 23"/>
          <p:cNvSpPr/>
          <p:nvPr/>
        </p:nvSpPr>
        <p:spPr>
          <a:xfrm>
            <a:off x="9152915" y="2101342"/>
            <a:ext cx="1554480" cy="182880"/>
          </a:xfrm>
          <a:prstGeom prst="roundRect">
            <a:avLst>
              <a:gd name="adj" fmla="val 50000"/>
            </a:avLst>
          </a:prstGeom>
          <a:solidFill>
            <a:srgbClr val="EFF2F5"/>
          </a:solidFill>
          <a:ln w="12700">
            <a:solidFill>
              <a:srgbClr val="EFF2F5"/>
            </a:solidFill>
            <a:prstDash val="solid"/>
          </a:ln>
        </p:spPr>
      </p:sp>
      <p:sp>
        <p:nvSpPr>
          <p:cNvPr id="27" name="Text 24"/>
          <p:cNvSpPr/>
          <p:nvPr/>
        </p:nvSpPr>
        <p:spPr>
          <a:xfrm>
            <a:off x="9152915" y="21013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MOVES RISK/CAPABILITY</a:t>
            </a:r>
            <a:endParaRPr lang="en-US" sz="750" dirty="0"/>
          </a:p>
        </p:txBody>
      </p:sp>
      <p:sp>
        <p:nvSpPr>
          <p:cNvPr id="28" name="Text 25"/>
          <p:cNvSpPr/>
          <p:nvPr/>
        </p:nvSpPr>
        <p:spPr>
          <a:xfrm>
            <a:off x="9152915" y="2393950"/>
            <a:ext cx="2288972" cy="457200"/>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The operating rhythm</a:t>
            </a:r>
            <a:endParaRPr lang="en-US" sz="1300" dirty="0"/>
          </a:p>
        </p:txBody>
      </p:sp>
      <p:sp>
        <p:nvSpPr>
          <p:cNvPr id="29" name="Text 26"/>
          <p:cNvSpPr/>
          <p:nvPr/>
        </p:nvSpPr>
        <p:spPr>
          <a:xfrm>
            <a:off x="9152915" y="2896870"/>
            <a:ext cx="2288972" cy="562356"/>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Capability intake, tiering, release and evidence review — with the forums, owners and measures defined and running.</a:t>
            </a:r>
            <a:endParaRPr lang="en-US" sz="1000" dirty="0"/>
          </a:p>
        </p:txBody>
      </p:sp>
      <p:sp>
        <p:nvSpPr>
          <p:cNvPr id="30" name="Text 27"/>
          <p:cNvSpPr/>
          <p:nvPr/>
        </p:nvSpPr>
        <p:spPr>
          <a:xfrm>
            <a:off x="9152915" y="3514090"/>
            <a:ext cx="2288972"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You can:</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answer "what are our agents doing, and is it working?" from one place, monthly.</a:t>
            </a:r>
            <a:endParaRPr lang="en-US" sz="1000" dirty="0"/>
          </a:p>
        </p:txBody>
      </p:sp>
      <p:sp>
        <p:nvSpPr>
          <p:cNvPr id="31" name="Shape 28"/>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32" name="Text 29"/>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Why delivery agents first?</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Internal, reversible, no customer exposure, and measurable inside three weeks — while proving every plane of the fabric under real load. Business capabilities are path two, designed in week ten with everything we learned.</a:t>
            </a:r>
            <a:endParaRPr lang="en-US" sz="1050" dirty="0"/>
          </a:p>
        </p:txBody>
      </p:sp>
      <p:sp>
        <p:nvSpPr>
          <p:cNvPr id="33" name="Shape 30"/>
          <p:cNvSpPr/>
          <p:nvPr/>
        </p:nvSpPr>
        <p:spPr>
          <a:xfrm>
            <a:off x="566928" y="6382512"/>
            <a:ext cx="11057839" cy="0"/>
          </a:xfrm>
          <a:prstGeom prst="line">
            <a:avLst/>
          </a:prstGeom>
          <a:noFill/>
          <a:ln w="9525">
            <a:solidFill>
              <a:srgbClr val="E2E7EC"/>
            </a:solidFill>
            <a:prstDash val="solid"/>
          </a:ln>
        </p:spPr>
      </p:sp>
      <p:sp>
        <p:nvSpPr>
          <p:cNvPr id="34" name="Text 31"/>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5" name="Text 32"/>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OFFER · THE VALUE CASE</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0B1622"/>
                </a:solidFill>
                <a:latin typeface="Calibri" pitchFamily="34" charset="0"/>
                <a:ea typeface="Calibri" pitchFamily="34" charset="-122"/>
                <a:cs typeface="Calibri" pitchFamily="34" charset="-120"/>
              </a:rPr>
              <a:t>Four value drivers, one arithmetic each — so you can argue with the assumptions, not the conclusion.</a:t>
            </a:r>
            <a:endParaRPr lang="en-US" sz="2500" dirty="0"/>
          </a:p>
        </p:txBody>
      </p:sp>
      <p:sp>
        <p:nvSpPr>
          <p:cNvPr id="6" name="Text 3"/>
          <p:cNvSpPr/>
          <p:nvPr/>
        </p:nvSpPr>
        <p:spPr>
          <a:xfrm>
            <a:off x="566928" y="1448308"/>
            <a:ext cx="6400800"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THE VALUE TREE · EVERY TERM MEASURABLE FROM SYSTEMS YOU ALREADY RUN</a:t>
            </a:r>
            <a:endParaRPr lang="en-US" sz="750" dirty="0"/>
          </a:p>
        </p:txBody>
      </p:sp>
      <p:sp>
        <p:nvSpPr>
          <p:cNvPr id="7" name="Shape 4"/>
          <p:cNvSpPr/>
          <p:nvPr/>
        </p:nvSpPr>
        <p:spPr>
          <a:xfrm>
            <a:off x="566928" y="1686052"/>
            <a:ext cx="6858000" cy="786384"/>
          </a:xfrm>
          <a:prstGeom prst="roundRect">
            <a:avLst>
              <a:gd name="adj" fmla="val 9302"/>
            </a:avLst>
          </a:prstGeom>
          <a:solidFill>
            <a:srgbClr val="FFFFFF"/>
          </a:solidFill>
          <a:ln w="12700">
            <a:solidFill>
              <a:srgbClr val="E2E7EC"/>
            </a:solidFill>
            <a:prstDash val="solid"/>
          </a:ln>
        </p:spPr>
      </p:sp>
      <p:sp>
        <p:nvSpPr>
          <p:cNvPr id="8" name="Text 5"/>
          <p:cNvSpPr/>
          <p:nvPr/>
        </p:nvSpPr>
        <p:spPr>
          <a:xfrm>
            <a:off x="749808" y="1759204"/>
            <a:ext cx="5120640" cy="182880"/>
          </a:xfrm>
          <a:prstGeom prst="rect">
            <a:avLst/>
          </a:prstGeom>
          <a:noFill/>
          <a:ln/>
        </p:spPr>
        <p:txBody>
          <a:bodyPr wrap="square" lIns="0" tIns="0" rIns="0" bIns="0" rtlCol="0" anchor="ctr"/>
          <a:lstStyle/>
          <a:p>
            <a:pPr indent="0" marL="0">
              <a:buNone/>
            </a:pPr>
            <a:r>
              <a:rPr lang="en-US" sz="1100" b="1" dirty="0">
                <a:solidFill>
                  <a:srgbClr val="0B1622"/>
                </a:solidFill>
                <a:latin typeface="Calibri" pitchFamily="34" charset="0"/>
                <a:ea typeface="Calibri" pitchFamily="34" charset="-122"/>
                <a:cs typeface="Calibri" pitchFamily="34" charset="-120"/>
              </a:rPr>
              <a:t>① Throughput released</a:t>
            </a:r>
            <a:endParaRPr lang="en-US" sz="1100" dirty="0"/>
          </a:p>
        </p:txBody>
      </p:sp>
      <p:sp>
        <p:nvSpPr>
          <p:cNvPr id="9" name="Shape 6"/>
          <p:cNvSpPr/>
          <p:nvPr/>
        </p:nvSpPr>
        <p:spPr>
          <a:xfrm>
            <a:off x="6144768" y="1768348"/>
            <a:ext cx="1097280" cy="182880"/>
          </a:xfrm>
          <a:prstGeom prst="roundRect">
            <a:avLst>
              <a:gd name="adj" fmla="val 50000"/>
            </a:avLst>
          </a:prstGeom>
          <a:solidFill>
            <a:srgbClr val="EFF2F5"/>
          </a:solidFill>
          <a:ln w="12700">
            <a:solidFill>
              <a:srgbClr val="EFF2F5"/>
            </a:solidFill>
            <a:prstDash val="solid"/>
          </a:ln>
        </p:spPr>
      </p:sp>
      <p:sp>
        <p:nvSpPr>
          <p:cNvPr id="10" name="Text 7"/>
          <p:cNvSpPr/>
          <p:nvPr/>
        </p:nvSpPr>
        <p:spPr>
          <a:xfrm>
            <a:off x="6144768" y="1768348"/>
            <a:ext cx="10972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MEASURABLE WK 5</a:t>
            </a:r>
            <a:endParaRPr lang="en-US" sz="750" dirty="0"/>
          </a:p>
        </p:txBody>
      </p:sp>
      <p:sp>
        <p:nvSpPr>
          <p:cNvPr id="11" name="Text 8"/>
          <p:cNvSpPr/>
          <p:nvPr/>
        </p:nvSpPr>
        <p:spPr>
          <a:xfrm>
            <a:off x="749808" y="1960372"/>
            <a:ext cx="6492240" cy="164592"/>
          </a:xfrm>
          <a:prstGeom prst="rect">
            <a:avLst/>
          </a:prstGeom>
          <a:noFill/>
          <a:ln/>
        </p:spPr>
        <p:txBody>
          <a:bodyPr wrap="square" lIns="0" tIns="0" rIns="0" bIns="0" rtlCol="0" anchor="ctr"/>
          <a:lstStyle/>
          <a:p>
            <a:pPr indent="0" marL="0">
              <a:buNone/>
            </a:pPr>
            <a:r>
              <a:rPr lang="en-US" sz="840" dirty="0">
                <a:solidFill>
                  <a:srgbClr val="46586B"/>
                </a:solidFill>
                <a:latin typeface="Consolas" pitchFamily="34" charset="0"/>
                <a:ea typeface="Consolas" pitchFamily="34" charset="-122"/>
                <a:cs typeface="Consolas" pitchFamily="34" charset="-120"/>
              </a:rPr>
              <a:t>engineers in scope × share of time on assistable work × improvement rate</a:t>
            </a:r>
            <a:endParaRPr lang="en-US" sz="840" dirty="0"/>
          </a:p>
        </p:txBody>
      </p:sp>
      <p:sp>
        <p:nvSpPr>
          <p:cNvPr id="12" name="Text 9"/>
          <p:cNvSpPr/>
          <p:nvPr/>
        </p:nvSpPr>
        <p:spPr>
          <a:xfrm>
            <a:off x="749808" y="2143252"/>
            <a:ext cx="6492240" cy="29260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Assistable work is review, test authoring, dependency and migration toil, and release mechanics. Baseline comes from your own SCM and CI data — not a survey.</a:t>
            </a:r>
            <a:endParaRPr lang="en-US" sz="880" dirty="0"/>
          </a:p>
        </p:txBody>
      </p:sp>
      <p:sp>
        <p:nvSpPr>
          <p:cNvPr id="13" name="Shape 10"/>
          <p:cNvSpPr/>
          <p:nvPr/>
        </p:nvSpPr>
        <p:spPr>
          <a:xfrm>
            <a:off x="566928" y="2554732"/>
            <a:ext cx="6858000" cy="786384"/>
          </a:xfrm>
          <a:prstGeom prst="roundRect">
            <a:avLst>
              <a:gd name="adj" fmla="val 9302"/>
            </a:avLst>
          </a:prstGeom>
          <a:solidFill>
            <a:srgbClr val="E6F4F6"/>
          </a:solidFill>
          <a:ln w="12700">
            <a:solidFill>
              <a:srgbClr val="9CCED6"/>
            </a:solidFill>
            <a:prstDash val="solid"/>
          </a:ln>
        </p:spPr>
      </p:sp>
      <p:sp>
        <p:nvSpPr>
          <p:cNvPr id="14" name="Text 11"/>
          <p:cNvSpPr/>
          <p:nvPr/>
        </p:nvSpPr>
        <p:spPr>
          <a:xfrm>
            <a:off x="749808" y="2627884"/>
            <a:ext cx="5120640" cy="182880"/>
          </a:xfrm>
          <a:prstGeom prst="rect">
            <a:avLst/>
          </a:prstGeom>
          <a:noFill/>
          <a:ln/>
        </p:spPr>
        <p:txBody>
          <a:bodyPr wrap="square" lIns="0" tIns="0" rIns="0" bIns="0" rtlCol="0" anchor="ctr"/>
          <a:lstStyle/>
          <a:p>
            <a:pPr indent="0" marL="0">
              <a:buNone/>
            </a:pPr>
            <a:r>
              <a:rPr lang="en-US" sz="1100" b="1" dirty="0">
                <a:solidFill>
                  <a:srgbClr val="0B1622"/>
                </a:solidFill>
                <a:latin typeface="Calibri" pitchFamily="34" charset="0"/>
                <a:ea typeface="Calibri" pitchFamily="34" charset="-122"/>
                <a:cs typeface="Calibri" pitchFamily="34" charset="-120"/>
              </a:rPr>
              <a:t>② Capability cost avoided — the compounding term</a:t>
            </a:r>
            <a:endParaRPr lang="en-US" sz="1100" dirty="0"/>
          </a:p>
        </p:txBody>
      </p:sp>
      <p:sp>
        <p:nvSpPr>
          <p:cNvPr id="15" name="Shape 12"/>
          <p:cNvSpPr/>
          <p:nvPr/>
        </p:nvSpPr>
        <p:spPr>
          <a:xfrm>
            <a:off x="6144768" y="2637028"/>
            <a:ext cx="1097280" cy="182880"/>
          </a:xfrm>
          <a:prstGeom prst="roundRect">
            <a:avLst>
              <a:gd name="adj" fmla="val 50000"/>
            </a:avLst>
          </a:prstGeom>
          <a:solidFill>
            <a:srgbClr val="FFFFFF"/>
          </a:solidFill>
          <a:ln w="12700">
            <a:solidFill>
              <a:srgbClr val="FFFFFF"/>
            </a:solidFill>
            <a:prstDash val="solid"/>
          </a:ln>
        </p:spPr>
      </p:sp>
      <p:sp>
        <p:nvSpPr>
          <p:cNvPr id="16" name="Text 13"/>
          <p:cNvSpPr/>
          <p:nvPr/>
        </p:nvSpPr>
        <p:spPr>
          <a:xfrm>
            <a:off x="6144768" y="2637028"/>
            <a:ext cx="10972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GROWS</a:t>
            </a:r>
            <a:endParaRPr lang="en-US" sz="750" dirty="0"/>
          </a:p>
        </p:txBody>
      </p:sp>
      <p:sp>
        <p:nvSpPr>
          <p:cNvPr id="17" name="Text 14"/>
          <p:cNvSpPr/>
          <p:nvPr/>
        </p:nvSpPr>
        <p:spPr>
          <a:xfrm>
            <a:off x="749808" y="2829052"/>
            <a:ext cx="6492240" cy="164592"/>
          </a:xfrm>
          <a:prstGeom prst="rect">
            <a:avLst/>
          </a:prstGeom>
          <a:noFill/>
          <a:ln/>
        </p:spPr>
        <p:txBody>
          <a:bodyPr wrap="square" lIns="0" tIns="0" rIns="0" bIns="0" rtlCol="0" anchor="ctr"/>
          <a:lstStyle/>
          <a:p>
            <a:pPr indent="0" marL="0">
              <a:buNone/>
            </a:pPr>
            <a:r>
              <a:rPr lang="en-US" sz="840" dirty="0">
                <a:solidFill>
                  <a:srgbClr val="46586B"/>
                </a:solidFill>
                <a:latin typeface="Consolas" pitchFamily="34" charset="0"/>
                <a:ea typeface="Consolas" pitchFamily="34" charset="-122"/>
                <a:cs typeface="Consolas" pitchFamily="34" charset="-120"/>
              </a:rPr>
              <a:t>capabilities per year × (cost of capability #1 − cost of capability #n)</a:t>
            </a:r>
            <a:endParaRPr lang="en-US" sz="840" dirty="0"/>
          </a:p>
        </p:txBody>
      </p:sp>
      <p:sp>
        <p:nvSpPr>
          <p:cNvPr id="18" name="Text 15"/>
          <p:cNvSpPr/>
          <p:nvPr/>
        </p:nvSpPr>
        <p:spPr>
          <a:xfrm>
            <a:off x="749808" y="3011932"/>
            <a:ext cx="6492240" cy="29260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The only driver that grows with every capability you add. The other three are one-time step changes. After roughly two quarters this term dominates the page.</a:t>
            </a:r>
            <a:endParaRPr lang="en-US" sz="880" dirty="0"/>
          </a:p>
        </p:txBody>
      </p:sp>
      <p:sp>
        <p:nvSpPr>
          <p:cNvPr id="19" name="Shape 16"/>
          <p:cNvSpPr/>
          <p:nvPr/>
        </p:nvSpPr>
        <p:spPr>
          <a:xfrm>
            <a:off x="566928" y="3423412"/>
            <a:ext cx="6858000" cy="786384"/>
          </a:xfrm>
          <a:prstGeom prst="roundRect">
            <a:avLst>
              <a:gd name="adj" fmla="val 9302"/>
            </a:avLst>
          </a:prstGeom>
          <a:solidFill>
            <a:srgbClr val="FFFFFF"/>
          </a:solidFill>
          <a:ln w="12700">
            <a:solidFill>
              <a:srgbClr val="E2E7EC"/>
            </a:solidFill>
            <a:prstDash val="solid"/>
          </a:ln>
        </p:spPr>
      </p:sp>
      <p:sp>
        <p:nvSpPr>
          <p:cNvPr id="20" name="Text 17"/>
          <p:cNvSpPr/>
          <p:nvPr/>
        </p:nvSpPr>
        <p:spPr>
          <a:xfrm>
            <a:off x="749808" y="3496564"/>
            <a:ext cx="5120640" cy="182880"/>
          </a:xfrm>
          <a:prstGeom prst="rect">
            <a:avLst/>
          </a:prstGeom>
          <a:noFill/>
          <a:ln/>
        </p:spPr>
        <p:txBody>
          <a:bodyPr wrap="square" lIns="0" tIns="0" rIns="0" bIns="0" rtlCol="0" anchor="ctr"/>
          <a:lstStyle/>
          <a:p>
            <a:pPr indent="0" marL="0">
              <a:buNone/>
            </a:pPr>
            <a:r>
              <a:rPr lang="en-US" sz="1100" b="1" dirty="0">
                <a:solidFill>
                  <a:srgbClr val="0B1622"/>
                </a:solidFill>
                <a:latin typeface="Calibri" pitchFamily="34" charset="0"/>
                <a:ea typeface="Calibri" pitchFamily="34" charset="-122"/>
                <a:cs typeface="Calibri" pitchFamily="34" charset="-120"/>
              </a:rPr>
              <a:t>③ Assurance effort released</a:t>
            </a:r>
            <a:endParaRPr lang="en-US" sz="1100" dirty="0"/>
          </a:p>
        </p:txBody>
      </p:sp>
      <p:sp>
        <p:nvSpPr>
          <p:cNvPr id="21" name="Shape 18"/>
          <p:cNvSpPr/>
          <p:nvPr/>
        </p:nvSpPr>
        <p:spPr>
          <a:xfrm>
            <a:off x="6144768" y="3505708"/>
            <a:ext cx="1097280" cy="182880"/>
          </a:xfrm>
          <a:prstGeom prst="roundRect">
            <a:avLst>
              <a:gd name="adj" fmla="val 50000"/>
            </a:avLst>
          </a:prstGeom>
          <a:solidFill>
            <a:srgbClr val="EFF2F5"/>
          </a:solidFill>
          <a:ln w="12700">
            <a:solidFill>
              <a:srgbClr val="EFF2F5"/>
            </a:solidFill>
            <a:prstDash val="solid"/>
          </a:ln>
        </p:spPr>
      </p:sp>
      <p:sp>
        <p:nvSpPr>
          <p:cNvPr id="22" name="Text 19"/>
          <p:cNvSpPr/>
          <p:nvPr/>
        </p:nvSpPr>
        <p:spPr>
          <a:xfrm>
            <a:off x="6144768" y="3505708"/>
            <a:ext cx="10972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MEASURABLE WK 9</a:t>
            </a:r>
            <a:endParaRPr lang="en-US" sz="750" dirty="0"/>
          </a:p>
        </p:txBody>
      </p:sp>
      <p:sp>
        <p:nvSpPr>
          <p:cNvPr id="23" name="Text 20"/>
          <p:cNvSpPr/>
          <p:nvPr/>
        </p:nvSpPr>
        <p:spPr>
          <a:xfrm>
            <a:off x="749808" y="3697732"/>
            <a:ext cx="6492240" cy="164592"/>
          </a:xfrm>
          <a:prstGeom prst="rect">
            <a:avLst/>
          </a:prstGeom>
          <a:noFill/>
          <a:ln/>
        </p:spPr>
        <p:txBody>
          <a:bodyPr wrap="square" lIns="0" tIns="0" rIns="0" bIns="0" rtlCol="0" anchor="ctr"/>
          <a:lstStyle/>
          <a:p>
            <a:pPr indent="0" marL="0">
              <a:buNone/>
            </a:pPr>
            <a:r>
              <a:rPr lang="en-US" sz="840" dirty="0">
                <a:solidFill>
                  <a:srgbClr val="46586B"/>
                </a:solidFill>
                <a:latin typeface="Consolas" pitchFamily="34" charset="0"/>
                <a:ea typeface="Consolas" pitchFamily="34" charset="-122"/>
                <a:cs typeface="Consolas" pitchFamily="34" charset="-120"/>
              </a:rPr>
              <a:t>control cycles per year × analyst-days per cycle × reduction rate</a:t>
            </a:r>
            <a:endParaRPr lang="en-US" sz="840" dirty="0"/>
          </a:p>
        </p:txBody>
      </p:sp>
      <p:sp>
        <p:nvSpPr>
          <p:cNvPr id="24" name="Text 21"/>
          <p:cNvSpPr/>
          <p:nvPr/>
        </p:nvSpPr>
        <p:spPr>
          <a:xfrm>
            <a:off x="749808" y="3880612"/>
            <a:ext cx="6492240" cy="29260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Evidence emitted continuously rather than assembled per review. The saving is analyst days, not software licences.</a:t>
            </a:r>
            <a:endParaRPr lang="en-US" sz="880" dirty="0"/>
          </a:p>
        </p:txBody>
      </p:sp>
      <p:sp>
        <p:nvSpPr>
          <p:cNvPr id="25" name="Shape 22"/>
          <p:cNvSpPr/>
          <p:nvPr/>
        </p:nvSpPr>
        <p:spPr>
          <a:xfrm>
            <a:off x="566928" y="4292092"/>
            <a:ext cx="6858000" cy="786384"/>
          </a:xfrm>
          <a:prstGeom prst="roundRect">
            <a:avLst>
              <a:gd name="adj" fmla="val 9302"/>
            </a:avLst>
          </a:prstGeom>
          <a:solidFill>
            <a:srgbClr val="FFFFFF"/>
          </a:solidFill>
          <a:ln w="12700">
            <a:solidFill>
              <a:srgbClr val="E2E7EC"/>
            </a:solidFill>
            <a:prstDash val="solid"/>
          </a:ln>
        </p:spPr>
      </p:sp>
      <p:sp>
        <p:nvSpPr>
          <p:cNvPr id="26" name="Text 23"/>
          <p:cNvSpPr/>
          <p:nvPr/>
        </p:nvSpPr>
        <p:spPr>
          <a:xfrm>
            <a:off x="749808" y="4365244"/>
            <a:ext cx="5120640" cy="182880"/>
          </a:xfrm>
          <a:prstGeom prst="rect">
            <a:avLst/>
          </a:prstGeom>
          <a:noFill/>
          <a:ln/>
        </p:spPr>
        <p:txBody>
          <a:bodyPr wrap="square" lIns="0" tIns="0" rIns="0" bIns="0" rtlCol="0" anchor="ctr"/>
          <a:lstStyle/>
          <a:p>
            <a:pPr indent="0" marL="0">
              <a:buNone/>
            </a:pPr>
            <a:r>
              <a:rPr lang="en-US" sz="1100" b="1" dirty="0">
                <a:solidFill>
                  <a:srgbClr val="0B1622"/>
                </a:solidFill>
                <a:latin typeface="Calibri" pitchFamily="34" charset="0"/>
                <a:ea typeface="Calibri" pitchFamily="34" charset="-122"/>
                <a:cs typeface="Calibri" pitchFamily="34" charset="-120"/>
              </a:rPr>
              <a:t>④ Integration avoided</a:t>
            </a:r>
            <a:endParaRPr lang="en-US" sz="1100" dirty="0"/>
          </a:p>
        </p:txBody>
      </p:sp>
      <p:sp>
        <p:nvSpPr>
          <p:cNvPr id="27" name="Shape 24"/>
          <p:cNvSpPr/>
          <p:nvPr/>
        </p:nvSpPr>
        <p:spPr>
          <a:xfrm>
            <a:off x="6144768" y="4374388"/>
            <a:ext cx="1097280" cy="182880"/>
          </a:xfrm>
          <a:prstGeom prst="roundRect">
            <a:avLst>
              <a:gd name="adj" fmla="val 50000"/>
            </a:avLst>
          </a:prstGeom>
          <a:solidFill>
            <a:srgbClr val="EFF2F5"/>
          </a:solidFill>
          <a:ln w="12700">
            <a:solidFill>
              <a:srgbClr val="EFF2F5"/>
            </a:solidFill>
            <a:prstDash val="solid"/>
          </a:ln>
        </p:spPr>
      </p:sp>
      <p:sp>
        <p:nvSpPr>
          <p:cNvPr id="28" name="Text 25"/>
          <p:cNvSpPr/>
          <p:nvPr/>
        </p:nvSpPr>
        <p:spPr>
          <a:xfrm>
            <a:off x="6144768" y="4374388"/>
            <a:ext cx="10972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MEASURABLE Q2</a:t>
            </a:r>
            <a:endParaRPr lang="en-US" sz="750" dirty="0"/>
          </a:p>
        </p:txBody>
      </p:sp>
      <p:sp>
        <p:nvSpPr>
          <p:cNvPr id="29" name="Text 26"/>
          <p:cNvSpPr/>
          <p:nvPr/>
        </p:nvSpPr>
        <p:spPr>
          <a:xfrm>
            <a:off x="749808" y="4566412"/>
            <a:ext cx="6492240" cy="164592"/>
          </a:xfrm>
          <a:prstGeom prst="rect">
            <a:avLst/>
          </a:prstGeom>
          <a:noFill/>
          <a:ln/>
        </p:spPr>
        <p:txBody>
          <a:bodyPr wrap="square" lIns="0" tIns="0" rIns="0" bIns="0" rtlCol="0" anchor="ctr"/>
          <a:lstStyle/>
          <a:p>
            <a:pPr indent="0" marL="0">
              <a:buNone/>
            </a:pPr>
            <a:r>
              <a:rPr lang="en-US" sz="840" dirty="0">
                <a:solidFill>
                  <a:srgbClr val="46586B"/>
                </a:solidFill>
                <a:latin typeface="Consolas" pitchFamily="34" charset="0"/>
                <a:ea typeface="Consolas" pitchFamily="34" charset="-122"/>
                <a:cs typeface="Consolas" pitchFamily="34" charset="-120"/>
              </a:rPr>
              <a:t>integrations per year × average build cost × avoidance rate</a:t>
            </a:r>
            <a:endParaRPr lang="en-US" sz="840" dirty="0"/>
          </a:p>
        </p:txBody>
      </p:sp>
      <p:sp>
        <p:nvSpPr>
          <p:cNvPr id="30" name="Text 27"/>
          <p:cNvSpPr/>
          <p:nvPr/>
        </p:nvSpPr>
        <p:spPr>
          <a:xfrm>
            <a:off x="749808" y="4749292"/>
            <a:ext cx="6492240" cy="29260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Shared capability contracts replace point-to-point work between teams and systems.</a:t>
            </a:r>
            <a:endParaRPr lang="en-US" sz="880" dirty="0"/>
          </a:p>
        </p:txBody>
      </p:sp>
      <p:sp>
        <p:nvSpPr>
          <p:cNvPr id="31" name="Shape 28"/>
          <p:cNvSpPr/>
          <p:nvPr/>
        </p:nvSpPr>
        <p:spPr>
          <a:xfrm>
            <a:off x="7626096" y="1448308"/>
            <a:ext cx="3998671" cy="3712464"/>
          </a:xfrm>
          <a:prstGeom prst="roundRect">
            <a:avLst>
              <a:gd name="adj" fmla="val 1970"/>
            </a:avLst>
          </a:prstGeom>
          <a:solidFill>
            <a:srgbClr val="FFFFFF"/>
          </a:solidFill>
          <a:ln w="12700">
            <a:solidFill>
              <a:srgbClr val="E2E7EC"/>
            </a:solidFill>
            <a:prstDash val="solid"/>
          </a:ln>
        </p:spPr>
      </p:sp>
      <p:sp>
        <p:nvSpPr>
          <p:cNvPr id="32" name="Shape 29"/>
          <p:cNvSpPr/>
          <p:nvPr/>
        </p:nvSpPr>
        <p:spPr>
          <a:xfrm>
            <a:off x="7626096" y="1448308"/>
            <a:ext cx="3998671" cy="292608"/>
          </a:xfrm>
          <a:prstGeom prst="roundRect">
            <a:avLst>
              <a:gd name="adj" fmla="val 25000"/>
            </a:avLst>
          </a:prstGeom>
          <a:solidFill>
            <a:srgbClr val="FDF3DA"/>
          </a:solidFill>
          <a:ln w="12700">
            <a:solidFill>
              <a:srgbClr val="E8D5A8"/>
            </a:solidFill>
            <a:prstDash val="solid"/>
          </a:ln>
        </p:spPr>
      </p:sp>
      <p:sp>
        <p:nvSpPr>
          <p:cNvPr id="33" name="Text 30"/>
          <p:cNvSpPr/>
          <p:nvPr/>
        </p:nvSpPr>
        <p:spPr>
          <a:xfrm>
            <a:off x="7772400" y="1503172"/>
            <a:ext cx="3706063" cy="182880"/>
          </a:xfrm>
          <a:prstGeom prst="rect">
            <a:avLst/>
          </a:prstGeom>
          <a:noFill/>
          <a:ln/>
        </p:spPr>
        <p:txBody>
          <a:bodyPr wrap="square" lIns="0" tIns="0" rIns="0" bIns="0" rtlCol="0" anchor="ctr"/>
          <a:lstStyle/>
          <a:p>
            <a:pPr indent="0" marL="0">
              <a:buNone/>
            </a:pPr>
            <a:r>
              <a:rPr lang="en-US" sz="700" b="1" spc="100" kern="0" dirty="0">
                <a:solidFill>
                  <a:srgbClr val="8A6210"/>
                </a:solidFill>
                <a:latin typeface="Consolas" pitchFamily="34" charset="0"/>
                <a:ea typeface="Consolas" pitchFamily="34" charset="-122"/>
                <a:cs typeface="Consolas" pitchFamily="34" charset="-120"/>
              </a:rPr>
              <a:t>ILLUSTRATIVE ONLY — DRIVER ① WORKED THROUGH</a:t>
            </a:r>
            <a:endParaRPr lang="en-US" sz="700" dirty="0"/>
          </a:p>
        </p:txBody>
      </p:sp>
      <p:sp>
        <p:nvSpPr>
          <p:cNvPr id="34" name="Text 31"/>
          <p:cNvSpPr/>
          <p:nvPr/>
        </p:nvSpPr>
        <p:spPr>
          <a:xfrm>
            <a:off x="7772400" y="1832356"/>
            <a:ext cx="3706063" cy="457200"/>
          </a:xfrm>
          <a:prstGeom prst="rect">
            <a:avLst/>
          </a:prstGeom>
          <a:noFill/>
          <a:ln/>
        </p:spPr>
        <p:txBody>
          <a:bodyPr wrap="square" lIns="0" tIns="0" rIns="0" bIns="0" rtlCol="0" anchor="t"/>
          <a:lstStyle/>
          <a:p>
            <a:pPr indent="0" marL="0">
              <a:lnSpc>
                <a:spcPct val="110000"/>
              </a:lnSpc>
              <a:buNone/>
            </a:pPr>
            <a:r>
              <a:rPr lang="en-US" sz="900" dirty="0">
                <a:solidFill>
                  <a:srgbClr val="46586B"/>
                </a:solidFill>
                <a:latin typeface="Calibri" pitchFamily="34" charset="0"/>
                <a:ea typeface="Calibri" pitchFamily="34" charset="-122"/>
                <a:cs typeface="Calibri" pitchFamily="34" charset="-120"/>
              </a:rPr>
              <a:t>Numbers below are </a:t>
            </a: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placeholders chosen to show the arithmetic</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not a forecast and not a benchmark. Every input is replaced with your measured data at gate 2.</a:t>
            </a:r>
            <a:endParaRPr lang="en-US" sz="900" dirty="0"/>
          </a:p>
        </p:txBody>
      </p:sp>
      <p:sp>
        <p:nvSpPr>
          <p:cNvPr id="35" name="Text 32"/>
          <p:cNvSpPr/>
          <p:nvPr/>
        </p:nvSpPr>
        <p:spPr>
          <a:xfrm>
            <a:off x="7772400" y="2344420"/>
            <a:ext cx="3175711" cy="182880"/>
          </a:xfrm>
          <a:prstGeom prst="rect">
            <a:avLst/>
          </a:prstGeom>
          <a:noFill/>
          <a:ln/>
        </p:spPr>
        <p:txBody>
          <a:bodyPr wrap="square" lIns="0" tIns="0" rIns="0" bIns="0" rtlCol="0" anchor="t"/>
          <a:lstStyle/>
          <a:p>
            <a:pPr indent="0" marL="0">
              <a:lnSpc>
                <a:spcPct val="110000"/>
              </a:lnSpc>
              <a:buNone/>
            </a:pPr>
            <a:r>
              <a:rPr lang="en-US" sz="900" dirty="0">
                <a:solidFill>
                  <a:srgbClr val="46586B"/>
                </a:solidFill>
                <a:latin typeface="Calibri" pitchFamily="34" charset="0"/>
                <a:ea typeface="Calibri" pitchFamily="34" charset="-122"/>
                <a:cs typeface="Calibri" pitchFamily="34" charset="-120"/>
              </a:rPr>
              <a:t>Engineers in scope</a:t>
            </a:r>
            <a:endParaRPr lang="en-US" sz="900" dirty="0"/>
          </a:p>
        </p:txBody>
      </p:sp>
      <p:sp>
        <p:nvSpPr>
          <p:cNvPr id="36" name="Text 33"/>
          <p:cNvSpPr/>
          <p:nvPr/>
        </p:nvSpPr>
        <p:spPr>
          <a:xfrm>
            <a:off x="10911535" y="2344420"/>
            <a:ext cx="548640" cy="164592"/>
          </a:xfrm>
          <a:prstGeom prst="rect">
            <a:avLst/>
          </a:prstGeom>
          <a:noFill/>
          <a:ln/>
        </p:spPr>
        <p:txBody>
          <a:bodyPr wrap="square" lIns="0" tIns="0" rIns="0" bIns="0" rtlCol="0" anchor="ctr"/>
          <a:lstStyle/>
          <a:p>
            <a:pPr algn="r" indent="0" marL="0">
              <a:buNone/>
            </a:pPr>
            <a:r>
              <a:rPr lang="en-US" sz="900" b="1" dirty="0">
                <a:solidFill>
                  <a:srgbClr val="8A6210"/>
                </a:solidFill>
                <a:latin typeface="Consolas" pitchFamily="34" charset="0"/>
                <a:ea typeface="Consolas" pitchFamily="34" charset="-122"/>
                <a:cs typeface="Consolas" pitchFamily="34" charset="-120"/>
              </a:rPr>
              <a:t>200</a:t>
            </a:r>
            <a:endParaRPr lang="en-US" sz="900" dirty="0"/>
          </a:p>
        </p:txBody>
      </p:sp>
      <p:sp>
        <p:nvSpPr>
          <p:cNvPr id="37" name="Shape 34"/>
          <p:cNvSpPr/>
          <p:nvPr/>
        </p:nvSpPr>
        <p:spPr>
          <a:xfrm>
            <a:off x="7772400" y="2536444"/>
            <a:ext cx="3706063" cy="0"/>
          </a:xfrm>
          <a:prstGeom prst="line">
            <a:avLst/>
          </a:prstGeom>
          <a:noFill/>
          <a:ln w="9525">
            <a:solidFill>
              <a:srgbClr val="EFF2F5"/>
            </a:solidFill>
            <a:prstDash val="solid"/>
          </a:ln>
        </p:spPr>
      </p:sp>
      <p:sp>
        <p:nvSpPr>
          <p:cNvPr id="38" name="Text 35"/>
          <p:cNvSpPr/>
          <p:nvPr/>
        </p:nvSpPr>
        <p:spPr>
          <a:xfrm>
            <a:off x="7772400" y="2582164"/>
            <a:ext cx="3175711" cy="182880"/>
          </a:xfrm>
          <a:prstGeom prst="rect">
            <a:avLst/>
          </a:prstGeom>
          <a:noFill/>
          <a:ln/>
        </p:spPr>
        <p:txBody>
          <a:bodyPr wrap="square" lIns="0" tIns="0" rIns="0" bIns="0" rtlCol="0" anchor="t"/>
          <a:lstStyle/>
          <a:p>
            <a:pPr indent="0" marL="0">
              <a:lnSpc>
                <a:spcPct val="110000"/>
              </a:lnSpc>
              <a:buNone/>
            </a:pPr>
            <a:r>
              <a:rPr lang="en-US" sz="900" dirty="0">
                <a:solidFill>
                  <a:srgbClr val="46586B"/>
                </a:solidFill>
                <a:latin typeface="Calibri" pitchFamily="34" charset="0"/>
                <a:ea typeface="Calibri" pitchFamily="34" charset="-122"/>
                <a:cs typeface="Calibri" pitchFamily="34" charset="-120"/>
              </a:rPr>
              <a:t>Share of time on assistable work</a:t>
            </a:r>
            <a:endParaRPr lang="en-US" sz="900" dirty="0"/>
          </a:p>
        </p:txBody>
      </p:sp>
      <p:sp>
        <p:nvSpPr>
          <p:cNvPr id="39" name="Text 36"/>
          <p:cNvSpPr/>
          <p:nvPr/>
        </p:nvSpPr>
        <p:spPr>
          <a:xfrm>
            <a:off x="10911535" y="2582164"/>
            <a:ext cx="548640" cy="164592"/>
          </a:xfrm>
          <a:prstGeom prst="rect">
            <a:avLst/>
          </a:prstGeom>
          <a:noFill/>
          <a:ln/>
        </p:spPr>
        <p:txBody>
          <a:bodyPr wrap="square" lIns="0" tIns="0" rIns="0" bIns="0" rtlCol="0" anchor="ctr"/>
          <a:lstStyle/>
          <a:p>
            <a:pPr algn="r" indent="0" marL="0">
              <a:buNone/>
            </a:pPr>
            <a:r>
              <a:rPr lang="en-US" sz="900" b="1" dirty="0">
                <a:solidFill>
                  <a:srgbClr val="8A6210"/>
                </a:solidFill>
                <a:latin typeface="Consolas" pitchFamily="34" charset="0"/>
                <a:ea typeface="Consolas" pitchFamily="34" charset="-122"/>
                <a:cs typeface="Consolas" pitchFamily="34" charset="-120"/>
              </a:rPr>
              <a:t>30%</a:t>
            </a:r>
            <a:endParaRPr lang="en-US" sz="900" dirty="0"/>
          </a:p>
        </p:txBody>
      </p:sp>
      <p:sp>
        <p:nvSpPr>
          <p:cNvPr id="40" name="Shape 37"/>
          <p:cNvSpPr/>
          <p:nvPr/>
        </p:nvSpPr>
        <p:spPr>
          <a:xfrm>
            <a:off x="7772400" y="2774188"/>
            <a:ext cx="3706063" cy="0"/>
          </a:xfrm>
          <a:prstGeom prst="line">
            <a:avLst/>
          </a:prstGeom>
          <a:noFill/>
          <a:ln w="9525">
            <a:solidFill>
              <a:srgbClr val="EFF2F5"/>
            </a:solidFill>
            <a:prstDash val="solid"/>
          </a:ln>
        </p:spPr>
      </p:sp>
      <p:sp>
        <p:nvSpPr>
          <p:cNvPr id="41" name="Text 38"/>
          <p:cNvSpPr/>
          <p:nvPr/>
        </p:nvSpPr>
        <p:spPr>
          <a:xfrm>
            <a:off x="7772400" y="2819908"/>
            <a:ext cx="3175711" cy="182880"/>
          </a:xfrm>
          <a:prstGeom prst="rect">
            <a:avLst/>
          </a:prstGeom>
          <a:noFill/>
          <a:ln/>
        </p:spPr>
        <p:txBody>
          <a:bodyPr wrap="square" lIns="0" tIns="0" rIns="0" bIns="0" rtlCol="0" anchor="t"/>
          <a:lstStyle/>
          <a:p>
            <a:pPr indent="0" marL="0">
              <a:lnSpc>
                <a:spcPct val="110000"/>
              </a:lnSpc>
              <a:buNone/>
            </a:pPr>
            <a:r>
              <a:rPr lang="en-US" sz="900" dirty="0">
                <a:solidFill>
                  <a:srgbClr val="46586B"/>
                </a:solidFill>
                <a:latin typeface="Calibri" pitchFamily="34" charset="0"/>
                <a:ea typeface="Calibri" pitchFamily="34" charset="-122"/>
                <a:cs typeface="Calibri" pitchFamily="34" charset="-120"/>
              </a:rPr>
              <a:t>Improvement on that share</a:t>
            </a:r>
            <a:endParaRPr lang="en-US" sz="900" dirty="0"/>
          </a:p>
        </p:txBody>
      </p:sp>
      <p:sp>
        <p:nvSpPr>
          <p:cNvPr id="42" name="Text 39"/>
          <p:cNvSpPr/>
          <p:nvPr/>
        </p:nvSpPr>
        <p:spPr>
          <a:xfrm>
            <a:off x="10911535" y="2819908"/>
            <a:ext cx="548640" cy="164592"/>
          </a:xfrm>
          <a:prstGeom prst="rect">
            <a:avLst/>
          </a:prstGeom>
          <a:noFill/>
          <a:ln/>
        </p:spPr>
        <p:txBody>
          <a:bodyPr wrap="square" lIns="0" tIns="0" rIns="0" bIns="0" rtlCol="0" anchor="ctr"/>
          <a:lstStyle/>
          <a:p>
            <a:pPr algn="r" indent="0" marL="0">
              <a:buNone/>
            </a:pPr>
            <a:r>
              <a:rPr lang="en-US" sz="900" b="1" dirty="0">
                <a:solidFill>
                  <a:srgbClr val="8A6210"/>
                </a:solidFill>
                <a:latin typeface="Consolas" pitchFamily="34" charset="0"/>
                <a:ea typeface="Consolas" pitchFamily="34" charset="-122"/>
                <a:cs typeface="Consolas" pitchFamily="34" charset="-120"/>
              </a:rPr>
              <a:t>15%</a:t>
            </a:r>
            <a:endParaRPr lang="en-US" sz="900" dirty="0"/>
          </a:p>
        </p:txBody>
      </p:sp>
      <p:sp>
        <p:nvSpPr>
          <p:cNvPr id="43" name="Shape 40"/>
          <p:cNvSpPr/>
          <p:nvPr/>
        </p:nvSpPr>
        <p:spPr>
          <a:xfrm>
            <a:off x="7772400" y="3011932"/>
            <a:ext cx="3706063" cy="0"/>
          </a:xfrm>
          <a:prstGeom prst="line">
            <a:avLst/>
          </a:prstGeom>
          <a:noFill/>
          <a:ln w="9525">
            <a:solidFill>
              <a:srgbClr val="EFF2F5"/>
            </a:solidFill>
            <a:prstDash val="solid"/>
          </a:ln>
        </p:spPr>
      </p:sp>
      <p:sp>
        <p:nvSpPr>
          <p:cNvPr id="44" name="Shape 41"/>
          <p:cNvSpPr/>
          <p:nvPr/>
        </p:nvSpPr>
        <p:spPr>
          <a:xfrm>
            <a:off x="7772400" y="3130804"/>
            <a:ext cx="3706063" cy="914400"/>
          </a:xfrm>
          <a:prstGeom prst="roundRect">
            <a:avLst>
              <a:gd name="adj" fmla="val 8000"/>
            </a:avLst>
          </a:prstGeom>
          <a:solidFill>
            <a:srgbClr val="E6F4F6"/>
          </a:solidFill>
          <a:ln w="12700">
            <a:solidFill>
              <a:srgbClr val="9CCED6"/>
            </a:solidFill>
            <a:prstDash val="solid"/>
          </a:ln>
        </p:spPr>
      </p:sp>
      <p:sp>
        <p:nvSpPr>
          <p:cNvPr id="45" name="Text 42"/>
          <p:cNvSpPr/>
          <p:nvPr/>
        </p:nvSpPr>
        <p:spPr>
          <a:xfrm>
            <a:off x="7772400" y="3203956"/>
            <a:ext cx="3706063" cy="164592"/>
          </a:xfrm>
          <a:prstGeom prst="rect">
            <a:avLst/>
          </a:prstGeom>
          <a:noFill/>
          <a:ln/>
        </p:spPr>
        <p:txBody>
          <a:bodyPr wrap="square" lIns="0" tIns="0" rIns="0" bIns="0" rtlCol="0" anchor="ctr"/>
          <a:lstStyle/>
          <a:p>
            <a:pPr algn="ctr" indent="0" marL="0">
              <a:buNone/>
            </a:pPr>
            <a:r>
              <a:rPr lang="en-US" sz="800" dirty="0">
                <a:solidFill>
                  <a:srgbClr val="0B6F7D"/>
                </a:solidFill>
                <a:latin typeface="Consolas" pitchFamily="34" charset="0"/>
                <a:ea typeface="Consolas" pitchFamily="34" charset="-122"/>
                <a:cs typeface="Consolas" pitchFamily="34" charset="-120"/>
              </a:rPr>
              <a:t>200 × 30% × 15% =</a:t>
            </a:r>
            <a:endParaRPr lang="en-US" sz="800" dirty="0"/>
          </a:p>
        </p:txBody>
      </p:sp>
      <p:sp>
        <p:nvSpPr>
          <p:cNvPr id="46" name="Text 43"/>
          <p:cNvSpPr/>
          <p:nvPr/>
        </p:nvSpPr>
        <p:spPr>
          <a:xfrm>
            <a:off x="7772400" y="3368548"/>
            <a:ext cx="3706063" cy="438912"/>
          </a:xfrm>
          <a:prstGeom prst="rect">
            <a:avLst/>
          </a:prstGeom>
          <a:noFill/>
          <a:ln/>
        </p:spPr>
        <p:txBody>
          <a:bodyPr wrap="square" lIns="0" tIns="0" rIns="0" bIns="0" rtlCol="0" anchor="ctr"/>
          <a:lstStyle/>
          <a:p>
            <a:pPr algn="ctr" indent="0" marL="0">
              <a:buNone/>
            </a:pPr>
            <a:r>
              <a:rPr lang="en-US" sz="3000" b="1" dirty="0">
                <a:solidFill>
                  <a:srgbClr val="0B1622"/>
                </a:solidFill>
                <a:latin typeface="Calibri" pitchFamily="34" charset="0"/>
                <a:ea typeface="Calibri" pitchFamily="34" charset="-122"/>
                <a:cs typeface="Calibri" pitchFamily="34" charset="-120"/>
              </a:rPr>
              <a:t>9.0</a:t>
            </a:r>
            <a:endParaRPr lang="en-US" sz="3000" dirty="0"/>
          </a:p>
        </p:txBody>
      </p:sp>
      <p:sp>
        <p:nvSpPr>
          <p:cNvPr id="47" name="Text 44"/>
          <p:cNvSpPr/>
          <p:nvPr/>
        </p:nvSpPr>
        <p:spPr>
          <a:xfrm>
            <a:off x="7772400" y="3807460"/>
            <a:ext cx="3706063" cy="182880"/>
          </a:xfrm>
          <a:prstGeom prst="rect">
            <a:avLst/>
          </a:prstGeom>
          <a:noFill/>
          <a:ln/>
        </p:spPr>
        <p:txBody>
          <a:bodyPr wrap="square" lIns="0" tIns="0" rIns="0" bIns="0" rtlCol="0" anchor="ctr"/>
          <a:lstStyle/>
          <a:p>
            <a:pPr algn="ctr" indent="0" marL="0">
              <a:buNone/>
            </a:pPr>
            <a:r>
              <a:rPr lang="en-US" sz="900" dirty="0">
                <a:solidFill>
                  <a:srgbClr val="46586B"/>
                </a:solidFill>
                <a:latin typeface="Calibri" pitchFamily="34" charset="0"/>
                <a:ea typeface="Calibri" pitchFamily="34" charset="-122"/>
                <a:cs typeface="Calibri" pitchFamily="34" charset="-120"/>
              </a:rPr>
              <a:t>FTE-equivalent released per year</a:t>
            </a:r>
            <a:endParaRPr lang="en-US" sz="900" dirty="0"/>
          </a:p>
        </p:txBody>
      </p:sp>
      <p:sp>
        <p:nvSpPr>
          <p:cNvPr id="48" name="Text 45"/>
          <p:cNvSpPr/>
          <p:nvPr/>
        </p:nvSpPr>
        <p:spPr>
          <a:xfrm>
            <a:off x="7772400" y="4154932"/>
            <a:ext cx="3706063" cy="146304"/>
          </a:xfrm>
          <a:prstGeom prst="rect">
            <a:avLst/>
          </a:prstGeom>
          <a:noFill/>
          <a:ln/>
        </p:spPr>
        <p:txBody>
          <a:bodyPr wrap="square" lIns="0" tIns="0" rIns="0" bIns="0" rtlCol="0" anchor="ctr"/>
          <a:lstStyle/>
          <a:p>
            <a:pPr indent="0" marL="0">
              <a:buNone/>
            </a:pPr>
            <a:r>
              <a:rPr lang="en-US" sz="700" b="1" spc="100" kern="0" dirty="0">
                <a:solidFill>
                  <a:srgbClr val="7E8C9B"/>
                </a:solidFill>
                <a:latin typeface="Consolas" pitchFamily="34" charset="0"/>
                <a:ea typeface="Consolas" pitchFamily="34" charset="-122"/>
                <a:cs typeface="Consolas" pitchFamily="34" charset="-120"/>
              </a:rPr>
              <a:t>SENSITIVITY ON THE UNCERTAIN INPUT</a:t>
            </a:r>
            <a:endParaRPr lang="en-US" sz="700" dirty="0"/>
          </a:p>
        </p:txBody>
      </p:sp>
      <p:sp>
        <p:nvSpPr>
          <p:cNvPr id="49" name="Text 46"/>
          <p:cNvSpPr/>
          <p:nvPr/>
        </p:nvSpPr>
        <p:spPr>
          <a:xfrm>
            <a:off x="7772400" y="4356100"/>
            <a:ext cx="1186586" cy="146304"/>
          </a:xfrm>
          <a:prstGeom prst="rect">
            <a:avLst/>
          </a:prstGeom>
          <a:noFill/>
          <a:ln/>
        </p:spPr>
        <p:txBody>
          <a:bodyPr wrap="square" lIns="0" tIns="0" rIns="0" bIns="0" rtlCol="0" anchor="ctr"/>
          <a:lstStyle/>
          <a:p>
            <a:pPr algn="ctr" indent="0" marL="0">
              <a:buNone/>
            </a:pPr>
            <a:r>
              <a:rPr lang="en-US" sz="850" dirty="0">
                <a:solidFill>
                  <a:srgbClr val="7E8C9B"/>
                </a:solidFill>
                <a:latin typeface="Calibri" pitchFamily="34" charset="0"/>
                <a:ea typeface="Calibri" pitchFamily="34" charset="-122"/>
                <a:cs typeface="Calibri" pitchFamily="34" charset="-120"/>
              </a:rPr>
              <a:t>10%</a:t>
            </a:r>
            <a:endParaRPr lang="en-US" sz="850" dirty="0"/>
          </a:p>
        </p:txBody>
      </p:sp>
      <p:sp>
        <p:nvSpPr>
          <p:cNvPr id="50" name="Text 47"/>
          <p:cNvSpPr/>
          <p:nvPr/>
        </p:nvSpPr>
        <p:spPr>
          <a:xfrm>
            <a:off x="7772400" y="4520692"/>
            <a:ext cx="1186586" cy="237744"/>
          </a:xfrm>
          <a:prstGeom prst="rect">
            <a:avLst/>
          </a:prstGeom>
          <a:noFill/>
          <a:ln/>
        </p:spPr>
        <p:txBody>
          <a:bodyPr wrap="square" lIns="0" tIns="0" rIns="0" bIns="0" rtlCol="0" anchor="ctr"/>
          <a:lstStyle/>
          <a:p>
            <a:pPr algn="ctr" indent="0" marL="0">
              <a:buNone/>
            </a:pPr>
            <a:r>
              <a:rPr lang="en-US" sz="1400" b="1" dirty="0">
                <a:solidFill>
                  <a:srgbClr val="46586B"/>
                </a:solidFill>
                <a:latin typeface="Calibri" pitchFamily="34" charset="0"/>
                <a:ea typeface="Calibri" pitchFamily="34" charset="-122"/>
                <a:cs typeface="Calibri" pitchFamily="34" charset="-120"/>
              </a:rPr>
              <a:t>6.0</a:t>
            </a:r>
            <a:endParaRPr lang="en-US" sz="1400" dirty="0"/>
          </a:p>
        </p:txBody>
      </p:sp>
      <p:sp>
        <p:nvSpPr>
          <p:cNvPr id="51" name="Shape 48"/>
          <p:cNvSpPr/>
          <p:nvPr/>
        </p:nvSpPr>
        <p:spPr>
          <a:xfrm>
            <a:off x="9032138" y="4337812"/>
            <a:ext cx="1186586" cy="457200"/>
          </a:xfrm>
          <a:prstGeom prst="roundRect">
            <a:avLst>
              <a:gd name="adj" fmla="val 16000"/>
            </a:avLst>
          </a:prstGeom>
          <a:solidFill>
            <a:srgbClr val="E6F4F6"/>
          </a:solidFill>
          <a:ln w="12700">
            <a:solidFill>
              <a:srgbClr val="E6F4F6"/>
            </a:solidFill>
            <a:prstDash val="solid"/>
          </a:ln>
        </p:spPr>
      </p:sp>
      <p:sp>
        <p:nvSpPr>
          <p:cNvPr id="52" name="Text 49"/>
          <p:cNvSpPr/>
          <p:nvPr/>
        </p:nvSpPr>
        <p:spPr>
          <a:xfrm>
            <a:off x="9032138" y="4356100"/>
            <a:ext cx="1186586" cy="146304"/>
          </a:xfrm>
          <a:prstGeom prst="rect">
            <a:avLst/>
          </a:prstGeom>
          <a:noFill/>
          <a:ln/>
        </p:spPr>
        <p:txBody>
          <a:bodyPr wrap="square" lIns="0" tIns="0" rIns="0" bIns="0" rtlCol="0" anchor="ctr"/>
          <a:lstStyle/>
          <a:p>
            <a:pPr algn="ctr" indent="0" marL="0">
              <a:buNone/>
            </a:pPr>
            <a:r>
              <a:rPr lang="en-US" sz="850" b="1" dirty="0">
                <a:solidFill>
                  <a:srgbClr val="0B6F7D"/>
                </a:solidFill>
                <a:latin typeface="Calibri" pitchFamily="34" charset="0"/>
                <a:ea typeface="Calibri" pitchFamily="34" charset="-122"/>
                <a:cs typeface="Calibri" pitchFamily="34" charset="-120"/>
              </a:rPr>
              <a:t>15%</a:t>
            </a:r>
            <a:endParaRPr lang="en-US" sz="850" dirty="0"/>
          </a:p>
        </p:txBody>
      </p:sp>
      <p:sp>
        <p:nvSpPr>
          <p:cNvPr id="53" name="Text 50"/>
          <p:cNvSpPr/>
          <p:nvPr/>
        </p:nvSpPr>
        <p:spPr>
          <a:xfrm>
            <a:off x="9032138" y="4520692"/>
            <a:ext cx="1186586" cy="237744"/>
          </a:xfrm>
          <a:prstGeom prst="rect">
            <a:avLst/>
          </a:prstGeom>
          <a:noFill/>
          <a:ln/>
        </p:spPr>
        <p:txBody>
          <a:bodyPr wrap="square" lIns="0" tIns="0" rIns="0" bIns="0" rtlCol="0" anchor="ctr"/>
          <a:lstStyle/>
          <a:p>
            <a:pPr algn="ctr" indent="0" marL="0">
              <a:buNone/>
            </a:pPr>
            <a:r>
              <a:rPr lang="en-US" sz="1400" b="1" dirty="0">
                <a:solidFill>
                  <a:srgbClr val="0B1622"/>
                </a:solidFill>
                <a:latin typeface="Calibri" pitchFamily="34" charset="0"/>
                <a:ea typeface="Calibri" pitchFamily="34" charset="-122"/>
                <a:cs typeface="Calibri" pitchFamily="34" charset="-120"/>
              </a:rPr>
              <a:t>9.0</a:t>
            </a:r>
            <a:endParaRPr lang="en-US" sz="1400" dirty="0"/>
          </a:p>
        </p:txBody>
      </p:sp>
      <p:sp>
        <p:nvSpPr>
          <p:cNvPr id="54" name="Text 51"/>
          <p:cNvSpPr/>
          <p:nvPr/>
        </p:nvSpPr>
        <p:spPr>
          <a:xfrm>
            <a:off x="10291877" y="4356100"/>
            <a:ext cx="1186586" cy="146304"/>
          </a:xfrm>
          <a:prstGeom prst="rect">
            <a:avLst/>
          </a:prstGeom>
          <a:noFill/>
          <a:ln/>
        </p:spPr>
        <p:txBody>
          <a:bodyPr wrap="square" lIns="0" tIns="0" rIns="0" bIns="0" rtlCol="0" anchor="ctr"/>
          <a:lstStyle/>
          <a:p>
            <a:pPr algn="ctr" indent="0" marL="0">
              <a:buNone/>
            </a:pPr>
            <a:r>
              <a:rPr lang="en-US" sz="850" dirty="0">
                <a:solidFill>
                  <a:srgbClr val="7E8C9B"/>
                </a:solidFill>
                <a:latin typeface="Calibri" pitchFamily="34" charset="0"/>
                <a:ea typeface="Calibri" pitchFamily="34" charset="-122"/>
                <a:cs typeface="Calibri" pitchFamily="34" charset="-120"/>
              </a:rPr>
              <a:t>20%</a:t>
            </a:r>
            <a:endParaRPr lang="en-US" sz="850" dirty="0"/>
          </a:p>
        </p:txBody>
      </p:sp>
      <p:sp>
        <p:nvSpPr>
          <p:cNvPr id="55" name="Text 52"/>
          <p:cNvSpPr/>
          <p:nvPr/>
        </p:nvSpPr>
        <p:spPr>
          <a:xfrm>
            <a:off x="10291877" y="4520692"/>
            <a:ext cx="1186586" cy="237744"/>
          </a:xfrm>
          <a:prstGeom prst="rect">
            <a:avLst/>
          </a:prstGeom>
          <a:noFill/>
          <a:ln/>
        </p:spPr>
        <p:txBody>
          <a:bodyPr wrap="square" lIns="0" tIns="0" rIns="0" bIns="0" rtlCol="0" anchor="ctr"/>
          <a:lstStyle/>
          <a:p>
            <a:pPr algn="ctr" indent="0" marL="0">
              <a:buNone/>
            </a:pPr>
            <a:r>
              <a:rPr lang="en-US" sz="1400" b="1" dirty="0">
                <a:solidFill>
                  <a:srgbClr val="46586B"/>
                </a:solidFill>
                <a:latin typeface="Calibri" pitchFamily="34" charset="0"/>
                <a:ea typeface="Calibri" pitchFamily="34" charset="-122"/>
                <a:cs typeface="Calibri" pitchFamily="34" charset="-120"/>
              </a:rPr>
              <a:t>12.0</a:t>
            </a:r>
            <a:endParaRPr lang="en-US" sz="1400" dirty="0"/>
          </a:p>
        </p:txBody>
      </p:sp>
      <p:sp>
        <p:nvSpPr>
          <p:cNvPr id="56" name="Text 53"/>
          <p:cNvSpPr/>
          <p:nvPr/>
        </p:nvSpPr>
        <p:spPr>
          <a:xfrm>
            <a:off x="7772400" y="4868164"/>
            <a:ext cx="3706063" cy="292608"/>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880" b="1" dirty="0">
                <a:solidFill>
                  <a:srgbClr val="0B1622"/>
                </a:solidFill>
                <a:latin typeface="Calibri" pitchFamily="34" charset="0"/>
                <a:ea typeface="Calibri" pitchFamily="34" charset="-122"/>
                <a:cs typeface="Calibri" pitchFamily="34" charset="-120"/>
              </a:rPr>
              <a:t>The POC's commercial job</a:t>
            </a:r>
            <a:pPr indent="0" marL="0">
              <a:lnSpc>
                <a:spcPct val="110000"/>
              </a:lnSpc>
              <a:buNone/>
            </a:pPr>
            <a:r>
              <a:rPr lang="en-US" sz="880" dirty="0">
                <a:solidFill>
                  <a:srgbClr val="46586B"/>
                </a:solidFill>
                <a:latin typeface="Calibri" pitchFamily="34" charset="0"/>
                <a:ea typeface="Calibri" pitchFamily="34" charset="-122"/>
                <a:cs typeface="Calibri" pitchFamily="34" charset="-120"/>
              </a:rPr>
              <a:t> is to replace those three placeholders with measured values — and to tell you if the honest answer is lower than you hoped.</a:t>
            </a:r>
            <a:endParaRPr lang="en-US" sz="880" dirty="0"/>
          </a:p>
        </p:txBody>
      </p:sp>
      <p:sp>
        <p:nvSpPr>
          <p:cNvPr id="57" name="Shape 54"/>
          <p:cNvSpPr/>
          <p:nvPr/>
        </p:nvSpPr>
        <p:spPr>
          <a:xfrm>
            <a:off x="566928" y="6382512"/>
            <a:ext cx="11057839" cy="0"/>
          </a:xfrm>
          <a:prstGeom prst="line">
            <a:avLst/>
          </a:prstGeom>
          <a:noFill/>
          <a:ln w="9525">
            <a:solidFill>
              <a:srgbClr val="E2E7EC"/>
            </a:solidFill>
            <a:prstDash val="solid"/>
          </a:ln>
        </p:spPr>
      </p:sp>
      <p:sp>
        <p:nvSpPr>
          <p:cNvPr id="58" name="Text 5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9" name="Text 5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INPUTS MEASURED AT GATE 1 · FROZEN AT GATE 2 · REPORTED MONTHLY FROM THE EVENT PLANE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OFFER · INVESTMENT AND REUSE</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0B1622"/>
                </a:solidFill>
                <a:latin typeface="Calibri" pitchFamily="34" charset="0"/>
                <a:ea typeface="Calibri" pitchFamily="34" charset="-122"/>
                <a:cs typeface="Calibri" pitchFamily="34" charset="-120"/>
              </a:rPr>
              <a:t>Ten of fourteen components already exist in your estate — which is why twelve weeks is credible.</a:t>
            </a:r>
            <a:endParaRPr lang="en-US" sz="2500" dirty="0"/>
          </a:p>
        </p:txBody>
      </p:sp>
      <p:sp>
        <p:nvSpPr>
          <p:cNvPr id="6" name="Text 3"/>
          <p:cNvSpPr/>
          <p:nvPr/>
        </p:nvSpPr>
        <p:spPr>
          <a:xfrm>
            <a:off x="566928" y="1448308"/>
            <a:ext cx="3657600"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THE INVESTMENT · TWELVE WEEKS</a:t>
            </a:r>
            <a:endParaRPr lang="en-US" sz="750" dirty="0"/>
          </a:p>
        </p:txBody>
      </p:sp>
      <p:sp>
        <p:nvSpPr>
          <p:cNvPr id="7" name="Shape 4"/>
          <p:cNvSpPr/>
          <p:nvPr/>
        </p:nvSpPr>
        <p:spPr>
          <a:xfrm>
            <a:off x="566928" y="1667764"/>
            <a:ext cx="4023360" cy="3108960"/>
          </a:xfrm>
          <a:prstGeom prst="roundRect">
            <a:avLst>
              <a:gd name="adj" fmla="val 2353"/>
            </a:avLst>
          </a:prstGeom>
          <a:solidFill>
            <a:srgbClr val="FFFFFF"/>
          </a:solidFill>
          <a:ln w="12700">
            <a:solidFill>
              <a:srgbClr val="E2E7EC"/>
            </a:solidFill>
            <a:prstDash val="solid"/>
          </a:ln>
        </p:spPr>
      </p:sp>
      <p:sp>
        <p:nvSpPr>
          <p:cNvPr id="8" name="Text 5"/>
          <p:cNvSpPr/>
          <p:nvPr/>
        </p:nvSpPr>
        <p:spPr>
          <a:xfrm>
            <a:off x="749808" y="1832356"/>
            <a:ext cx="2560320" cy="31089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Our delivery squad — 5 forward-deployed engineers</a:t>
            </a:r>
            <a:endParaRPr lang="en-US" sz="920" dirty="0"/>
          </a:p>
        </p:txBody>
      </p:sp>
      <p:sp>
        <p:nvSpPr>
          <p:cNvPr id="9" name="Text 6"/>
          <p:cNvSpPr/>
          <p:nvPr/>
        </p:nvSpPr>
        <p:spPr>
          <a:xfrm>
            <a:off x="3310128" y="1832356"/>
            <a:ext cx="1097280" cy="182880"/>
          </a:xfrm>
          <a:prstGeom prst="rect">
            <a:avLst/>
          </a:prstGeom>
          <a:noFill/>
          <a:ln/>
        </p:spPr>
        <p:txBody>
          <a:bodyPr wrap="square" lIns="0" tIns="0" rIns="0" bIns="0" rtlCol="0" anchor="ctr"/>
          <a:lstStyle/>
          <a:p>
            <a:pPr algn="r" indent="0" marL="0">
              <a:buNone/>
            </a:pPr>
            <a:r>
              <a:rPr lang="en-US" sz="900" b="1" dirty="0">
                <a:solidFill>
                  <a:srgbClr val="0B1622"/>
                </a:solidFill>
                <a:latin typeface="Consolas" pitchFamily="34" charset="0"/>
                <a:ea typeface="Consolas" pitchFamily="34" charset="-122"/>
                <a:cs typeface="Consolas" pitchFamily="34" charset="-120"/>
              </a:rPr>
              <a:t>12 wks</a:t>
            </a:r>
            <a:endParaRPr lang="en-US" sz="900" dirty="0"/>
          </a:p>
        </p:txBody>
      </p:sp>
      <p:sp>
        <p:nvSpPr>
          <p:cNvPr id="10" name="Shape 7"/>
          <p:cNvSpPr/>
          <p:nvPr/>
        </p:nvSpPr>
        <p:spPr>
          <a:xfrm>
            <a:off x="749808" y="2124964"/>
            <a:ext cx="3657600" cy="0"/>
          </a:xfrm>
          <a:prstGeom prst="line">
            <a:avLst/>
          </a:prstGeom>
          <a:noFill/>
          <a:ln w="9525">
            <a:solidFill>
              <a:srgbClr val="EFF2F5"/>
            </a:solidFill>
            <a:prstDash val="solid"/>
          </a:ln>
        </p:spPr>
      </p:sp>
      <p:sp>
        <p:nvSpPr>
          <p:cNvPr id="11" name="Text 8"/>
          <p:cNvSpPr/>
          <p:nvPr/>
        </p:nvSpPr>
        <p:spPr>
          <a:xfrm>
            <a:off x="749808" y="2198116"/>
            <a:ext cx="2560320" cy="31089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Your team — seven named roles, part time</a:t>
            </a:r>
            <a:endParaRPr lang="en-US" sz="920" dirty="0"/>
          </a:p>
        </p:txBody>
      </p:sp>
      <p:sp>
        <p:nvSpPr>
          <p:cNvPr id="12" name="Text 9"/>
          <p:cNvSpPr/>
          <p:nvPr/>
        </p:nvSpPr>
        <p:spPr>
          <a:xfrm>
            <a:off x="3310128" y="2198116"/>
            <a:ext cx="1097280" cy="182880"/>
          </a:xfrm>
          <a:prstGeom prst="rect">
            <a:avLst/>
          </a:prstGeom>
          <a:noFill/>
          <a:ln/>
        </p:spPr>
        <p:txBody>
          <a:bodyPr wrap="square" lIns="0" tIns="0" rIns="0" bIns="0" rtlCol="0" anchor="ctr"/>
          <a:lstStyle/>
          <a:p>
            <a:pPr algn="r" indent="0" marL="0">
              <a:buNone/>
            </a:pPr>
            <a:r>
              <a:rPr lang="en-US" sz="900" b="1" dirty="0">
                <a:solidFill>
                  <a:srgbClr val="0B1622"/>
                </a:solidFill>
                <a:latin typeface="Consolas" pitchFamily="34" charset="0"/>
                <a:ea typeface="Consolas" pitchFamily="34" charset="-122"/>
                <a:cs typeface="Consolas" pitchFamily="34" charset="-120"/>
              </a:rPr>
              <a:t>~4 d/wk</a:t>
            </a:r>
            <a:endParaRPr lang="en-US" sz="900" dirty="0"/>
          </a:p>
        </p:txBody>
      </p:sp>
      <p:sp>
        <p:nvSpPr>
          <p:cNvPr id="13" name="Shape 10"/>
          <p:cNvSpPr/>
          <p:nvPr/>
        </p:nvSpPr>
        <p:spPr>
          <a:xfrm>
            <a:off x="749808" y="2490724"/>
            <a:ext cx="3657600" cy="0"/>
          </a:xfrm>
          <a:prstGeom prst="line">
            <a:avLst/>
          </a:prstGeom>
          <a:noFill/>
          <a:ln w="9525">
            <a:solidFill>
              <a:srgbClr val="EFF2F5"/>
            </a:solidFill>
            <a:prstDash val="solid"/>
          </a:ln>
        </p:spPr>
      </p:sp>
      <p:sp>
        <p:nvSpPr>
          <p:cNvPr id="14" name="Text 11"/>
          <p:cNvSpPr/>
          <p:nvPr/>
        </p:nvSpPr>
        <p:spPr>
          <a:xfrm>
            <a:off x="749808" y="2563876"/>
            <a:ext cx="2560320" cy="31089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Infrastructure — your existing platform</a:t>
            </a:r>
            <a:endParaRPr lang="en-US" sz="920" dirty="0"/>
          </a:p>
        </p:txBody>
      </p:sp>
      <p:sp>
        <p:nvSpPr>
          <p:cNvPr id="15" name="Text 12"/>
          <p:cNvSpPr/>
          <p:nvPr/>
        </p:nvSpPr>
        <p:spPr>
          <a:xfrm>
            <a:off x="3310128" y="2563876"/>
            <a:ext cx="1097280" cy="182880"/>
          </a:xfrm>
          <a:prstGeom prst="rect">
            <a:avLst/>
          </a:prstGeom>
          <a:noFill/>
          <a:ln/>
        </p:spPr>
        <p:txBody>
          <a:bodyPr wrap="square" lIns="0" tIns="0" rIns="0" bIns="0" rtlCol="0" anchor="ctr"/>
          <a:lstStyle/>
          <a:p>
            <a:pPr algn="r" indent="0" marL="0">
              <a:buNone/>
            </a:pPr>
            <a:r>
              <a:rPr lang="en-US" sz="900" b="1" dirty="0">
                <a:solidFill>
                  <a:srgbClr val="0B1622"/>
                </a:solidFill>
                <a:latin typeface="Consolas" pitchFamily="34" charset="0"/>
                <a:ea typeface="Consolas" pitchFamily="34" charset="-122"/>
                <a:cs typeface="Consolas" pitchFamily="34" charset="-120"/>
              </a:rPr>
              <a:t>no new spend</a:t>
            </a:r>
            <a:endParaRPr lang="en-US" sz="900" dirty="0"/>
          </a:p>
        </p:txBody>
      </p:sp>
      <p:sp>
        <p:nvSpPr>
          <p:cNvPr id="16" name="Shape 13"/>
          <p:cNvSpPr/>
          <p:nvPr/>
        </p:nvSpPr>
        <p:spPr>
          <a:xfrm>
            <a:off x="749808" y="2856484"/>
            <a:ext cx="3657600" cy="0"/>
          </a:xfrm>
          <a:prstGeom prst="line">
            <a:avLst/>
          </a:prstGeom>
          <a:noFill/>
          <a:ln w="9525">
            <a:solidFill>
              <a:srgbClr val="EFF2F5"/>
            </a:solidFill>
            <a:prstDash val="solid"/>
          </a:ln>
        </p:spPr>
      </p:sp>
      <p:sp>
        <p:nvSpPr>
          <p:cNvPr id="17" name="Text 14"/>
          <p:cNvSpPr/>
          <p:nvPr/>
        </p:nvSpPr>
        <p:spPr>
          <a:xfrm>
            <a:off x="749808" y="2929636"/>
            <a:ext cx="2560320" cy="31089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Incremental run cost — inference and control</a:t>
            </a:r>
            <a:endParaRPr lang="en-US" sz="920" dirty="0"/>
          </a:p>
        </p:txBody>
      </p:sp>
      <p:sp>
        <p:nvSpPr>
          <p:cNvPr id="18" name="Text 15"/>
          <p:cNvSpPr/>
          <p:nvPr/>
        </p:nvSpPr>
        <p:spPr>
          <a:xfrm>
            <a:off x="3310128" y="2929636"/>
            <a:ext cx="1097280" cy="182880"/>
          </a:xfrm>
          <a:prstGeom prst="rect">
            <a:avLst/>
          </a:prstGeom>
          <a:noFill/>
          <a:ln/>
        </p:spPr>
        <p:txBody>
          <a:bodyPr wrap="square" lIns="0" tIns="0" rIns="0" bIns="0" rtlCol="0" anchor="ctr"/>
          <a:lstStyle/>
          <a:p>
            <a:pPr algn="r" indent="0" marL="0">
              <a:buNone/>
            </a:pPr>
            <a:r>
              <a:rPr lang="en-US" sz="900" b="1" dirty="0">
                <a:solidFill>
                  <a:srgbClr val="0B1622"/>
                </a:solidFill>
                <a:latin typeface="Consolas" pitchFamily="34" charset="0"/>
                <a:ea typeface="Consolas" pitchFamily="34" charset="-122"/>
                <a:cs typeface="Consolas" pitchFamily="34" charset="-120"/>
              </a:rPr>
              <a:t>[$X]/mo</a:t>
            </a:r>
            <a:endParaRPr lang="en-US" sz="900" dirty="0"/>
          </a:p>
        </p:txBody>
      </p:sp>
      <p:sp>
        <p:nvSpPr>
          <p:cNvPr id="19" name="Shape 16"/>
          <p:cNvSpPr/>
          <p:nvPr/>
        </p:nvSpPr>
        <p:spPr>
          <a:xfrm>
            <a:off x="749808" y="3222244"/>
            <a:ext cx="3657600" cy="0"/>
          </a:xfrm>
          <a:prstGeom prst="line">
            <a:avLst/>
          </a:prstGeom>
          <a:noFill/>
          <a:ln w="9525">
            <a:solidFill>
              <a:srgbClr val="EFF2F5"/>
            </a:solidFill>
            <a:prstDash val="solid"/>
          </a:ln>
        </p:spPr>
      </p:sp>
      <p:sp>
        <p:nvSpPr>
          <p:cNvPr id="20" name="Text 17"/>
          <p:cNvSpPr/>
          <p:nvPr/>
        </p:nvSpPr>
        <p:spPr>
          <a:xfrm>
            <a:off x="749808" y="3295396"/>
            <a:ext cx="2560320" cy="310896"/>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Licence commitments required to start</a:t>
            </a:r>
            <a:endParaRPr lang="en-US" sz="920" dirty="0"/>
          </a:p>
        </p:txBody>
      </p:sp>
      <p:sp>
        <p:nvSpPr>
          <p:cNvPr id="21" name="Text 18"/>
          <p:cNvSpPr/>
          <p:nvPr/>
        </p:nvSpPr>
        <p:spPr>
          <a:xfrm>
            <a:off x="3310128" y="3295396"/>
            <a:ext cx="1097280" cy="182880"/>
          </a:xfrm>
          <a:prstGeom prst="rect">
            <a:avLst/>
          </a:prstGeom>
          <a:noFill/>
          <a:ln/>
        </p:spPr>
        <p:txBody>
          <a:bodyPr wrap="square" lIns="0" tIns="0" rIns="0" bIns="0" rtlCol="0" anchor="ctr"/>
          <a:lstStyle/>
          <a:p>
            <a:pPr algn="r" indent="0" marL="0">
              <a:buNone/>
            </a:pPr>
            <a:r>
              <a:rPr lang="en-US" sz="900" b="1" dirty="0">
                <a:solidFill>
                  <a:srgbClr val="0B1622"/>
                </a:solidFill>
                <a:latin typeface="Consolas" pitchFamily="34" charset="0"/>
                <a:ea typeface="Consolas" pitchFamily="34" charset="-122"/>
                <a:cs typeface="Consolas" pitchFamily="34" charset="-120"/>
              </a:rPr>
              <a:t>none</a:t>
            </a:r>
            <a:endParaRPr lang="en-US" sz="900" dirty="0"/>
          </a:p>
        </p:txBody>
      </p:sp>
      <p:sp>
        <p:nvSpPr>
          <p:cNvPr id="22" name="Shape 19"/>
          <p:cNvSpPr/>
          <p:nvPr/>
        </p:nvSpPr>
        <p:spPr>
          <a:xfrm>
            <a:off x="749808" y="3588004"/>
            <a:ext cx="3657600" cy="0"/>
          </a:xfrm>
          <a:prstGeom prst="line">
            <a:avLst/>
          </a:prstGeom>
          <a:noFill/>
          <a:ln w="9525">
            <a:solidFill>
              <a:srgbClr val="EFF2F5"/>
            </a:solidFill>
            <a:prstDash val="solid"/>
          </a:ln>
        </p:spPr>
      </p:sp>
      <p:sp>
        <p:nvSpPr>
          <p:cNvPr id="23" name="Text 20"/>
          <p:cNvSpPr/>
          <p:nvPr/>
        </p:nvSpPr>
        <p:spPr>
          <a:xfrm>
            <a:off x="749808" y="3734308"/>
            <a:ext cx="3657600" cy="45720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20" b="1" dirty="0">
                <a:solidFill>
                  <a:srgbClr val="0B1622"/>
                </a:solidFill>
                <a:latin typeface="Calibri" pitchFamily="34" charset="0"/>
                <a:ea typeface="Calibri" pitchFamily="34" charset="-122"/>
                <a:cs typeface="Calibri" pitchFamily="34" charset="-120"/>
              </a:rPr>
              <a:t>No procurement on the critical path.</a:t>
            </a:r>
            <a:pPr indent="0" marL="0">
              <a:lnSpc>
                <a:spcPct val="110000"/>
              </a:lnSpc>
              <a:buNone/>
            </a:pPr>
            <a:r>
              <a:rPr lang="en-US" sz="920" dirty="0">
                <a:solidFill>
                  <a:srgbClr val="46586B"/>
                </a:solidFill>
                <a:latin typeface="Calibri" pitchFamily="34" charset="0"/>
                <a:ea typeface="Calibri" pitchFamily="34" charset="-122"/>
                <a:cs typeface="Calibri" pitchFamily="34" charset="-120"/>
              </a:rPr>
              <a:t> That single line removes what is usually the largest schedule risk in an enterprise programme.</a:t>
            </a:r>
            <a:endParaRPr lang="en-US" sz="920" dirty="0"/>
          </a:p>
        </p:txBody>
      </p:sp>
      <p:sp>
        <p:nvSpPr>
          <p:cNvPr id="24" name="Text 21"/>
          <p:cNvSpPr/>
          <p:nvPr/>
        </p:nvSpPr>
        <p:spPr>
          <a:xfrm>
            <a:off x="749808" y="4228084"/>
            <a:ext cx="3657600" cy="45720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20" b="1" dirty="0">
                <a:solidFill>
                  <a:srgbClr val="0B1622"/>
                </a:solidFill>
                <a:latin typeface="Calibri" pitchFamily="34" charset="0"/>
                <a:ea typeface="Calibri" pitchFamily="34" charset="-122"/>
                <a:cs typeface="Calibri" pitchFamily="34" charset="-120"/>
              </a:rPr>
              <a:t>Nothing here is a platform purchase.</a:t>
            </a:r>
            <a:pPr indent="0" marL="0">
              <a:lnSpc>
                <a:spcPct val="110000"/>
              </a:lnSpc>
              <a:buNone/>
            </a:pPr>
            <a:r>
              <a:rPr lang="en-US" sz="920" dirty="0">
                <a:solidFill>
                  <a:srgbClr val="46586B"/>
                </a:solidFill>
                <a:latin typeface="Calibri" pitchFamily="34" charset="0"/>
                <a:ea typeface="Calibri" pitchFamily="34" charset="-122"/>
                <a:cs typeface="Calibri" pitchFamily="34" charset="-120"/>
              </a:rPr>
              <a:t> The fabric is built from what you already run, plus two components handed over as your code.</a:t>
            </a:r>
            <a:endParaRPr lang="en-US" sz="920" dirty="0"/>
          </a:p>
        </p:txBody>
      </p:sp>
      <p:sp>
        <p:nvSpPr>
          <p:cNvPr id="25" name="Text 22"/>
          <p:cNvSpPr/>
          <p:nvPr/>
        </p:nvSpPr>
        <p:spPr>
          <a:xfrm>
            <a:off x="4773168" y="1448308"/>
            <a:ext cx="5486400"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THE FABRIC NEEDS — AND WHO ALREADY HAS IT</a:t>
            </a:r>
            <a:endParaRPr lang="en-US" sz="7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773168" y="1667764"/>
          <a:ext cx="3334360" cy="914400"/>
        </p:xfrm>
        <a:graphic>
          <a:graphicData uri="http://schemas.openxmlformats.org/drawingml/2006/table">
            <a:tbl>
              <a:tblPr/>
              <a:tblGrid>
                <a:gridCol w="1533805"/>
                <a:gridCol w="933621"/>
                <a:gridCol w="866933"/>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COMPONENT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[CLIENT]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EFFORT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Compute &amp; orchestration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Identity provider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CI/CD pipelines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Observability backend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API gateway / mesh</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Service catalog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Secrets management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8290408" y="1667764"/>
          <a:ext cx="3334360" cy="914400"/>
        </p:xfrm>
        <a:graphic>
          <a:graphicData uri="http://schemas.openxmlformats.org/drawingml/2006/table">
            <a:tbl>
              <a:tblPr/>
              <a:tblGrid>
                <a:gridCol w="1533805"/>
                <a:gridCol w="933621"/>
                <a:gridCol w="866933"/>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COMPONENT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[CLIENT]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EFFORT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Messaging / event bus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Data platform &amp; catalog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Approval tooling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06300"/>
                          </a:solidFill>
                          <a:latin typeface="Calibri" pitchFamily="34" charset="0"/>
                          <a:ea typeface="Calibri" pitchFamily="34" charset="-122"/>
                          <a:cs typeface="Calibri" pitchFamily="34" charset="-120"/>
                        </a:rPr>
                        <a:t>REUSE</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Telemetry conventions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7A5510"/>
                          </a:solidFill>
                          <a:latin typeface="Calibri" pitchFamily="34" charset="0"/>
                          <a:ea typeface="Calibri" pitchFamily="34" charset="-122"/>
                          <a:cs typeface="Calibri" pitchFamily="34" charset="-120"/>
                        </a:rPr>
                        <a:t>EXTEND</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Policy &amp; risk tiers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7A5510"/>
                          </a:solidFill>
                          <a:latin typeface="Calibri" pitchFamily="34" charset="0"/>
                          <a:ea typeface="Calibri" pitchFamily="34" charset="-122"/>
                          <a:cs typeface="Calibri" pitchFamily="34" charset="-120"/>
                        </a:rPr>
                        <a:t>EXTEND</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Capability registry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B6F7D"/>
                          </a:solidFill>
                          <a:latin typeface="Calibri" pitchFamily="34" charset="0"/>
                          <a:ea typeface="Calibri" pitchFamily="34" charset="-122"/>
                          <a:cs typeface="Calibri" pitchFamily="34" charset="-120"/>
                        </a:rPr>
                        <a:t>NEW</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Capability grants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7E8C9B"/>
                          </a:solidFill>
                          <a:latin typeface="Consolas" pitchFamily="34" charset="0"/>
                          <a:ea typeface="Consolas" pitchFamily="34" charset="-122"/>
                          <a:cs typeface="Consolas" pitchFamily="34" charset="-120"/>
                        </a:rPr>
                        <a:t>—</a:t>
                      </a:r>
                      <a:endParaRPr lang="en-US" sz="88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B6F7D"/>
                          </a:solidFill>
                          <a:latin typeface="Calibri" pitchFamily="34" charset="0"/>
                          <a:ea typeface="Calibri" pitchFamily="34" charset="-122"/>
                          <a:cs typeface="Calibri" pitchFamily="34" charset="-120"/>
                        </a:rPr>
                        <a:t>NEW</a:t>
                      </a:r>
                      <a:endParaRPr lang="en-US" sz="8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r>
            </a:tbl>
          </a:graphicData>
        </a:graphic>
      </p:graphicFrame>
      <p:sp>
        <p:nvSpPr>
          <p:cNvPr id="28" name="Shape 23"/>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29" name="Text 24"/>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Ten reuse, two extend, two new.</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If that ratio is wrong for [CLIENT], the twelve-week plan changes — and we would rather find out in the next five minutes than in week six.</a:t>
            </a:r>
            <a:endParaRPr lang="en-US" sz="1050" dirty="0"/>
          </a:p>
        </p:txBody>
      </p:sp>
      <p:sp>
        <p:nvSpPr>
          <p:cNvPr id="30" name="Shape 25"/>
          <p:cNvSpPr/>
          <p:nvPr/>
        </p:nvSpPr>
        <p:spPr>
          <a:xfrm>
            <a:off x="566928" y="6382512"/>
            <a:ext cx="11057839" cy="0"/>
          </a:xfrm>
          <a:prstGeom prst="line">
            <a:avLst/>
          </a:prstGeom>
          <a:noFill/>
          <a:ln w="9525">
            <a:solidFill>
              <a:srgbClr val="E2E7EC"/>
            </a:solidFill>
            <a:prstDash val="solid"/>
          </a:ln>
        </p:spPr>
      </p:sp>
      <p:sp>
        <p:nvSpPr>
          <p:cNvPr id="31" name="Text 26"/>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2" name="Text 27"/>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MIDDLE COLUMN FILLED LIVE · CORRECTIONS WELCOME AND EXPECTED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THE PATTERN TO NOTICE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One event spine. Three payoffs from a single investment.</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Most enterprises fund observability and eventing separately, out of different budgets, and build the same spine twice. Unify it once and agents become possible almost as a side effect.</a:t>
            </a:r>
            <a:endParaRPr lang="en-US" sz="1250" dirty="0"/>
          </a:p>
        </p:txBody>
      </p:sp>
      <p:sp>
        <p:nvSpPr>
          <p:cNvPr id="7" name="Shape 4"/>
          <p:cNvSpPr/>
          <p:nvPr/>
        </p:nvSpPr>
        <p:spPr>
          <a:xfrm>
            <a:off x="566928" y="1701800"/>
            <a:ext cx="2651760" cy="3017520"/>
          </a:xfrm>
          <a:prstGeom prst="roundRect">
            <a:avLst>
              <a:gd name="adj" fmla="val 2759"/>
            </a:avLst>
          </a:prstGeom>
          <a:solidFill>
            <a:srgbClr val="0B6F7D"/>
          </a:solidFill>
          <a:ln w="12700">
            <a:solidFill>
              <a:srgbClr val="0B6F7D"/>
            </a:solidFill>
            <a:prstDash val="solid"/>
          </a:ln>
        </p:spPr>
      </p:sp>
      <p:sp>
        <p:nvSpPr>
          <p:cNvPr id="8" name="Text 5"/>
          <p:cNvSpPr/>
          <p:nvPr/>
        </p:nvSpPr>
        <p:spPr>
          <a:xfrm>
            <a:off x="749808" y="1866392"/>
            <a:ext cx="2286000" cy="182880"/>
          </a:xfrm>
          <a:prstGeom prst="rect">
            <a:avLst/>
          </a:prstGeom>
          <a:noFill/>
          <a:ln/>
        </p:spPr>
        <p:txBody>
          <a:bodyPr wrap="square" lIns="0" tIns="0" rIns="0" bIns="0" rtlCol="0" anchor="ctr"/>
          <a:lstStyle/>
          <a:p>
            <a:pPr indent="0" marL="0">
              <a:buNone/>
            </a:pPr>
            <a:r>
              <a:rPr lang="en-US" sz="800" b="1" spc="140" kern="0" dirty="0">
                <a:solidFill>
                  <a:srgbClr val="B6E7EE"/>
                </a:solidFill>
                <a:latin typeface="Consolas" pitchFamily="34" charset="0"/>
                <a:ea typeface="Consolas" pitchFamily="34" charset="-122"/>
                <a:cs typeface="Consolas" pitchFamily="34" charset="-120"/>
              </a:rPr>
              <a:t>THE SINGLE INVESTMENT</a:t>
            </a:r>
            <a:endParaRPr lang="en-US" sz="800" dirty="0"/>
          </a:p>
        </p:txBody>
      </p:sp>
      <p:sp>
        <p:nvSpPr>
          <p:cNvPr id="9" name="Text 6"/>
          <p:cNvSpPr/>
          <p:nvPr/>
        </p:nvSpPr>
        <p:spPr>
          <a:xfrm>
            <a:off x="749808" y="2104136"/>
            <a:ext cx="2286000" cy="4572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 unified event plane</a:t>
            </a:r>
            <a:endParaRPr lang="en-US" sz="1700" dirty="0"/>
          </a:p>
        </p:txBody>
      </p:sp>
      <p:sp>
        <p:nvSpPr>
          <p:cNvPr id="10" name="Text 7"/>
          <p:cNvSpPr/>
          <p:nvPr/>
        </p:nvSpPr>
        <p:spPr>
          <a:xfrm>
            <a:off x="749808" y="2616200"/>
            <a:ext cx="2286000" cy="731520"/>
          </a:xfrm>
          <a:prstGeom prst="rect">
            <a:avLst/>
          </a:prstGeom>
          <a:noFill/>
          <a:ln/>
        </p:spPr>
        <p:txBody>
          <a:bodyPr wrap="square" lIns="0" tIns="0" rIns="0" bIns="0" rtlCol="0" anchor="t"/>
          <a:lstStyle/>
          <a:p>
            <a:pPr indent="0" marL="0">
              <a:lnSpc>
                <a:spcPct val="112000"/>
              </a:lnSpc>
              <a:buNone/>
            </a:pPr>
            <a:r>
              <a:rPr lang="en-US" sz="950" dirty="0">
                <a:solidFill>
                  <a:srgbClr val="DDF1F4"/>
                </a:solidFill>
                <a:latin typeface="Calibri" pitchFamily="34" charset="0"/>
                <a:ea typeface="Calibri" pitchFamily="34" charset="-122"/>
                <a:cs typeface="Calibri" pitchFamily="34" charset="-120"/>
              </a:rPr>
              <a:t>One context propagated through every call. One bus. One schema for what happened, who asked, what was decided and what changed.</a:t>
            </a:r>
            <a:endParaRPr lang="en-US" sz="950" dirty="0"/>
          </a:p>
        </p:txBody>
      </p:sp>
      <p:sp>
        <p:nvSpPr>
          <p:cNvPr id="11" name="Text 8"/>
          <p:cNvSpPr/>
          <p:nvPr/>
        </p:nvSpPr>
        <p:spPr>
          <a:xfrm>
            <a:off x="749808" y="3420872"/>
            <a:ext cx="2286000" cy="731520"/>
          </a:xfrm>
          <a:prstGeom prst="rect">
            <a:avLst/>
          </a:prstGeom>
          <a:noFill/>
          <a:ln/>
        </p:spPr>
        <p:txBody>
          <a:bodyPr wrap="square" lIns="0" tIns="0" rIns="0" bIns="0" rtlCol="0" anchor="t"/>
          <a:lstStyle/>
          <a:p>
            <a:pPr indent="0" marL="0">
              <a:lnSpc>
                <a:spcPct val="112000"/>
              </a:lnSpc>
              <a:buNone/>
            </a:pPr>
            <a:r>
              <a:rPr lang="en-US" sz="950" dirty="0">
                <a:solidFill>
                  <a:srgbClr val="DDF1F4"/>
                </a:solidFill>
                <a:latin typeface="Calibri" pitchFamily="34" charset="0"/>
                <a:ea typeface="Calibri" pitchFamily="34" charset="-122"/>
                <a:cs typeface="Calibri" pitchFamily="34" charset="-120"/>
              </a:rPr>
              <a:t>Built on what you run. Your existing bus, your existing observability backend. We add conventions, not infrastructure.</a:t>
            </a:r>
            <a:endParaRPr lang="en-US" sz="950" dirty="0"/>
          </a:p>
        </p:txBody>
      </p:sp>
      <p:sp>
        <p:nvSpPr>
          <p:cNvPr id="12" name="Shape 9"/>
          <p:cNvSpPr/>
          <p:nvPr/>
        </p:nvSpPr>
        <p:spPr>
          <a:xfrm>
            <a:off x="3364992" y="1701800"/>
            <a:ext cx="2649626" cy="2286000"/>
          </a:xfrm>
          <a:prstGeom prst="roundRect">
            <a:avLst>
              <a:gd name="adj" fmla="val 3200"/>
            </a:avLst>
          </a:prstGeom>
          <a:solidFill>
            <a:srgbClr val="FFFFFF"/>
          </a:solidFill>
          <a:ln w="12700">
            <a:solidFill>
              <a:srgbClr val="E2E7EC"/>
            </a:solidFill>
            <a:prstDash val="solid"/>
          </a:ln>
        </p:spPr>
      </p:sp>
      <p:sp>
        <p:nvSpPr>
          <p:cNvPr id="13" name="Shape 10"/>
          <p:cNvSpPr/>
          <p:nvPr/>
        </p:nvSpPr>
        <p:spPr>
          <a:xfrm>
            <a:off x="3529584" y="1848104"/>
            <a:ext cx="960120" cy="182880"/>
          </a:xfrm>
          <a:prstGeom prst="roundRect">
            <a:avLst>
              <a:gd name="adj" fmla="val 50000"/>
            </a:avLst>
          </a:prstGeom>
          <a:solidFill>
            <a:srgbClr val="EFF2F5"/>
          </a:solidFill>
          <a:ln w="12700">
            <a:solidFill>
              <a:srgbClr val="EFF2F5"/>
            </a:solidFill>
            <a:prstDash val="solid"/>
          </a:ln>
        </p:spPr>
      </p:sp>
      <p:sp>
        <p:nvSpPr>
          <p:cNvPr id="14" name="Text 11"/>
          <p:cNvSpPr/>
          <p:nvPr/>
        </p:nvSpPr>
        <p:spPr>
          <a:xfrm>
            <a:off x="3529584" y="1848104"/>
            <a:ext cx="96012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PAYOFF 01</a:t>
            </a:r>
            <a:endParaRPr lang="en-US" sz="750" dirty="0"/>
          </a:p>
        </p:txBody>
      </p:sp>
      <p:sp>
        <p:nvSpPr>
          <p:cNvPr id="15" name="Text 12"/>
          <p:cNvSpPr/>
          <p:nvPr/>
        </p:nvSpPr>
        <p:spPr>
          <a:xfrm>
            <a:off x="3529584" y="2140712"/>
            <a:ext cx="2320442" cy="384048"/>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Extensible observability</a:t>
            </a:r>
            <a:endParaRPr lang="en-US" sz="1300" dirty="0"/>
          </a:p>
        </p:txBody>
      </p:sp>
      <p:sp>
        <p:nvSpPr>
          <p:cNvPr id="16" name="Text 13"/>
          <p:cNvSpPr/>
          <p:nvPr/>
        </p:nvSpPr>
        <p:spPr>
          <a:xfrm>
            <a:off x="3529584" y="2561336"/>
            <a:ext cx="2320442" cy="731520"/>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Every agent, service and decision on one correlated trace. New capabilities inherit instrumentation instead of adding a monitoring backlog item.</a:t>
            </a:r>
            <a:endParaRPr lang="en-US" sz="980" dirty="0"/>
          </a:p>
        </p:txBody>
      </p:sp>
      <p:sp>
        <p:nvSpPr>
          <p:cNvPr id="17" name="Text 14"/>
          <p:cNvSpPr/>
          <p:nvPr/>
        </p:nvSpPr>
        <p:spPr>
          <a:xfrm>
            <a:off x="3529584" y="3347720"/>
            <a:ext cx="2320442"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Who wins: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platform, SRE, and every team otherwise told to "add logging".</a:t>
            </a:r>
            <a:endParaRPr lang="en-US" sz="980" dirty="0"/>
          </a:p>
        </p:txBody>
      </p:sp>
      <p:sp>
        <p:nvSpPr>
          <p:cNvPr id="18" name="Shape 15"/>
          <p:cNvSpPr/>
          <p:nvPr/>
        </p:nvSpPr>
        <p:spPr>
          <a:xfrm>
            <a:off x="6160922" y="1701800"/>
            <a:ext cx="2649626" cy="2286000"/>
          </a:xfrm>
          <a:prstGeom prst="roundRect">
            <a:avLst>
              <a:gd name="adj" fmla="val 3200"/>
            </a:avLst>
          </a:prstGeom>
          <a:solidFill>
            <a:srgbClr val="E6F4F6"/>
          </a:solidFill>
          <a:ln w="12700">
            <a:solidFill>
              <a:srgbClr val="9CCED6"/>
            </a:solidFill>
            <a:prstDash val="solid"/>
          </a:ln>
        </p:spPr>
      </p:sp>
      <p:sp>
        <p:nvSpPr>
          <p:cNvPr id="19" name="Shape 16"/>
          <p:cNvSpPr/>
          <p:nvPr/>
        </p:nvSpPr>
        <p:spPr>
          <a:xfrm>
            <a:off x="6325514" y="1848104"/>
            <a:ext cx="960120" cy="182880"/>
          </a:xfrm>
          <a:prstGeom prst="roundRect">
            <a:avLst>
              <a:gd name="adj" fmla="val 50000"/>
            </a:avLst>
          </a:prstGeom>
          <a:solidFill>
            <a:srgbClr val="FFFFFF"/>
          </a:solidFill>
          <a:ln w="12700">
            <a:solidFill>
              <a:srgbClr val="FFFFFF"/>
            </a:solidFill>
            <a:prstDash val="solid"/>
          </a:ln>
        </p:spPr>
      </p:sp>
      <p:sp>
        <p:nvSpPr>
          <p:cNvPr id="20" name="Text 17"/>
          <p:cNvSpPr/>
          <p:nvPr/>
        </p:nvSpPr>
        <p:spPr>
          <a:xfrm>
            <a:off x="6325514" y="1848104"/>
            <a:ext cx="96012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PAYOFF 02</a:t>
            </a:r>
            <a:endParaRPr lang="en-US" sz="750" dirty="0"/>
          </a:p>
        </p:txBody>
      </p:sp>
      <p:sp>
        <p:nvSpPr>
          <p:cNvPr id="21" name="Text 18"/>
          <p:cNvSpPr/>
          <p:nvPr/>
        </p:nvSpPr>
        <p:spPr>
          <a:xfrm>
            <a:off x="6325514" y="2140712"/>
            <a:ext cx="2320442" cy="384048"/>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 triggers</a:t>
            </a:r>
            <a:endParaRPr lang="en-US" sz="1300" dirty="0"/>
          </a:p>
        </p:txBody>
      </p:sp>
      <p:sp>
        <p:nvSpPr>
          <p:cNvPr id="22" name="Text 19"/>
          <p:cNvSpPr/>
          <p:nvPr/>
        </p:nvSpPr>
        <p:spPr>
          <a:xfrm>
            <a:off x="6325514" y="2561336"/>
            <a:ext cx="2320442" cy="731520"/>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Work starts because something happened — a PR opened, a ticket raised, a threshold crossed — not because a human remembered to ask.</a:t>
            </a:r>
            <a:endParaRPr lang="en-US" sz="980" dirty="0"/>
          </a:p>
        </p:txBody>
      </p:sp>
      <p:sp>
        <p:nvSpPr>
          <p:cNvPr id="23" name="Text 20"/>
          <p:cNvSpPr/>
          <p:nvPr/>
        </p:nvSpPr>
        <p:spPr>
          <a:xfrm>
            <a:off x="6325514" y="3347720"/>
            <a:ext cx="2320442"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An agent that can only be called is a tool; one that can be triggered is a colleague.</a:t>
            </a:r>
            <a:pPr indent="0" marL="0">
              <a:lnSpc>
                <a:spcPct val="110000"/>
              </a:lnSpc>
              <a:buNone/>
            </a:pPr>
            <a:endParaRPr lang="en-US" sz="980" dirty="0"/>
          </a:p>
        </p:txBody>
      </p:sp>
      <p:sp>
        <p:nvSpPr>
          <p:cNvPr id="24" name="Shape 21"/>
          <p:cNvSpPr/>
          <p:nvPr/>
        </p:nvSpPr>
        <p:spPr>
          <a:xfrm>
            <a:off x="8956853" y="1701800"/>
            <a:ext cx="2649626" cy="2286000"/>
          </a:xfrm>
          <a:prstGeom prst="roundRect">
            <a:avLst>
              <a:gd name="adj" fmla="val 3200"/>
            </a:avLst>
          </a:prstGeom>
          <a:solidFill>
            <a:srgbClr val="FFFFFF"/>
          </a:solidFill>
          <a:ln w="12700">
            <a:solidFill>
              <a:srgbClr val="E2E7EC"/>
            </a:solidFill>
            <a:prstDash val="solid"/>
          </a:ln>
        </p:spPr>
      </p:sp>
      <p:sp>
        <p:nvSpPr>
          <p:cNvPr id="25" name="Shape 22"/>
          <p:cNvSpPr/>
          <p:nvPr/>
        </p:nvSpPr>
        <p:spPr>
          <a:xfrm>
            <a:off x="9121445" y="1848104"/>
            <a:ext cx="960120" cy="182880"/>
          </a:xfrm>
          <a:prstGeom prst="roundRect">
            <a:avLst>
              <a:gd name="adj" fmla="val 50000"/>
            </a:avLst>
          </a:prstGeom>
          <a:solidFill>
            <a:srgbClr val="EFF2F5"/>
          </a:solidFill>
          <a:ln w="12700">
            <a:solidFill>
              <a:srgbClr val="EFF2F5"/>
            </a:solidFill>
            <a:prstDash val="solid"/>
          </a:ln>
        </p:spPr>
      </p:sp>
      <p:sp>
        <p:nvSpPr>
          <p:cNvPr id="26" name="Text 23"/>
          <p:cNvSpPr/>
          <p:nvPr/>
        </p:nvSpPr>
        <p:spPr>
          <a:xfrm>
            <a:off x="9121445" y="1848104"/>
            <a:ext cx="96012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PAYOFF 03</a:t>
            </a:r>
            <a:endParaRPr lang="en-US" sz="750" dirty="0"/>
          </a:p>
        </p:txBody>
      </p:sp>
      <p:sp>
        <p:nvSpPr>
          <p:cNvPr id="27" name="Text 24"/>
          <p:cNvSpPr/>
          <p:nvPr/>
        </p:nvSpPr>
        <p:spPr>
          <a:xfrm>
            <a:off x="9121445" y="2140712"/>
            <a:ext cx="2320442" cy="384048"/>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Evidence as exhaust</a:t>
            </a:r>
            <a:endParaRPr lang="en-US" sz="1300" dirty="0"/>
          </a:p>
        </p:txBody>
      </p:sp>
      <p:sp>
        <p:nvSpPr>
          <p:cNvPr id="28" name="Text 25"/>
          <p:cNvSpPr/>
          <p:nvPr/>
        </p:nvSpPr>
        <p:spPr>
          <a:xfrm>
            <a:off x="9121445" y="2561336"/>
            <a:ext cx="2320442" cy="731520"/>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record auditors want is produced by the running system, continuously, rather than assembled by analysts before a review.</a:t>
            </a:r>
            <a:endParaRPr lang="en-US" sz="980" dirty="0"/>
          </a:p>
        </p:txBody>
      </p:sp>
      <p:sp>
        <p:nvSpPr>
          <p:cNvPr id="29" name="Text 26"/>
          <p:cNvSpPr/>
          <p:nvPr/>
        </p:nvSpPr>
        <p:spPr>
          <a:xfrm>
            <a:off x="9121445" y="3347720"/>
            <a:ext cx="2320442" cy="51206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Who wins: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governance, risk and audit.</a:t>
            </a:r>
            <a:endParaRPr lang="en-US" sz="980" dirty="0"/>
          </a:p>
        </p:txBody>
      </p:sp>
      <p:sp>
        <p:nvSpPr>
          <p:cNvPr id="30" name="Shape 27"/>
          <p:cNvSpPr/>
          <p:nvPr/>
        </p:nvSpPr>
        <p:spPr>
          <a:xfrm>
            <a:off x="3364992" y="4134104"/>
            <a:ext cx="8259775" cy="585216"/>
          </a:xfrm>
          <a:prstGeom prst="roundRect">
            <a:avLst>
              <a:gd name="adj" fmla="val 12500"/>
            </a:avLst>
          </a:prstGeom>
          <a:solidFill>
            <a:srgbClr val="FFFBF2"/>
          </a:solidFill>
          <a:ln w="12700">
            <a:solidFill>
              <a:srgbClr val="F2E3C4"/>
            </a:solidFill>
            <a:prstDash val="solid"/>
          </a:ln>
        </p:spPr>
      </p:sp>
      <p:sp>
        <p:nvSpPr>
          <p:cNvPr id="31" name="Text 28"/>
          <p:cNvSpPr/>
          <p:nvPr/>
        </p:nvSpPr>
        <p:spPr>
          <a:xfrm>
            <a:off x="3547872" y="4243832"/>
            <a:ext cx="7894015"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honest trade-off:</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one spine means one thing to get right. It needs schema discipline, back-pressure handling and an owner. We would rather you run one spine well than three badly — but it is a real commitment, and the platform team should hear that from us rather than discover it in month four.</a:t>
            </a:r>
            <a:endParaRPr lang="en-US" sz="980" dirty="0"/>
          </a:p>
        </p:txBody>
      </p:sp>
      <p:sp>
        <p:nvSpPr>
          <p:cNvPr id="32" name="Shape 29"/>
          <p:cNvSpPr/>
          <p:nvPr/>
        </p:nvSpPr>
        <p:spPr>
          <a:xfrm>
            <a:off x="566928" y="6382512"/>
            <a:ext cx="11057839" cy="0"/>
          </a:xfrm>
          <a:prstGeom prst="line">
            <a:avLst/>
          </a:prstGeom>
          <a:noFill/>
          <a:ln w="9525">
            <a:solidFill>
              <a:srgbClr val="E2E7EC"/>
            </a:solidFill>
            <a:prstDash val="solid"/>
          </a:ln>
        </p:spPr>
      </p:sp>
      <p:sp>
        <p:nvSpPr>
          <p:cNvPr id="33" name="Text 3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4" name="Text 3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THE PATTERN: FUND THE SUBSTRATE ONCE, COLLECT THE PAYOFFS MANY TIMES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WHAT MAKES YES POSSIBLE</a:t>
            </a:r>
            <a:endParaRPr lang="en-US" sz="1000" dirty="0"/>
          </a:p>
        </p:txBody>
      </p:sp>
      <p:sp>
        <p:nvSpPr>
          <p:cNvPr id="5" name="Text 2"/>
          <p:cNvSpPr/>
          <p:nvPr/>
        </p:nvSpPr>
        <p:spPr>
          <a:xfrm>
            <a:off x="1389888" y="621792"/>
            <a:ext cx="10234879" cy="809244"/>
          </a:xfrm>
          <a:prstGeom prst="rect">
            <a:avLst/>
          </a:prstGeom>
          <a:noFill/>
          <a:ln/>
        </p:spPr>
        <p:txBody>
          <a:bodyPr wrap="square" lIns="0" tIns="0" rIns="0" bIns="0" rtlCol="0" anchor="t"/>
          <a:lstStyle/>
          <a:p>
            <a:pPr indent="0" marL="0">
              <a:buNone/>
            </a:pPr>
            <a:r>
              <a:rPr lang="en-US" sz="2700" b="1" dirty="0">
                <a:solidFill>
                  <a:srgbClr val="0B1622"/>
                </a:solidFill>
                <a:latin typeface="Calibri" pitchFamily="34" charset="0"/>
                <a:ea typeface="Calibri" pitchFamily="34" charset="-122"/>
                <a:cs typeface="Calibri" pitchFamily="34" charset="-120"/>
              </a:rPr>
              <a:t>Capability sandboxing is why you can let agents act, not just read.</a:t>
            </a:r>
            <a:endParaRPr lang="en-US" sz="2700" dirty="0"/>
          </a:p>
        </p:txBody>
      </p:sp>
      <p:sp>
        <p:nvSpPr>
          <p:cNvPr id="6" name="Text 3"/>
          <p:cNvSpPr/>
          <p:nvPr/>
        </p:nvSpPr>
        <p:spPr>
          <a:xfrm>
            <a:off x="1389888" y="148590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Most enterprises keep agents read-only because the only way to let one act has been to hand it a credential — and a handed-over credential cannot be bounded afterwards. This removes that trade.</a:t>
            </a:r>
            <a:endParaRPr lang="en-US" sz="1250" dirty="0"/>
          </a:p>
        </p:txBody>
      </p:sp>
      <p:sp>
        <p:nvSpPr>
          <p:cNvPr id="7" name="Shape 4"/>
          <p:cNvSpPr/>
          <p:nvPr/>
        </p:nvSpPr>
        <p:spPr>
          <a:xfrm>
            <a:off x="566928" y="2037080"/>
            <a:ext cx="5455768" cy="2286000"/>
          </a:xfrm>
          <a:prstGeom prst="roundRect">
            <a:avLst>
              <a:gd name="adj" fmla="val 3200"/>
            </a:avLst>
          </a:prstGeom>
          <a:solidFill>
            <a:srgbClr val="FFFFFF"/>
          </a:solidFill>
          <a:ln w="12700">
            <a:solidFill>
              <a:srgbClr val="E2E7EC"/>
            </a:solidFill>
            <a:prstDash val="solid"/>
          </a:ln>
        </p:spPr>
      </p:sp>
      <p:sp>
        <p:nvSpPr>
          <p:cNvPr id="8" name="Shape 5"/>
          <p:cNvSpPr/>
          <p:nvPr/>
        </p:nvSpPr>
        <p:spPr>
          <a:xfrm>
            <a:off x="749808" y="2201672"/>
            <a:ext cx="1554480" cy="182880"/>
          </a:xfrm>
          <a:prstGeom prst="roundRect">
            <a:avLst>
              <a:gd name="adj" fmla="val 50000"/>
            </a:avLst>
          </a:prstGeom>
          <a:solidFill>
            <a:srgbClr val="FEF3DC"/>
          </a:solidFill>
          <a:ln w="12700">
            <a:solidFill>
              <a:srgbClr val="FEF3DC"/>
            </a:solidFill>
            <a:prstDash val="solid"/>
          </a:ln>
        </p:spPr>
      </p:sp>
      <p:sp>
        <p:nvSpPr>
          <p:cNvPr id="9" name="Text 6"/>
          <p:cNvSpPr/>
          <p:nvPr/>
        </p:nvSpPr>
        <p:spPr>
          <a:xfrm>
            <a:off x="749808" y="2201672"/>
            <a:ext cx="1554480" cy="182880"/>
          </a:xfrm>
          <a:prstGeom prst="rect">
            <a:avLst/>
          </a:prstGeom>
          <a:noFill/>
          <a:ln/>
        </p:spPr>
        <p:txBody>
          <a:bodyPr wrap="square" lIns="0" tIns="0" rIns="0" bIns="0" rtlCol="0" anchor="ctr"/>
          <a:lstStyle/>
          <a:p>
            <a:pPr algn="ctr" indent="0" marL="0">
              <a:buNone/>
            </a:pPr>
            <a:r>
              <a:rPr lang="en-US" sz="750" b="1" spc="100" kern="0" dirty="0">
                <a:solidFill>
                  <a:srgbClr val="7A5510"/>
                </a:solidFill>
                <a:latin typeface="Consolas" pitchFamily="34" charset="0"/>
                <a:ea typeface="Consolas" pitchFamily="34" charset="-122"/>
                <a:cs typeface="Consolas" pitchFamily="34" charset="-120"/>
              </a:rPr>
              <a:t>WITHOUT IT</a:t>
            </a:r>
            <a:endParaRPr lang="en-US" sz="750" dirty="0"/>
          </a:p>
        </p:txBody>
      </p:sp>
      <p:sp>
        <p:nvSpPr>
          <p:cNvPr id="10" name="Text 7"/>
          <p:cNvSpPr/>
          <p:nvPr/>
        </p:nvSpPr>
        <p:spPr>
          <a:xfrm>
            <a:off x="749808" y="2494280"/>
            <a:ext cx="5090008" cy="274320"/>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The agent holds a credential</a:t>
            </a:r>
            <a:endParaRPr lang="en-US" sz="1400" dirty="0"/>
          </a:p>
        </p:txBody>
      </p:sp>
      <p:sp>
        <p:nvSpPr>
          <p:cNvPr id="11" name="Text 8"/>
          <p:cNvSpPr/>
          <p:nvPr/>
        </p:nvSpPr>
        <p:spPr>
          <a:xfrm>
            <a:off x="749808" y="2814320"/>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It can reach anything that credential can reach — including things nobody thought about when it was issued.</a:t>
            </a:r>
            <a:endParaRPr lang="en-US" sz="1020" dirty="0"/>
          </a:p>
        </p:txBody>
      </p:sp>
      <p:sp>
        <p:nvSpPr>
          <p:cNvPr id="12" name="Text 9"/>
          <p:cNvSpPr/>
          <p:nvPr/>
        </p:nvSpPr>
        <p:spPr>
          <a:xfrm>
            <a:off x="749808" y="3148076"/>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Blast radius is whatever the credential allows, so the safe answer is always </a:t>
            </a: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read-only</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a:t>
            </a:r>
            <a:endParaRPr lang="en-US" sz="1020" dirty="0"/>
          </a:p>
        </p:txBody>
      </p:sp>
      <p:sp>
        <p:nvSpPr>
          <p:cNvPr id="13" name="Text 10"/>
          <p:cNvSpPr/>
          <p:nvPr/>
        </p:nvSpPr>
        <p:spPr>
          <a:xfrm>
            <a:off x="749808" y="3481832"/>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A prompt-injected or simply mistaken agent has the same reach as a correct one.</a:t>
            </a:r>
            <a:endParaRPr lang="en-US" sz="1020" dirty="0"/>
          </a:p>
        </p:txBody>
      </p:sp>
      <p:sp>
        <p:nvSpPr>
          <p:cNvPr id="14" name="Text 11"/>
          <p:cNvSpPr/>
          <p:nvPr/>
        </p:nvSpPr>
        <p:spPr>
          <a:xfrm>
            <a:off x="749808" y="3815588"/>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Net effect:</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the organisation says no, and calls it governance.</a:t>
            </a:r>
            <a:endParaRPr lang="en-US" sz="1020" dirty="0"/>
          </a:p>
        </p:txBody>
      </p:sp>
      <p:sp>
        <p:nvSpPr>
          <p:cNvPr id="15" name="Shape 12"/>
          <p:cNvSpPr/>
          <p:nvPr/>
        </p:nvSpPr>
        <p:spPr>
          <a:xfrm>
            <a:off x="6169000" y="2037080"/>
            <a:ext cx="5455768" cy="2286000"/>
          </a:xfrm>
          <a:prstGeom prst="roundRect">
            <a:avLst>
              <a:gd name="adj" fmla="val 3200"/>
            </a:avLst>
          </a:prstGeom>
          <a:solidFill>
            <a:srgbClr val="E6F4F6"/>
          </a:solidFill>
          <a:ln w="12700">
            <a:solidFill>
              <a:srgbClr val="9CCED6"/>
            </a:solidFill>
            <a:prstDash val="solid"/>
          </a:ln>
        </p:spPr>
      </p:sp>
      <p:sp>
        <p:nvSpPr>
          <p:cNvPr id="16" name="Shape 13"/>
          <p:cNvSpPr/>
          <p:nvPr/>
        </p:nvSpPr>
        <p:spPr>
          <a:xfrm>
            <a:off x="6351880" y="2201672"/>
            <a:ext cx="1554480" cy="182880"/>
          </a:xfrm>
          <a:prstGeom prst="roundRect">
            <a:avLst>
              <a:gd name="adj" fmla="val 50000"/>
            </a:avLst>
          </a:prstGeom>
          <a:solidFill>
            <a:srgbClr val="FFFFFF"/>
          </a:solidFill>
          <a:ln w="12700">
            <a:solidFill>
              <a:srgbClr val="FFFFFF"/>
            </a:solidFill>
            <a:prstDash val="solid"/>
          </a:ln>
        </p:spPr>
      </p:sp>
      <p:sp>
        <p:nvSpPr>
          <p:cNvPr id="17" name="Text 14"/>
          <p:cNvSpPr/>
          <p:nvPr/>
        </p:nvSpPr>
        <p:spPr>
          <a:xfrm>
            <a:off x="6351880" y="220167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WITH WASI CAPABILITY SANDBOXING</a:t>
            </a:r>
            <a:endParaRPr lang="en-US" sz="750" dirty="0"/>
          </a:p>
        </p:txBody>
      </p:sp>
      <p:sp>
        <p:nvSpPr>
          <p:cNvPr id="18" name="Text 15"/>
          <p:cNvSpPr/>
          <p:nvPr/>
        </p:nvSpPr>
        <p:spPr>
          <a:xfrm>
            <a:off x="6351880" y="2494280"/>
            <a:ext cx="5090008" cy="274320"/>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The agent holds only declared doors</a:t>
            </a:r>
            <a:endParaRPr lang="en-US" sz="1400" dirty="0"/>
          </a:p>
        </p:txBody>
      </p:sp>
      <p:sp>
        <p:nvSpPr>
          <p:cNvPr id="19" name="Text 16"/>
          <p:cNvSpPr/>
          <p:nvPr/>
        </p:nvSpPr>
        <p:spPr>
          <a:xfrm>
            <a:off x="6351880" y="2814320"/>
            <a:ext cx="5090008" cy="420624"/>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It runs inside a sandbox where </a:t>
            </a: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only the capabilities it declared exist at all</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 no ambient filesystem, network or credential.</a:t>
            </a:r>
            <a:endParaRPr lang="en-US" sz="1020" dirty="0"/>
          </a:p>
        </p:txBody>
      </p:sp>
      <p:sp>
        <p:nvSpPr>
          <p:cNvPr id="20" name="Text 17"/>
          <p:cNvSpPr/>
          <p:nvPr/>
        </p:nvSpPr>
        <p:spPr>
          <a:xfrm>
            <a:off x="6351880" y="3289808"/>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Blast radius is the declaration, which is readable, reviewable and diffable in a pull request.</a:t>
            </a:r>
            <a:endParaRPr lang="en-US" sz="1020" dirty="0"/>
          </a:p>
        </p:txBody>
      </p:sp>
      <p:sp>
        <p:nvSpPr>
          <p:cNvPr id="21" name="Text 18"/>
          <p:cNvSpPr/>
          <p:nvPr/>
        </p:nvSpPr>
        <p:spPr>
          <a:xfrm>
            <a:off x="6351880" y="3623564"/>
            <a:ext cx="5090008" cy="278892"/>
          </a:xfrm>
          <a:prstGeom prst="rect">
            <a:avLst/>
          </a:prstGeom>
          <a:noFill/>
          <a:ln/>
        </p:spPr>
        <p:txBody>
          <a:bodyPr wrap="square" lIns="0" tIns="0" rIns="0" bIns="0" rtlCol="0" anchor="t"/>
          <a:lstStyle/>
          <a:p>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New actions are a </a:t>
            </a: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change to a manifest</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reviewed like code — not a new security engagement.</a:t>
            </a:r>
            <a:endParaRPr lang="en-US" sz="1020" dirty="0"/>
          </a:p>
        </p:txBody>
      </p:sp>
      <p:sp>
        <p:nvSpPr>
          <p:cNvPr id="22" name="Text 19"/>
          <p:cNvSpPr/>
          <p:nvPr/>
        </p:nvSpPr>
        <p:spPr>
          <a:xfrm>
            <a:off x="6351880" y="3957320"/>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20" b="1" dirty="0">
                <a:solidFill>
                  <a:srgbClr val="0B1622"/>
                </a:solidFill>
                <a:latin typeface="Calibri" pitchFamily="34" charset="0"/>
                <a:ea typeface="Calibri" pitchFamily="34" charset="-122"/>
                <a:cs typeface="Calibri" pitchFamily="34" charset="-120"/>
              </a:rPr>
              <a:t>Net effect:</a:t>
            </a:r>
            <a:pPr indent="0" marL="0">
              <a:lnSpc>
                <a:spcPct val="110000"/>
              </a:lnSpc>
              <a:buNone/>
            </a:pPr>
            <a:r>
              <a:rPr lang="en-US" sz="1020" dirty="0">
                <a:solidFill>
                  <a:srgbClr val="46586B"/>
                </a:solidFill>
                <a:latin typeface="Calibri" pitchFamily="34" charset="0"/>
                <a:ea typeface="Calibri" pitchFamily="34" charset="-122"/>
                <a:cs typeface="Calibri" pitchFamily="34" charset="-120"/>
              </a:rPr>
              <a:t> the organisation can say yes to writes, with a bounded answer to "what could this possibly do?"</a:t>
            </a:r>
            <a:endParaRPr lang="en-US" sz="1020" dirty="0"/>
          </a:p>
        </p:txBody>
      </p:sp>
      <p:sp>
        <p:nvSpPr>
          <p:cNvPr id="23" name="Shape 20"/>
          <p:cNvSpPr/>
          <p:nvPr/>
        </p:nvSpPr>
        <p:spPr>
          <a:xfrm>
            <a:off x="566928" y="4882896"/>
            <a:ext cx="5437480" cy="676656"/>
          </a:xfrm>
          <a:prstGeom prst="roundRect">
            <a:avLst>
              <a:gd name="adj" fmla="val 10811"/>
            </a:avLst>
          </a:prstGeom>
          <a:solidFill>
            <a:srgbClr val="FFFBF2"/>
          </a:solidFill>
          <a:ln w="12700">
            <a:solidFill>
              <a:srgbClr val="F2E3C4"/>
            </a:solidFill>
            <a:prstDash val="solid"/>
          </a:ln>
        </p:spPr>
      </p:sp>
      <p:sp>
        <p:nvSpPr>
          <p:cNvPr id="24" name="Text 21"/>
          <p:cNvSpPr/>
          <p:nvPr/>
        </p:nvSpPr>
        <p:spPr>
          <a:xfrm>
            <a:off x="749808" y="4992624"/>
            <a:ext cx="5071720" cy="49377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honest trade-off:</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the WASI toolchain is younger than containers, and not every workload compiles cleanly to it. We use it where the boundary earns its keep — agent tool execution — and ordinary containers everywhere else. A pattern, not a migration.</a:t>
            </a:r>
            <a:endParaRPr lang="en-US" sz="980" dirty="0"/>
          </a:p>
        </p:txBody>
      </p:sp>
      <p:sp>
        <p:nvSpPr>
          <p:cNvPr id="25" name="Shape 22"/>
          <p:cNvSpPr/>
          <p:nvPr/>
        </p:nvSpPr>
        <p:spPr>
          <a:xfrm>
            <a:off x="6187288" y="4882896"/>
            <a:ext cx="5437480" cy="676656"/>
          </a:xfrm>
          <a:prstGeom prst="roundRect">
            <a:avLst>
              <a:gd name="adj" fmla="val 10811"/>
            </a:avLst>
          </a:prstGeom>
          <a:solidFill>
            <a:srgbClr val="E6F4F6"/>
          </a:solidFill>
          <a:ln w="12700">
            <a:solidFill>
              <a:srgbClr val="9CCED6"/>
            </a:solidFill>
            <a:prstDash val="solid"/>
          </a:ln>
        </p:spPr>
      </p:sp>
      <p:sp>
        <p:nvSpPr>
          <p:cNvPr id="26" name="Text 23"/>
          <p:cNvSpPr/>
          <p:nvPr/>
        </p:nvSpPr>
        <p:spPr>
          <a:xfrm>
            <a:off x="6370168" y="4992624"/>
            <a:ext cx="5071720" cy="49377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What this unlocks commercially:</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tier-1 and tier-2 write actions ship on the paved road with a manifest review, instead of queueing for a bespoke security assessment. That queue is usually the largest source of delay between a working agent and a useful one.</a:t>
            </a:r>
            <a:endParaRPr lang="en-US" sz="980" dirty="0"/>
          </a:p>
        </p:txBody>
      </p:sp>
      <p:sp>
        <p:nvSpPr>
          <p:cNvPr id="27" name="Shape 24"/>
          <p:cNvSpPr/>
          <p:nvPr/>
        </p:nvSpPr>
        <p:spPr>
          <a:xfrm>
            <a:off x="566928" y="6382512"/>
            <a:ext cx="11057839" cy="0"/>
          </a:xfrm>
          <a:prstGeom prst="line">
            <a:avLst/>
          </a:prstGeom>
          <a:noFill/>
          <a:ln w="9525">
            <a:solidFill>
              <a:srgbClr val="E2E7EC"/>
            </a:solidFill>
            <a:prstDash val="solid"/>
          </a:ln>
        </p:spPr>
      </p:sp>
      <p:sp>
        <p:nvSpPr>
          <p:cNvPr id="28" name="Text 2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9" name="Text 2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MECHANISM AND RISK TIERS IN APPENDIX A5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SHARED MEANING</a:t>
            </a:r>
            <a:endParaRPr lang="en-US" sz="1000" dirty="0"/>
          </a:p>
        </p:txBody>
      </p:sp>
      <p:sp>
        <p:nvSpPr>
          <p:cNvPr id="5" name="Text 2"/>
          <p:cNvSpPr/>
          <p:nvPr/>
        </p:nvSpPr>
        <p:spPr>
          <a:xfrm>
            <a:off x="1389888" y="621792"/>
            <a:ext cx="10234879" cy="753364"/>
          </a:xfrm>
          <a:prstGeom prst="rect">
            <a:avLst/>
          </a:prstGeom>
          <a:noFill/>
          <a:ln/>
        </p:spPr>
        <p:txBody>
          <a:bodyPr wrap="square" lIns="0" tIns="0" rIns="0" bIns="0" rtlCol="0" anchor="t"/>
          <a:lstStyle/>
          <a:p>
            <a:pPr indent="0" marL="0">
              <a:buNone/>
            </a:pPr>
            <a:r>
              <a:rPr lang="en-US" sz="2500" b="1" dirty="0">
                <a:solidFill>
                  <a:srgbClr val="0B1622"/>
                </a:solidFill>
                <a:latin typeface="Calibri" pitchFamily="34" charset="0"/>
                <a:ea typeface="Calibri" pitchFamily="34" charset="-122"/>
                <a:cs typeface="Calibri" pitchFamily="34" charset="-120"/>
              </a:rPr>
              <a:t>Shared vocabulary turns compliance and integration from projects into properties.</a:t>
            </a:r>
            <a:endParaRPr lang="en-US" sz="2500" dirty="0"/>
          </a:p>
        </p:txBody>
      </p:sp>
      <p:sp>
        <p:nvSpPr>
          <p:cNvPr id="6" name="Text 3"/>
          <p:cNvSpPr/>
          <p:nvPr/>
        </p:nvSpPr>
        <p:spPr>
          <a:xfrm>
            <a:off x="1389888" y="14300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Two of the most expensive recurring costs in a large enterprise have the same root cause: nothing agrees on what things are called. The operating model fixes that incrementally, as a by-product of registering capabilities.</a:t>
            </a:r>
            <a:endParaRPr lang="en-US" sz="1250" dirty="0"/>
          </a:p>
        </p:txBody>
      </p:sp>
      <p:sp>
        <p:nvSpPr>
          <p:cNvPr id="7" name="Shape 4"/>
          <p:cNvSpPr/>
          <p:nvPr/>
        </p:nvSpPr>
        <p:spPr>
          <a:xfrm>
            <a:off x="566928" y="1981200"/>
            <a:ext cx="5455768" cy="2468880"/>
          </a:xfrm>
          <a:prstGeom prst="roundRect">
            <a:avLst>
              <a:gd name="adj" fmla="val 2963"/>
            </a:avLst>
          </a:prstGeom>
          <a:solidFill>
            <a:srgbClr val="E6F4F6"/>
          </a:solidFill>
          <a:ln w="12700">
            <a:solidFill>
              <a:srgbClr val="9CCED6"/>
            </a:solidFill>
            <a:prstDash val="solid"/>
          </a:ln>
        </p:spPr>
      </p:sp>
      <p:sp>
        <p:nvSpPr>
          <p:cNvPr id="8" name="Shape 5"/>
          <p:cNvSpPr/>
          <p:nvPr/>
        </p:nvSpPr>
        <p:spPr>
          <a:xfrm>
            <a:off x="749808" y="2145792"/>
            <a:ext cx="15544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214579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PAYOFF 01</a:t>
            </a:r>
            <a:endParaRPr lang="en-US" sz="750" dirty="0"/>
          </a:p>
        </p:txBody>
      </p:sp>
      <p:sp>
        <p:nvSpPr>
          <p:cNvPr id="10" name="Text 7"/>
          <p:cNvSpPr/>
          <p:nvPr/>
        </p:nvSpPr>
        <p:spPr>
          <a:xfrm>
            <a:off x="749808" y="2438400"/>
            <a:ext cx="5090008" cy="292608"/>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Agile compliance</a:t>
            </a:r>
            <a:endParaRPr lang="en-US" sz="1400" dirty="0"/>
          </a:p>
        </p:txBody>
      </p:sp>
      <p:sp>
        <p:nvSpPr>
          <p:cNvPr id="11" name="Text 8"/>
          <p:cNvSpPr/>
          <p:nvPr/>
        </p:nvSpPr>
        <p:spPr>
          <a:xfrm>
            <a:off x="749808" y="2776728"/>
            <a:ext cx="5090008" cy="42062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When a capability declares what it does, to which entities, under which classification — and the event plane records every use — a control question becomes a </a:t>
            </a: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query</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rather than a project.</a:t>
            </a:r>
            <a:endParaRPr lang="en-US" sz="980" dirty="0"/>
          </a:p>
        </p:txBody>
      </p:sp>
      <p:sp>
        <p:nvSpPr>
          <p:cNvPr id="12" name="Text 9"/>
          <p:cNvSpPr/>
          <p:nvPr/>
        </p:nvSpPr>
        <p:spPr>
          <a:xfrm>
            <a:off x="749808" y="3252216"/>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Controls evidenced continuously, not reconstructed quarterly</a:t>
            </a:r>
            <a:endParaRPr lang="en-US" sz="980" dirty="0"/>
          </a:p>
        </p:txBody>
      </p:sp>
      <p:sp>
        <p:nvSpPr>
          <p:cNvPr id="13" name="Text 10"/>
          <p:cNvSpPr/>
          <p:nvPr/>
        </p:nvSpPr>
        <p:spPr>
          <a:xfrm>
            <a:off x="749808" y="3585972"/>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New regulation maps to existing declarations, not a discovery exercise</a:t>
            </a:r>
            <a:endParaRPr lang="en-US" sz="980" dirty="0"/>
          </a:p>
        </p:txBody>
      </p:sp>
      <p:sp>
        <p:nvSpPr>
          <p:cNvPr id="14" name="Text 11"/>
          <p:cNvSpPr/>
          <p:nvPr/>
        </p:nvSpPr>
        <p:spPr>
          <a:xfrm>
            <a:off x="749808" y="3919728"/>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Risk reviews shift from interviewing teams to reading the record</a:t>
            </a:r>
            <a:endParaRPr lang="en-US" sz="980" dirty="0"/>
          </a:p>
        </p:txBody>
      </p:sp>
      <p:sp>
        <p:nvSpPr>
          <p:cNvPr id="15" name="Text 12"/>
          <p:cNvSpPr/>
          <p:nvPr/>
        </p:nvSpPr>
        <p:spPr>
          <a:xfrm>
            <a:off x="749808" y="4253484"/>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Measured as: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analyst-days per control cycle.</a:t>
            </a:r>
            <a:endParaRPr lang="en-US" sz="980" dirty="0"/>
          </a:p>
        </p:txBody>
      </p:sp>
      <p:sp>
        <p:nvSpPr>
          <p:cNvPr id="16" name="Shape 13"/>
          <p:cNvSpPr/>
          <p:nvPr/>
        </p:nvSpPr>
        <p:spPr>
          <a:xfrm>
            <a:off x="6169000" y="1981200"/>
            <a:ext cx="5455768" cy="2468880"/>
          </a:xfrm>
          <a:prstGeom prst="roundRect">
            <a:avLst>
              <a:gd name="adj" fmla="val 2963"/>
            </a:avLst>
          </a:prstGeom>
          <a:solidFill>
            <a:srgbClr val="E6F4F6"/>
          </a:solidFill>
          <a:ln w="12700">
            <a:solidFill>
              <a:srgbClr val="9CCED6"/>
            </a:solidFill>
            <a:prstDash val="solid"/>
          </a:ln>
        </p:spPr>
      </p:sp>
      <p:sp>
        <p:nvSpPr>
          <p:cNvPr id="17" name="Shape 14"/>
          <p:cNvSpPr/>
          <p:nvPr/>
        </p:nvSpPr>
        <p:spPr>
          <a:xfrm>
            <a:off x="6351880" y="2145792"/>
            <a:ext cx="1554480" cy="182880"/>
          </a:xfrm>
          <a:prstGeom prst="roundRect">
            <a:avLst>
              <a:gd name="adj" fmla="val 50000"/>
            </a:avLst>
          </a:prstGeom>
          <a:solidFill>
            <a:srgbClr val="FFFFFF"/>
          </a:solidFill>
          <a:ln w="12700">
            <a:solidFill>
              <a:srgbClr val="FFFFFF"/>
            </a:solidFill>
            <a:prstDash val="solid"/>
          </a:ln>
        </p:spPr>
      </p:sp>
      <p:sp>
        <p:nvSpPr>
          <p:cNvPr id="18" name="Text 15"/>
          <p:cNvSpPr/>
          <p:nvPr/>
        </p:nvSpPr>
        <p:spPr>
          <a:xfrm>
            <a:off x="6351880" y="214579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PAYOFF 02</a:t>
            </a:r>
            <a:endParaRPr lang="en-US" sz="750" dirty="0"/>
          </a:p>
        </p:txBody>
      </p:sp>
      <p:sp>
        <p:nvSpPr>
          <p:cNvPr id="19" name="Text 16"/>
          <p:cNvSpPr/>
          <p:nvPr/>
        </p:nvSpPr>
        <p:spPr>
          <a:xfrm>
            <a:off x="6351880" y="2438400"/>
            <a:ext cx="5090008" cy="292608"/>
          </a:xfrm>
          <a:prstGeom prst="rect">
            <a:avLst/>
          </a:prstGeom>
          <a:noFill/>
          <a:ln/>
        </p:spPr>
        <p:txBody>
          <a:bodyPr wrap="square" lIns="0" tIns="0" rIns="0" bIns="0" rtlCol="0" anchor="t"/>
          <a:lstStyle/>
          <a:p>
            <a:pPr indent="0" marL="0">
              <a:buNone/>
            </a:pPr>
            <a:r>
              <a:rPr lang="en-US" sz="1400" b="1" dirty="0">
                <a:solidFill>
                  <a:srgbClr val="0B1622"/>
                </a:solidFill>
                <a:latin typeface="Calibri" pitchFamily="34" charset="0"/>
                <a:ea typeface="Calibri" pitchFamily="34" charset="-122"/>
                <a:cs typeface="Calibri" pitchFamily="34" charset="-120"/>
              </a:rPr>
              <a:t>Cross-functional integration</a:t>
            </a:r>
            <a:endParaRPr lang="en-US" sz="1400" dirty="0"/>
          </a:p>
        </p:txBody>
      </p:sp>
      <p:sp>
        <p:nvSpPr>
          <p:cNvPr id="20" name="Text 17"/>
          <p:cNvSpPr/>
          <p:nvPr/>
        </p:nvSpPr>
        <p:spPr>
          <a:xfrm>
            <a:off x="6351880" y="2776728"/>
            <a:ext cx="5090008" cy="42062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When capabilities are described in business terms rather than endpoints, teams compose them without meeting first. The vocabulary becomes the integration layer.</a:t>
            </a:r>
            <a:endParaRPr lang="en-US" sz="980" dirty="0"/>
          </a:p>
        </p:txBody>
      </p:sp>
      <p:sp>
        <p:nvSpPr>
          <p:cNvPr id="21" name="Text 18"/>
          <p:cNvSpPr/>
          <p:nvPr/>
        </p:nvSpPr>
        <p:spPr>
          <a:xfrm>
            <a:off x="6351880" y="3252216"/>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An agent asks for a capability, not a system — ownership can change underneath</a:t>
            </a:r>
            <a:endParaRPr lang="en-US" sz="980" dirty="0"/>
          </a:p>
        </p:txBody>
      </p:sp>
      <p:sp>
        <p:nvSpPr>
          <p:cNvPr id="22" name="Text 19"/>
          <p:cNvSpPr/>
          <p:nvPr/>
        </p:nvSpPr>
        <p:spPr>
          <a:xfrm>
            <a:off x="6351880" y="3585972"/>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Point-to-point integrations stop multiplying with every new consumer</a:t>
            </a:r>
            <a:endParaRPr lang="en-US" sz="980" dirty="0"/>
          </a:p>
        </p:txBody>
      </p:sp>
      <p:sp>
        <p:nvSpPr>
          <p:cNvPr id="23" name="Text 20"/>
          <p:cNvSpPr/>
          <p:nvPr/>
        </p:nvSpPr>
        <p:spPr>
          <a:xfrm>
            <a:off x="6351880" y="3919728"/>
            <a:ext cx="5090008" cy="278892"/>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Teams discover existing capability instead of rebuilding it in a silo</a:t>
            </a:r>
            <a:endParaRPr lang="en-US" sz="980" dirty="0"/>
          </a:p>
        </p:txBody>
      </p:sp>
      <p:sp>
        <p:nvSpPr>
          <p:cNvPr id="24" name="Text 21"/>
          <p:cNvSpPr/>
          <p:nvPr/>
        </p:nvSpPr>
        <p:spPr>
          <a:xfrm>
            <a:off x="6351880" y="4253484"/>
            <a:ext cx="5090008"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Measured as: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integrations avoided, and reuse rate.</a:t>
            </a:r>
            <a:endParaRPr lang="en-US" sz="980" dirty="0"/>
          </a:p>
        </p:txBody>
      </p:sp>
      <p:sp>
        <p:nvSpPr>
          <p:cNvPr id="25" name="Shape 22"/>
          <p:cNvSpPr/>
          <p:nvPr/>
        </p:nvSpPr>
        <p:spPr>
          <a:xfrm>
            <a:off x="566928" y="4791456"/>
            <a:ext cx="11057839" cy="768096"/>
          </a:xfrm>
          <a:prstGeom prst="roundRect">
            <a:avLst>
              <a:gd name="adj" fmla="val 9524"/>
            </a:avLst>
          </a:prstGeom>
          <a:solidFill>
            <a:srgbClr val="F3F1FB"/>
          </a:solidFill>
          <a:ln w="12700">
            <a:solidFill>
              <a:srgbClr val="C9C1EA"/>
            </a:solidFill>
            <a:prstDash val="dash"/>
          </a:ln>
        </p:spPr>
      </p:sp>
      <p:sp>
        <p:nvSpPr>
          <p:cNvPr id="26" name="Text 23"/>
          <p:cNvSpPr/>
          <p:nvPr/>
        </p:nvSpPr>
        <p:spPr>
          <a:xfrm>
            <a:off x="749808" y="4919472"/>
            <a:ext cx="10692079" cy="54864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Sequencing, stated plainly, because this is where these programmes die:</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we are not starting an ontology programme. In the twelve weeks we do provenance and grounded retrieval only — every answer carries its source, timestamp and owner. Vocabulary grows one domain at a time, where it earns its keep, and every capability registered contributes to it at no extra cost. If [CLIENT] has an ontology or data-mesh programme in flight, this feeds it rather than competing with it.</a:t>
            </a:r>
            <a:endParaRPr lang="en-US" sz="980" dirty="0"/>
          </a:p>
        </p:txBody>
      </p:sp>
      <p:sp>
        <p:nvSpPr>
          <p:cNvPr id="27" name="Shape 24"/>
          <p:cNvSpPr/>
          <p:nvPr/>
        </p:nvSpPr>
        <p:spPr>
          <a:xfrm>
            <a:off x="566928" y="6382512"/>
            <a:ext cx="11057839" cy="0"/>
          </a:xfrm>
          <a:prstGeom prst="line">
            <a:avLst/>
          </a:prstGeom>
          <a:noFill/>
          <a:ln w="9525">
            <a:solidFill>
              <a:srgbClr val="E2E7EC"/>
            </a:solidFill>
            <a:prstDash val="solid"/>
          </a:ln>
        </p:spPr>
      </p:sp>
      <p:sp>
        <p:nvSpPr>
          <p:cNvPr id="28" name="Text 2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9" name="Text 2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MATURITY PATH FOR THIS SEGMENT ON SLIDE 18 · STAGES, NOT A BIG BANG</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FABRIC · THE DEFAULT FIRST WORKLOAD</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The first agents build your software. That is deliberate.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Agentic CI/CD and agentic code review are the POC default — internal, reversible, measurable in three weeks, and they exercise every plane of the fabric under genuine load.</a:t>
            </a:r>
            <a:endParaRPr lang="en-US" sz="1250" dirty="0"/>
          </a:p>
        </p:txBody>
      </p:sp>
      <p:sp>
        <p:nvSpPr>
          <p:cNvPr id="7" name="Shape 4"/>
          <p:cNvSpPr/>
          <p:nvPr/>
        </p:nvSpPr>
        <p:spPr>
          <a:xfrm>
            <a:off x="566928" y="1701800"/>
            <a:ext cx="1766773" cy="1371600"/>
          </a:xfrm>
          <a:prstGeom prst="roundRect">
            <a:avLst>
              <a:gd name="adj" fmla="val 5333"/>
            </a:avLst>
          </a:prstGeom>
          <a:solidFill>
            <a:srgbClr val="FFFFFF"/>
          </a:solidFill>
          <a:ln w="12700">
            <a:solidFill>
              <a:srgbClr val="E2E7EC"/>
            </a:solidFill>
            <a:prstDash val="solid"/>
          </a:ln>
        </p:spPr>
      </p:sp>
      <p:sp>
        <p:nvSpPr>
          <p:cNvPr id="8" name="Shape 5"/>
          <p:cNvSpPr/>
          <p:nvPr/>
        </p:nvSpPr>
        <p:spPr>
          <a:xfrm>
            <a:off x="694944" y="1811528"/>
            <a:ext cx="219456" cy="219456"/>
          </a:xfrm>
          <a:prstGeom prst="ellipse">
            <a:avLst/>
          </a:prstGeom>
          <a:solidFill>
            <a:srgbClr val="08172A"/>
          </a:solidFill>
          <a:ln w="12700">
            <a:solidFill>
              <a:srgbClr val="08172A"/>
            </a:solidFill>
            <a:prstDash val="solid"/>
          </a:ln>
        </p:spPr>
      </p:sp>
      <p:sp>
        <p:nvSpPr>
          <p:cNvPr id="9" name="Text 6"/>
          <p:cNvSpPr/>
          <p:nvPr/>
        </p:nvSpPr>
        <p:spPr>
          <a:xfrm>
            <a:off x="694944"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0" name="Text 7"/>
          <p:cNvSpPr/>
          <p:nvPr/>
        </p:nvSpPr>
        <p:spPr>
          <a:xfrm>
            <a:off x="694944"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Trigger</a:t>
            </a:r>
            <a:endParaRPr lang="en-US" sz="1050" dirty="0"/>
          </a:p>
        </p:txBody>
      </p:sp>
      <p:sp>
        <p:nvSpPr>
          <p:cNvPr id="11" name="Text 8"/>
          <p:cNvSpPr/>
          <p:nvPr/>
        </p:nvSpPr>
        <p:spPr>
          <a:xfrm>
            <a:off x="694944"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A pull request opens. The event plane starts the work — nobody has to remember to ask.</a:t>
            </a:r>
            <a:endParaRPr lang="en-US" sz="820" dirty="0"/>
          </a:p>
        </p:txBody>
      </p:sp>
      <p:sp>
        <p:nvSpPr>
          <p:cNvPr id="12" name="Shape 9"/>
          <p:cNvSpPr/>
          <p:nvPr/>
        </p:nvSpPr>
        <p:spPr>
          <a:xfrm>
            <a:off x="2425141" y="1701800"/>
            <a:ext cx="1766773" cy="1371600"/>
          </a:xfrm>
          <a:prstGeom prst="roundRect">
            <a:avLst>
              <a:gd name="adj" fmla="val 5333"/>
            </a:avLst>
          </a:prstGeom>
          <a:solidFill>
            <a:srgbClr val="E6F4F6"/>
          </a:solidFill>
          <a:ln w="12700">
            <a:solidFill>
              <a:srgbClr val="9CCED6"/>
            </a:solidFill>
            <a:prstDash val="solid"/>
          </a:ln>
        </p:spPr>
      </p:sp>
      <p:sp>
        <p:nvSpPr>
          <p:cNvPr id="13" name="Shape 10"/>
          <p:cNvSpPr/>
          <p:nvPr/>
        </p:nvSpPr>
        <p:spPr>
          <a:xfrm>
            <a:off x="2553157" y="1811528"/>
            <a:ext cx="219456" cy="219456"/>
          </a:xfrm>
          <a:prstGeom prst="ellipse">
            <a:avLst/>
          </a:prstGeom>
          <a:solidFill>
            <a:srgbClr val="0B6F7D"/>
          </a:solidFill>
          <a:ln w="12700">
            <a:solidFill>
              <a:srgbClr val="0B6F7D"/>
            </a:solidFill>
            <a:prstDash val="solid"/>
          </a:ln>
        </p:spPr>
      </p:sp>
      <p:sp>
        <p:nvSpPr>
          <p:cNvPr id="14" name="Text 11"/>
          <p:cNvSpPr/>
          <p:nvPr/>
        </p:nvSpPr>
        <p:spPr>
          <a:xfrm>
            <a:off x="2553157"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5" name="Text 12"/>
          <p:cNvSpPr/>
          <p:nvPr/>
        </p:nvSpPr>
        <p:spPr>
          <a:xfrm>
            <a:off x="2553157"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Agentic review</a:t>
            </a:r>
            <a:endParaRPr lang="en-US" sz="1050" dirty="0"/>
          </a:p>
        </p:txBody>
      </p:sp>
      <p:sp>
        <p:nvSpPr>
          <p:cNvPr id="16" name="Text 13"/>
          <p:cNvSpPr/>
          <p:nvPr/>
        </p:nvSpPr>
        <p:spPr>
          <a:xfrm>
            <a:off x="2553157"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Correctness, tests, security patterns and house conventions — reasoning attached to the diff.</a:t>
            </a:r>
            <a:endParaRPr lang="en-US" sz="820" dirty="0"/>
          </a:p>
        </p:txBody>
      </p:sp>
      <p:sp>
        <p:nvSpPr>
          <p:cNvPr id="17" name="Shape 14"/>
          <p:cNvSpPr/>
          <p:nvPr/>
        </p:nvSpPr>
        <p:spPr>
          <a:xfrm>
            <a:off x="4283354" y="1701800"/>
            <a:ext cx="1766773" cy="1371600"/>
          </a:xfrm>
          <a:prstGeom prst="roundRect">
            <a:avLst>
              <a:gd name="adj" fmla="val 5333"/>
            </a:avLst>
          </a:prstGeom>
          <a:solidFill>
            <a:srgbClr val="E6F4F6"/>
          </a:solidFill>
          <a:ln w="12700">
            <a:solidFill>
              <a:srgbClr val="9CCED6"/>
            </a:solidFill>
            <a:prstDash val="solid"/>
          </a:ln>
        </p:spPr>
      </p:sp>
      <p:sp>
        <p:nvSpPr>
          <p:cNvPr id="18" name="Shape 15"/>
          <p:cNvSpPr/>
          <p:nvPr/>
        </p:nvSpPr>
        <p:spPr>
          <a:xfrm>
            <a:off x="4411370" y="1811528"/>
            <a:ext cx="219456" cy="219456"/>
          </a:xfrm>
          <a:prstGeom prst="ellipse">
            <a:avLst/>
          </a:prstGeom>
          <a:solidFill>
            <a:srgbClr val="0B6F7D"/>
          </a:solidFill>
          <a:ln w="12700">
            <a:solidFill>
              <a:srgbClr val="0B6F7D"/>
            </a:solidFill>
            <a:prstDash val="solid"/>
          </a:ln>
        </p:spPr>
      </p:sp>
      <p:sp>
        <p:nvSpPr>
          <p:cNvPr id="19" name="Text 16"/>
          <p:cNvSpPr/>
          <p:nvPr/>
        </p:nvSpPr>
        <p:spPr>
          <a:xfrm>
            <a:off x="4411370"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0" name="Text 17"/>
          <p:cNvSpPr/>
          <p:nvPr/>
        </p:nvSpPr>
        <p:spPr>
          <a:xfrm>
            <a:off x="4411370"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Test generation</a:t>
            </a:r>
            <a:endParaRPr lang="en-US" sz="1050" dirty="0"/>
          </a:p>
        </p:txBody>
      </p:sp>
      <p:sp>
        <p:nvSpPr>
          <p:cNvPr id="21" name="Text 18"/>
          <p:cNvSpPr/>
          <p:nvPr/>
        </p:nvSpPr>
        <p:spPr>
          <a:xfrm>
            <a:off x="4411370"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Missing cases proposed as code, in your framework, for a human to accept or reject.</a:t>
            </a:r>
            <a:endParaRPr lang="en-US" sz="820" dirty="0"/>
          </a:p>
        </p:txBody>
      </p:sp>
      <p:sp>
        <p:nvSpPr>
          <p:cNvPr id="22" name="Shape 19"/>
          <p:cNvSpPr/>
          <p:nvPr/>
        </p:nvSpPr>
        <p:spPr>
          <a:xfrm>
            <a:off x="6141568" y="1701800"/>
            <a:ext cx="1766773" cy="1371600"/>
          </a:xfrm>
          <a:prstGeom prst="roundRect">
            <a:avLst>
              <a:gd name="adj" fmla="val 5333"/>
            </a:avLst>
          </a:prstGeom>
          <a:solidFill>
            <a:srgbClr val="FFFFFF"/>
          </a:solidFill>
          <a:ln w="12700">
            <a:solidFill>
              <a:srgbClr val="E2E7EC"/>
            </a:solidFill>
            <a:prstDash val="solid"/>
          </a:ln>
        </p:spPr>
      </p:sp>
      <p:sp>
        <p:nvSpPr>
          <p:cNvPr id="23" name="Shape 20"/>
          <p:cNvSpPr/>
          <p:nvPr/>
        </p:nvSpPr>
        <p:spPr>
          <a:xfrm>
            <a:off x="6269584" y="1811528"/>
            <a:ext cx="219456" cy="219456"/>
          </a:xfrm>
          <a:prstGeom prst="ellipse">
            <a:avLst/>
          </a:prstGeom>
          <a:solidFill>
            <a:srgbClr val="08172A"/>
          </a:solidFill>
          <a:ln w="12700">
            <a:solidFill>
              <a:srgbClr val="08172A"/>
            </a:solidFill>
            <a:prstDash val="solid"/>
          </a:ln>
        </p:spPr>
      </p:sp>
      <p:sp>
        <p:nvSpPr>
          <p:cNvPr id="24" name="Text 21"/>
          <p:cNvSpPr/>
          <p:nvPr/>
        </p:nvSpPr>
        <p:spPr>
          <a:xfrm>
            <a:off x="6269584"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25" name="Text 22"/>
          <p:cNvSpPr/>
          <p:nvPr/>
        </p:nvSpPr>
        <p:spPr>
          <a:xfrm>
            <a:off x="6269584"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Policy gate</a:t>
            </a:r>
            <a:endParaRPr lang="en-US" sz="1050" dirty="0"/>
          </a:p>
        </p:txBody>
      </p:sp>
      <p:sp>
        <p:nvSpPr>
          <p:cNvPr id="26" name="Text 23"/>
          <p:cNvSpPr/>
          <p:nvPr/>
        </p:nvSpPr>
        <p:spPr>
          <a:xfrm>
            <a:off x="6269584"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Risk tier checked, capability manifests diffed, evidence recorded — automatically.</a:t>
            </a:r>
            <a:endParaRPr lang="en-US" sz="820" dirty="0"/>
          </a:p>
        </p:txBody>
      </p:sp>
      <p:sp>
        <p:nvSpPr>
          <p:cNvPr id="27" name="Shape 24"/>
          <p:cNvSpPr/>
          <p:nvPr/>
        </p:nvSpPr>
        <p:spPr>
          <a:xfrm>
            <a:off x="7999781" y="1701800"/>
            <a:ext cx="1766773" cy="1371600"/>
          </a:xfrm>
          <a:prstGeom prst="roundRect">
            <a:avLst>
              <a:gd name="adj" fmla="val 5333"/>
            </a:avLst>
          </a:prstGeom>
          <a:solidFill>
            <a:srgbClr val="FFFFFF"/>
          </a:solidFill>
          <a:ln w="12700">
            <a:solidFill>
              <a:srgbClr val="E2E7EC"/>
            </a:solidFill>
            <a:prstDash val="solid"/>
          </a:ln>
        </p:spPr>
      </p:sp>
      <p:sp>
        <p:nvSpPr>
          <p:cNvPr id="28" name="Shape 25"/>
          <p:cNvSpPr/>
          <p:nvPr/>
        </p:nvSpPr>
        <p:spPr>
          <a:xfrm>
            <a:off x="8127797" y="1811528"/>
            <a:ext cx="219456" cy="219456"/>
          </a:xfrm>
          <a:prstGeom prst="ellipse">
            <a:avLst/>
          </a:prstGeom>
          <a:solidFill>
            <a:srgbClr val="08172A"/>
          </a:solidFill>
          <a:ln w="12700">
            <a:solidFill>
              <a:srgbClr val="08172A"/>
            </a:solidFill>
            <a:prstDash val="solid"/>
          </a:ln>
        </p:spPr>
      </p:sp>
      <p:sp>
        <p:nvSpPr>
          <p:cNvPr id="29" name="Text 26"/>
          <p:cNvSpPr/>
          <p:nvPr/>
        </p:nvSpPr>
        <p:spPr>
          <a:xfrm>
            <a:off x="8127797"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5</a:t>
            </a:r>
            <a:endParaRPr lang="en-US" sz="900" dirty="0"/>
          </a:p>
        </p:txBody>
      </p:sp>
      <p:sp>
        <p:nvSpPr>
          <p:cNvPr id="30" name="Text 27"/>
          <p:cNvSpPr/>
          <p:nvPr/>
        </p:nvSpPr>
        <p:spPr>
          <a:xfrm>
            <a:off x="8127797"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Staged release</a:t>
            </a:r>
            <a:endParaRPr lang="en-US" sz="1050" dirty="0"/>
          </a:p>
        </p:txBody>
      </p:sp>
      <p:sp>
        <p:nvSpPr>
          <p:cNvPr id="31" name="Text 28"/>
          <p:cNvSpPr/>
          <p:nvPr/>
        </p:nvSpPr>
        <p:spPr>
          <a:xfrm>
            <a:off x="8127797"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Deploy behind the same grants and off switch as any other governed action.</a:t>
            </a:r>
            <a:endParaRPr lang="en-US" sz="820" dirty="0"/>
          </a:p>
        </p:txBody>
      </p:sp>
      <p:sp>
        <p:nvSpPr>
          <p:cNvPr id="32" name="Shape 29"/>
          <p:cNvSpPr/>
          <p:nvPr/>
        </p:nvSpPr>
        <p:spPr>
          <a:xfrm>
            <a:off x="9857994" y="1701800"/>
            <a:ext cx="1766773" cy="1371600"/>
          </a:xfrm>
          <a:prstGeom prst="roundRect">
            <a:avLst>
              <a:gd name="adj" fmla="val 5333"/>
            </a:avLst>
          </a:prstGeom>
          <a:solidFill>
            <a:srgbClr val="FFFFFF"/>
          </a:solidFill>
          <a:ln w="12700">
            <a:solidFill>
              <a:srgbClr val="E2E7EC"/>
            </a:solidFill>
            <a:prstDash val="solid"/>
          </a:ln>
        </p:spPr>
      </p:sp>
      <p:sp>
        <p:nvSpPr>
          <p:cNvPr id="33" name="Shape 30"/>
          <p:cNvSpPr/>
          <p:nvPr/>
        </p:nvSpPr>
        <p:spPr>
          <a:xfrm>
            <a:off x="9986010" y="1811528"/>
            <a:ext cx="219456" cy="219456"/>
          </a:xfrm>
          <a:prstGeom prst="ellipse">
            <a:avLst/>
          </a:prstGeom>
          <a:solidFill>
            <a:srgbClr val="08172A"/>
          </a:solidFill>
          <a:ln w="12700">
            <a:solidFill>
              <a:srgbClr val="08172A"/>
            </a:solidFill>
            <a:prstDash val="solid"/>
          </a:ln>
        </p:spPr>
      </p:sp>
      <p:sp>
        <p:nvSpPr>
          <p:cNvPr id="34" name="Text 31"/>
          <p:cNvSpPr/>
          <p:nvPr/>
        </p:nvSpPr>
        <p:spPr>
          <a:xfrm>
            <a:off x="9986010" y="181152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6</a:t>
            </a:r>
            <a:endParaRPr lang="en-US" sz="900" dirty="0"/>
          </a:p>
        </p:txBody>
      </p:sp>
      <p:sp>
        <p:nvSpPr>
          <p:cNvPr id="35" name="Text 32"/>
          <p:cNvSpPr/>
          <p:nvPr/>
        </p:nvSpPr>
        <p:spPr>
          <a:xfrm>
            <a:off x="9986010" y="2104136"/>
            <a:ext cx="1510741" cy="219456"/>
          </a:xfrm>
          <a:prstGeom prst="rect">
            <a:avLst/>
          </a:prstGeom>
          <a:noFill/>
          <a:ln/>
        </p:spPr>
        <p:txBody>
          <a:bodyPr wrap="square" lIns="0" tIns="0" rIns="0" bIns="0" rtlCol="0" anchor="ctr"/>
          <a:lstStyle/>
          <a:p>
            <a:pPr indent="0" marL="0">
              <a:buNone/>
            </a:pPr>
            <a:r>
              <a:rPr lang="en-US" sz="1050" b="1" dirty="0">
                <a:solidFill>
                  <a:srgbClr val="0B1622"/>
                </a:solidFill>
                <a:latin typeface="Calibri" pitchFamily="34" charset="0"/>
                <a:ea typeface="Calibri" pitchFamily="34" charset="-122"/>
                <a:cs typeface="Calibri" pitchFamily="34" charset="-120"/>
              </a:rPr>
              <a:t>Learn</a:t>
            </a:r>
            <a:endParaRPr lang="en-US" sz="1050" dirty="0"/>
          </a:p>
        </p:txBody>
      </p:sp>
      <p:sp>
        <p:nvSpPr>
          <p:cNvPr id="36" name="Text 33"/>
          <p:cNvSpPr/>
          <p:nvPr/>
        </p:nvSpPr>
        <p:spPr>
          <a:xfrm>
            <a:off x="9986010" y="2341880"/>
            <a:ext cx="1510741" cy="621792"/>
          </a:xfrm>
          <a:prstGeom prst="rect">
            <a:avLst/>
          </a:prstGeom>
          <a:noFill/>
          <a:ln/>
        </p:spPr>
        <p:txBody>
          <a:bodyPr wrap="square" lIns="0" tIns="0" rIns="0" bIns="0" rtlCol="0" anchor="t"/>
          <a:lstStyle/>
          <a:p>
            <a:pPr indent="0" marL="0">
              <a:lnSpc>
                <a:spcPct val="108000"/>
              </a:lnSpc>
              <a:buNone/>
            </a:pPr>
            <a:r>
              <a:rPr lang="en-US" sz="820" dirty="0">
                <a:solidFill>
                  <a:srgbClr val="7E8C9B"/>
                </a:solidFill>
                <a:latin typeface="Calibri" pitchFamily="34" charset="0"/>
                <a:ea typeface="Calibri" pitchFamily="34" charset="-122"/>
                <a:cs typeface="Calibri" pitchFamily="34" charset="-120"/>
              </a:rPr>
              <a:t>Accept and reject rates feed back. The reviewer improves against your codebase.</a:t>
            </a:r>
            <a:endParaRPr lang="en-US" sz="820" dirty="0"/>
          </a:p>
        </p:txBody>
      </p:sp>
      <p:sp>
        <p:nvSpPr>
          <p:cNvPr id="37" name="Shape 34"/>
          <p:cNvSpPr/>
          <p:nvPr/>
        </p:nvSpPr>
        <p:spPr>
          <a:xfrm>
            <a:off x="566928" y="3219704"/>
            <a:ext cx="2654732" cy="1572768"/>
          </a:xfrm>
          <a:prstGeom prst="roundRect">
            <a:avLst>
              <a:gd name="adj" fmla="val 4651"/>
            </a:avLst>
          </a:prstGeom>
          <a:solidFill>
            <a:srgbClr val="FFFFFF"/>
          </a:solidFill>
          <a:ln w="12700">
            <a:solidFill>
              <a:srgbClr val="E2E7EC"/>
            </a:solidFill>
            <a:prstDash val="solid"/>
          </a:ln>
        </p:spPr>
      </p:sp>
      <p:sp>
        <p:nvSpPr>
          <p:cNvPr id="38" name="Shape 35"/>
          <p:cNvSpPr/>
          <p:nvPr/>
        </p:nvSpPr>
        <p:spPr>
          <a:xfrm>
            <a:off x="749808" y="3384296"/>
            <a:ext cx="1554480" cy="182880"/>
          </a:xfrm>
          <a:prstGeom prst="roundRect">
            <a:avLst>
              <a:gd name="adj" fmla="val 50000"/>
            </a:avLst>
          </a:prstGeom>
          <a:solidFill>
            <a:srgbClr val="E6F4E6"/>
          </a:solidFill>
          <a:ln w="12700">
            <a:solidFill>
              <a:srgbClr val="E6F4E6"/>
            </a:solidFill>
            <a:prstDash val="solid"/>
          </a:ln>
        </p:spPr>
      </p:sp>
      <p:sp>
        <p:nvSpPr>
          <p:cNvPr id="39" name="Text 36"/>
          <p:cNvSpPr/>
          <p:nvPr/>
        </p:nvSpPr>
        <p:spPr>
          <a:xfrm>
            <a:off x="749808"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06300"/>
                </a:solidFill>
                <a:latin typeface="Consolas" pitchFamily="34" charset="0"/>
                <a:ea typeface="Consolas" pitchFamily="34" charset="-122"/>
                <a:cs typeface="Consolas" pitchFamily="34" charset="-120"/>
              </a:rPr>
              <a:t>REASON 01</a:t>
            </a:r>
            <a:endParaRPr lang="en-US" sz="750" dirty="0"/>
          </a:p>
        </p:txBody>
      </p:sp>
      <p:sp>
        <p:nvSpPr>
          <p:cNvPr id="40" name="Text 37"/>
          <p:cNvSpPr/>
          <p:nvPr/>
        </p:nvSpPr>
        <p:spPr>
          <a:xfrm>
            <a:off x="749808"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Internal</a:t>
            </a:r>
            <a:endParaRPr lang="en-US" sz="1250" dirty="0"/>
          </a:p>
        </p:txBody>
      </p:sp>
      <p:sp>
        <p:nvSpPr>
          <p:cNvPr id="41" name="Text 38"/>
          <p:cNvSpPr/>
          <p:nvPr/>
        </p:nvSpPr>
        <p:spPr>
          <a:xfrm>
            <a:off x="749808" y="3996944"/>
            <a:ext cx="2288972" cy="562356"/>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No customer exposure, no production data, no regulatory surface. Nobody needs to approve an experiment on their own repositories.</a:t>
            </a:r>
            <a:endParaRPr lang="en-US" sz="980" dirty="0"/>
          </a:p>
        </p:txBody>
      </p:sp>
      <p:sp>
        <p:nvSpPr>
          <p:cNvPr id="42" name="Shape 39"/>
          <p:cNvSpPr/>
          <p:nvPr/>
        </p:nvSpPr>
        <p:spPr>
          <a:xfrm>
            <a:off x="3367964" y="3219704"/>
            <a:ext cx="2654732" cy="1572768"/>
          </a:xfrm>
          <a:prstGeom prst="roundRect">
            <a:avLst>
              <a:gd name="adj" fmla="val 4651"/>
            </a:avLst>
          </a:prstGeom>
          <a:solidFill>
            <a:srgbClr val="FFFFFF"/>
          </a:solidFill>
          <a:ln w="12700">
            <a:solidFill>
              <a:srgbClr val="E2E7EC"/>
            </a:solidFill>
            <a:prstDash val="solid"/>
          </a:ln>
        </p:spPr>
      </p:sp>
      <p:sp>
        <p:nvSpPr>
          <p:cNvPr id="43" name="Shape 40"/>
          <p:cNvSpPr/>
          <p:nvPr/>
        </p:nvSpPr>
        <p:spPr>
          <a:xfrm>
            <a:off x="3550844" y="3384296"/>
            <a:ext cx="1554480" cy="182880"/>
          </a:xfrm>
          <a:prstGeom prst="roundRect">
            <a:avLst>
              <a:gd name="adj" fmla="val 50000"/>
            </a:avLst>
          </a:prstGeom>
          <a:solidFill>
            <a:srgbClr val="E6F4E6"/>
          </a:solidFill>
          <a:ln w="12700">
            <a:solidFill>
              <a:srgbClr val="E6F4E6"/>
            </a:solidFill>
            <a:prstDash val="solid"/>
          </a:ln>
        </p:spPr>
      </p:sp>
      <p:sp>
        <p:nvSpPr>
          <p:cNvPr id="44" name="Text 41"/>
          <p:cNvSpPr/>
          <p:nvPr/>
        </p:nvSpPr>
        <p:spPr>
          <a:xfrm>
            <a:off x="3550844"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06300"/>
                </a:solidFill>
                <a:latin typeface="Consolas" pitchFamily="34" charset="0"/>
                <a:ea typeface="Consolas" pitchFamily="34" charset="-122"/>
                <a:cs typeface="Consolas" pitchFamily="34" charset="-120"/>
              </a:rPr>
              <a:t>REASON 02</a:t>
            </a:r>
            <a:endParaRPr lang="en-US" sz="750" dirty="0"/>
          </a:p>
        </p:txBody>
      </p:sp>
      <p:sp>
        <p:nvSpPr>
          <p:cNvPr id="45" name="Text 42"/>
          <p:cNvSpPr/>
          <p:nvPr/>
        </p:nvSpPr>
        <p:spPr>
          <a:xfrm>
            <a:off x="3550844"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Reversible</a:t>
            </a:r>
            <a:endParaRPr lang="en-US" sz="1250" dirty="0"/>
          </a:p>
        </p:txBody>
      </p:sp>
      <p:sp>
        <p:nvSpPr>
          <p:cNvPr id="46" name="Text 43"/>
          <p:cNvSpPr/>
          <p:nvPr/>
        </p:nvSpPr>
        <p:spPr>
          <a:xfrm>
            <a:off x="3550844" y="3996944"/>
            <a:ext cx="2288972" cy="562356"/>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Every action is a commit, a comment or a pipeline run. The undo procedure exists and your engineers already know it.</a:t>
            </a:r>
            <a:endParaRPr lang="en-US" sz="980" dirty="0"/>
          </a:p>
        </p:txBody>
      </p:sp>
      <p:sp>
        <p:nvSpPr>
          <p:cNvPr id="47" name="Shape 44"/>
          <p:cNvSpPr/>
          <p:nvPr/>
        </p:nvSpPr>
        <p:spPr>
          <a:xfrm>
            <a:off x="6169000" y="3219704"/>
            <a:ext cx="2654732" cy="1572768"/>
          </a:xfrm>
          <a:prstGeom prst="roundRect">
            <a:avLst>
              <a:gd name="adj" fmla="val 4651"/>
            </a:avLst>
          </a:prstGeom>
          <a:solidFill>
            <a:srgbClr val="FFFFFF"/>
          </a:solidFill>
          <a:ln w="12700">
            <a:solidFill>
              <a:srgbClr val="E2E7EC"/>
            </a:solidFill>
            <a:prstDash val="solid"/>
          </a:ln>
        </p:spPr>
      </p:sp>
      <p:sp>
        <p:nvSpPr>
          <p:cNvPr id="48" name="Shape 45"/>
          <p:cNvSpPr/>
          <p:nvPr/>
        </p:nvSpPr>
        <p:spPr>
          <a:xfrm>
            <a:off x="6351880" y="3384296"/>
            <a:ext cx="1554480" cy="182880"/>
          </a:xfrm>
          <a:prstGeom prst="roundRect">
            <a:avLst>
              <a:gd name="adj" fmla="val 50000"/>
            </a:avLst>
          </a:prstGeom>
          <a:solidFill>
            <a:srgbClr val="E6F4E6"/>
          </a:solidFill>
          <a:ln w="12700">
            <a:solidFill>
              <a:srgbClr val="E6F4E6"/>
            </a:solidFill>
            <a:prstDash val="solid"/>
          </a:ln>
        </p:spPr>
      </p:sp>
      <p:sp>
        <p:nvSpPr>
          <p:cNvPr id="49" name="Text 46"/>
          <p:cNvSpPr/>
          <p:nvPr/>
        </p:nvSpPr>
        <p:spPr>
          <a:xfrm>
            <a:off x="6351880"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06300"/>
                </a:solidFill>
                <a:latin typeface="Consolas" pitchFamily="34" charset="0"/>
                <a:ea typeface="Consolas" pitchFamily="34" charset="-122"/>
                <a:cs typeface="Consolas" pitchFamily="34" charset="-120"/>
              </a:rPr>
              <a:t>REASON 03</a:t>
            </a:r>
            <a:endParaRPr lang="en-US" sz="750" dirty="0"/>
          </a:p>
        </p:txBody>
      </p:sp>
      <p:sp>
        <p:nvSpPr>
          <p:cNvPr id="50" name="Text 47"/>
          <p:cNvSpPr/>
          <p:nvPr/>
        </p:nvSpPr>
        <p:spPr>
          <a:xfrm>
            <a:off x="6351880"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Measurable in 3 weeks</a:t>
            </a:r>
            <a:endParaRPr lang="en-US" sz="1250" dirty="0"/>
          </a:p>
        </p:txBody>
      </p:sp>
      <p:sp>
        <p:nvSpPr>
          <p:cNvPr id="51" name="Text 48"/>
          <p:cNvSpPr/>
          <p:nvPr/>
        </p:nvSpPr>
        <p:spPr>
          <a:xfrm>
            <a:off x="6351880" y="3996944"/>
            <a:ext cx="2288972" cy="42062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Review latency, rework rate and change lead time — against a baseline your tooling already holds.</a:t>
            </a:r>
            <a:endParaRPr lang="en-US" sz="980" dirty="0"/>
          </a:p>
        </p:txBody>
      </p:sp>
      <p:sp>
        <p:nvSpPr>
          <p:cNvPr id="52" name="Shape 49"/>
          <p:cNvSpPr/>
          <p:nvPr/>
        </p:nvSpPr>
        <p:spPr>
          <a:xfrm>
            <a:off x="8970035" y="3219704"/>
            <a:ext cx="2654732" cy="1572768"/>
          </a:xfrm>
          <a:prstGeom prst="roundRect">
            <a:avLst>
              <a:gd name="adj" fmla="val 4651"/>
            </a:avLst>
          </a:prstGeom>
          <a:solidFill>
            <a:srgbClr val="E6F4F6"/>
          </a:solidFill>
          <a:ln w="12700">
            <a:solidFill>
              <a:srgbClr val="9CCED6"/>
            </a:solidFill>
            <a:prstDash val="solid"/>
          </a:ln>
        </p:spPr>
      </p:sp>
      <p:sp>
        <p:nvSpPr>
          <p:cNvPr id="53" name="Shape 50"/>
          <p:cNvSpPr/>
          <p:nvPr/>
        </p:nvSpPr>
        <p:spPr>
          <a:xfrm>
            <a:off x="9152915" y="3384296"/>
            <a:ext cx="1554480" cy="182880"/>
          </a:xfrm>
          <a:prstGeom prst="roundRect">
            <a:avLst>
              <a:gd name="adj" fmla="val 50000"/>
            </a:avLst>
          </a:prstGeom>
          <a:solidFill>
            <a:srgbClr val="FFFFFF"/>
          </a:solidFill>
          <a:ln w="12700">
            <a:solidFill>
              <a:srgbClr val="FFFFFF"/>
            </a:solidFill>
            <a:prstDash val="solid"/>
          </a:ln>
        </p:spPr>
      </p:sp>
      <p:sp>
        <p:nvSpPr>
          <p:cNvPr id="54" name="Text 51"/>
          <p:cNvSpPr/>
          <p:nvPr/>
        </p:nvSpPr>
        <p:spPr>
          <a:xfrm>
            <a:off x="9152915" y="3384296"/>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REASON 04</a:t>
            </a:r>
            <a:endParaRPr lang="en-US" sz="750" dirty="0"/>
          </a:p>
        </p:txBody>
      </p:sp>
      <p:sp>
        <p:nvSpPr>
          <p:cNvPr id="55" name="Text 52"/>
          <p:cNvSpPr/>
          <p:nvPr/>
        </p:nvSpPr>
        <p:spPr>
          <a:xfrm>
            <a:off x="9152915" y="3676904"/>
            <a:ext cx="2288972" cy="27432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It exercises everything</a:t>
            </a:r>
            <a:endParaRPr lang="en-US" sz="1250" dirty="0"/>
          </a:p>
        </p:txBody>
      </p:sp>
      <p:sp>
        <p:nvSpPr>
          <p:cNvPr id="56" name="Text 53"/>
          <p:cNvSpPr/>
          <p:nvPr/>
        </p:nvSpPr>
        <p:spPr>
          <a:xfrm>
            <a:off x="9152915" y="3996944"/>
            <a:ext cx="2288972" cy="704088"/>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Identity, policy, grants, triggers, evidence and sandboxing all used under real load. </a:t>
            </a: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fabric is built using the fabric</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 so we feel any friction first.</a:t>
            </a:r>
            <a:endParaRPr lang="en-US" sz="980" dirty="0"/>
          </a:p>
        </p:txBody>
      </p:sp>
      <p:sp>
        <p:nvSpPr>
          <p:cNvPr id="57" name="Shape 54"/>
          <p:cNvSpPr/>
          <p:nvPr/>
        </p:nvSpPr>
        <p:spPr>
          <a:xfrm>
            <a:off x="566928" y="6382512"/>
            <a:ext cx="11057839" cy="0"/>
          </a:xfrm>
          <a:prstGeom prst="line">
            <a:avLst/>
          </a:prstGeom>
          <a:noFill/>
          <a:ln w="9525">
            <a:solidFill>
              <a:srgbClr val="E2E7EC"/>
            </a:solidFill>
            <a:prstDash val="solid"/>
          </a:ln>
        </p:spPr>
      </p:sp>
      <p:sp>
        <p:nvSpPr>
          <p:cNvPr id="58" name="Text 5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9" name="Text 5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BUSINESS CAPABILITIES ARE PATH TWO · DESIGNED WEEK 10 WITH WHAT WE LEARNED</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WHAT THIS ACTUALLY FEELS LIKE</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The fabric is working when nobody notices it — it just shows up as an ordinary Tuesday.</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Priya is a senior engineer on the payments squad. Nothing below is speculative — each moment is a capability the fabric supports at day 90.</a:t>
            </a:r>
            <a:endParaRPr lang="en-US" sz="1250" dirty="0"/>
          </a:p>
        </p:txBody>
      </p:sp>
      <p:sp>
        <p:nvSpPr>
          <p:cNvPr id="7" name="Shape 4"/>
          <p:cNvSpPr/>
          <p:nvPr/>
        </p:nvSpPr>
        <p:spPr>
          <a:xfrm>
            <a:off x="566928" y="1936750"/>
            <a:ext cx="2131101" cy="2468880"/>
          </a:xfrm>
          <a:prstGeom prst="roundRect">
            <a:avLst>
              <a:gd name="adj" fmla="val 3433"/>
            </a:avLst>
          </a:prstGeom>
          <a:solidFill>
            <a:srgbClr val="E6F4F6"/>
          </a:solidFill>
          <a:ln w="12700">
            <a:solidFill>
              <a:srgbClr val="9CCED6"/>
            </a:solidFill>
            <a:prstDash val="solid"/>
          </a:ln>
        </p:spPr>
      </p:sp>
      <p:sp>
        <p:nvSpPr>
          <p:cNvPr id="8" name="Text 5"/>
          <p:cNvSpPr/>
          <p:nvPr/>
        </p:nvSpPr>
        <p:spPr>
          <a:xfrm>
            <a:off x="731520" y="20830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08:55</a:t>
            </a:r>
            <a:endParaRPr lang="en-US" sz="900" dirty="0"/>
          </a:p>
        </p:txBody>
      </p:sp>
      <p:sp>
        <p:nvSpPr>
          <p:cNvPr id="9" name="Text 6"/>
          <p:cNvSpPr/>
          <p:nvPr/>
        </p:nvSpPr>
        <p:spPr>
          <a:xfrm>
            <a:off x="731520" y="23207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opens a pull request</a:t>
            </a:r>
            <a:endParaRPr lang="en-US" sz="1250" dirty="0"/>
          </a:p>
        </p:txBody>
      </p:sp>
      <p:sp>
        <p:nvSpPr>
          <p:cNvPr id="10" name="Text 7"/>
          <p:cNvSpPr/>
          <p:nvPr/>
        </p:nvSpPr>
        <p:spPr>
          <a:xfrm>
            <a:off x="731520" y="28328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Within ninety seconds an agent has reviewed it — correctness, missing tests, a deprecated internal API she did not know about — with reasoning on each line.</a:t>
            </a:r>
            <a:endParaRPr lang="en-US" sz="950" dirty="0"/>
          </a:p>
        </p:txBody>
      </p:sp>
      <p:sp>
        <p:nvSpPr>
          <p:cNvPr id="11" name="Text 8"/>
          <p:cNvSpPr/>
          <p:nvPr/>
        </p:nvSpPr>
        <p:spPr>
          <a:xfrm>
            <a:off x="731520" y="41130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TRIGGER · AGENTIC REVIEW</a:t>
            </a:r>
            <a:endParaRPr lang="en-US" sz="680" dirty="0"/>
          </a:p>
        </p:txBody>
      </p:sp>
      <p:sp>
        <p:nvSpPr>
          <p:cNvPr id="12" name="Shape 9"/>
          <p:cNvSpPr/>
          <p:nvPr/>
        </p:nvSpPr>
        <p:spPr>
          <a:xfrm>
            <a:off x="2798613" y="1936750"/>
            <a:ext cx="2131101" cy="2468880"/>
          </a:xfrm>
          <a:prstGeom prst="roundRect">
            <a:avLst>
              <a:gd name="adj" fmla="val 3433"/>
            </a:avLst>
          </a:prstGeom>
          <a:solidFill>
            <a:srgbClr val="FFFFFF"/>
          </a:solidFill>
          <a:ln w="12700">
            <a:solidFill>
              <a:srgbClr val="E2E7EC"/>
            </a:solidFill>
            <a:prstDash val="solid"/>
          </a:ln>
        </p:spPr>
      </p:sp>
      <p:sp>
        <p:nvSpPr>
          <p:cNvPr id="13" name="Text 10"/>
          <p:cNvSpPr/>
          <p:nvPr/>
        </p:nvSpPr>
        <p:spPr>
          <a:xfrm>
            <a:off x="2963205" y="20830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09:40</a:t>
            </a:r>
            <a:endParaRPr lang="en-US" sz="900" dirty="0"/>
          </a:p>
        </p:txBody>
      </p:sp>
      <p:sp>
        <p:nvSpPr>
          <p:cNvPr id="14" name="Text 11"/>
          <p:cNvSpPr/>
          <p:nvPr/>
        </p:nvSpPr>
        <p:spPr>
          <a:xfrm>
            <a:off x="2963205" y="23207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disagrees with one comment</a:t>
            </a:r>
            <a:endParaRPr lang="en-US" sz="1250" dirty="0"/>
          </a:p>
        </p:txBody>
      </p:sp>
      <p:sp>
        <p:nvSpPr>
          <p:cNvPr id="15" name="Text 12"/>
          <p:cNvSpPr/>
          <p:nvPr/>
        </p:nvSpPr>
        <p:spPr>
          <a:xfrm>
            <a:off x="2963205" y="28328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She replies, explains why, and merges. The disagreement is recorded and becomes signal — the reviewer gets better against this codebase.</a:t>
            </a:r>
            <a:endParaRPr lang="en-US" sz="950" dirty="0"/>
          </a:p>
        </p:txBody>
      </p:sp>
      <p:sp>
        <p:nvSpPr>
          <p:cNvPr id="16" name="Text 13"/>
          <p:cNvSpPr/>
          <p:nvPr/>
        </p:nvSpPr>
        <p:spPr>
          <a:xfrm>
            <a:off x="2963205" y="41130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HUMAN STAYS IN CHARGE</a:t>
            </a:r>
            <a:endParaRPr lang="en-US" sz="680" dirty="0"/>
          </a:p>
        </p:txBody>
      </p:sp>
      <p:sp>
        <p:nvSpPr>
          <p:cNvPr id="17" name="Shape 14"/>
          <p:cNvSpPr/>
          <p:nvPr/>
        </p:nvSpPr>
        <p:spPr>
          <a:xfrm>
            <a:off x="5030297" y="1936750"/>
            <a:ext cx="2131101" cy="2468880"/>
          </a:xfrm>
          <a:prstGeom prst="roundRect">
            <a:avLst>
              <a:gd name="adj" fmla="val 3433"/>
            </a:avLst>
          </a:prstGeom>
          <a:solidFill>
            <a:srgbClr val="E6F4F6"/>
          </a:solidFill>
          <a:ln w="12700">
            <a:solidFill>
              <a:srgbClr val="9CCED6"/>
            </a:solidFill>
            <a:prstDash val="solid"/>
          </a:ln>
        </p:spPr>
      </p:sp>
      <p:sp>
        <p:nvSpPr>
          <p:cNvPr id="18" name="Text 15"/>
          <p:cNvSpPr/>
          <p:nvPr/>
        </p:nvSpPr>
        <p:spPr>
          <a:xfrm>
            <a:off x="5194889" y="20830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11:20</a:t>
            </a:r>
            <a:endParaRPr lang="en-US" sz="900" dirty="0"/>
          </a:p>
        </p:txBody>
      </p:sp>
      <p:sp>
        <p:nvSpPr>
          <p:cNvPr id="19" name="Text 16"/>
          <p:cNvSpPr/>
          <p:nvPr/>
        </p:nvSpPr>
        <p:spPr>
          <a:xfrm>
            <a:off x="5194889" y="23207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needs customer data</a:t>
            </a:r>
            <a:endParaRPr lang="en-US" sz="1250" dirty="0"/>
          </a:p>
        </p:txBody>
      </p:sp>
      <p:sp>
        <p:nvSpPr>
          <p:cNvPr id="20" name="Text 17"/>
          <p:cNvSpPr/>
          <p:nvPr/>
        </p:nvSpPr>
        <p:spPr>
          <a:xfrm>
            <a:off x="5194889" y="28328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She asks in the portal. The capability exists, her tier permits it, and she gets a scoped, time-boxed answer with sources cited — no ticket.</a:t>
            </a:r>
            <a:endParaRPr lang="en-US" sz="950" dirty="0"/>
          </a:p>
        </p:txBody>
      </p:sp>
      <p:sp>
        <p:nvSpPr>
          <p:cNvPr id="21" name="Text 18"/>
          <p:cNvSpPr/>
          <p:nvPr/>
        </p:nvSpPr>
        <p:spPr>
          <a:xfrm>
            <a:off x="5194889" y="41130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REGISTRY · GRANTS · RETRIEVAL</a:t>
            </a:r>
            <a:endParaRPr lang="en-US" sz="680" dirty="0"/>
          </a:p>
        </p:txBody>
      </p:sp>
      <p:sp>
        <p:nvSpPr>
          <p:cNvPr id="22" name="Shape 19"/>
          <p:cNvSpPr/>
          <p:nvPr/>
        </p:nvSpPr>
        <p:spPr>
          <a:xfrm>
            <a:off x="7261982" y="1936750"/>
            <a:ext cx="2131101" cy="2468880"/>
          </a:xfrm>
          <a:prstGeom prst="roundRect">
            <a:avLst>
              <a:gd name="adj" fmla="val 3433"/>
            </a:avLst>
          </a:prstGeom>
          <a:solidFill>
            <a:srgbClr val="FFFFFF"/>
          </a:solidFill>
          <a:ln w="12700">
            <a:solidFill>
              <a:srgbClr val="E2E7EC"/>
            </a:solidFill>
            <a:prstDash val="solid"/>
          </a:ln>
        </p:spPr>
      </p:sp>
      <p:sp>
        <p:nvSpPr>
          <p:cNvPr id="23" name="Text 20"/>
          <p:cNvSpPr/>
          <p:nvPr/>
        </p:nvSpPr>
        <p:spPr>
          <a:xfrm>
            <a:off x="7426574" y="20830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14:00</a:t>
            </a:r>
            <a:endParaRPr lang="en-US" sz="900" dirty="0"/>
          </a:p>
        </p:txBody>
      </p:sp>
      <p:sp>
        <p:nvSpPr>
          <p:cNvPr id="24" name="Text 21"/>
          <p:cNvSpPr/>
          <p:nvPr/>
        </p:nvSpPr>
        <p:spPr>
          <a:xfrm>
            <a:off x="7426574" y="23207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A dependency CVE lands</a:t>
            </a:r>
            <a:endParaRPr lang="en-US" sz="1250" dirty="0"/>
          </a:p>
        </p:txBody>
      </p:sp>
      <p:sp>
        <p:nvSpPr>
          <p:cNvPr id="25" name="Text 22"/>
          <p:cNvSpPr/>
          <p:nvPr/>
        </p:nvSpPr>
        <p:spPr>
          <a:xfrm>
            <a:off x="7426574" y="28328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An agent has already opened the upgrade PR across eleven repositories, run the tests and flagged the two needing a human. She reviews those two.</a:t>
            </a:r>
            <a:endParaRPr lang="en-US" sz="950" dirty="0"/>
          </a:p>
        </p:txBody>
      </p:sp>
      <p:sp>
        <p:nvSpPr>
          <p:cNvPr id="26" name="Text 23"/>
          <p:cNvSpPr/>
          <p:nvPr/>
        </p:nvSpPr>
        <p:spPr>
          <a:xfrm>
            <a:off x="7426574" y="41130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EVENT TRIGGER · FAN-OUT</a:t>
            </a:r>
            <a:endParaRPr lang="en-US" sz="680" dirty="0"/>
          </a:p>
        </p:txBody>
      </p:sp>
      <p:sp>
        <p:nvSpPr>
          <p:cNvPr id="27" name="Shape 24"/>
          <p:cNvSpPr/>
          <p:nvPr/>
        </p:nvSpPr>
        <p:spPr>
          <a:xfrm>
            <a:off x="9493667" y="1936750"/>
            <a:ext cx="2131101" cy="2468880"/>
          </a:xfrm>
          <a:prstGeom prst="roundRect">
            <a:avLst>
              <a:gd name="adj" fmla="val 3433"/>
            </a:avLst>
          </a:prstGeom>
          <a:solidFill>
            <a:srgbClr val="E6F4F6"/>
          </a:solidFill>
          <a:ln w="12700">
            <a:solidFill>
              <a:srgbClr val="9CCED6"/>
            </a:solidFill>
            <a:prstDash val="solid"/>
          </a:ln>
        </p:spPr>
      </p:sp>
      <p:sp>
        <p:nvSpPr>
          <p:cNvPr id="28" name="Text 25"/>
          <p:cNvSpPr/>
          <p:nvPr/>
        </p:nvSpPr>
        <p:spPr>
          <a:xfrm>
            <a:off x="9658259" y="2083054"/>
            <a:ext cx="1801917" cy="182880"/>
          </a:xfrm>
          <a:prstGeom prst="rect">
            <a:avLst/>
          </a:prstGeom>
          <a:noFill/>
          <a:ln/>
        </p:spPr>
        <p:txBody>
          <a:bodyPr wrap="square" lIns="0" tIns="0" rIns="0" bIns="0" rtlCol="0" anchor="ctr"/>
          <a:lstStyle/>
          <a:p>
            <a:pPr indent="0" marL="0">
              <a:buNone/>
            </a:pPr>
            <a:r>
              <a:rPr lang="en-US" sz="900" b="1" spc="120" kern="0" dirty="0">
                <a:solidFill>
                  <a:srgbClr val="0B6F7D"/>
                </a:solidFill>
                <a:latin typeface="Consolas" pitchFamily="34" charset="0"/>
                <a:ea typeface="Consolas" pitchFamily="34" charset="-122"/>
                <a:cs typeface="Consolas" pitchFamily="34" charset="-120"/>
              </a:rPr>
              <a:t>16:30</a:t>
            </a:r>
            <a:endParaRPr lang="en-US" sz="900" dirty="0"/>
          </a:p>
        </p:txBody>
      </p:sp>
      <p:sp>
        <p:nvSpPr>
          <p:cNvPr id="29" name="Text 26"/>
          <p:cNvSpPr/>
          <p:nvPr/>
        </p:nvSpPr>
        <p:spPr>
          <a:xfrm>
            <a:off x="9658259" y="2320798"/>
            <a:ext cx="1801917" cy="457200"/>
          </a:xfrm>
          <a:prstGeom prst="rect">
            <a:avLst/>
          </a:prstGeom>
          <a:noFill/>
          <a:ln/>
        </p:spPr>
        <p:txBody>
          <a:bodyPr wrap="square" lIns="0" tIns="0" rIns="0" bIns="0" rtlCol="0" anchor="t"/>
          <a:lstStyle/>
          <a:p>
            <a:pPr indent="0" marL="0">
              <a:buNone/>
            </a:pPr>
            <a:r>
              <a:rPr lang="en-US" sz="1250" b="1" dirty="0">
                <a:solidFill>
                  <a:srgbClr val="0B1622"/>
                </a:solidFill>
                <a:latin typeface="Calibri" pitchFamily="34" charset="0"/>
                <a:ea typeface="Calibri" pitchFamily="34" charset="-122"/>
                <a:cs typeface="Calibri" pitchFamily="34" charset="-120"/>
              </a:rPr>
              <a:t>She ships</a:t>
            </a:r>
            <a:endParaRPr lang="en-US" sz="1250" dirty="0"/>
          </a:p>
        </p:txBody>
      </p:sp>
      <p:sp>
        <p:nvSpPr>
          <p:cNvPr id="30" name="Text 27"/>
          <p:cNvSpPr/>
          <p:nvPr/>
        </p:nvSpPr>
        <p:spPr>
          <a:xfrm>
            <a:off x="9658259" y="2832862"/>
            <a:ext cx="1801917" cy="1097280"/>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The policy gate checks the tier and manifest, staged rollout begins, and the evidence record is complete before she closes her laptop.</a:t>
            </a:r>
            <a:endParaRPr lang="en-US" sz="950" dirty="0"/>
          </a:p>
        </p:txBody>
      </p:sp>
      <p:sp>
        <p:nvSpPr>
          <p:cNvPr id="31" name="Text 28"/>
          <p:cNvSpPr/>
          <p:nvPr/>
        </p:nvSpPr>
        <p:spPr>
          <a:xfrm>
            <a:off x="9658259" y="4113022"/>
            <a:ext cx="1801917" cy="164592"/>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GOVERNED RELEASE</a:t>
            </a:r>
            <a:endParaRPr lang="en-US" sz="680" dirty="0"/>
          </a:p>
        </p:txBody>
      </p:sp>
      <p:sp>
        <p:nvSpPr>
          <p:cNvPr id="32" name="Shape 29"/>
          <p:cNvSpPr/>
          <p:nvPr/>
        </p:nvSpPr>
        <p:spPr>
          <a:xfrm>
            <a:off x="566928" y="4570222"/>
            <a:ext cx="11057839" cy="658368"/>
          </a:xfrm>
          <a:prstGeom prst="roundRect">
            <a:avLst>
              <a:gd name="adj" fmla="val 11111"/>
            </a:avLst>
          </a:prstGeom>
          <a:solidFill>
            <a:srgbClr val="E6F4F6"/>
          </a:solidFill>
          <a:ln w="12700">
            <a:solidFill>
              <a:srgbClr val="9CCED6"/>
            </a:solidFill>
            <a:prstDash val="solid"/>
          </a:ln>
        </p:spPr>
      </p:sp>
      <p:sp>
        <p:nvSpPr>
          <p:cNvPr id="33" name="Text 30"/>
          <p:cNvSpPr/>
          <p:nvPr/>
        </p:nvSpPr>
        <p:spPr>
          <a:xfrm>
            <a:off x="749808" y="4698238"/>
            <a:ext cx="10692079" cy="457200"/>
          </a:xfrm>
          <a:prstGeom prst="rect">
            <a:avLst/>
          </a:prstGeom>
          <a:noFill/>
          <a:ln/>
        </p:spPr>
        <p:txBody>
          <a:bodyPr wrap="square" lIns="0" tIns="0" rIns="0" bIns="0" rtlCol="0" anchor="t"/>
          <a:lstStyle/>
          <a:p>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Now notice who else had a good Tuesday, without attending a single meeting about AI. </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Platform saw every agent action on the same dashboards as everything else. Risk had eleven CVE remediations evidenced automatically. The product owner got a day of Priya’s time back. Data governance can show exactly which customer records were read, by whom, under which purpose.</a:t>
            </a:r>
            <a:endParaRPr lang="en-US" sz="1000" dirty="0"/>
          </a:p>
        </p:txBody>
      </p:sp>
      <p:sp>
        <p:nvSpPr>
          <p:cNvPr id="34" name="Shape 31"/>
          <p:cNvSpPr/>
          <p:nvPr/>
        </p:nvSpPr>
        <p:spPr>
          <a:xfrm>
            <a:off x="566928" y="6382512"/>
            <a:ext cx="11057839" cy="0"/>
          </a:xfrm>
          <a:prstGeom prst="line">
            <a:avLst/>
          </a:prstGeom>
          <a:noFill/>
          <a:ln w="9525">
            <a:solidFill>
              <a:srgbClr val="E2E7EC"/>
            </a:solidFill>
            <a:prstDash val="solid"/>
          </a:ln>
        </p:spPr>
      </p:sp>
      <p:sp>
        <p:nvSpPr>
          <p:cNvPr id="35" name="Text 3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6" name="Text 3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THE MAP</a:t>
            </a:r>
            <a:endParaRPr lang="en-US" sz="1000" dirty="0"/>
          </a:p>
        </p:txBody>
      </p:sp>
      <p:sp>
        <p:nvSpPr>
          <p:cNvPr id="5" name="Text 2"/>
          <p:cNvSpPr/>
          <p:nvPr/>
        </p:nvSpPr>
        <p:spPr>
          <a:xfrm>
            <a:off x="1389888" y="621792"/>
            <a:ext cx="10234879" cy="809244"/>
          </a:xfrm>
          <a:prstGeom prst="rect">
            <a:avLst/>
          </a:prstGeom>
          <a:noFill/>
          <a:ln/>
        </p:spPr>
        <p:txBody>
          <a:bodyPr wrap="square" lIns="0" tIns="0" rIns="0" bIns="0" rtlCol="0" anchor="t"/>
          <a:lstStyle/>
          <a:p>
            <a:pPr indent="0" marL="0">
              <a:buNone/>
            </a:pPr>
            <a:r>
              <a:rPr lang="en-US" sz="2700" b="1" dirty="0">
                <a:solidFill>
                  <a:srgbClr val="0B1622"/>
                </a:solidFill>
                <a:latin typeface="Calibri" pitchFamily="34" charset="0"/>
                <a:ea typeface="Calibri" pitchFamily="34" charset="-122"/>
                <a:cs typeface="Calibri" pitchFamily="34" charset="-120"/>
              </a:rPr>
              <a:t>Seven roles and four days a week between them — and nobody has to become an AI specialist.</a:t>
            </a:r>
            <a:endParaRPr lang="en-US" sz="2700" dirty="0"/>
          </a:p>
        </p:txBody>
      </p:sp>
      <p:sp>
        <p:nvSpPr>
          <p:cNvPr id="6" name="Text 3"/>
          <p:cNvSpPr/>
          <p:nvPr/>
        </p:nvSpPr>
        <p:spPr>
          <a:xfrm>
            <a:off x="1389888" y="148590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Check the middle column. If what you care most about is missing, that is a gap in our understanding and we want it now rather than in week six.</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16354"/>
          <a:ext cx="11057839" cy="914400"/>
        </p:xfrm>
        <a:graphic>
          <a:graphicData uri="http://schemas.openxmlformats.org/drawingml/2006/table">
            <a:tbl>
              <a:tblPr/>
              <a:tblGrid>
                <a:gridCol w="1965960"/>
                <a:gridCol w="2011680"/>
                <a:gridCol w="3200400"/>
                <a:gridCol w="2999232"/>
                <a:gridCol w="859536"/>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ROLE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WHERE YOU WORK</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YOU OWN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WE NEED FROM YOU</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TIME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Product &amp; business owner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Experience · Outcomes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Naming the capability and the outcome it serves; accepting or rejecting what ships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One named person who can say yes without convening others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2 h/wk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AI practice lead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Agent Fabric</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Agent design, the capability backlog, and how quality is evaluated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The capability inventory, and your evaluation approach today</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1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Architecture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All planes — coherence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That the planes stay separable and the contracts hold as things are added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Current-state view and standing architectural decisions we must respect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0.5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Platform &amp; DevOps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Platform · Event Plane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The paved road, the event spine, and running all of it after week 12</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 non-prod namespace in week 1, and authority over the deployment template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1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Data engineering</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Knowledge · Systems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Capability contracts on data products; freshness and provenance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Catalog read access and the freshness SLA of the sources we ground 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0.5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Governance &amp; risk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Control · Knowledge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Risk tiers, what evidence must show, and who may assign a tier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Three tiers roughly defined, plus the one data class that is out of bounds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0.5 d/wk</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Our FDE team</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Across every plane, then out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Building it, proving it, documenting it and handing it over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Honest correction when we get your environment wrong</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5 people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9" name="Text 5"/>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Total client commitment: roughly four days a week across seven people.</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That is the whole ask. If a role cannot be named today, we need a date — unnamed roles are the single most reliable predictor of a slipped milestone, ahead of any technical risk.</a:t>
            </a:r>
            <a:endParaRPr lang="en-US" sz="1050" dirty="0"/>
          </a:p>
        </p:txBody>
      </p:sp>
      <p:sp>
        <p:nvSpPr>
          <p:cNvPr id="10" name="Shape 6"/>
          <p:cNvSpPr/>
          <p:nvPr/>
        </p:nvSpPr>
        <p:spPr>
          <a:xfrm>
            <a:off x="566928" y="6382512"/>
            <a:ext cx="11057839" cy="0"/>
          </a:xfrm>
          <a:prstGeom prst="line">
            <a:avLst/>
          </a:prstGeom>
          <a:noFill/>
          <a:ln w="9525">
            <a:solidFill>
              <a:srgbClr val="E2E7EC"/>
            </a:solidFill>
            <a:prstDash val="solid"/>
          </a:ln>
        </p:spPr>
      </p:sp>
      <p:sp>
        <p:nvSpPr>
          <p:cNvPr id="11"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2"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WHO DOES WHAT</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Only five activities are genuinely joint — everything else has a single, named owner.</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"Joint" usually means nobody, so we have kept it to the five places where it is genuinely true.</a:t>
            </a:r>
            <a:endParaRPr lang="en-US" sz="1250" dirty="0"/>
          </a:p>
        </p:txBody>
      </p:sp>
      <p:sp>
        <p:nvSpPr>
          <p:cNvPr id="7" name="Shape 4"/>
          <p:cNvSpPr/>
          <p:nvPr/>
        </p:nvSpPr>
        <p:spPr>
          <a:xfrm>
            <a:off x="566928" y="1945894"/>
            <a:ext cx="100584" cy="100584"/>
          </a:xfrm>
          <a:prstGeom prst="rect">
            <a:avLst/>
          </a:prstGeom>
          <a:solidFill>
            <a:srgbClr val="0B6F7D"/>
          </a:solidFill>
          <a:ln w="12700">
            <a:solidFill>
              <a:srgbClr val="333333"/>
            </a:solidFill>
            <a:prstDash val="solid"/>
          </a:ln>
        </p:spPr>
      </p:sp>
      <p:sp>
        <p:nvSpPr>
          <p:cNvPr id="8" name="Text 5"/>
          <p:cNvSpPr/>
          <p:nvPr/>
        </p:nvSpPr>
        <p:spPr>
          <a:xfrm>
            <a:off x="749808" y="1891030"/>
            <a:ext cx="3383280" cy="219456"/>
          </a:xfrm>
          <a:prstGeom prst="rect">
            <a:avLst/>
          </a:prstGeom>
          <a:noFill/>
          <a:ln/>
        </p:spPr>
        <p:txBody>
          <a:bodyPr wrap="square" lIns="0" tIns="0" rIns="0" bIns="0" rtlCol="0" anchor="ctr"/>
          <a:lstStyle/>
          <a:p>
            <a:pPr indent="0" marL="0">
              <a:buNone/>
            </a:pPr>
            <a:r>
              <a:rPr lang="en-US" sz="950" b="1" dirty="0">
                <a:solidFill>
                  <a:srgbClr val="0B1622"/>
                </a:solidFill>
                <a:latin typeface="Calibri" pitchFamily="34" charset="0"/>
                <a:ea typeface="Calibri" pitchFamily="34" charset="-122"/>
                <a:cs typeface="Calibri" pitchFamily="34" charset="-120"/>
              </a:rPr>
              <a:t>We lead — </a:t>
            </a:r>
            <a:pPr indent="0" marL="0">
              <a:buNone/>
            </a:pPr>
            <a:r>
              <a:rPr lang="en-US" sz="950" dirty="0">
                <a:solidFill>
                  <a:srgbClr val="46586B"/>
                </a:solidFill>
                <a:latin typeface="Calibri" pitchFamily="34" charset="0"/>
                <a:ea typeface="Calibri" pitchFamily="34" charset="-122"/>
                <a:cs typeface="Calibri" pitchFamily="34" charset="-120"/>
              </a:rPr>
              <a:t>our team drives, you review</a:t>
            </a:r>
            <a:endParaRPr lang="en-US" sz="950" dirty="0"/>
          </a:p>
        </p:txBody>
      </p:sp>
      <p:sp>
        <p:nvSpPr>
          <p:cNvPr id="9" name="Shape 6"/>
          <p:cNvSpPr/>
          <p:nvPr/>
        </p:nvSpPr>
        <p:spPr>
          <a:xfrm>
            <a:off x="4270248" y="1945894"/>
            <a:ext cx="100584" cy="100584"/>
          </a:xfrm>
          <a:prstGeom prst="rect">
            <a:avLst/>
          </a:prstGeom>
          <a:solidFill>
            <a:srgbClr val="8A6210"/>
          </a:solidFill>
          <a:ln w="12700">
            <a:solidFill>
              <a:srgbClr val="333333"/>
            </a:solidFill>
            <a:prstDash val="solid"/>
          </a:ln>
        </p:spPr>
      </p:sp>
      <p:sp>
        <p:nvSpPr>
          <p:cNvPr id="10" name="Text 7"/>
          <p:cNvSpPr/>
          <p:nvPr/>
        </p:nvSpPr>
        <p:spPr>
          <a:xfrm>
            <a:off x="4453128" y="1891030"/>
            <a:ext cx="3383280" cy="219456"/>
          </a:xfrm>
          <a:prstGeom prst="rect">
            <a:avLst/>
          </a:prstGeom>
          <a:noFill/>
          <a:ln/>
        </p:spPr>
        <p:txBody>
          <a:bodyPr wrap="square" lIns="0" tIns="0" rIns="0" bIns="0" rtlCol="0" anchor="ctr"/>
          <a:lstStyle/>
          <a:p>
            <a:pPr indent="0" marL="0">
              <a:buNone/>
            </a:pPr>
            <a:r>
              <a:rPr lang="en-US" sz="950" b="1" dirty="0">
                <a:solidFill>
                  <a:srgbClr val="0B1622"/>
                </a:solidFill>
                <a:latin typeface="Calibri" pitchFamily="34" charset="0"/>
                <a:ea typeface="Calibri" pitchFamily="34" charset="-122"/>
                <a:cs typeface="Calibri" pitchFamily="34" charset="-120"/>
              </a:rPr>
              <a:t>You lead — </a:t>
            </a:r>
            <a:pPr indent="0" marL="0">
              <a:buNone/>
            </a:pPr>
            <a:r>
              <a:rPr lang="en-US" sz="950" dirty="0">
                <a:solidFill>
                  <a:srgbClr val="46586B"/>
                </a:solidFill>
                <a:latin typeface="Calibri" pitchFamily="34" charset="0"/>
                <a:ea typeface="Calibri" pitchFamily="34" charset="-122"/>
                <a:cs typeface="Calibri" pitchFamily="34" charset="-120"/>
              </a:rPr>
              <a:t>only your organisation can do this</a:t>
            </a:r>
            <a:endParaRPr lang="en-US" sz="950" dirty="0"/>
          </a:p>
        </p:txBody>
      </p:sp>
      <p:sp>
        <p:nvSpPr>
          <p:cNvPr id="11" name="Shape 8"/>
          <p:cNvSpPr/>
          <p:nvPr/>
        </p:nvSpPr>
        <p:spPr>
          <a:xfrm>
            <a:off x="7973568" y="1945894"/>
            <a:ext cx="100584" cy="100584"/>
          </a:xfrm>
          <a:prstGeom prst="rect">
            <a:avLst/>
          </a:prstGeom>
          <a:solidFill>
            <a:srgbClr val="4A3AA7"/>
          </a:solidFill>
          <a:ln w="12700">
            <a:solidFill>
              <a:srgbClr val="333333"/>
            </a:solidFill>
            <a:prstDash val="solid"/>
          </a:ln>
        </p:spPr>
      </p:sp>
      <p:sp>
        <p:nvSpPr>
          <p:cNvPr id="12" name="Text 9"/>
          <p:cNvSpPr/>
          <p:nvPr/>
        </p:nvSpPr>
        <p:spPr>
          <a:xfrm>
            <a:off x="8156448" y="1891030"/>
            <a:ext cx="3383280" cy="219456"/>
          </a:xfrm>
          <a:prstGeom prst="rect">
            <a:avLst/>
          </a:prstGeom>
          <a:noFill/>
          <a:ln/>
        </p:spPr>
        <p:txBody>
          <a:bodyPr wrap="square" lIns="0" tIns="0" rIns="0" bIns="0" rtlCol="0" anchor="ctr"/>
          <a:lstStyle/>
          <a:p>
            <a:pPr indent="0" marL="0">
              <a:buNone/>
            </a:pPr>
            <a:r>
              <a:rPr lang="en-US" sz="950" b="1" dirty="0">
                <a:solidFill>
                  <a:srgbClr val="0B1622"/>
                </a:solidFill>
                <a:latin typeface="Calibri" pitchFamily="34" charset="0"/>
                <a:ea typeface="Calibri" pitchFamily="34" charset="-122"/>
                <a:cs typeface="Calibri" pitchFamily="34" charset="-120"/>
              </a:rPr>
              <a:t>Genuinely joint — </a:t>
            </a:r>
            <a:pPr indent="0" marL="0">
              <a:buNone/>
            </a:pPr>
            <a:r>
              <a:rPr lang="en-US" sz="950" dirty="0">
                <a:solidFill>
                  <a:srgbClr val="46586B"/>
                </a:solidFill>
                <a:latin typeface="Calibri" pitchFamily="34" charset="0"/>
                <a:ea typeface="Calibri" pitchFamily="34" charset="-122"/>
                <a:cs typeface="Calibri" pitchFamily="34" charset="-120"/>
              </a:rPr>
              <a:t>neither of us can do it alone</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192782"/>
          <a:ext cx="11057839" cy="914400"/>
        </p:xfrm>
        <a:graphic>
          <a:graphicData uri="http://schemas.openxmlformats.org/drawingml/2006/table">
            <a:tbl>
              <a:tblPr/>
              <a:tblGrid>
                <a:gridCol w="3200400"/>
                <a:gridCol w="658368"/>
                <a:gridCol w="658368"/>
                <a:gridCol w="658368"/>
                <a:gridCol w="5879592"/>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ACTIVITY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YOU</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JOINT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NOTE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Choosing the first squad and repositories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 know which team wants this most. That matters more than which codebase is tidiest.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Defining risk tiers and who assigns them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We bring the shape; only you can set the thresholds.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Environment, identity and repository access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The most common cause of slipped milestones. Week 1.</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Building the capability registry and grants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B6F7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The two genuinely new components. Handed over as your code.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Event plane conventions on your existing bus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Our schema, your operational reality.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Agentic review, test generation, deploy gating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B6F7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Tuned against your codebase and your house conventions.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Deciding what "good enough to merge" means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Your engineering standards, not ours. We encode them.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Golden-path templates and documentation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B6F7D"/>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Written for your platform, in your conventions.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Value baselines and how we report them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Your data, our model. Agreed week 1, fixed week 2.</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Capability backlog beyond the first workload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We facilitate; the business decides.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Evidence review and the control crosswalk</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4A3AA7"/>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Your assessors’ frameworks, our architecture evidence.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Running the fabric after week 12</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8A621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Proven in week 11 — a second squad onboards with us out of the room.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14" name="Shape 10"/>
          <p:cNvSpPr/>
          <p:nvPr/>
        </p:nvSpPr>
        <p:spPr>
          <a:xfrm>
            <a:off x="566928" y="6382512"/>
            <a:ext cx="11057839" cy="0"/>
          </a:xfrm>
          <a:prstGeom prst="line">
            <a:avLst/>
          </a:prstGeom>
          <a:noFill/>
          <a:ln w="9525">
            <a:solidFill>
              <a:srgbClr val="E2E7EC"/>
            </a:solidFill>
            <a:prstDash val="solid"/>
          </a:ln>
        </p:spPr>
      </p:sp>
      <p:sp>
        <p:nvSpPr>
          <p:cNvPr id="15" name="Text 11"/>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6" name="Text 12"/>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EVERYTHING WE BUILD IS BUILT FOR THE MOMENT WE LEAVE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DECISION RIGHTS</a:t>
            </a:r>
            <a:endParaRPr lang="en-US" sz="1000" dirty="0"/>
          </a:p>
        </p:txBody>
      </p:sp>
      <p:sp>
        <p:nvSpPr>
          <p:cNvPr id="5" name="Text 2"/>
          <p:cNvSpPr/>
          <p:nvPr/>
        </p:nvSpPr>
        <p:spPr>
          <a:xfrm>
            <a:off x="1389888" y="621792"/>
            <a:ext cx="10234879" cy="781304"/>
          </a:xfrm>
          <a:prstGeom prst="rect">
            <a:avLst/>
          </a:prstGeom>
          <a:noFill/>
          <a:ln/>
        </p:spPr>
        <p:txBody>
          <a:bodyPr wrap="square" lIns="0" tIns="0" rIns="0" bIns="0" rtlCol="0" anchor="t"/>
          <a:lstStyle/>
          <a:p>
            <a:pPr indent="0" marL="0">
              <a:buNone/>
            </a:pPr>
            <a:r>
              <a:rPr lang="en-US" sz="2600" b="1" dirty="0">
                <a:solidFill>
                  <a:srgbClr val="0B1622"/>
                </a:solidFill>
                <a:latin typeface="Calibri" pitchFamily="34" charset="0"/>
                <a:ea typeface="Calibri" pitchFamily="34" charset="-122"/>
                <a:cs typeface="Calibri" pitchFamily="34" charset="-120"/>
              </a:rPr>
              <a:t>Seven recurring decisions, each with one decider, one forum and one cadence.</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476248"/>
          <a:ext cx="11057839" cy="914400"/>
        </p:xfrm>
        <a:graphic>
          <a:graphicData uri="http://schemas.openxmlformats.org/drawingml/2006/table">
            <a:tbl>
              <a:tblPr/>
              <a:tblGrid>
                <a:gridCol w="2468880"/>
                <a:gridCol w="1920240"/>
                <a:gridCol w="1874520"/>
                <a:gridCol w="1965960"/>
                <a:gridCol w="1280160"/>
                <a:gridCol w="1545336"/>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DECISION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DECIDED BY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CONSULTED</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FORUM</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CADENCE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ESCALATES TO</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Which capability is built next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Product &amp; business owner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AI practice · architecture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Capability intake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Weekly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Sponsor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Risk tier assigned to a capability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Governance lead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Capability owner · security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Intake (T1/T2) · risk forum (T3)</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Weekly / on demand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CISO delegate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Whether a capability may go live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Capability owner (T1/T2)</a:t>
                      </a:r>
                      <a:endParaRPr lang="en-US" sz="880" dirty="0">
                        <a:latin typeface="Calibri" charset="0"/>
                        <a:ea typeface="Calibri" charset="0"/>
                        <a:cs typeface="Calibri" charset="0"/>
                      </a:endParaRPr>
                    </a:p>
                    <a:p>
                      <a:pPr indent="0" marL="0">
                        <a:buNone/>
                      </a:pPr>
                      <a:r>
                        <a:rPr lang="en-US" sz="880" dirty="0">
                          <a:solidFill>
                            <a:srgbClr val="46586B"/>
                          </a:solidFill>
                          <a:latin typeface="Calibri" pitchFamily="34" charset="0"/>
                          <a:ea typeface="Calibri" pitchFamily="34" charset="-122"/>
                          <a:cs typeface="Calibri" pitchFamily="34" charset="-120"/>
                        </a:rPr>
                        <a:t>Named approver (T3)</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Platform · security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Release gate — automated checks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Continuous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Governance lead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Whether a manifest change is acceptable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Reviewing engineer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Security, if the tier changes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The pull request itself</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Per change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Governance lead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Whether to trip a circuit breaker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The on-call engineer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Nobody — act first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None. There is no forum.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Immediate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Explain afterwards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F6"/>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Whether a policy or tier definition changes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Governance lead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Architecture · AI practice · platform</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Policy review</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Monthly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Sponsor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Whether the next roadmap move happens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Executive sponsor</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All seven roles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Quarterly review</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Quarterly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4882896"/>
            <a:ext cx="5437480" cy="676656"/>
          </a:xfrm>
          <a:prstGeom prst="roundRect">
            <a:avLst>
              <a:gd name="adj" fmla="val 10811"/>
            </a:avLst>
          </a:prstGeom>
          <a:solidFill>
            <a:srgbClr val="E6F4F6"/>
          </a:solidFill>
          <a:ln w="12700">
            <a:solidFill>
              <a:srgbClr val="9CCED6"/>
            </a:solidFill>
            <a:prstDash val="solid"/>
          </a:ln>
        </p:spPr>
      </p:sp>
      <p:sp>
        <p:nvSpPr>
          <p:cNvPr id="8" name="Text 4"/>
          <p:cNvSpPr/>
          <p:nvPr/>
        </p:nvSpPr>
        <p:spPr>
          <a:xfrm>
            <a:off x="749808" y="5010912"/>
            <a:ext cx="5071720" cy="475488"/>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The breaker row is the one to notice.</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No forum, no consultation, act first. If stopping something requires a meeting, you do not have an off switch — you have a suggestion.</a:t>
            </a:r>
            <a:endParaRPr lang="en-US" sz="980" dirty="0"/>
          </a:p>
        </p:txBody>
      </p:sp>
      <p:sp>
        <p:nvSpPr>
          <p:cNvPr id="9" name="Shape 5"/>
          <p:cNvSpPr/>
          <p:nvPr/>
        </p:nvSpPr>
        <p:spPr>
          <a:xfrm>
            <a:off x="6187288" y="4882896"/>
            <a:ext cx="5437480" cy="676656"/>
          </a:xfrm>
          <a:prstGeom prst="roundRect">
            <a:avLst>
              <a:gd name="adj" fmla="val 10811"/>
            </a:avLst>
          </a:prstGeom>
          <a:solidFill>
            <a:srgbClr val="FFFFFF"/>
          </a:solidFill>
          <a:ln w="12700">
            <a:solidFill>
              <a:srgbClr val="E2E7EC"/>
            </a:solidFill>
            <a:prstDash val="solid"/>
          </a:ln>
        </p:spPr>
      </p:sp>
      <p:sp>
        <p:nvSpPr>
          <p:cNvPr id="10" name="Text 6"/>
          <p:cNvSpPr/>
          <p:nvPr/>
        </p:nvSpPr>
        <p:spPr>
          <a:xfrm>
            <a:off x="6370168" y="5010912"/>
            <a:ext cx="5071720" cy="475488"/>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80" b="1" dirty="0">
                <a:solidFill>
                  <a:srgbClr val="0B1622"/>
                </a:solidFill>
                <a:latin typeface="Calibri" pitchFamily="34" charset="0"/>
                <a:ea typeface="Calibri" pitchFamily="34" charset="-122"/>
                <a:cs typeface="Calibri" pitchFamily="34" charset="-120"/>
              </a:rPr>
              <a:t>Reuse a forum wherever one exists.</a:t>
            </a:r>
            <a:pPr indent="0" marL="0">
              <a:lnSpc>
                <a:spcPct val="110000"/>
              </a:lnSpc>
              <a:buNone/>
            </a:pPr>
            <a:r>
              <a:rPr lang="en-US" sz="980" dirty="0">
                <a:solidFill>
                  <a:srgbClr val="46586B"/>
                </a:solidFill>
                <a:latin typeface="Calibri" pitchFamily="34" charset="0"/>
                <a:ea typeface="Calibri" pitchFamily="34" charset="-122"/>
                <a:cs typeface="Calibri" pitchFamily="34" charset="-120"/>
              </a:rPr>
              <a:t> If [CLIENT] already has an architecture council, a change board or a risk forum that fits a row, we use it. Creating governance is a last resort, not a deliverable.</a:t>
            </a:r>
            <a:endParaRPr lang="en-US" sz="980" dirty="0"/>
          </a:p>
        </p:txBody>
      </p:sp>
      <p:sp>
        <p:nvSpPr>
          <p:cNvPr id="11" name="Shape 7"/>
          <p:cNvSpPr/>
          <p:nvPr/>
        </p:nvSpPr>
        <p:spPr>
          <a:xfrm>
            <a:off x="566928" y="6382512"/>
            <a:ext cx="11057839" cy="0"/>
          </a:xfrm>
          <a:prstGeom prst="line">
            <a:avLst/>
          </a:prstGeom>
          <a:noFill/>
          <a:ln w="9525">
            <a:solidFill>
              <a:srgbClr val="E2E7EC"/>
            </a:solidFill>
            <a:prstDash val="solid"/>
          </a:ln>
        </p:spPr>
      </p:sp>
      <p:sp>
        <p:nvSpPr>
          <p:cNvPr id="12" name="Text 8"/>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3" name="Text 9"/>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IF A DECISION IS NOT ON THIS LIST, IT DOES NOT NEED A MEETING</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YOUR PART · BY FUNCTION</a:t>
            </a:r>
            <a:endParaRPr lang="en-US" sz="1000" dirty="0"/>
          </a:p>
        </p:txBody>
      </p:sp>
      <p:sp>
        <p:nvSpPr>
          <p:cNvPr id="5" name="Text 2"/>
          <p:cNvSpPr/>
          <p:nvPr/>
        </p:nvSpPr>
        <p:spPr>
          <a:xfrm>
            <a:off x="1389888" y="621792"/>
            <a:ext cx="10234879" cy="781304"/>
          </a:xfrm>
          <a:prstGeom prst="rect">
            <a:avLst/>
          </a:prstGeom>
          <a:noFill/>
          <a:ln/>
        </p:spPr>
        <p:txBody>
          <a:bodyPr wrap="square" lIns="0" tIns="0" rIns="0" bIns="0" rtlCol="0" anchor="t"/>
          <a:lstStyle/>
          <a:p>
            <a:pPr indent="0" marL="0">
              <a:buNone/>
            </a:pPr>
            <a:r>
              <a:rPr lang="en-US" sz="2600" b="1" dirty="0">
                <a:solidFill>
                  <a:srgbClr val="0B1622"/>
                </a:solidFill>
                <a:latin typeface="Calibri" pitchFamily="34" charset="0"/>
                <a:ea typeface="Calibri" pitchFamily="34" charset="-122"/>
                <a:cs typeface="Calibri" pitchFamily="34" charset="-120"/>
              </a:rPr>
              <a:t>Every function gains something specific — and gives up something small enough to name.</a:t>
            </a:r>
            <a:endParaRPr lang="en-US" sz="2600" dirty="0"/>
          </a:p>
        </p:txBody>
      </p:sp>
      <p:sp>
        <p:nvSpPr>
          <p:cNvPr id="6" name="Shape 3"/>
          <p:cNvSpPr/>
          <p:nvPr/>
        </p:nvSpPr>
        <p:spPr>
          <a:xfrm>
            <a:off x="566928" y="1512824"/>
            <a:ext cx="2682164" cy="3054096"/>
          </a:xfrm>
          <a:prstGeom prst="roundRect">
            <a:avLst>
              <a:gd name="adj" fmla="val 2727"/>
            </a:avLst>
          </a:prstGeom>
          <a:solidFill>
            <a:srgbClr val="E6F4F6"/>
          </a:solidFill>
          <a:ln w="12700">
            <a:solidFill>
              <a:srgbClr val="9CCED6"/>
            </a:solidFill>
            <a:prstDash val="solid"/>
          </a:ln>
        </p:spPr>
      </p:sp>
      <p:sp>
        <p:nvSpPr>
          <p:cNvPr id="7" name="Shape 4"/>
          <p:cNvSpPr/>
          <p:nvPr/>
        </p:nvSpPr>
        <p:spPr>
          <a:xfrm>
            <a:off x="713232" y="1640840"/>
            <a:ext cx="2389556" cy="182880"/>
          </a:xfrm>
          <a:prstGeom prst="roundRect">
            <a:avLst>
              <a:gd name="adj" fmla="val 50000"/>
            </a:avLst>
          </a:prstGeom>
          <a:solidFill>
            <a:srgbClr val="FFFFFF"/>
          </a:solidFill>
          <a:ln w="12700">
            <a:solidFill>
              <a:srgbClr val="FFFFFF"/>
            </a:solidFill>
            <a:prstDash val="solid"/>
          </a:ln>
        </p:spPr>
      </p:sp>
      <p:sp>
        <p:nvSpPr>
          <p:cNvPr id="8" name="Text 5"/>
          <p:cNvSpPr/>
          <p:nvPr/>
        </p:nvSpPr>
        <p:spPr>
          <a:xfrm>
            <a:off x="713232" y="1640840"/>
            <a:ext cx="2389556"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PLATFORM &amp; DEVOPS</a:t>
            </a:r>
            <a:endParaRPr lang="en-US" sz="750" dirty="0"/>
          </a:p>
        </p:txBody>
      </p:sp>
      <p:sp>
        <p:nvSpPr>
          <p:cNvPr id="9" name="Text 6"/>
          <p:cNvSpPr/>
          <p:nvPr/>
        </p:nvSpPr>
        <p:spPr>
          <a:xfrm>
            <a:off x="713232" y="1951736"/>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GAIN</a:t>
            </a:r>
            <a:endParaRPr lang="en-US" sz="680" dirty="0"/>
          </a:p>
        </p:txBody>
      </p:sp>
      <p:sp>
        <p:nvSpPr>
          <p:cNvPr id="10" name="Text 7"/>
          <p:cNvSpPr/>
          <p:nvPr/>
        </p:nvSpPr>
        <p:spPr>
          <a:xfrm>
            <a:off x="713232" y="2107184"/>
            <a:ext cx="2389556" cy="777240"/>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Every agent lands on your platform, in your pipelines, on your dashboards — instead of a shadow stack in a different budget line. One off switch per capability. An event spine you would have wanted anyway.</a:t>
            </a:r>
            <a:endParaRPr lang="en-US" sz="860" dirty="0"/>
          </a:p>
        </p:txBody>
      </p:sp>
      <p:sp>
        <p:nvSpPr>
          <p:cNvPr id="11" name="Text 8"/>
          <p:cNvSpPr/>
          <p:nvPr/>
        </p:nvSpPr>
        <p:spPr>
          <a:xfrm>
            <a:off x="713232" y="3021584"/>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GIVE UP</a:t>
            </a:r>
            <a:endParaRPr lang="en-US" sz="680" dirty="0"/>
          </a:p>
        </p:txBody>
      </p:sp>
      <p:sp>
        <p:nvSpPr>
          <p:cNvPr id="12" name="Text 9"/>
          <p:cNvSpPr/>
          <p:nvPr/>
        </p:nvSpPr>
        <p:spPr>
          <a:xfrm>
            <a:off x="713232" y="3177032"/>
            <a:ext cx="2389556" cy="521208"/>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A registration step enters the service lifecycle. Deployment templates gain a sidecar and a telemetry contract by default.</a:t>
            </a:r>
            <a:endParaRPr lang="en-US" sz="860" dirty="0"/>
          </a:p>
        </p:txBody>
      </p:sp>
      <p:sp>
        <p:nvSpPr>
          <p:cNvPr id="13" name="Text 10"/>
          <p:cNvSpPr/>
          <p:nvPr/>
        </p:nvSpPr>
        <p:spPr>
          <a:xfrm>
            <a:off x="713232" y="3835400"/>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WE NEED</a:t>
            </a:r>
            <a:endParaRPr lang="en-US" sz="680" dirty="0"/>
          </a:p>
        </p:txBody>
      </p:sp>
      <p:sp>
        <p:nvSpPr>
          <p:cNvPr id="14" name="Text 11"/>
          <p:cNvSpPr/>
          <p:nvPr/>
        </p:nvSpPr>
        <p:spPr>
          <a:xfrm>
            <a:off x="713232" y="3990848"/>
            <a:ext cx="2389556" cy="521208"/>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Non-prod namespace, week 1. One engineer at 1 d/wk with real authority over the template. An honest p99 latency budget.</a:t>
            </a:r>
            <a:endParaRPr lang="en-US" sz="860" dirty="0"/>
          </a:p>
        </p:txBody>
      </p:sp>
      <p:sp>
        <p:nvSpPr>
          <p:cNvPr id="15" name="Shape 12"/>
          <p:cNvSpPr/>
          <p:nvPr/>
        </p:nvSpPr>
        <p:spPr>
          <a:xfrm>
            <a:off x="3358820" y="1512824"/>
            <a:ext cx="2682164" cy="3054096"/>
          </a:xfrm>
          <a:prstGeom prst="roundRect">
            <a:avLst>
              <a:gd name="adj" fmla="val 2727"/>
            </a:avLst>
          </a:prstGeom>
          <a:solidFill>
            <a:srgbClr val="E6F4F6"/>
          </a:solidFill>
          <a:ln w="12700">
            <a:solidFill>
              <a:srgbClr val="9CCED6"/>
            </a:solidFill>
            <a:prstDash val="solid"/>
          </a:ln>
        </p:spPr>
      </p:sp>
      <p:sp>
        <p:nvSpPr>
          <p:cNvPr id="16" name="Shape 13"/>
          <p:cNvSpPr/>
          <p:nvPr/>
        </p:nvSpPr>
        <p:spPr>
          <a:xfrm>
            <a:off x="3505124" y="1640840"/>
            <a:ext cx="2389556" cy="182880"/>
          </a:xfrm>
          <a:prstGeom prst="roundRect">
            <a:avLst>
              <a:gd name="adj" fmla="val 50000"/>
            </a:avLst>
          </a:prstGeom>
          <a:solidFill>
            <a:srgbClr val="FFFFFF"/>
          </a:solidFill>
          <a:ln w="12700">
            <a:solidFill>
              <a:srgbClr val="FFFFFF"/>
            </a:solidFill>
            <a:prstDash val="solid"/>
          </a:ln>
        </p:spPr>
      </p:sp>
      <p:sp>
        <p:nvSpPr>
          <p:cNvPr id="17" name="Text 14"/>
          <p:cNvSpPr/>
          <p:nvPr/>
        </p:nvSpPr>
        <p:spPr>
          <a:xfrm>
            <a:off x="3505124" y="1640840"/>
            <a:ext cx="2389556"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AI PRACTICE</a:t>
            </a:r>
            <a:endParaRPr lang="en-US" sz="750" dirty="0"/>
          </a:p>
        </p:txBody>
      </p:sp>
      <p:sp>
        <p:nvSpPr>
          <p:cNvPr id="18" name="Text 15"/>
          <p:cNvSpPr/>
          <p:nvPr/>
        </p:nvSpPr>
        <p:spPr>
          <a:xfrm>
            <a:off x="3505124" y="1951736"/>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GAIN</a:t>
            </a:r>
            <a:endParaRPr lang="en-US" sz="680" dirty="0"/>
          </a:p>
        </p:txBody>
      </p:sp>
      <p:sp>
        <p:nvSpPr>
          <p:cNvPr id="19" name="Text 16"/>
          <p:cNvSpPr/>
          <p:nvPr/>
        </p:nvSpPr>
        <p:spPr>
          <a:xfrm>
            <a:off x="3505124" y="2107184"/>
            <a:ext cx="2389556" cy="777240"/>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A capability that fits an approved tier inherits its policy instead of negotiating one. Promotion becomes a checklist, not a committee. Models, prompts, frameworks and eval stack stay entirely yours.</a:t>
            </a:r>
            <a:endParaRPr lang="en-US" sz="860" dirty="0"/>
          </a:p>
        </p:txBody>
      </p:sp>
      <p:sp>
        <p:nvSpPr>
          <p:cNvPr id="20" name="Text 17"/>
          <p:cNvSpPr/>
          <p:nvPr/>
        </p:nvSpPr>
        <p:spPr>
          <a:xfrm>
            <a:off x="3505124" y="3021584"/>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GIVE UP</a:t>
            </a:r>
            <a:endParaRPr lang="en-US" sz="680" dirty="0"/>
          </a:p>
        </p:txBody>
      </p:sp>
      <p:sp>
        <p:nvSpPr>
          <p:cNvPr id="21" name="Text 18"/>
          <p:cNvSpPr/>
          <p:nvPr/>
        </p:nvSpPr>
        <p:spPr>
          <a:xfrm>
            <a:off x="3505124" y="3177032"/>
            <a:ext cx="2389556" cy="521208"/>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The long-lived credential that "just makes the demo work". Capabilities need a declared scope before first use — about a day, once, each.</a:t>
            </a:r>
            <a:endParaRPr lang="en-US" sz="860" dirty="0"/>
          </a:p>
        </p:txBody>
      </p:sp>
      <p:sp>
        <p:nvSpPr>
          <p:cNvPr id="22" name="Text 19"/>
          <p:cNvSpPr/>
          <p:nvPr/>
        </p:nvSpPr>
        <p:spPr>
          <a:xfrm>
            <a:off x="3505124" y="3835400"/>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WE NEED</a:t>
            </a:r>
            <a:endParaRPr lang="en-US" sz="680" dirty="0"/>
          </a:p>
        </p:txBody>
      </p:sp>
      <p:sp>
        <p:nvSpPr>
          <p:cNvPr id="23" name="Text 20"/>
          <p:cNvSpPr/>
          <p:nvPr/>
        </p:nvSpPr>
        <p:spPr>
          <a:xfrm>
            <a:off x="3505124" y="3990848"/>
            <a:ext cx="2389556" cy="393192"/>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The capability inventory for the first workload. One practitioner at 1 d/wk.</a:t>
            </a:r>
            <a:endParaRPr lang="en-US" sz="860" dirty="0"/>
          </a:p>
        </p:txBody>
      </p:sp>
      <p:sp>
        <p:nvSpPr>
          <p:cNvPr id="24" name="Shape 21"/>
          <p:cNvSpPr/>
          <p:nvPr/>
        </p:nvSpPr>
        <p:spPr>
          <a:xfrm>
            <a:off x="6150712" y="1512824"/>
            <a:ext cx="2682164" cy="3054096"/>
          </a:xfrm>
          <a:prstGeom prst="roundRect">
            <a:avLst>
              <a:gd name="adj" fmla="val 2727"/>
            </a:avLst>
          </a:prstGeom>
          <a:solidFill>
            <a:srgbClr val="FFFFFF"/>
          </a:solidFill>
          <a:ln w="12700">
            <a:solidFill>
              <a:srgbClr val="E2E7EC"/>
            </a:solidFill>
            <a:prstDash val="solid"/>
          </a:ln>
        </p:spPr>
      </p:sp>
      <p:sp>
        <p:nvSpPr>
          <p:cNvPr id="25" name="Shape 22"/>
          <p:cNvSpPr/>
          <p:nvPr/>
        </p:nvSpPr>
        <p:spPr>
          <a:xfrm>
            <a:off x="6297016" y="1640840"/>
            <a:ext cx="2389556" cy="182880"/>
          </a:xfrm>
          <a:prstGeom prst="roundRect">
            <a:avLst>
              <a:gd name="adj" fmla="val 50000"/>
            </a:avLst>
          </a:prstGeom>
          <a:solidFill>
            <a:srgbClr val="EFF2F5"/>
          </a:solidFill>
          <a:ln w="12700">
            <a:solidFill>
              <a:srgbClr val="EFF2F5"/>
            </a:solidFill>
            <a:prstDash val="solid"/>
          </a:ln>
        </p:spPr>
      </p:sp>
      <p:sp>
        <p:nvSpPr>
          <p:cNvPr id="26" name="Text 23"/>
          <p:cNvSpPr/>
          <p:nvPr/>
        </p:nvSpPr>
        <p:spPr>
          <a:xfrm>
            <a:off x="6297016" y="1640840"/>
            <a:ext cx="2389556"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DATA ENGINEERING</a:t>
            </a:r>
            <a:endParaRPr lang="en-US" sz="750" dirty="0"/>
          </a:p>
        </p:txBody>
      </p:sp>
      <p:sp>
        <p:nvSpPr>
          <p:cNvPr id="27" name="Text 24"/>
          <p:cNvSpPr/>
          <p:nvPr/>
        </p:nvSpPr>
        <p:spPr>
          <a:xfrm>
            <a:off x="6297016" y="1951736"/>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GAIN</a:t>
            </a:r>
            <a:endParaRPr lang="en-US" sz="680" dirty="0"/>
          </a:p>
        </p:txBody>
      </p:sp>
      <p:sp>
        <p:nvSpPr>
          <p:cNvPr id="28" name="Text 25"/>
          <p:cNvSpPr/>
          <p:nvPr/>
        </p:nvSpPr>
        <p:spPr>
          <a:xfrm>
            <a:off x="6297016" y="2107184"/>
            <a:ext cx="2389556" cy="649224"/>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No new pipelines in twelve weeks — curated existing sources only. Retrieval is never asked to be a security boundary. Data products gain a capability contract. Consumers finally become visible.</a:t>
            </a:r>
            <a:endParaRPr lang="en-US" sz="860" dirty="0"/>
          </a:p>
        </p:txBody>
      </p:sp>
      <p:sp>
        <p:nvSpPr>
          <p:cNvPr id="29" name="Text 26"/>
          <p:cNvSpPr/>
          <p:nvPr/>
        </p:nvSpPr>
        <p:spPr>
          <a:xfrm>
            <a:off x="6297016" y="2893568"/>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GIVE UP</a:t>
            </a:r>
            <a:endParaRPr lang="en-US" sz="680" dirty="0"/>
          </a:p>
        </p:txBody>
      </p:sp>
      <p:sp>
        <p:nvSpPr>
          <p:cNvPr id="30" name="Text 27"/>
          <p:cNvSpPr/>
          <p:nvPr/>
        </p:nvSpPr>
        <p:spPr>
          <a:xfrm>
            <a:off x="6297016" y="3049016"/>
            <a:ext cx="2389556" cy="521208"/>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Sources used for grounding must carry provenance — source, timestamp, owner. That is a standard, not a project.</a:t>
            </a:r>
            <a:endParaRPr lang="en-US" sz="860" dirty="0"/>
          </a:p>
        </p:txBody>
      </p:sp>
      <p:sp>
        <p:nvSpPr>
          <p:cNvPr id="31" name="Text 28"/>
          <p:cNvSpPr/>
          <p:nvPr/>
        </p:nvSpPr>
        <p:spPr>
          <a:xfrm>
            <a:off x="6297016" y="3707384"/>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WE NEED</a:t>
            </a:r>
            <a:endParaRPr lang="en-US" sz="680" dirty="0"/>
          </a:p>
        </p:txBody>
      </p:sp>
      <p:sp>
        <p:nvSpPr>
          <p:cNvPr id="32" name="Text 29"/>
          <p:cNvSpPr/>
          <p:nvPr/>
        </p:nvSpPr>
        <p:spPr>
          <a:xfrm>
            <a:off x="6297016" y="3862832"/>
            <a:ext cx="2389556" cy="393192"/>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Catalog read access, week 1. Freshness SLAs for the sources we ground on. 0.5 d/wk.</a:t>
            </a:r>
            <a:endParaRPr lang="en-US" sz="860" dirty="0"/>
          </a:p>
        </p:txBody>
      </p:sp>
      <p:sp>
        <p:nvSpPr>
          <p:cNvPr id="33" name="Shape 30"/>
          <p:cNvSpPr/>
          <p:nvPr/>
        </p:nvSpPr>
        <p:spPr>
          <a:xfrm>
            <a:off x="8942603" y="1512824"/>
            <a:ext cx="2682164" cy="3054096"/>
          </a:xfrm>
          <a:prstGeom prst="roundRect">
            <a:avLst>
              <a:gd name="adj" fmla="val 2727"/>
            </a:avLst>
          </a:prstGeom>
          <a:solidFill>
            <a:srgbClr val="FFFFFF"/>
          </a:solidFill>
          <a:ln w="12700">
            <a:solidFill>
              <a:srgbClr val="E2E7EC"/>
            </a:solidFill>
            <a:prstDash val="solid"/>
          </a:ln>
        </p:spPr>
      </p:sp>
      <p:sp>
        <p:nvSpPr>
          <p:cNvPr id="34" name="Shape 31"/>
          <p:cNvSpPr/>
          <p:nvPr/>
        </p:nvSpPr>
        <p:spPr>
          <a:xfrm>
            <a:off x="9088907" y="1640840"/>
            <a:ext cx="2389556" cy="182880"/>
          </a:xfrm>
          <a:prstGeom prst="roundRect">
            <a:avLst>
              <a:gd name="adj" fmla="val 50000"/>
            </a:avLst>
          </a:prstGeom>
          <a:solidFill>
            <a:srgbClr val="EFF2F5"/>
          </a:solidFill>
          <a:ln w="12700">
            <a:solidFill>
              <a:srgbClr val="EFF2F5"/>
            </a:solidFill>
            <a:prstDash val="solid"/>
          </a:ln>
        </p:spPr>
      </p:sp>
      <p:sp>
        <p:nvSpPr>
          <p:cNvPr id="35" name="Text 32"/>
          <p:cNvSpPr/>
          <p:nvPr/>
        </p:nvSpPr>
        <p:spPr>
          <a:xfrm>
            <a:off x="9088907" y="1640840"/>
            <a:ext cx="2389556"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GOVERNANCE &amp; RISK</a:t>
            </a:r>
            <a:endParaRPr lang="en-US" sz="750" dirty="0"/>
          </a:p>
        </p:txBody>
      </p:sp>
      <p:sp>
        <p:nvSpPr>
          <p:cNvPr id="36" name="Text 33"/>
          <p:cNvSpPr/>
          <p:nvPr/>
        </p:nvSpPr>
        <p:spPr>
          <a:xfrm>
            <a:off x="9088907" y="1951736"/>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GAIN</a:t>
            </a:r>
            <a:endParaRPr lang="en-US" sz="680" dirty="0"/>
          </a:p>
        </p:txBody>
      </p:sp>
      <p:sp>
        <p:nvSpPr>
          <p:cNvPr id="37" name="Text 34"/>
          <p:cNvSpPr/>
          <p:nvPr/>
        </p:nvSpPr>
        <p:spPr>
          <a:xfrm>
            <a:off x="9088907" y="2107184"/>
            <a:ext cx="2389556" cy="649224"/>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Classification becomes enforceable at access time, not asserted in a catalog. Purpose becomes expressible and checkable. Evidence is continuous — you stop assembling it and start querying it.</a:t>
            </a:r>
            <a:endParaRPr lang="en-US" sz="860" dirty="0"/>
          </a:p>
        </p:txBody>
      </p:sp>
      <p:sp>
        <p:nvSpPr>
          <p:cNvPr id="38" name="Text 35"/>
          <p:cNvSpPr/>
          <p:nvPr/>
        </p:nvSpPr>
        <p:spPr>
          <a:xfrm>
            <a:off x="9088907" y="2893568"/>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YOU GIVE UP</a:t>
            </a:r>
            <a:endParaRPr lang="en-US" sz="680" dirty="0"/>
          </a:p>
        </p:txBody>
      </p:sp>
      <p:sp>
        <p:nvSpPr>
          <p:cNvPr id="39" name="Text 36"/>
          <p:cNvSpPr/>
          <p:nvPr/>
        </p:nvSpPr>
        <p:spPr>
          <a:xfrm>
            <a:off x="9088907" y="3049016"/>
            <a:ext cx="2389556" cy="521208"/>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Tiers must be defined and owned rather than decided case by case. That is the trade that makes self-service possible.</a:t>
            </a:r>
            <a:endParaRPr lang="en-US" sz="860" dirty="0"/>
          </a:p>
        </p:txBody>
      </p:sp>
      <p:sp>
        <p:nvSpPr>
          <p:cNvPr id="40" name="Text 37"/>
          <p:cNvSpPr/>
          <p:nvPr/>
        </p:nvSpPr>
        <p:spPr>
          <a:xfrm>
            <a:off x="9088907" y="3707384"/>
            <a:ext cx="2389556" cy="137160"/>
          </a:xfrm>
          <a:prstGeom prst="rect">
            <a:avLst/>
          </a:prstGeom>
          <a:noFill/>
          <a:ln/>
        </p:spPr>
        <p:txBody>
          <a:bodyPr wrap="square" lIns="0" tIns="0" rIns="0" bIns="0" rtlCol="0" anchor="ctr"/>
          <a:lstStyle/>
          <a:p>
            <a:pPr indent="0" marL="0">
              <a:buNone/>
            </a:pPr>
            <a:r>
              <a:rPr lang="en-US" sz="680" b="1" spc="100" kern="0" dirty="0">
                <a:solidFill>
                  <a:srgbClr val="7E8C9B"/>
                </a:solidFill>
                <a:latin typeface="Consolas" pitchFamily="34" charset="0"/>
                <a:ea typeface="Consolas" pitchFamily="34" charset="-122"/>
                <a:cs typeface="Consolas" pitchFamily="34" charset="-120"/>
              </a:rPr>
              <a:t>WE NEED</a:t>
            </a:r>
            <a:endParaRPr lang="en-US" sz="680" dirty="0"/>
          </a:p>
        </p:txBody>
      </p:sp>
      <p:sp>
        <p:nvSpPr>
          <p:cNvPr id="41" name="Text 38"/>
          <p:cNvSpPr/>
          <p:nvPr/>
        </p:nvSpPr>
        <p:spPr>
          <a:xfrm>
            <a:off x="9088907" y="3862832"/>
            <a:ext cx="2389556" cy="393192"/>
          </a:xfrm>
          <a:prstGeom prst="rect">
            <a:avLst/>
          </a:prstGeom>
          <a:noFill/>
          <a:ln/>
        </p:spPr>
        <p:txBody>
          <a:bodyPr wrap="square" lIns="0" tIns="0" rIns="0" bIns="0" rtlCol="0" anchor="t"/>
          <a:lstStyle/>
          <a:p>
            <a:pPr indent="0" marL="0">
              <a:lnSpc>
                <a:spcPct val="110000"/>
              </a:lnSpc>
              <a:buNone/>
            </a:pPr>
            <a:r>
              <a:rPr lang="en-US" sz="860" dirty="0">
                <a:solidFill>
                  <a:srgbClr val="46586B"/>
                </a:solidFill>
                <a:latin typeface="Calibri" pitchFamily="34" charset="0"/>
                <a:ea typeface="Calibri" pitchFamily="34" charset="-122"/>
                <a:cs typeface="Calibri" pitchFamily="34" charset="-120"/>
              </a:rPr>
              <a:t>Three tiers roughly defined, week 1. Who assigns them. The one out-of-bounds data class. 0.5 d/wk.</a:t>
            </a:r>
            <a:endParaRPr lang="en-US" sz="860" dirty="0"/>
          </a:p>
        </p:txBody>
      </p:sp>
      <p:sp>
        <p:nvSpPr>
          <p:cNvPr id="42" name="Shape 39"/>
          <p:cNvSpPr/>
          <p:nvPr/>
        </p:nvSpPr>
        <p:spPr>
          <a:xfrm>
            <a:off x="566928" y="5029200"/>
            <a:ext cx="11057839" cy="530352"/>
          </a:xfrm>
          <a:prstGeom prst="roundRect">
            <a:avLst>
              <a:gd name="adj" fmla="val 13793"/>
            </a:avLst>
          </a:prstGeom>
          <a:solidFill>
            <a:srgbClr val="F3F1FB"/>
          </a:solidFill>
          <a:ln w="12700">
            <a:solidFill>
              <a:srgbClr val="C9C1EA"/>
            </a:solidFill>
            <a:prstDash val="dash"/>
          </a:ln>
        </p:spPr>
      </p:sp>
      <p:sp>
        <p:nvSpPr>
          <p:cNvPr id="43" name="Text 40"/>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If [CLIENT] has an ontology, data-mesh or catalog programme in flight:</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we feed it rather than compete with it. Everything the fabric emits — capability semantics, provenance, ownership, purpose — is structured input that programme can consume.</a:t>
            </a:r>
            <a:endParaRPr lang="en-US" sz="1000" dirty="0"/>
          </a:p>
        </p:txBody>
      </p:sp>
      <p:sp>
        <p:nvSpPr>
          <p:cNvPr id="44" name="Shape 41"/>
          <p:cNvSpPr/>
          <p:nvPr/>
        </p:nvSpPr>
        <p:spPr>
          <a:xfrm>
            <a:off x="566928" y="6382512"/>
            <a:ext cx="11057839" cy="0"/>
          </a:xfrm>
          <a:prstGeom prst="line">
            <a:avLst/>
          </a:prstGeom>
          <a:noFill/>
          <a:ln w="9525">
            <a:solidFill>
              <a:srgbClr val="E2E7EC"/>
            </a:solidFill>
            <a:prstDash val="solid"/>
          </a:ln>
        </p:spPr>
      </p:sp>
      <p:sp>
        <p:nvSpPr>
          <p:cNvPr id="45" name="Text 4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46" name="Text 4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MATURITY BY SEGMENT</a:t>
            </a:r>
            <a:endParaRPr lang="en-US" sz="1000" dirty="0"/>
          </a:p>
        </p:txBody>
      </p:sp>
      <p:sp>
        <p:nvSpPr>
          <p:cNvPr id="5" name="Text 2"/>
          <p:cNvSpPr/>
          <p:nvPr/>
        </p:nvSpPr>
        <p:spPr>
          <a:xfrm>
            <a:off x="1389888" y="621792"/>
            <a:ext cx="10234879" cy="781304"/>
          </a:xfrm>
          <a:prstGeom prst="rect">
            <a:avLst/>
          </a:prstGeom>
          <a:noFill/>
          <a:ln/>
        </p:spPr>
        <p:txBody>
          <a:bodyPr wrap="square" lIns="0" tIns="0" rIns="0" bIns="0" rtlCol="0" anchor="t"/>
          <a:lstStyle/>
          <a:p>
            <a:pPr indent="0" marL="0">
              <a:buNone/>
            </a:pPr>
            <a:r>
              <a:rPr lang="en-US" sz="2600" b="1" dirty="0">
                <a:solidFill>
                  <a:srgbClr val="0B1622"/>
                </a:solidFill>
                <a:latin typeface="Calibri" pitchFamily="34" charset="0"/>
                <a:ea typeface="Calibri" pitchFamily="34" charset="-122"/>
                <a:cs typeface="Calibri" pitchFamily="34" charset="-120"/>
              </a:rPr>
              <a:t>The twelve weeks delivers level one across all five segments — everything right of that is a later choice.</a:t>
            </a:r>
            <a:endParaRPr lang="en-US" sz="2600" dirty="0"/>
          </a:p>
        </p:txBody>
      </p:sp>
      <p:sp>
        <p:nvSpPr>
          <p:cNvPr id="6" name="Text 3"/>
          <p:cNvSpPr/>
          <p:nvPr/>
        </p:nvSpPr>
        <p:spPr>
          <a:xfrm>
            <a:off x="1389888" y="145796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Nobody needs to be at level three. Everything to the right of the blue column is a choice made later, with better information than anyone in this room has today.</a:t>
            </a:r>
            <a:endParaRPr lang="en-US" sz="1250" dirty="0"/>
          </a:p>
        </p:txBody>
      </p:sp>
      <p:sp>
        <p:nvSpPr>
          <p:cNvPr id="7" name="Text 4"/>
          <p:cNvSpPr/>
          <p:nvPr/>
        </p:nvSpPr>
        <p:spPr>
          <a:xfrm>
            <a:off x="2459736" y="1972564"/>
            <a:ext cx="3018434" cy="164592"/>
          </a:xfrm>
          <a:prstGeom prst="rect">
            <a:avLst/>
          </a:prstGeom>
          <a:noFill/>
          <a:ln/>
        </p:spPr>
        <p:txBody>
          <a:bodyPr wrap="square" lIns="0" tIns="0" rIns="0" bIns="0" rtlCol="0" anchor="ctr"/>
          <a:lstStyle/>
          <a:p>
            <a:pPr indent="0" marL="0">
              <a:buNone/>
            </a:pPr>
            <a:r>
              <a:rPr lang="en-US" sz="720" b="1" spc="120" kern="0" dirty="0">
                <a:solidFill>
                  <a:srgbClr val="7E8C9B"/>
                </a:solidFill>
                <a:latin typeface="Consolas" pitchFamily="34" charset="0"/>
                <a:ea typeface="Consolas" pitchFamily="34" charset="-122"/>
                <a:cs typeface="Consolas" pitchFamily="34" charset="-120"/>
              </a:rPr>
              <a:t>LEVEL 1 · FOUNDATION — WEEKS 1–12</a:t>
            </a:r>
            <a:endParaRPr lang="en-US" sz="720" dirty="0"/>
          </a:p>
        </p:txBody>
      </p:sp>
      <p:sp>
        <p:nvSpPr>
          <p:cNvPr id="8" name="Text 5"/>
          <p:cNvSpPr/>
          <p:nvPr/>
        </p:nvSpPr>
        <p:spPr>
          <a:xfrm>
            <a:off x="5587898" y="1972564"/>
            <a:ext cx="3018434" cy="164592"/>
          </a:xfrm>
          <a:prstGeom prst="rect">
            <a:avLst/>
          </a:prstGeom>
          <a:noFill/>
          <a:ln/>
        </p:spPr>
        <p:txBody>
          <a:bodyPr wrap="square" lIns="0" tIns="0" rIns="0" bIns="0" rtlCol="0" anchor="ctr"/>
          <a:lstStyle/>
          <a:p>
            <a:pPr indent="0" marL="0">
              <a:buNone/>
            </a:pPr>
            <a:r>
              <a:rPr lang="en-US" sz="720" b="1" spc="120" kern="0" dirty="0">
                <a:solidFill>
                  <a:srgbClr val="7E8C9B"/>
                </a:solidFill>
                <a:latin typeface="Consolas" pitchFamily="34" charset="0"/>
                <a:ea typeface="Consolas" pitchFamily="34" charset="-122"/>
                <a:cs typeface="Consolas" pitchFamily="34" charset="-120"/>
              </a:rPr>
              <a:t>LEVEL 2 · SCALE — QUARTERS 2–3</a:t>
            </a:r>
            <a:endParaRPr lang="en-US" sz="720" dirty="0"/>
          </a:p>
        </p:txBody>
      </p:sp>
      <p:sp>
        <p:nvSpPr>
          <p:cNvPr id="9" name="Text 6"/>
          <p:cNvSpPr/>
          <p:nvPr/>
        </p:nvSpPr>
        <p:spPr>
          <a:xfrm>
            <a:off x="8716061" y="1972564"/>
            <a:ext cx="3018434" cy="164592"/>
          </a:xfrm>
          <a:prstGeom prst="rect">
            <a:avLst/>
          </a:prstGeom>
          <a:noFill/>
          <a:ln/>
        </p:spPr>
        <p:txBody>
          <a:bodyPr wrap="square" lIns="0" tIns="0" rIns="0" bIns="0" rtlCol="0" anchor="ctr"/>
          <a:lstStyle/>
          <a:p>
            <a:pPr indent="0" marL="0">
              <a:buNone/>
            </a:pPr>
            <a:r>
              <a:rPr lang="en-US" sz="720" b="1" spc="120" kern="0" dirty="0">
                <a:solidFill>
                  <a:srgbClr val="7E8C9B"/>
                </a:solidFill>
                <a:latin typeface="Consolas" pitchFamily="34" charset="0"/>
                <a:ea typeface="Consolas" pitchFamily="34" charset="-122"/>
                <a:cs typeface="Consolas" pitchFamily="34" charset="-120"/>
              </a:rPr>
              <a:t>LEVEL 3 · COMPOUNDING — QUARTER 4+</a:t>
            </a:r>
            <a:endParaRPr lang="en-US" sz="720" dirty="0"/>
          </a:p>
        </p:txBody>
      </p:sp>
      <p:sp>
        <p:nvSpPr>
          <p:cNvPr id="10" name="Text 7"/>
          <p:cNvSpPr/>
          <p:nvPr/>
        </p:nvSpPr>
        <p:spPr>
          <a:xfrm>
            <a:off x="566928" y="2283460"/>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Agent fabric</a:t>
            </a:r>
            <a:endParaRPr lang="en-US" sz="1150" dirty="0"/>
          </a:p>
        </p:txBody>
      </p:sp>
      <p:sp>
        <p:nvSpPr>
          <p:cNvPr id="11" name="Text 8"/>
          <p:cNvSpPr/>
          <p:nvPr/>
        </p:nvSpPr>
        <p:spPr>
          <a:xfrm>
            <a:off x="566928" y="2475484"/>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Registry, orchestration, delegation</a:t>
            </a:r>
            <a:endParaRPr lang="en-US" sz="840" dirty="0"/>
          </a:p>
        </p:txBody>
      </p:sp>
      <p:sp>
        <p:nvSpPr>
          <p:cNvPr id="12" name="Shape 9"/>
          <p:cNvSpPr/>
          <p:nvPr/>
        </p:nvSpPr>
        <p:spPr>
          <a:xfrm>
            <a:off x="2459736" y="2192020"/>
            <a:ext cx="3018434" cy="621792"/>
          </a:xfrm>
          <a:prstGeom prst="roundRect">
            <a:avLst>
              <a:gd name="adj" fmla="val 11765"/>
            </a:avLst>
          </a:prstGeom>
          <a:solidFill>
            <a:srgbClr val="E6F4F6"/>
          </a:solidFill>
          <a:ln w="12700">
            <a:solidFill>
              <a:srgbClr val="9CCED6"/>
            </a:solidFill>
            <a:prstDash val="solid"/>
          </a:ln>
        </p:spPr>
      </p:sp>
      <p:sp>
        <p:nvSpPr>
          <p:cNvPr id="13" name="Text 10"/>
          <p:cNvSpPr/>
          <p:nvPr/>
        </p:nvSpPr>
        <p:spPr>
          <a:xfrm>
            <a:off x="2569464" y="2274316"/>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Capabilities registered with owner, tier and health. One squad building on templates.</a:t>
            </a:r>
            <a:endParaRPr lang="en-US" sz="880" dirty="0"/>
          </a:p>
        </p:txBody>
      </p:sp>
      <p:sp>
        <p:nvSpPr>
          <p:cNvPr id="14" name="Shape 11"/>
          <p:cNvSpPr/>
          <p:nvPr/>
        </p:nvSpPr>
        <p:spPr>
          <a:xfrm>
            <a:off x="5587898" y="2192020"/>
            <a:ext cx="3018434" cy="621792"/>
          </a:xfrm>
          <a:prstGeom prst="roundRect">
            <a:avLst>
              <a:gd name="adj" fmla="val 11765"/>
            </a:avLst>
          </a:prstGeom>
          <a:solidFill>
            <a:srgbClr val="FFFFFF"/>
          </a:solidFill>
          <a:ln w="12700">
            <a:solidFill>
              <a:srgbClr val="E2E7EC"/>
            </a:solidFill>
            <a:prstDash val="solid"/>
          </a:ln>
        </p:spPr>
      </p:sp>
      <p:sp>
        <p:nvSpPr>
          <p:cNvPr id="15" name="Text 12"/>
          <p:cNvSpPr/>
          <p:nvPr/>
        </p:nvSpPr>
        <p:spPr>
          <a:xfrm>
            <a:off x="5697626" y="2274316"/>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Self-service onboarding across squads. Delegation between agents. A backlog owned by the business.</a:t>
            </a:r>
            <a:endParaRPr lang="en-US" sz="880" dirty="0"/>
          </a:p>
        </p:txBody>
      </p:sp>
      <p:sp>
        <p:nvSpPr>
          <p:cNvPr id="16" name="Shape 13"/>
          <p:cNvSpPr/>
          <p:nvPr/>
        </p:nvSpPr>
        <p:spPr>
          <a:xfrm>
            <a:off x="8716061" y="2192020"/>
            <a:ext cx="3018434" cy="621792"/>
          </a:xfrm>
          <a:prstGeom prst="roundRect">
            <a:avLst>
              <a:gd name="adj" fmla="val 11765"/>
            </a:avLst>
          </a:prstGeom>
          <a:solidFill>
            <a:srgbClr val="FFFDF6"/>
          </a:solidFill>
          <a:ln w="12700">
            <a:solidFill>
              <a:srgbClr val="E8D5A8"/>
            </a:solidFill>
            <a:prstDash val="solid"/>
          </a:ln>
        </p:spPr>
      </p:sp>
      <p:sp>
        <p:nvSpPr>
          <p:cNvPr id="17" name="Text 14"/>
          <p:cNvSpPr/>
          <p:nvPr/>
        </p:nvSpPr>
        <p:spPr>
          <a:xfrm>
            <a:off x="8825789" y="2274316"/>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Portfolio management — capabilities retired, versioned and reused as deliberately as microservices.</a:t>
            </a:r>
            <a:endParaRPr lang="en-US" sz="880" dirty="0"/>
          </a:p>
        </p:txBody>
      </p:sp>
      <p:sp>
        <p:nvSpPr>
          <p:cNvPr id="18" name="Text 15"/>
          <p:cNvSpPr/>
          <p:nvPr/>
        </p:nvSpPr>
        <p:spPr>
          <a:xfrm>
            <a:off x="566928" y="2987548"/>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Event plane</a:t>
            </a:r>
            <a:endParaRPr lang="en-US" sz="1150" dirty="0"/>
          </a:p>
        </p:txBody>
      </p:sp>
      <p:sp>
        <p:nvSpPr>
          <p:cNvPr id="19" name="Text 16"/>
          <p:cNvSpPr/>
          <p:nvPr/>
        </p:nvSpPr>
        <p:spPr>
          <a:xfrm>
            <a:off x="566928" y="3179572"/>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Observability and triggers</a:t>
            </a:r>
            <a:endParaRPr lang="en-US" sz="840" dirty="0"/>
          </a:p>
        </p:txBody>
      </p:sp>
      <p:sp>
        <p:nvSpPr>
          <p:cNvPr id="20" name="Shape 17"/>
          <p:cNvSpPr/>
          <p:nvPr/>
        </p:nvSpPr>
        <p:spPr>
          <a:xfrm>
            <a:off x="2459736" y="2896108"/>
            <a:ext cx="3018434" cy="621792"/>
          </a:xfrm>
          <a:prstGeom prst="roundRect">
            <a:avLst>
              <a:gd name="adj" fmla="val 11765"/>
            </a:avLst>
          </a:prstGeom>
          <a:solidFill>
            <a:srgbClr val="E6F4F6"/>
          </a:solidFill>
          <a:ln w="12700">
            <a:solidFill>
              <a:srgbClr val="9CCED6"/>
            </a:solidFill>
            <a:prstDash val="solid"/>
          </a:ln>
        </p:spPr>
      </p:sp>
      <p:sp>
        <p:nvSpPr>
          <p:cNvPr id="21" name="Text 18"/>
          <p:cNvSpPr/>
          <p:nvPr/>
        </p:nvSpPr>
        <p:spPr>
          <a:xfrm>
            <a:off x="2569464" y="2978404"/>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One correlated context across agents and services. Events trigger the delivery agents.</a:t>
            </a:r>
            <a:endParaRPr lang="en-US" sz="880" dirty="0"/>
          </a:p>
        </p:txBody>
      </p:sp>
      <p:sp>
        <p:nvSpPr>
          <p:cNvPr id="22" name="Shape 19"/>
          <p:cNvSpPr/>
          <p:nvPr/>
        </p:nvSpPr>
        <p:spPr>
          <a:xfrm>
            <a:off x="5587898" y="2896108"/>
            <a:ext cx="3018434" cy="621792"/>
          </a:xfrm>
          <a:prstGeom prst="roundRect">
            <a:avLst>
              <a:gd name="adj" fmla="val 11765"/>
            </a:avLst>
          </a:prstGeom>
          <a:solidFill>
            <a:srgbClr val="FFFFFF"/>
          </a:solidFill>
          <a:ln w="12700">
            <a:solidFill>
              <a:srgbClr val="E2E7EC"/>
            </a:solidFill>
            <a:prstDash val="solid"/>
          </a:ln>
        </p:spPr>
      </p:sp>
      <p:sp>
        <p:nvSpPr>
          <p:cNvPr id="23" name="Text 20"/>
          <p:cNvSpPr/>
          <p:nvPr/>
        </p:nvSpPr>
        <p:spPr>
          <a:xfrm>
            <a:off x="5697626" y="2978404"/>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Business events trigger business capabilities. Evidence stream feeds risk reporting directly.</a:t>
            </a:r>
            <a:endParaRPr lang="en-US" sz="880" dirty="0"/>
          </a:p>
        </p:txBody>
      </p:sp>
      <p:sp>
        <p:nvSpPr>
          <p:cNvPr id="24" name="Shape 21"/>
          <p:cNvSpPr/>
          <p:nvPr/>
        </p:nvSpPr>
        <p:spPr>
          <a:xfrm>
            <a:off x="8716061" y="2896108"/>
            <a:ext cx="3018434" cy="621792"/>
          </a:xfrm>
          <a:prstGeom prst="roundRect">
            <a:avLst>
              <a:gd name="adj" fmla="val 11765"/>
            </a:avLst>
          </a:prstGeom>
          <a:solidFill>
            <a:srgbClr val="FFFDF6"/>
          </a:solidFill>
          <a:ln w="12700">
            <a:solidFill>
              <a:srgbClr val="E8D5A8"/>
            </a:solidFill>
            <a:prstDash val="solid"/>
          </a:ln>
        </p:spPr>
      </p:sp>
      <p:sp>
        <p:nvSpPr>
          <p:cNvPr id="25" name="Text 22"/>
          <p:cNvSpPr/>
          <p:nvPr/>
        </p:nvSpPr>
        <p:spPr>
          <a:xfrm>
            <a:off x="8825789" y="2978404"/>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Governed autonomous operations — the system reacts within policy, humans supervise by exception.</a:t>
            </a:r>
            <a:endParaRPr lang="en-US" sz="880" dirty="0"/>
          </a:p>
        </p:txBody>
      </p:sp>
      <p:sp>
        <p:nvSpPr>
          <p:cNvPr id="26" name="Text 23"/>
          <p:cNvSpPr/>
          <p:nvPr/>
        </p:nvSpPr>
        <p:spPr>
          <a:xfrm>
            <a:off x="566928" y="3691636"/>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Knowledge</a:t>
            </a:r>
            <a:endParaRPr lang="en-US" sz="1150" dirty="0"/>
          </a:p>
        </p:txBody>
      </p:sp>
      <p:sp>
        <p:nvSpPr>
          <p:cNvPr id="27" name="Text 24"/>
          <p:cNvSpPr/>
          <p:nvPr/>
        </p:nvSpPr>
        <p:spPr>
          <a:xfrm>
            <a:off x="566928" y="3883660"/>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Meaning, grounding, memory</a:t>
            </a:r>
            <a:endParaRPr lang="en-US" sz="840" dirty="0"/>
          </a:p>
        </p:txBody>
      </p:sp>
      <p:sp>
        <p:nvSpPr>
          <p:cNvPr id="28" name="Shape 25"/>
          <p:cNvSpPr/>
          <p:nvPr/>
        </p:nvSpPr>
        <p:spPr>
          <a:xfrm>
            <a:off x="2459736" y="3600196"/>
            <a:ext cx="3018434" cy="621792"/>
          </a:xfrm>
          <a:prstGeom prst="roundRect">
            <a:avLst>
              <a:gd name="adj" fmla="val 11765"/>
            </a:avLst>
          </a:prstGeom>
          <a:solidFill>
            <a:srgbClr val="E6F4F6"/>
          </a:solidFill>
          <a:ln w="12700">
            <a:solidFill>
              <a:srgbClr val="9CCED6"/>
            </a:solidFill>
            <a:prstDash val="solid"/>
          </a:ln>
        </p:spPr>
      </p:sp>
      <p:sp>
        <p:nvSpPr>
          <p:cNvPr id="29" name="Text 26"/>
          <p:cNvSpPr/>
          <p:nvPr/>
        </p:nvSpPr>
        <p:spPr>
          <a:xfrm>
            <a:off x="2569464" y="3682492"/>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Provenance and grounded retrieval. Every answer carries source, timestamp and owner.</a:t>
            </a:r>
            <a:endParaRPr lang="en-US" sz="880" dirty="0"/>
          </a:p>
        </p:txBody>
      </p:sp>
      <p:sp>
        <p:nvSpPr>
          <p:cNvPr id="30" name="Shape 27"/>
          <p:cNvSpPr/>
          <p:nvPr/>
        </p:nvSpPr>
        <p:spPr>
          <a:xfrm>
            <a:off x="5587898" y="3600196"/>
            <a:ext cx="3018434" cy="621792"/>
          </a:xfrm>
          <a:prstGeom prst="roundRect">
            <a:avLst>
              <a:gd name="adj" fmla="val 11765"/>
            </a:avLst>
          </a:prstGeom>
          <a:solidFill>
            <a:srgbClr val="FFFFFF"/>
          </a:solidFill>
          <a:ln w="12700">
            <a:solidFill>
              <a:srgbClr val="E2E7EC"/>
            </a:solidFill>
            <a:prstDash val="solid"/>
          </a:ln>
        </p:spPr>
      </p:sp>
      <p:sp>
        <p:nvSpPr>
          <p:cNvPr id="31" name="Text 28"/>
          <p:cNvSpPr/>
          <p:nvPr/>
        </p:nvSpPr>
        <p:spPr>
          <a:xfrm>
            <a:off x="5697626" y="3682492"/>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Shared vocabulary for one or two domains. Entity resolution where it pays.</a:t>
            </a:r>
            <a:endParaRPr lang="en-US" sz="880" dirty="0"/>
          </a:p>
        </p:txBody>
      </p:sp>
      <p:sp>
        <p:nvSpPr>
          <p:cNvPr id="32" name="Shape 29"/>
          <p:cNvSpPr/>
          <p:nvPr/>
        </p:nvSpPr>
        <p:spPr>
          <a:xfrm>
            <a:off x="8716061" y="3600196"/>
            <a:ext cx="3018434" cy="621792"/>
          </a:xfrm>
          <a:prstGeom prst="roundRect">
            <a:avLst>
              <a:gd name="adj" fmla="val 11765"/>
            </a:avLst>
          </a:prstGeom>
          <a:solidFill>
            <a:srgbClr val="FFFDF6"/>
          </a:solidFill>
          <a:ln w="12700">
            <a:solidFill>
              <a:srgbClr val="E8D5A8"/>
            </a:solidFill>
            <a:prstDash val="solid"/>
          </a:ln>
        </p:spPr>
      </p:sp>
      <p:sp>
        <p:nvSpPr>
          <p:cNvPr id="33" name="Text 30"/>
          <p:cNvSpPr/>
          <p:nvPr/>
        </p:nvSpPr>
        <p:spPr>
          <a:xfrm>
            <a:off x="8825789" y="3682492"/>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Federated ontology across domains — compliance and integration become properties, not projects.</a:t>
            </a:r>
            <a:endParaRPr lang="en-US" sz="880" dirty="0"/>
          </a:p>
        </p:txBody>
      </p:sp>
      <p:sp>
        <p:nvSpPr>
          <p:cNvPr id="34" name="Text 31"/>
          <p:cNvSpPr/>
          <p:nvPr/>
        </p:nvSpPr>
        <p:spPr>
          <a:xfrm>
            <a:off x="566928" y="4395724"/>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Safe execution</a:t>
            </a:r>
            <a:endParaRPr lang="en-US" sz="1150" dirty="0"/>
          </a:p>
        </p:txBody>
      </p:sp>
      <p:sp>
        <p:nvSpPr>
          <p:cNvPr id="35" name="Text 32"/>
          <p:cNvSpPr/>
          <p:nvPr/>
        </p:nvSpPr>
        <p:spPr>
          <a:xfrm>
            <a:off x="566928" y="4587748"/>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Tiers, sandboxing, authority</a:t>
            </a:r>
            <a:endParaRPr lang="en-US" sz="840" dirty="0"/>
          </a:p>
        </p:txBody>
      </p:sp>
      <p:sp>
        <p:nvSpPr>
          <p:cNvPr id="36" name="Shape 33"/>
          <p:cNvSpPr/>
          <p:nvPr/>
        </p:nvSpPr>
        <p:spPr>
          <a:xfrm>
            <a:off x="2459736" y="4304284"/>
            <a:ext cx="3018434" cy="621792"/>
          </a:xfrm>
          <a:prstGeom prst="roundRect">
            <a:avLst>
              <a:gd name="adj" fmla="val 11765"/>
            </a:avLst>
          </a:prstGeom>
          <a:solidFill>
            <a:srgbClr val="E6F4F6"/>
          </a:solidFill>
          <a:ln w="12700">
            <a:solidFill>
              <a:srgbClr val="9CCED6"/>
            </a:solidFill>
            <a:prstDash val="solid"/>
          </a:ln>
        </p:spPr>
      </p:sp>
      <p:sp>
        <p:nvSpPr>
          <p:cNvPr id="37" name="Text 34"/>
          <p:cNvSpPr/>
          <p:nvPr/>
        </p:nvSpPr>
        <p:spPr>
          <a:xfrm>
            <a:off x="2569464" y="4386580"/>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Three risk tiers. Capability manifests reviewed as code. Sandboxed writes on tier 1 and 2.</a:t>
            </a:r>
            <a:endParaRPr lang="en-US" sz="880" dirty="0"/>
          </a:p>
        </p:txBody>
      </p:sp>
      <p:sp>
        <p:nvSpPr>
          <p:cNvPr id="38" name="Shape 35"/>
          <p:cNvSpPr/>
          <p:nvPr/>
        </p:nvSpPr>
        <p:spPr>
          <a:xfrm>
            <a:off x="5587898" y="4304284"/>
            <a:ext cx="3018434" cy="621792"/>
          </a:xfrm>
          <a:prstGeom prst="roundRect">
            <a:avLst>
              <a:gd name="adj" fmla="val 11765"/>
            </a:avLst>
          </a:prstGeom>
          <a:solidFill>
            <a:srgbClr val="FFFFFF"/>
          </a:solidFill>
          <a:ln w="12700">
            <a:solidFill>
              <a:srgbClr val="E2E7EC"/>
            </a:solidFill>
            <a:prstDash val="solid"/>
          </a:ln>
        </p:spPr>
      </p:sp>
      <p:sp>
        <p:nvSpPr>
          <p:cNvPr id="39" name="Text 36"/>
          <p:cNvSpPr/>
          <p:nvPr/>
        </p:nvSpPr>
        <p:spPr>
          <a:xfrm>
            <a:off x="5697626" y="4386580"/>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Tier assignment self-served against clear criteria. Security review becomes exception handling.</a:t>
            </a:r>
            <a:endParaRPr lang="en-US" sz="880" dirty="0"/>
          </a:p>
        </p:txBody>
      </p:sp>
      <p:sp>
        <p:nvSpPr>
          <p:cNvPr id="40" name="Shape 37"/>
          <p:cNvSpPr/>
          <p:nvPr/>
        </p:nvSpPr>
        <p:spPr>
          <a:xfrm>
            <a:off x="8716061" y="4304284"/>
            <a:ext cx="3018434" cy="621792"/>
          </a:xfrm>
          <a:prstGeom prst="roundRect">
            <a:avLst>
              <a:gd name="adj" fmla="val 11765"/>
            </a:avLst>
          </a:prstGeom>
          <a:solidFill>
            <a:srgbClr val="FFFDF6"/>
          </a:solidFill>
          <a:ln w="12700">
            <a:solidFill>
              <a:srgbClr val="E8D5A8"/>
            </a:solidFill>
            <a:prstDash val="solid"/>
          </a:ln>
        </p:spPr>
      </p:sp>
      <p:sp>
        <p:nvSpPr>
          <p:cNvPr id="41" name="Text 38"/>
          <p:cNvSpPr/>
          <p:nvPr/>
        </p:nvSpPr>
        <p:spPr>
          <a:xfrm>
            <a:off x="8825789" y="4386580"/>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Policy as code at scale — new regulation lands as a policy change, not a programme.</a:t>
            </a:r>
            <a:endParaRPr lang="en-US" sz="880" dirty="0"/>
          </a:p>
        </p:txBody>
      </p:sp>
      <p:sp>
        <p:nvSpPr>
          <p:cNvPr id="42" name="Text 39"/>
          <p:cNvSpPr/>
          <p:nvPr/>
        </p:nvSpPr>
        <p:spPr>
          <a:xfrm>
            <a:off x="566928" y="5099812"/>
            <a:ext cx="1783080" cy="182880"/>
          </a:xfrm>
          <a:prstGeom prst="rect">
            <a:avLst/>
          </a:prstGeom>
          <a:noFill/>
          <a:ln/>
        </p:spPr>
        <p:txBody>
          <a:bodyPr wrap="square" lIns="0" tIns="0" rIns="0" bIns="0" rtlCol="0" anchor="ctr"/>
          <a:lstStyle/>
          <a:p>
            <a:pPr indent="0" marL="0">
              <a:buNone/>
            </a:pPr>
            <a:r>
              <a:rPr lang="en-US" sz="1150" b="1" dirty="0">
                <a:solidFill>
                  <a:srgbClr val="0B1622"/>
                </a:solidFill>
                <a:latin typeface="Calibri" pitchFamily="34" charset="0"/>
                <a:ea typeface="Calibri" pitchFamily="34" charset="-122"/>
                <a:cs typeface="Calibri" pitchFamily="34" charset="-120"/>
              </a:rPr>
              <a:t>Agentic delivery</a:t>
            </a:r>
            <a:endParaRPr lang="en-US" sz="1150" dirty="0"/>
          </a:p>
        </p:txBody>
      </p:sp>
      <p:sp>
        <p:nvSpPr>
          <p:cNvPr id="43" name="Text 40"/>
          <p:cNvSpPr/>
          <p:nvPr/>
        </p:nvSpPr>
        <p:spPr>
          <a:xfrm>
            <a:off x="566928" y="5291836"/>
            <a:ext cx="1783080" cy="274320"/>
          </a:xfrm>
          <a:prstGeom prst="rect">
            <a:avLst/>
          </a:prstGeom>
          <a:noFill/>
          <a:ln/>
        </p:spPr>
        <p:txBody>
          <a:bodyPr wrap="square" lIns="0" tIns="0" rIns="0" bIns="0" rtlCol="0" anchor="t"/>
          <a:lstStyle/>
          <a:p>
            <a:pPr indent="0" marL="0">
              <a:buNone/>
            </a:pPr>
            <a:r>
              <a:rPr lang="en-US" sz="840" dirty="0">
                <a:solidFill>
                  <a:srgbClr val="7E8C9B"/>
                </a:solidFill>
                <a:latin typeface="Calibri" pitchFamily="34" charset="0"/>
                <a:ea typeface="Calibri" pitchFamily="34" charset="-122"/>
                <a:cs typeface="Calibri" pitchFamily="34" charset="-120"/>
              </a:rPr>
              <a:t>How software gets built</a:t>
            </a:r>
            <a:endParaRPr lang="en-US" sz="840" dirty="0"/>
          </a:p>
        </p:txBody>
      </p:sp>
      <p:sp>
        <p:nvSpPr>
          <p:cNvPr id="44" name="Shape 41"/>
          <p:cNvSpPr/>
          <p:nvPr/>
        </p:nvSpPr>
        <p:spPr>
          <a:xfrm>
            <a:off x="2459736" y="5008372"/>
            <a:ext cx="3018434" cy="621792"/>
          </a:xfrm>
          <a:prstGeom prst="roundRect">
            <a:avLst>
              <a:gd name="adj" fmla="val 11765"/>
            </a:avLst>
          </a:prstGeom>
          <a:solidFill>
            <a:srgbClr val="E6F4F6"/>
          </a:solidFill>
          <a:ln w="12700">
            <a:solidFill>
              <a:srgbClr val="9CCED6"/>
            </a:solidFill>
            <a:prstDash val="solid"/>
          </a:ln>
        </p:spPr>
      </p:sp>
      <p:sp>
        <p:nvSpPr>
          <p:cNvPr id="45" name="Text 42"/>
          <p:cNvSpPr/>
          <p:nvPr/>
        </p:nvSpPr>
        <p:spPr>
          <a:xfrm>
            <a:off x="2569464" y="5090668"/>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Review, test generation and deploy gating on one squad’s repositories.</a:t>
            </a:r>
            <a:endParaRPr lang="en-US" sz="880" dirty="0"/>
          </a:p>
        </p:txBody>
      </p:sp>
      <p:sp>
        <p:nvSpPr>
          <p:cNvPr id="46" name="Shape 43"/>
          <p:cNvSpPr/>
          <p:nvPr/>
        </p:nvSpPr>
        <p:spPr>
          <a:xfrm>
            <a:off x="5587898" y="5008372"/>
            <a:ext cx="3018434" cy="621792"/>
          </a:xfrm>
          <a:prstGeom prst="roundRect">
            <a:avLst>
              <a:gd name="adj" fmla="val 11765"/>
            </a:avLst>
          </a:prstGeom>
          <a:solidFill>
            <a:srgbClr val="FFFFFF"/>
          </a:solidFill>
          <a:ln w="12700">
            <a:solidFill>
              <a:srgbClr val="E2E7EC"/>
            </a:solidFill>
            <a:prstDash val="solid"/>
          </a:ln>
        </p:spPr>
      </p:sp>
      <p:sp>
        <p:nvSpPr>
          <p:cNvPr id="47" name="Text 44"/>
          <p:cNvSpPr/>
          <p:nvPr/>
        </p:nvSpPr>
        <p:spPr>
          <a:xfrm>
            <a:off x="5697626" y="5090668"/>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All squads. Cross-repository maintenance — dependency, CVE and migration work by fan-out.</a:t>
            </a:r>
            <a:endParaRPr lang="en-US" sz="880" dirty="0"/>
          </a:p>
        </p:txBody>
      </p:sp>
      <p:sp>
        <p:nvSpPr>
          <p:cNvPr id="48" name="Shape 45"/>
          <p:cNvSpPr/>
          <p:nvPr/>
        </p:nvSpPr>
        <p:spPr>
          <a:xfrm>
            <a:off x="8716061" y="5008372"/>
            <a:ext cx="3018434" cy="621792"/>
          </a:xfrm>
          <a:prstGeom prst="roundRect">
            <a:avLst>
              <a:gd name="adj" fmla="val 11765"/>
            </a:avLst>
          </a:prstGeom>
          <a:solidFill>
            <a:srgbClr val="FFFDF6"/>
          </a:solidFill>
          <a:ln w="12700">
            <a:solidFill>
              <a:srgbClr val="E8D5A8"/>
            </a:solidFill>
            <a:prstDash val="solid"/>
          </a:ln>
        </p:spPr>
      </p:sp>
      <p:sp>
        <p:nvSpPr>
          <p:cNvPr id="49" name="Text 46"/>
          <p:cNvSpPr/>
          <p:nvPr/>
        </p:nvSpPr>
        <p:spPr>
          <a:xfrm>
            <a:off x="8825789" y="5090668"/>
            <a:ext cx="2798978" cy="475488"/>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Agents hold routine maintenance entirely; engineers spend time on design and judgement.</a:t>
            </a:r>
            <a:endParaRPr lang="en-US" sz="880" dirty="0"/>
          </a:p>
        </p:txBody>
      </p:sp>
      <p:sp>
        <p:nvSpPr>
          <p:cNvPr id="50" name="Shape 47"/>
          <p:cNvSpPr/>
          <p:nvPr/>
        </p:nvSpPr>
        <p:spPr>
          <a:xfrm>
            <a:off x="566928" y="5138928"/>
            <a:ext cx="11057839" cy="420624"/>
          </a:xfrm>
          <a:prstGeom prst="roundRect">
            <a:avLst>
              <a:gd name="adj" fmla="val 17391"/>
            </a:avLst>
          </a:prstGeom>
          <a:solidFill>
            <a:srgbClr val="E6F4F6"/>
          </a:solidFill>
          <a:ln w="12700">
            <a:solidFill>
              <a:srgbClr val="9CCED6"/>
            </a:solidFill>
            <a:prstDash val="solid"/>
          </a:ln>
        </p:spPr>
      </p:sp>
      <p:sp>
        <p:nvSpPr>
          <p:cNvPr id="51" name="Text 48"/>
          <p:cNvSpPr/>
          <p:nvPr/>
        </p:nvSpPr>
        <p:spPr>
          <a:xfrm>
            <a:off x="749808" y="5248656"/>
            <a:ext cx="10692079" cy="25603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The question we would like answered today: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which of these five matters most to [CLIENT]? That is the one we push hardest on inside the twelve weeks.</a:t>
            </a:r>
            <a:endParaRPr lang="en-US" sz="1000" dirty="0"/>
          </a:p>
        </p:txBody>
      </p:sp>
      <p:sp>
        <p:nvSpPr>
          <p:cNvPr id="52" name="Shape 49"/>
          <p:cNvSpPr/>
          <p:nvPr/>
        </p:nvSpPr>
        <p:spPr>
          <a:xfrm>
            <a:off x="566928" y="6382512"/>
            <a:ext cx="11057839" cy="0"/>
          </a:xfrm>
          <a:prstGeom prst="line">
            <a:avLst/>
          </a:prstGeom>
          <a:noFill/>
          <a:ln w="9525">
            <a:solidFill>
              <a:srgbClr val="E2E7EC"/>
            </a:solidFill>
            <a:prstDash val="solid"/>
          </a:ln>
        </p:spPr>
      </p:sp>
      <p:sp>
        <p:nvSpPr>
          <p:cNvPr id="53" name="Text 5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4" name="Text 5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BLUE IS WHAT THE TWELVE WEEKS DELIVERS · GOLD IS WHERE IT GOES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IMPROVEMENT ROADMAP</a:t>
            </a:r>
            <a:endParaRPr lang="en-US" sz="1000" dirty="0"/>
          </a:p>
        </p:txBody>
      </p:sp>
      <p:sp>
        <p:nvSpPr>
          <p:cNvPr id="5" name="Text 2"/>
          <p:cNvSpPr/>
          <p:nvPr/>
        </p:nvSpPr>
        <p:spPr>
          <a:xfrm>
            <a:off x="1389888" y="621792"/>
            <a:ext cx="10234879" cy="13121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Six moves, each with a reason, its payoffs and an honest cost — because a roadmap without trade-offs is a wish list.</a:t>
            </a:r>
            <a:endParaRPr lang="en-US" sz="3000" dirty="0"/>
          </a:p>
        </p:txBody>
      </p:sp>
      <p:sp>
        <p:nvSpPr>
          <p:cNvPr id="6" name="Text 3"/>
          <p:cNvSpPr/>
          <p:nvPr/>
        </p:nvSpPr>
        <p:spPr>
          <a:xfrm>
            <a:off x="1389888" y="19888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A roadmap without trade-offs is a wish list. The test we apply: if an investment only pays off once, it is a feature — not a platform move.</a:t>
            </a:r>
            <a:endParaRPr lang="en-US" sz="1250" dirty="0"/>
          </a:p>
        </p:txBody>
      </p:sp>
      <p:sp>
        <p:nvSpPr>
          <p:cNvPr id="7" name="Shape 4"/>
          <p:cNvSpPr/>
          <p:nvPr/>
        </p:nvSpPr>
        <p:spPr>
          <a:xfrm>
            <a:off x="566928" y="2355850"/>
            <a:ext cx="3612794" cy="1700784"/>
          </a:xfrm>
          <a:prstGeom prst="roundRect">
            <a:avLst>
              <a:gd name="adj" fmla="val 4301"/>
            </a:avLst>
          </a:prstGeom>
          <a:solidFill>
            <a:srgbClr val="E6F4F6"/>
          </a:solidFill>
          <a:ln w="12700">
            <a:solidFill>
              <a:srgbClr val="9CCED6"/>
            </a:solidFill>
            <a:prstDash val="solid"/>
          </a:ln>
        </p:spPr>
      </p:sp>
      <p:sp>
        <p:nvSpPr>
          <p:cNvPr id="8" name="Text 5"/>
          <p:cNvSpPr/>
          <p:nvPr/>
        </p:nvSpPr>
        <p:spPr>
          <a:xfrm>
            <a:off x="713232" y="24655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NOW · IN THE 12 WEEKS</a:t>
            </a:r>
            <a:endParaRPr lang="en-US" sz="700" dirty="0"/>
          </a:p>
        </p:txBody>
      </p:sp>
      <p:sp>
        <p:nvSpPr>
          <p:cNvPr id="9" name="Text 6"/>
          <p:cNvSpPr/>
          <p:nvPr/>
        </p:nvSpPr>
        <p:spPr>
          <a:xfrm>
            <a:off x="713232" y="26301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Unify the event plane</a:t>
            </a:r>
            <a:endParaRPr lang="en-US" sz="1300" dirty="0"/>
          </a:p>
        </p:txBody>
      </p:sp>
      <p:sp>
        <p:nvSpPr>
          <p:cNvPr id="10" name="Text 7"/>
          <p:cNvSpPr/>
          <p:nvPr/>
        </p:nvSpPr>
        <p:spPr>
          <a:xfrm>
            <a:off x="713232" y="28679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Observability and eventing are the same spine funded from two budgets. Build it once.</a:t>
            </a:r>
            <a:endParaRPr lang="en-US" sz="880" dirty="0"/>
          </a:p>
        </p:txBody>
      </p:sp>
      <p:sp>
        <p:nvSpPr>
          <p:cNvPr id="11" name="Text 8"/>
          <p:cNvSpPr/>
          <p:nvPr/>
        </p:nvSpPr>
        <p:spPr>
          <a:xfrm>
            <a:off x="713232" y="32245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Extensible observability across every agent and service</a:t>
            </a:r>
            <a:endParaRPr lang="en-US" sz="860" dirty="0"/>
          </a:p>
        </p:txBody>
      </p:sp>
      <p:sp>
        <p:nvSpPr>
          <p:cNvPr id="12" name="Text 9"/>
          <p:cNvSpPr/>
          <p:nvPr/>
        </p:nvSpPr>
        <p:spPr>
          <a:xfrm>
            <a:off x="713232" y="34074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Agent triggers — work starts from events</a:t>
            </a:r>
            <a:endParaRPr lang="en-US" sz="860" dirty="0"/>
          </a:p>
        </p:txBody>
      </p:sp>
      <p:sp>
        <p:nvSpPr>
          <p:cNvPr id="13" name="Text 10"/>
          <p:cNvSpPr/>
          <p:nvPr/>
        </p:nvSpPr>
        <p:spPr>
          <a:xfrm>
            <a:off x="713232" y="35902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Evidence produced as exhaust</a:t>
            </a:r>
            <a:endParaRPr lang="en-US" sz="860" dirty="0"/>
          </a:p>
        </p:txBody>
      </p:sp>
      <p:sp>
        <p:nvSpPr>
          <p:cNvPr id="14" name="Shape 11"/>
          <p:cNvSpPr/>
          <p:nvPr/>
        </p:nvSpPr>
        <p:spPr>
          <a:xfrm>
            <a:off x="713232" y="3800602"/>
            <a:ext cx="3320186" cy="0"/>
          </a:xfrm>
          <a:prstGeom prst="line">
            <a:avLst/>
          </a:prstGeom>
          <a:noFill/>
          <a:ln w="9525">
            <a:solidFill>
              <a:srgbClr val="EFF2F5"/>
            </a:solidFill>
            <a:prstDash val="solid"/>
          </a:ln>
        </p:spPr>
      </p:sp>
      <p:sp>
        <p:nvSpPr>
          <p:cNvPr id="15" name="Text 12"/>
          <p:cNvSpPr/>
          <p:nvPr/>
        </p:nvSpPr>
        <p:spPr>
          <a:xfrm>
            <a:off x="713232" y="38280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16" name="Text 13"/>
          <p:cNvSpPr/>
          <p:nvPr/>
        </p:nvSpPr>
        <p:spPr>
          <a:xfrm>
            <a:off x="713232" y="39560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Schema discipline, back-pressure handling and a named owner. One spine means one thing to get right.</a:t>
            </a:r>
            <a:endParaRPr lang="en-US" sz="800" dirty="0"/>
          </a:p>
        </p:txBody>
      </p:sp>
      <p:sp>
        <p:nvSpPr>
          <p:cNvPr id="17" name="Shape 14"/>
          <p:cNvSpPr/>
          <p:nvPr/>
        </p:nvSpPr>
        <p:spPr>
          <a:xfrm>
            <a:off x="4289450" y="2355850"/>
            <a:ext cx="3612794" cy="1700784"/>
          </a:xfrm>
          <a:prstGeom prst="roundRect">
            <a:avLst>
              <a:gd name="adj" fmla="val 4301"/>
            </a:avLst>
          </a:prstGeom>
          <a:solidFill>
            <a:srgbClr val="E6F4F6"/>
          </a:solidFill>
          <a:ln w="12700">
            <a:solidFill>
              <a:srgbClr val="9CCED6"/>
            </a:solidFill>
            <a:prstDash val="solid"/>
          </a:ln>
        </p:spPr>
      </p:sp>
      <p:sp>
        <p:nvSpPr>
          <p:cNvPr id="18" name="Text 15"/>
          <p:cNvSpPr/>
          <p:nvPr/>
        </p:nvSpPr>
        <p:spPr>
          <a:xfrm>
            <a:off x="4435754" y="24655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NOW · IN THE 12 WEEKS</a:t>
            </a:r>
            <a:endParaRPr lang="en-US" sz="700" dirty="0"/>
          </a:p>
        </p:txBody>
      </p:sp>
      <p:sp>
        <p:nvSpPr>
          <p:cNvPr id="19" name="Text 16"/>
          <p:cNvSpPr/>
          <p:nvPr/>
        </p:nvSpPr>
        <p:spPr>
          <a:xfrm>
            <a:off x="4435754" y="26301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Sandbox agent execution</a:t>
            </a:r>
            <a:endParaRPr lang="en-US" sz="1300" dirty="0"/>
          </a:p>
        </p:txBody>
      </p:sp>
      <p:sp>
        <p:nvSpPr>
          <p:cNvPr id="20" name="Text 17"/>
          <p:cNvSpPr/>
          <p:nvPr/>
        </p:nvSpPr>
        <p:spPr>
          <a:xfrm>
            <a:off x="4435754" y="28679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The only reason agents stay read-only is that a handed-over credential cannot be bounded afterwards.</a:t>
            </a:r>
            <a:endParaRPr lang="en-US" sz="880" dirty="0"/>
          </a:p>
        </p:txBody>
      </p:sp>
      <p:sp>
        <p:nvSpPr>
          <p:cNvPr id="21" name="Text 18"/>
          <p:cNvSpPr/>
          <p:nvPr/>
        </p:nvSpPr>
        <p:spPr>
          <a:xfrm>
            <a:off x="4435754" y="32245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Write actions approvable at tier 1 and 2</a:t>
            </a:r>
            <a:endParaRPr lang="en-US" sz="860" dirty="0"/>
          </a:p>
        </p:txBody>
      </p:sp>
      <p:sp>
        <p:nvSpPr>
          <p:cNvPr id="22" name="Text 19"/>
          <p:cNvSpPr/>
          <p:nvPr/>
        </p:nvSpPr>
        <p:spPr>
          <a:xfrm>
            <a:off x="4435754" y="34074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Manifest review replaces the security queue</a:t>
            </a:r>
            <a:endParaRPr lang="en-US" sz="860" dirty="0"/>
          </a:p>
        </p:txBody>
      </p:sp>
      <p:sp>
        <p:nvSpPr>
          <p:cNvPr id="23" name="Text 20"/>
          <p:cNvSpPr/>
          <p:nvPr/>
        </p:nvSpPr>
        <p:spPr>
          <a:xfrm>
            <a:off x="4435754" y="35902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Blast radius becomes a diff, not a discussion</a:t>
            </a:r>
            <a:endParaRPr lang="en-US" sz="860" dirty="0"/>
          </a:p>
        </p:txBody>
      </p:sp>
      <p:sp>
        <p:nvSpPr>
          <p:cNvPr id="24" name="Shape 21"/>
          <p:cNvSpPr/>
          <p:nvPr/>
        </p:nvSpPr>
        <p:spPr>
          <a:xfrm>
            <a:off x="4435754" y="3800602"/>
            <a:ext cx="3320186" cy="0"/>
          </a:xfrm>
          <a:prstGeom prst="line">
            <a:avLst/>
          </a:prstGeom>
          <a:noFill/>
          <a:ln w="9525">
            <a:solidFill>
              <a:srgbClr val="EFF2F5"/>
            </a:solidFill>
            <a:prstDash val="solid"/>
          </a:ln>
        </p:spPr>
      </p:sp>
      <p:sp>
        <p:nvSpPr>
          <p:cNvPr id="25" name="Text 22"/>
          <p:cNvSpPr/>
          <p:nvPr/>
        </p:nvSpPr>
        <p:spPr>
          <a:xfrm>
            <a:off x="4435754" y="38280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26" name="Text 23"/>
          <p:cNvSpPr/>
          <p:nvPr/>
        </p:nvSpPr>
        <p:spPr>
          <a:xfrm>
            <a:off x="4435754" y="39560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A younger toolchain than containers; not every workload compiles to it. Use where the boundary earns its keep.</a:t>
            </a:r>
            <a:endParaRPr lang="en-US" sz="800" dirty="0"/>
          </a:p>
        </p:txBody>
      </p:sp>
      <p:sp>
        <p:nvSpPr>
          <p:cNvPr id="27" name="Shape 24"/>
          <p:cNvSpPr/>
          <p:nvPr/>
        </p:nvSpPr>
        <p:spPr>
          <a:xfrm>
            <a:off x="8011973" y="2355850"/>
            <a:ext cx="3612794" cy="1700784"/>
          </a:xfrm>
          <a:prstGeom prst="roundRect">
            <a:avLst>
              <a:gd name="adj" fmla="val 4301"/>
            </a:avLst>
          </a:prstGeom>
          <a:solidFill>
            <a:srgbClr val="FFFFFF"/>
          </a:solidFill>
          <a:ln w="12700">
            <a:solidFill>
              <a:srgbClr val="E2E7EC"/>
            </a:solidFill>
            <a:prstDash val="solid"/>
          </a:ln>
        </p:spPr>
      </p:sp>
      <p:sp>
        <p:nvSpPr>
          <p:cNvPr id="28" name="Text 25"/>
          <p:cNvSpPr/>
          <p:nvPr/>
        </p:nvSpPr>
        <p:spPr>
          <a:xfrm>
            <a:off x="8158277" y="24655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2 · CHOICE</a:t>
            </a:r>
            <a:endParaRPr lang="en-US" sz="700" dirty="0"/>
          </a:p>
        </p:txBody>
      </p:sp>
      <p:sp>
        <p:nvSpPr>
          <p:cNvPr id="29" name="Text 26"/>
          <p:cNvSpPr/>
          <p:nvPr/>
        </p:nvSpPr>
        <p:spPr>
          <a:xfrm>
            <a:off x="8158277" y="26301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Agentic delivery everywhere</a:t>
            </a:r>
            <a:endParaRPr lang="en-US" sz="1300" dirty="0"/>
          </a:p>
        </p:txBody>
      </p:sp>
      <p:sp>
        <p:nvSpPr>
          <p:cNvPr id="30" name="Text 27"/>
          <p:cNvSpPr/>
          <p:nvPr/>
        </p:nvSpPr>
        <p:spPr>
          <a:xfrm>
            <a:off x="8158277" y="28679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The first squad’s gain is the proof; the portfolio gain needs every squad on it.</a:t>
            </a:r>
            <a:endParaRPr lang="en-US" sz="880" dirty="0"/>
          </a:p>
        </p:txBody>
      </p:sp>
      <p:sp>
        <p:nvSpPr>
          <p:cNvPr id="31" name="Text 28"/>
          <p:cNvSpPr/>
          <p:nvPr/>
        </p:nvSpPr>
        <p:spPr>
          <a:xfrm>
            <a:off x="8158277" y="32245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Cycle-time improvement across the whole org</a:t>
            </a:r>
            <a:endParaRPr lang="en-US" sz="860" dirty="0"/>
          </a:p>
        </p:txBody>
      </p:sp>
      <p:sp>
        <p:nvSpPr>
          <p:cNvPr id="32" name="Text 29"/>
          <p:cNvSpPr/>
          <p:nvPr/>
        </p:nvSpPr>
        <p:spPr>
          <a:xfrm>
            <a:off x="8158277" y="34074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Consistency — house conventions applied uniformly</a:t>
            </a:r>
            <a:endParaRPr lang="en-US" sz="860" dirty="0"/>
          </a:p>
        </p:txBody>
      </p:sp>
      <p:sp>
        <p:nvSpPr>
          <p:cNvPr id="33" name="Text 30"/>
          <p:cNvSpPr/>
          <p:nvPr/>
        </p:nvSpPr>
        <p:spPr>
          <a:xfrm>
            <a:off x="8158277" y="35902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Cross-repo maintenance by fan-out</a:t>
            </a:r>
            <a:endParaRPr lang="en-US" sz="860" dirty="0"/>
          </a:p>
        </p:txBody>
      </p:sp>
      <p:sp>
        <p:nvSpPr>
          <p:cNvPr id="34" name="Shape 31"/>
          <p:cNvSpPr/>
          <p:nvPr/>
        </p:nvSpPr>
        <p:spPr>
          <a:xfrm>
            <a:off x="8158277" y="3800602"/>
            <a:ext cx="3320186" cy="0"/>
          </a:xfrm>
          <a:prstGeom prst="line">
            <a:avLst/>
          </a:prstGeom>
          <a:noFill/>
          <a:ln w="9525">
            <a:solidFill>
              <a:srgbClr val="EFF2F5"/>
            </a:solidFill>
            <a:prstDash val="solid"/>
          </a:ln>
        </p:spPr>
      </p:sp>
      <p:sp>
        <p:nvSpPr>
          <p:cNvPr id="35" name="Text 32"/>
          <p:cNvSpPr/>
          <p:nvPr/>
        </p:nvSpPr>
        <p:spPr>
          <a:xfrm>
            <a:off x="8158277" y="38280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36" name="Text 33"/>
          <p:cNvSpPr/>
          <p:nvPr/>
        </p:nvSpPr>
        <p:spPr>
          <a:xfrm>
            <a:off x="8158277" y="39560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Review fatigue is real. Needs quality gates and a way for engineers to reject and be heard, or trust erodes.</a:t>
            </a:r>
            <a:endParaRPr lang="en-US" sz="800" dirty="0"/>
          </a:p>
        </p:txBody>
      </p:sp>
      <p:sp>
        <p:nvSpPr>
          <p:cNvPr id="37" name="Shape 34"/>
          <p:cNvSpPr/>
          <p:nvPr/>
        </p:nvSpPr>
        <p:spPr>
          <a:xfrm>
            <a:off x="566928" y="4184650"/>
            <a:ext cx="3612794" cy="1700784"/>
          </a:xfrm>
          <a:prstGeom prst="roundRect">
            <a:avLst>
              <a:gd name="adj" fmla="val 4301"/>
            </a:avLst>
          </a:prstGeom>
          <a:solidFill>
            <a:srgbClr val="FFFFFF"/>
          </a:solidFill>
          <a:ln w="12700">
            <a:solidFill>
              <a:srgbClr val="E2E7EC"/>
            </a:solidFill>
            <a:prstDash val="solid"/>
          </a:ln>
        </p:spPr>
      </p:sp>
      <p:sp>
        <p:nvSpPr>
          <p:cNvPr id="38" name="Text 35"/>
          <p:cNvSpPr/>
          <p:nvPr/>
        </p:nvSpPr>
        <p:spPr>
          <a:xfrm>
            <a:off x="713232" y="42943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2–3 · CHOICE</a:t>
            </a:r>
            <a:endParaRPr lang="en-US" sz="700" dirty="0"/>
          </a:p>
        </p:txBody>
      </p:sp>
      <p:sp>
        <p:nvSpPr>
          <p:cNvPr id="39" name="Text 36"/>
          <p:cNvSpPr/>
          <p:nvPr/>
        </p:nvSpPr>
        <p:spPr>
          <a:xfrm>
            <a:off x="713232" y="44589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Shared vocabulary for one domain</a:t>
            </a:r>
            <a:endParaRPr lang="en-US" sz="1300" dirty="0"/>
          </a:p>
        </p:txBody>
      </p:sp>
      <p:sp>
        <p:nvSpPr>
          <p:cNvPr id="40" name="Text 37"/>
          <p:cNvSpPr/>
          <p:nvPr/>
        </p:nvSpPr>
        <p:spPr>
          <a:xfrm>
            <a:off x="713232" y="46967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Compliance effort and integration cost have the same root cause: nothing agrees on what things are called.</a:t>
            </a:r>
            <a:endParaRPr lang="en-US" sz="880" dirty="0"/>
          </a:p>
        </p:txBody>
      </p:sp>
      <p:sp>
        <p:nvSpPr>
          <p:cNvPr id="41" name="Text 38"/>
          <p:cNvSpPr/>
          <p:nvPr/>
        </p:nvSpPr>
        <p:spPr>
          <a:xfrm>
            <a:off x="713232" y="50533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Agile compliance — controls evidenced, not reconstructed</a:t>
            </a:r>
            <a:endParaRPr lang="en-US" sz="860" dirty="0"/>
          </a:p>
        </p:txBody>
      </p:sp>
      <p:sp>
        <p:nvSpPr>
          <p:cNvPr id="42" name="Text 39"/>
          <p:cNvSpPr/>
          <p:nvPr/>
        </p:nvSpPr>
        <p:spPr>
          <a:xfrm>
            <a:off x="713232" y="52362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Integration without a meeting first</a:t>
            </a:r>
            <a:endParaRPr lang="en-US" sz="860" dirty="0"/>
          </a:p>
        </p:txBody>
      </p:sp>
      <p:sp>
        <p:nvSpPr>
          <p:cNvPr id="43" name="Text 40"/>
          <p:cNvSpPr/>
          <p:nvPr/>
        </p:nvSpPr>
        <p:spPr>
          <a:xfrm>
            <a:off x="713232" y="54190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Capability reuse rather than silo rebuild</a:t>
            </a:r>
            <a:endParaRPr lang="en-US" sz="860" dirty="0"/>
          </a:p>
        </p:txBody>
      </p:sp>
      <p:sp>
        <p:nvSpPr>
          <p:cNvPr id="44" name="Shape 41"/>
          <p:cNvSpPr/>
          <p:nvPr/>
        </p:nvSpPr>
        <p:spPr>
          <a:xfrm>
            <a:off x="713232" y="5629402"/>
            <a:ext cx="3320186" cy="0"/>
          </a:xfrm>
          <a:prstGeom prst="line">
            <a:avLst/>
          </a:prstGeom>
          <a:noFill/>
          <a:ln w="9525">
            <a:solidFill>
              <a:srgbClr val="EFF2F5"/>
            </a:solidFill>
            <a:prstDash val="solid"/>
          </a:ln>
        </p:spPr>
      </p:sp>
      <p:sp>
        <p:nvSpPr>
          <p:cNvPr id="45" name="Text 42"/>
          <p:cNvSpPr/>
          <p:nvPr/>
        </p:nvSpPr>
        <p:spPr>
          <a:xfrm>
            <a:off x="713232" y="56568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46" name="Text 43"/>
          <p:cNvSpPr/>
          <p:nvPr/>
        </p:nvSpPr>
        <p:spPr>
          <a:xfrm>
            <a:off x="713232" y="57848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Needs a domain owner with authority, and shows value slowly. Start with one domain — never enterprise-wide.</a:t>
            </a:r>
            <a:endParaRPr lang="en-US" sz="800" dirty="0"/>
          </a:p>
        </p:txBody>
      </p:sp>
      <p:sp>
        <p:nvSpPr>
          <p:cNvPr id="47" name="Shape 44"/>
          <p:cNvSpPr/>
          <p:nvPr/>
        </p:nvSpPr>
        <p:spPr>
          <a:xfrm>
            <a:off x="4289450" y="4184650"/>
            <a:ext cx="3612794" cy="1700784"/>
          </a:xfrm>
          <a:prstGeom prst="roundRect">
            <a:avLst>
              <a:gd name="adj" fmla="val 4301"/>
            </a:avLst>
          </a:prstGeom>
          <a:solidFill>
            <a:srgbClr val="FFFFFF"/>
          </a:solidFill>
          <a:ln w="12700">
            <a:solidFill>
              <a:srgbClr val="E2E7EC"/>
            </a:solidFill>
            <a:prstDash val="solid"/>
          </a:ln>
        </p:spPr>
      </p:sp>
      <p:sp>
        <p:nvSpPr>
          <p:cNvPr id="48" name="Text 45"/>
          <p:cNvSpPr/>
          <p:nvPr/>
        </p:nvSpPr>
        <p:spPr>
          <a:xfrm>
            <a:off x="4435754" y="42943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3 · CHOICE</a:t>
            </a:r>
            <a:endParaRPr lang="en-US" sz="700" dirty="0"/>
          </a:p>
        </p:txBody>
      </p:sp>
      <p:sp>
        <p:nvSpPr>
          <p:cNvPr id="49" name="Text 46"/>
          <p:cNvSpPr/>
          <p:nvPr/>
        </p:nvSpPr>
        <p:spPr>
          <a:xfrm>
            <a:off x="4435754" y="44589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Policy as code at scale</a:t>
            </a:r>
            <a:endParaRPr lang="en-US" sz="1300" dirty="0"/>
          </a:p>
        </p:txBody>
      </p:sp>
      <p:sp>
        <p:nvSpPr>
          <p:cNvPr id="50" name="Text 47"/>
          <p:cNvSpPr/>
          <p:nvPr/>
        </p:nvSpPr>
        <p:spPr>
          <a:xfrm>
            <a:off x="4435754" y="46967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Tier assignment done by humans is a queue; done by criteria it is a checklist.</a:t>
            </a:r>
            <a:endParaRPr lang="en-US" sz="880" dirty="0"/>
          </a:p>
        </p:txBody>
      </p:sp>
      <p:sp>
        <p:nvSpPr>
          <p:cNvPr id="51" name="Text 48"/>
          <p:cNvSpPr/>
          <p:nvPr/>
        </p:nvSpPr>
        <p:spPr>
          <a:xfrm>
            <a:off x="4435754" y="50533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Squads self-serve tiers against clear criteria</a:t>
            </a:r>
            <a:endParaRPr lang="en-US" sz="860" dirty="0"/>
          </a:p>
        </p:txBody>
      </p:sp>
      <p:sp>
        <p:nvSpPr>
          <p:cNvPr id="52" name="Text 49"/>
          <p:cNvSpPr/>
          <p:nvPr/>
        </p:nvSpPr>
        <p:spPr>
          <a:xfrm>
            <a:off x="4435754" y="52362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Security review becomes exception handling</a:t>
            </a:r>
            <a:endParaRPr lang="en-US" sz="860" dirty="0"/>
          </a:p>
        </p:txBody>
      </p:sp>
      <p:sp>
        <p:nvSpPr>
          <p:cNvPr id="53" name="Text 50"/>
          <p:cNvSpPr/>
          <p:nvPr/>
        </p:nvSpPr>
        <p:spPr>
          <a:xfrm>
            <a:off x="4435754" y="54190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New regulation lands as a policy change</a:t>
            </a:r>
            <a:endParaRPr lang="en-US" sz="860" dirty="0"/>
          </a:p>
        </p:txBody>
      </p:sp>
      <p:sp>
        <p:nvSpPr>
          <p:cNvPr id="54" name="Shape 51"/>
          <p:cNvSpPr/>
          <p:nvPr/>
        </p:nvSpPr>
        <p:spPr>
          <a:xfrm>
            <a:off x="4435754" y="5629402"/>
            <a:ext cx="3320186" cy="0"/>
          </a:xfrm>
          <a:prstGeom prst="line">
            <a:avLst/>
          </a:prstGeom>
          <a:noFill/>
          <a:ln w="9525">
            <a:solidFill>
              <a:srgbClr val="EFF2F5"/>
            </a:solidFill>
            <a:prstDash val="solid"/>
          </a:ln>
        </p:spPr>
      </p:sp>
      <p:sp>
        <p:nvSpPr>
          <p:cNvPr id="55" name="Text 52"/>
          <p:cNvSpPr/>
          <p:nvPr/>
        </p:nvSpPr>
        <p:spPr>
          <a:xfrm>
            <a:off x="4435754" y="56568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56" name="Text 53"/>
          <p:cNvSpPr/>
          <p:nvPr/>
        </p:nvSpPr>
        <p:spPr>
          <a:xfrm>
            <a:off x="4435754" y="57848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Policy authoring becomes a real skill someone must hold. Done badly, worse than the queue it replaced.</a:t>
            </a:r>
            <a:endParaRPr lang="en-US" sz="800" dirty="0"/>
          </a:p>
        </p:txBody>
      </p:sp>
      <p:sp>
        <p:nvSpPr>
          <p:cNvPr id="57" name="Shape 54"/>
          <p:cNvSpPr/>
          <p:nvPr/>
        </p:nvSpPr>
        <p:spPr>
          <a:xfrm>
            <a:off x="8011973" y="4184650"/>
            <a:ext cx="3612794" cy="1700784"/>
          </a:xfrm>
          <a:prstGeom prst="roundRect">
            <a:avLst>
              <a:gd name="adj" fmla="val 4301"/>
            </a:avLst>
          </a:prstGeom>
          <a:solidFill>
            <a:srgbClr val="FFFFFF"/>
          </a:solidFill>
          <a:ln w="12700">
            <a:solidFill>
              <a:srgbClr val="E2E7EC"/>
            </a:solidFill>
            <a:prstDash val="solid"/>
          </a:ln>
        </p:spPr>
      </p:sp>
      <p:sp>
        <p:nvSpPr>
          <p:cNvPr id="58" name="Text 55"/>
          <p:cNvSpPr/>
          <p:nvPr/>
        </p:nvSpPr>
        <p:spPr>
          <a:xfrm>
            <a:off x="8158277" y="4294378"/>
            <a:ext cx="3320186" cy="146304"/>
          </a:xfrm>
          <a:prstGeom prst="rect">
            <a:avLst/>
          </a:prstGeom>
          <a:noFill/>
          <a:ln/>
        </p:spPr>
        <p:txBody>
          <a:bodyPr wrap="square" lIns="0" tIns="0" rIns="0" bIns="0" rtlCol="0" anchor="ctr"/>
          <a:lstStyle/>
          <a:p>
            <a:pPr indent="0" marL="0">
              <a:buNone/>
            </a:pPr>
            <a:r>
              <a:rPr lang="en-US" sz="700" b="1" spc="110" kern="0" dirty="0">
                <a:solidFill>
                  <a:srgbClr val="0B6F7D"/>
                </a:solidFill>
                <a:latin typeface="Consolas" pitchFamily="34" charset="0"/>
                <a:ea typeface="Consolas" pitchFamily="34" charset="-122"/>
                <a:cs typeface="Consolas" pitchFamily="34" charset="-120"/>
              </a:rPr>
              <a:t>QUARTER 4+ · WHERE IT GOES</a:t>
            </a:r>
            <a:endParaRPr lang="en-US" sz="700" dirty="0"/>
          </a:p>
        </p:txBody>
      </p:sp>
      <p:sp>
        <p:nvSpPr>
          <p:cNvPr id="59" name="Text 56"/>
          <p:cNvSpPr/>
          <p:nvPr/>
        </p:nvSpPr>
        <p:spPr>
          <a:xfrm>
            <a:off x="8158277" y="4458970"/>
            <a:ext cx="3320186"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Governed autonomous operations</a:t>
            </a:r>
            <a:endParaRPr lang="en-US" sz="1300" dirty="0"/>
          </a:p>
        </p:txBody>
      </p:sp>
      <p:sp>
        <p:nvSpPr>
          <p:cNvPr id="60" name="Text 57"/>
          <p:cNvSpPr/>
          <p:nvPr/>
        </p:nvSpPr>
        <p:spPr>
          <a:xfrm>
            <a:off x="8158277" y="4696714"/>
            <a:ext cx="3320186" cy="329184"/>
          </a:xfrm>
          <a:prstGeom prst="rect">
            <a:avLst/>
          </a:prstGeom>
          <a:noFill/>
          <a:ln/>
        </p:spPr>
        <p:txBody>
          <a:bodyPr wrap="square" lIns="0" tIns="0" rIns="0" bIns="0" rtlCol="0" anchor="t"/>
          <a:lstStyle/>
          <a:p>
            <a:pPr indent="0" marL="0">
              <a:lnSpc>
                <a:spcPct val="110000"/>
              </a:lnSpc>
              <a:buNone/>
            </a:pPr>
            <a:r>
              <a:rPr lang="en-US" sz="880" dirty="0">
                <a:solidFill>
                  <a:srgbClr val="46586B"/>
                </a:solidFill>
                <a:latin typeface="Calibri" pitchFamily="34" charset="0"/>
                <a:ea typeface="Calibri" pitchFamily="34" charset="-122"/>
                <a:cs typeface="Calibri" pitchFamily="34" charset="-120"/>
              </a:rPr>
              <a:t>Once evidence is trustworthy, the system responds within policy and humans supervise by exception.</a:t>
            </a:r>
            <a:endParaRPr lang="en-US" sz="880" dirty="0"/>
          </a:p>
        </p:txBody>
      </p:sp>
      <p:sp>
        <p:nvSpPr>
          <p:cNvPr id="61" name="Text 58"/>
          <p:cNvSpPr/>
          <p:nvPr/>
        </p:nvSpPr>
        <p:spPr>
          <a:xfrm>
            <a:off x="8158277" y="505333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Remediation and scaling inside guardrails</a:t>
            </a:r>
            <a:endParaRPr lang="en-US" sz="860" dirty="0"/>
          </a:p>
        </p:txBody>
      </p:sp>
      <p:sp>
        <p:nvSpPr>
          <p:cNvPr id="62" name="Text 59"/>
          <p:cNvSpPr/>
          <p:nvPr/>
        </p:nvSpPr>
        <p:spPr>
          <a:xfrm>
            <a:off x="8158277" y="523621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Operational cost decoupled from portfolio growth</a:t>
            </a:r>
            <a:endParaRPr lang="en-US" sz="860" dirty="0"/>
          </a:p>
        </p:txBody>
      </p:sp>
      <p:sp>
        <p:nvSpPr>
          <p:cNvPr id="63" name="Text 60"/>
          <p:cNvSpPr/>
          <p:nvPr/>
        </p:nvSpPr>
        <p:spPr>
          <a:xfrm>
            <a:off x="8158277" y="5419090"/>
            <a:ext cx="3320186" cy="182880"/>
          </a:xfrm>
          <a:prstGeom prst="rect">
            <a:avLst/>
          </a:prstGeom>
          <a:noFill/>
          <a:ln/>
        </p:spPr>
        <p:txBody>
          <a:bodyPr wrap="square" lIns="0" tIns="0" rIns="0" bIns="0" rtlCol="0" anchor="t"/>
          <a:lstStyle/>
          <a:p>
            <a:pPr indent="0" marL="0">
              <a:buNone/>
            </a:pPr>
            <a:r>
              <a:rPr lang="en-US" sz="860" b="1" dirty="0">
                <a:solidFill>
                  <a:srgbClr val="0B6F7D"/>
                </a:solidFill>
                <a:latin typeface="Calibri" pitchFamily="34" charset="0"/>
                <a:ea typeface="Calibri" pitchFamily="34" charset="-122"/>
                <a:cs typeface="Calibri" pitchFamily="34" charset="-120"/>
              </a:rPr>
              <a:t>→  </a:t>
            </a:r>
            <a:pPr indent="0" marL="0">
              <a:buNone/>
            </a:pPr>
            <a:r>
              <a:rPr lang="en-US" sz="860" dirty="0">
                <a:solidFill>
                  <a:srgbClr val="0B1622"/>
                </a:solidFill>
                <a:latin typeface="Calibri" pitchFamily="34" charset="0"/>
                <a:ea typeface="Calibri" pitchFamily="34" charset="-122"/>
                <a:cs typeface="Calibri" pitchFamily="34" charset="-120"/>
              </a:rPr>
              <a:t>Engineers on design, not toil</a:t>
            </a:r>
            <a:endParaRPr lang="en-US" sz="860" dirty="0"/>
          </a:p>
        </p:txBody>
      </p:sp>
      <p:sp>
        <p:nvSpPr>
          <p:cNvPr id="64" name="Shape 61"/>
          <p:cNvSpPr/>
          <p:nvPr/>
        </p:nvSpPr>
        <p:spPr>
          <a:xfrm>
            <a:off x="8158277" y="5629402"/>
            <a:ext cx="3320186" cy="0"/>
          </a:xfrm>
          <a:prstGeom prst="line">
            <a:avLst/>
          </a:prstGeom>
          <a:noFill/>
          <a:ln w="9525">
            <a:solidFill>
              <a:srgbClr val="EFF2F5"/>
            </a:solidFill>
            <a:prstDash val="solid"/>
          </a:ln>
        </p:spPr>
      </p:sp>
      <p:sp>
        <p:nvSpPr>
          <p:cNvPr id="65" name="Text 62"/>
          <p:cNvSpPr/>
          <p:nvPr/>
        </p:nvSpPr>
        <p:spPr>
          <a:xfrm>
            <a:off x="8158277" y="5656834"/>
            <a:ext cx="3320186" cy="128016"/>
          </a:xfrm>
          <a:prstGeom prst="rect">
            <a:avLst/>
          </a:prstGeom>
          <a:noFill/>
          <a:ln/>
        </p:spPr>
        <p:txBody>
          <a:bodyPr wrap="square" lIns="0" tIns="0" rIns="0" bIns="0" rtlCol="0" anchor="ctr"/>
          <a:lstStyle/>
          <a:p>
            <a:pPr indent="0" marL="0">
              <a:buNone/>
            </a:pPr>
            <a:r>
              <a:rPr lang="en-US" sz="660" b="1" spc="100" kern="0" dirty="0">
                <a:solidFill>
                  <a:srgbClr val="7A5510"/>
                </a:solidFill>
                <a:latin typeface="Consolas" pitchFamily="34" charset="0"/>
                <a:ea typeface="Consolas" pitchFamily="34" charset="-122"/>
                <a:cs typeface="Consolas" pitchFamily="34" charset="-120"/>
              </a:rPr>
              <a:t>COSTS YOU</a:t>
            </a:r>
            <a:endParaRPr lang="en-US" sz="660" dirty="0"/>
          </a:p>
        </p:txBody>
      </p:sp>
      <p:sp>
        <p:nvSpPr>
          <p:cNvPr id="66" name="Text 63"/>
          <p:cNvSpPr/>
          <p:nvPr/>
        </p:nvSpPr>
        <p:spPr>
          <a:xfrm>
            <a:off x="8158277" y="5784850"/>
            <a:ext cx="3320186" cy="256032"/>
          </a:xfrm>
          <a:prstGeom prst="rect">
            <a:avLst/>
          </a:prstGeom>
          <a:noFill/>
          <a:ln/>
        </p:spPr>
        <p:txBody>
          <a:bodyPr wrap="square" lIns="0" tIns="0" rIns="0" bIns="0" rtlCol="0" anchor="t"/>
          <a:lstStyle/>
          <a:p>
            <a:pPr indent="0" marL="0">
              <a:lnSpc>
                <a:spcPct val="105000"/>
              </a:lnSpc>
              <a:buNone/>
            </a:pPr>
            <a:r>
              <a:rPr lang="en-US" sz="800" dirty="0">
                <a:solidFill>
                  <a:srgbClr val="46586B"/>
                </a:solidFill>
                <a:latin typeface="Calibri" pitchFamily="34" charset="0"/>
                <a:ea typeface="Calibri" pitchFamily="34" charset="-122"/>
                <a:cs typeface="Calibri" pitchFamily="34" charset="-120"/>
              </a:rPr>
              <a:t>Requires evidence maturity you will not have for a while. Here because it is where this goes — not a recommendation for next year.</a:t>
            </a:r>
            <a:endParaRPr lang="en-US" sz="800" dirty="0"/>
          </a:p>
        </p:txBody>
      </p:sp>
      <p:sp>
        <p:nvSpPr>
          <p:cNvPr id="67" name="Shape 64"/>
          <p:cNvSpPr/>
          <p:nvPr/>
        </p:nvSpPr>
        <p:spPr>
          <a:xfrm>
            <a:off x="566928" y="6382512"/>
            <a:ext cx="11057839" cy="0"/>
          </a:xfrm>
          <a:prstGeom prst="line">
            <a:avLst/>
          </a:prstGeom>
          <a:noFill/>
          <a:ln w="9525">
            <a:solidFill>
              <a:srgbClr val="E2E7EC"/>
            </a:solidFill>
            <a:prstDash val="solid"/>
          </a:ln>
        </p:spPr>
      </p:sp>
      <p:sp>
        <p:nvSpPr>
          <p:cNvPr id="68" name="Text 65"/>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69" name="Text 66"/>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REVIEWED QUARTERLY · EACH MOVE CHOSEN AGAINST ITS TRADE-OFF, NEVER A DEFAULT</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SEQUENCING LOGIC</a:t>
            </a:r>
            <a:endParaRPr lang="en-US" sz="1000" dirty="0"/>
          </a:p>
        </p:txBody>
      </p:sp>
      <p:sp>
        <p:nvSpPr>
          <p:cNvPr id="5" name="Text 2"/>
          <p:cNvSpPr/>
          <p:nvPr/>
        </p:nvSpPr>
        <p:spPr>
          <a:xfrm>
            <a:off x="1389888" y="621792"/>
            <a:ext cx="10234879" cy="781304"/>
          </a:xfrm>
          <a:prstGeom prst="rect">
            <a:avLst/>
          </a:prstGeom>
          <a:noFill/>
          <a:ln/>
        </p:spPr>
        <p:txBody>
          <a:bodyPr wrap="square" lIns="0" tIns="0" rIns="0" bIns="0" rtlCol="0" anchor="t"/>
          <a:lstStyle/>
          <a:p>
            <a:pPr indent="0" marL="0">
              <a:buNone/>
            </a:pPr>
            <a:r>
              <a:rPr lang="en-US" sz="2600" b="1" dirty="0">
                <a:solidFill>
                  <a:srgbClr val="0B1622"/>
                </a:solidFill>
                <a:latin typeface="Calibri" pitchFamily="34" charset="0"/>
                <a:ea typeface="Calibri" pitchFamily="34" charset="-122"/>
                <a:cs typeface="Calibri" pitchFamily="34" charset="-120"/>
              </a:rPr>
              <a:t>The order is not a preference — each step removes the constraint on the next.</a:t>
            </a:r>
            <a:endParaRPr lang="en-US" sz="2600" dirty="0"/>
          </a:p>
        </p:txBody>
      </p:sp>
      <p:sp>
        <p:nvSpPr>
          <p:cNvPr id="6" name="Shape 3"/>
          <p:cNvSpPr/>
          <p:nvPr/>
        </p:nvSpPr>
        <p:spPr>
          <a:xfrm>
            <a:off x="566928" y="1512824"/>
            <a:ext cx="2682164" cy="1572768"/>
          </a:xfrm>
          <a:prstGeom prst="roundRect">
            <a:avLst>
              <a:gd name="adj" fmla="val 4651"/>
            </a:avLst>
          </a:prstGeom>
          <a:solidFill>
            <a:srgbClr val="FFFFFF"/>
          </a:solidFill>
          <a:ln w="12700">
            <a:solidFill>
              <a:srgbClr val="E2E7EC"/>
            </a:solidFill>
            <a:prstDash val="solid"/>
          </a:ln>
        </p:spPr>
      </p:sp>
      <p:sp>
        <p:nvSpPr>
          <p:cNvPr id="7" name="Shape 4"/>
          <p:cNvSpPr/>
          <p:nvPr/>
        </p:nvSpPr>
        <p:spPr>
          <a:xfrm>
            <a:off x="731520" y="1640840"/>
            <a:ext cx="237744" cy="237744"/>
          </a:xfrm>
          <a:prstGeom prst="ellipse">
            <a:avLst/>
          </a:prstGeom>
          <a:solidFill>
            <a:srgbClr val="08172A"/>
          </a:solidFill>
          <a:ln w="12700">
            <a:solidFill>
              <a:srgbClr val="08172A"/>
            </a:solidFill>
            <a:prstDash val="solid"/>
          </a:ln>
        </p:spPr>
      </p:sp>
      <p:sp>
        <p:nvSpPr>
          <p:cNvPr id="8" name="Text 5"/>
          <p:cNvSpPr/>
          <p:nvPr/>
        </p:nvSpPr>
        <p:spPr>
          <a:xfrm>
            <a:off x="731520" y="16408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9" name="Text 6"/>
          <p:cNvSpPr/>
          <p:nvPr/>
        </p:nvSpPr>
        <p:spPr>
          <a:xfrm>
            <a:off x="1060704" y="1659128"/>
            <a:ext cx="2023796" cy="219456"/>
          </a:xfrm>
          <a:prstGeom prst="rect">
            <a:avLst/>
          </a:prstGeom>
          <a:noFill/>
          <a:ln/>
        </p:spPr>
        <p:txBody>
          <a:bodyPr wrap="square" lIns="0" tIns="0" rIns="0" bIns="0" rtlCol="0" anchor="ctr"/>
          <a:lstStyle/>
          <a:p>
            <a:pPr indent="0" marL="0">
              <a:buNone/>
            </a:pPr>
            <a:r>
              <a:rPr lang="en-US" sz="1300" b="1" dirty="0">
                <a:solidFill>
                  <a:srgbClr val="0B1622"/>
                </a:solidFill>
                <a:latin typeface="Calibri" pitchFamily="34" charset="0"/>
                <a:ea typeface="Calibri" pitchFamily="34" charset="-122"/>
                <a:cs typeface="Calibri" pitchFamily="34" charset="-120"/>
              </a:rPr>
              <a:t>Name things</a:t>
            </a:r>
            <a:endParaRPr lang="en-US" sz="1300" dirty="0"/>
          </a:p>
        </p:txBody>
      </p:sp>
      <p:sp>
        <p:nvSpPr>
          <p:cNvPr id="10" name="Text 7"/>
          <p:cNvSpPr/>
          <p:nvPr/>
        </p:nvSpPr>
        <p:spPr>
          <a:xfrm>
            <a:off x="731520" y="1988312"/>
            <a:ext cx="2352980" cy="512064"/>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Identity and the capability registry. Every capability gets an owner, a tier, a schema and a version.</a:t>
            </a:r>
            <a:endParaRPr lang="en-US" sz="920" dirty="0"/>
          </a:p>
        </p:txBody>
      </p:sp>
      <p:sp>
        <p:nvSpPr>
          <p:cNvPr id="11" name="Shape 8"/>
          <p:cNvSpPr/>
          <p:nvPr/>
        </p:nvSpPr>
        <p:spPr>
          <a:xfrm>
            <a:off x="731520" y="2536952"/>
            <a:ext cx="2352980" cy="0"/>
          </a:xfrm>
          <a:prstGeom prst="line">
            <a:avLst/>
          </a:prstGeom>
          <a:noFill/>
          <a:ln w="9525">
            <a:solidFill>
              <a:srgbClr val="EFF2F5"/>
            </a:solidFill>
            <a:prstDash val="solid"/>
          </a:ln>
        </p:spPr>
      </p:sp>
      <p:sp>
        <p:nvSpPr>
          <p:cNvPr id="12" name="Text 9"/>
          <p:cNvSpPr/>
          <p:nvPr/>
        </p:nvSpPr>
        <p:spPr>
          <a:xfrm>
            <a:off x="731520" y="2591816"/>
            <a:ext cx="2352980"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880" b="1" dirty="0">
                <a:solidFill>
                  <a:srgbClr val="0B1622"/>
                </a:solidFill>
                <a:latin typeface="Calibri" pitchFamily="34" charset="0"/>
                <a:ea typeface="Calibri" pitchFamily="34" charset="-122"/>
                <a:cs typeface="Calibri" pitchFamily="34" charset="-120"/>
              </a:rPr>
              <a:t>Removes the constraint:</a:t>
            </a:r>
            <a:pPr indent="0" marL="0">
              <a:lnSpc>
                <a:spcPct val="110000"/>
              </a:lnSpc>
              <a:buNone/>
            </a:pPr>
            <a:r>
              <a:rPr lang="en-US" sz="880" dirty="0">
                <a:solidFill>
                  <a:srgbClr val="46586B"/>
                </a:solidFill>
                <a:latin typeface="Calibri" pitchFamily="34" charset="0"/>
                <a:ea typeface="Calibri" pitchFamily="34" charset="-122"/>
                <a:cs typeface="Calibri" pitchFamily="34" charset="-120"/>
              </a:rPr>
              <a:t> You cannot grant authority to something you cannot name, and you cannot measure a portfolio you cannot list.</a:t>
            </a:r>
            <a:endParaRPr lang="en-US" sz="880" dirty="0"/>
          </a:p>
        </p:txBody>
      </p:sp>
      <p:sp>
        <p:nvSpPr>
          <p:cNvPr id="13" name="Shape 10"/>
          <p:cNvSpPr/>
          <p:nvPr/>
        </p:nvSpPr>
        <p:spPr>
          <a:xfrm>
            <a:off x="3358820" y="1512824"/>
            <a:ext cx="2682164" cy="1572768"/>
          </a:xfrm>
          <a:prstGeom prst="roundRect">
            <a:avLst>
              <a:gd name="adj" fmla="val 4651"/>
            </a:avLst>
          </a:prstGeom>
          <a:solidFill>
            <a:srgbClr val="FFFFFF"/>
          </a:solidFill>
          <a:ln w="12700">
            <a:solidFill>
              <a:srgbClr val="E2E7EC"/>
            </a:solidFill>
            <a:prstDash val="solid"/>
          </a:ln>
        </p:spPr>
      </p:sp>
      <p:sp>
        <p:nvSpPr>
          <p:cNvPr id="14" name="Shape 11"/>
          <p:cNvSpPr/>
          <p:nvPr/>
        </p:nvSpPr>
        <p:spPr>
          <a:xfrm>
            <a:off x="3523412" y="1640840"/>
            <a:ext cx="237744" cy="237744"/>
          </a:xfrm>
          <a:prstGeom prst="ellipse">
            <a:avLst/>
          </a:prstGeom>
          <a:solidFill>
            <a:srgbClr val="08172A"/>
          </a:solidFill>
          <a:ln w="12700">
            <a:solidFill>
              <a:srgbClr val="08172A"/>
            </a:solidFill>
            <a:prstDash val="solid"/>
          </a:ln>
        </p:spPr>
      </p:sp>
      <p:sp>
        <p:nvSpPr>
          <p:cNvPr id="15" name="Text 12"/>
          <p:cNvSpPr/>
          <p:nvPr/>
        </p:nvSpPr>
        <p:spPr>
          <a:xfrm>
            <a:off x="3523412" y="16408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6" name="Text 13"/>
          <p:cNvSpPr/>
          <p:nvPr/>
        </p:nvSpPr>
        <p:spPr>
          <a:xfrm>
            <a:off x="3852596" y="1659128"/>
            <a:ext cx="2023796" cy="219456"/>
          </a:xfrm>
          <a:prstGeom prst="rect">
            <a:avLst/>
          </a:prstGeom>
          <a:noFill/>
          <a:ln/>
        </p:spPr>
        <p:txBody>
          <a:bodyPr wrap="square" lIns="0" tIns="0" rIns="0" bIns="0" rtlCol="0" anchor="ctr"/>
          <a:lstStyle/>
          <a:p>
            <a:pPr indent="0" marL="0">
              <a:buNone/>
            </a:pPr>
            <a:r>
              <a:rPr lang="en-US" sz="1300" b="1" dirty="0">
                <a:solidFill>
                  <a:srgbClr val="0B1622"/>
                </a:solidFill>
                <a:latin typeface="Calibri" pitchFamily="34" charset="0"/>
                <a:ea typeface="Calibri" pitchFamily="34" charset="-122"/>
                <a:cs typeface="Calibri" pitchFamily="34" charset="-120"/>
              </a:rPr>
              <a:t>Make it visible</a:t>
            </a:r>
            <a:endParaRPr lang="en-US" sz="1300" dirty="0"/>
          </a:p>
        </p:txBody>
      </p:sp>
      <p:sp>
        <p:nvSpPr>
          <p:cNvPr id="17" name="Text 14"/>
          <p:cNvSpPr/>
          <p:nvPr/>
        </p:nvSpPr>
        <p:spPr>
          <a:xfrm>
            <a:off x="3523412" y="1988312"/>
            <a:ext cx="2352980" cy="512064"/>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The event plane. One correlated context across agents and services, carrying both telemetry and triggers.</a:t>
            </a:r>
            <a:endParaRPr lang="en-US" sz="920" dirty="0"/>
          </a:p>
        </p:txBody>
      </p:sp>
      <p:sp>
        <p:nvSpPr>
          <p:cNvPr id="18" name="Shape 15"/>
          <p:cNvSpPr/>
          <p:nvPr/>
        </p:nvSpPr>
        <p:spPr>
          <a:xfrm>
            <a:off x="3523412" y="2536952"/>
            <a:ext cx="2352980" cy="0"/>
          </a:xfrm>
          <a:prstGeom prst="line">
            <a:avLst/>
          </a:prstGeom>
          <a:noFill/>
          <a:ln w="9525">
            <a:solidFill>
              <a:srgbClr val="EFF2F5"/>
            </a:solidFill>
            <a:prstDash val="solid"/>
          </a:ln>
        </p:spPr>
      </p:sp>
      <p:sp>
        <p:nvSpPr>
          <p:cNvPr id="19" name="Text 16"/>
          <p:cNvSpPr/>
          <p:nvPr/>
        </p:nvSpPr>
        <p:spPr>
          <a:xfrm>
            <a:off x="3523412" y="2591816"/>
            <a:ext cx="2352980"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880" b="1" dirty="0">
                <a:solidFill>
                  <a:srgbClr val="0B1622"/>
                </a:solidFill>
                <a:latin typeface="Calibri" pitchFamily="34" charset="0"/>
                <a:ea typeface="Calibri" pitchFamily="34" charset="-122"/>
                <a:cs typeface="Calibri" pitchFamily="34" charset="-120"/>
              </a:rPr>
              <a:t>Removes the constraint:</a:t>
            </a:r>
            <a:pPr indent="0" marL="0">
              <a:lnSpc>
                <a:spcPct val="110000"/>
              </a:lnSpc>
              <a:buNone/>
            </a:pPr>
            <a:r>
              <a:rPr lang="en-US" sz="880" dirty="0">
                <a:solidFill>
                  <a:srgbClr val="46586B"/>
                </a:solidFill>
                <a:latin typeface="Calibri" pitchFamily="34" charset="0"/>
                <a:ea typeface="Calibri" pitchFamily="34" charset="-122"/>
                <a:cs typeface="Calibri" pitchFamily="34" charset="-120"/>
              </a:rPr>
              <a:t> Improvement cannot be claimed without a baseline carrier, and triggers cannot exist without the spine.</a:t>
            </a:r>
            <a:endParaRPr lang="en-US" sz="880" dirty="0"/>
          </a:p>
        </p:txBody>
      </p:sp>
      <p:sp>
        <p:nvSpPr>
          <p:cNvPr id="20" name="Shape 17"/>
          <p:cNvSpPr/>
          <p:nvPr/>
        </p:nvSpPr>
        <p:spPr>
          <a:xfrm>
            <a:off x="6150712" y="1512824"/>
            <a:ext cx="2682164" cy="1572768"/>
          </a:xfrm>
          <a:prstGeom prst="roundRect">
            <a:avLst>
              <a:gd name="adj" fmla="val 4651"/>
            </a:avLst>
          </a:prstGeom>
          <a:solidFill>
            <a:srgbClr val="E6F4F6"/>
          </a:solidFill>
          <a:ln w="12700">
            <a:solidFill>
              <a:srgbClr val="9CCED6"/>
            </a:solidFill>
            <a:prstDash val="solid"/>
          </a:ln>
        </p:spPr>
      </p:sp>
      <p:sp>
        <p:nvSpPr>
          <p:cNvPr id="21" name="Shape 18"/>
          <p:cNvSpPr/>
          <p:nvPr/>
        </p:nvSpPr>
        <p:spPr>
          <a:xfrm>
            <a:off x="6315304" y="1640840"/>
            <a:ext cx="237744" cy="237744"/>
          </a:xfrm>
          <a:prstGeom prst="ellipse">
            <a:avLst/>
          </a:prstGeom>
          <a:solidFill>
            <a:srgbClr val="0B6F7D"/>
          </a:solidFill>
          <a:ln w="12700">
            <a:solidFill>
              <a:srgbClr val="0B6F7D"/>
            </a:solidFill>
            <a:prstDash val="solid"/>
          </a:ln>
        </p:spPr>
      </p:sp>
      <p:sp>
        <p:nvSpPr>
          <p:cNvPr id="22" name="Text 19"/>
          <p:cNvSpPr/>
          <p:nvPr/>
        </p:nvSpPr>
        <p:spPr>
          <a:xfrm>
            <a:off x="6315304" y="16408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3" name="Text 20"/>
          <p:cNvSpPr/>
          <p:nvPr/>
        </p:nvSpPr>
        <p:spPr>
          <a:xfrm>
            <a:off x="6644488" y="1659128"/>
            <a:ext cx="2023796" cy="219456"/>
          </a:xfrm>
          <a:prstGeom prst="rect">
            <a:avLst/>
          </a:prstGeom>
          <a:noFill/>
          <a:ln/>
        </p:spPr>
        <p:txBody>
          <a:bodyPr wrap="square" lIns="0" tIns="0" rIns="0" bIns="0" rtlCol="0" anchor="ctr"/>
          <a:lstStyle/>
          <a:p>
            <a:pPr indent="0" marL="0">
              <a:buNone/>
            </a:pPr>
            <a:r>
              <a:rPr lang="en-US" sz="1300" b="1" dirty="0">
                <a:solidFill>
                  <a:srgbClr val="0B1622"/>
                </a:solidFill>
                <a:latin typeface="Calibri" pitchFamily="34" charset="0"/>
                <a:ea typeface="Calibri" pitchFamily="34" charset="-122"/>
                <a:cs typeface="Calibri" pitchFamily="34" charset="-120"/>
              </a:rPr>
              <a:t>Make writes safe</a:t>
            </a:r>
            <a:endParaRPr lang="en-US" sz="1300" dirty="0"/>
          </a:p>
        </p:txBody>
      </p:sp>
      <p:sp>
        <p:nvSpPr>
          <p:cNvPr id="24" name="Text 21"/>
          <p:cNvSpPr/>
          <p:nvPr/>
        </p:nvSpPr>
        <p:spPr>
          <a:xfrm>
            <a:off x="6315304" y="1988312"/>
            <a:ext cx="2352980" cy="512064"/>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Capability grants and sandboxed execution. Authority that expires, inside a boundary that is declared.</a:t>
            </a:r>
            <a:endParaRPr lang="en-US" sz="920" dirty="0"/>
          </a:p>
        </p:txBody>
      </p:sp>
      <p:sp>
        <p:nvSpPr>
          <p:cNvPr id="25" name="Shape 22"/>
          <p:cNvSpPr/>
          <p:nvPr/>
        </p:nvSpPr>
        <p:spPr>
          <a:xfrm>
            <a:off x="6315304" y="2536952"/>
            <a:ext cx="2352980" cy="0"/>
          </a:xfrm>
          <a:prstGeom prst="line">
            <a:avLst/>
          </a:prstGeom>
          <a:noFill/>
          <a:ln w="9525">
            <a:solidFill>
              <a:srgbClr val="EFF2F5"/>
            </a:solidFill>
            <a:prstDash val="solid"/>
          </a:ln>
        </p:spPr>
      </p:sp>
      <p:sp>
        <p:nvSpPr>
          <p:cNvPr id="26" name="Text 23"/>
          <p:cNvSpPr/>
          <p:nvPr/>
        </p:nvSpPr>
        <p:spPr>
          <a:xfrm>
            <a:off x="6315304" y="2591816"/>
            <a:ext cx="2352980"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880" b="1" dirty="0">
                <a:solidFill>
                  <a:srgbClr val="0B1622"/>
                </a:solidFill>
                <a:latin typeface="Calibri" pitchFamily="34" charset="0"/>
                <a:ea typeface="Calibri" pitchFamily="34" charset="-122"/>
                <a:cs typeface="Calibri" pitchFamily="34" charset="-120"/>
              </a:rPr>
              <a:t>Removes the constraint:</a:t>
            </a:r>
            <a:pPr indent="0" marL="0">
              <a:lnSpc>
                <a:spcPct val="110000"/>
              </a:lnSpc>
              <a:buNone/>
            </a:pPr>
            <a:r>
              <a:rPr lang="en-US" sz="880" dirty="0">
                <a:solidFill>
                  <a:srgbClr val="46586B"/>
                </a:solidFill>
                <a:latin typeface="Calibri" pitchFamily="34" charset="0"/>
                <a:ea typeface="Calibri" pitchFamily="34" charset="-122"/>
                <a:cs typeface="Calibri" pitchFamily="34" charset="-120"/>
              </a:rPr>
              <a:t> Writes need both an expiring authority and a bounded runtime — and both need step one to know who is asking.</a:t>
            </a:r>
            <a:endParaRPr lang="en-US" sz="880" dirty="0"/>
          </a:p>
        </p:txBody>
      </p:sp>
      <p:sp>
        <p:nvSpPr>
          <p:cNvPr id="27" name="Shape 24"/>
          <p:cNvSpPr/>
          <p:nvPr/>
        </p:nvSpPr>
        <p:spPr>
          <a:xfrm>
            <a:off x="8942603" y="1512824"/>
            <a:ext cx="2682164" cy="1572768"/>
          </a:xfrm>
          <a:prstGeom prst="roundRect">
            <a:avLst>
              <a:gd name="adj" fmla="val 4651"/>
            </a:avLst>
          </a:prstGeom>
          <a:solidFill>
            <a:srgbClr val="FFFFFF"/>
          </a:solidFill>
          <a:ln w="12700">
            <a:solidFill>
              <a:srgbClr val="E2E7EC"/>
            </a:solidFill>
            <a:prstDash val="solid"/>
          </a:ln>
        </p:spPr>
      </p:sp>
      <p:sp>
        <p:nvSpPr>
          <p:cNvPr id="28" name="Shape 25"/>
          <p:cNvSpPr/>
          <p:nvPr/>
        </p:nvSpPr>
        <p:spPr>
          <a:xfrm>
            <a:off x="9107195" y="1640840"/>
            <a:ext cx="237744" cy="237744"/>
          </a:xfrm>
          <a:prstGeom prst="ellipse">
            <a:avLst/>
          </a:prstGeom>
          <a:solidFill>
            <a:srgbClr val="08172A"/>
          </a:solidFill>
          <a:ln w="12700">
            <a:solidFill>
              <a:srgbClr val="08172A"/>
            </a:solidFill>
            <a:prstDash val="solid"/>
          </a:ln>
        </p:spPr>
      </p:sp>
      <p:sp>
        <p:nvSpPr>
          <p:cNvPr id="29" name="Text 26"/>
          <p:cNvSpPr/>
          <p:nvPr/>
        </p:nvSpPr>
        <p:spPr>
          <a:xfrm>
            <a:off x="9107195" y="16408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30" name="Text 27"/>
          <p:cNvSpPr/>
          <p:nvPr/>
        </p:nvSpPr>
        <p:spPr>
          <a:xfrm>
            <a:off x="9436379" y="1659128"/>
            <a:ext cx="2023796" cy="219456"/>
          </a:xfrm>
          <a:prstGeom prst="rect">
            <a:avLst/>
          </a:prstGeom>
          <a:noFill/>
          <a:ln/>
        </p:spPr>
        <p:txBody>
          <a:bodyPr wrap="square" lIns="0" tIns="0" rIns="0" bIns="0" rtlCol="0" anchor="ctr"/>
          <a:lstStyle/>
          <a:p>
            <a:pPr indent="0" marL="0">
              <a:buNone/>
            </a:pPr>
            <a:r>
              <a:rPr lang="en-US" sz="1300" b="1" dirty="0">
                <a:solidFill>
                  <a:srgbClr val="0B1622"/>
                </a:solidFill>
                <a:latin typeface="Calibri" pitchFamily="34" charset="0"/>
                <a:ea typeface="Calibri" pitchFamily="34" charset="-122"/>
                <a:cs typeface="Calibri" pitchFamily="34" charset="-120"/>
              </a:rPr>
              <a:t>Pave the road</a:t>
            </a:r>
            <a:endParaRPr lang="en-US" sz="1300" dirty="0"/>
          </a:p>
        </p:txBody>
      </p:sp>
      <p:sp>
        <p:nvSpPr>
          <p:cNvPr id="31" name="Text 28"/>
          <p:cNvSpPr/>
          <p:nvPr/>
        </p:nvSpPr>
        <p:spPr>
          <a:xfrm>
            <a:off x="9107195" y="1988312"/>
            <a:ext cx="2352980" cy="512064"/>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Templates, policy inheritance, tests, dashboards and documentation, encoding what steps one to three proved.</a:t>
            </a:r>
            <a:endParaRPr lang="en-US" sz="920" dirty="0"/>
          </a:p>
        </p:txBody>
      </p:sp>
      <p:sp>
        <p:nvSpPr>
          <p:cNvPr id="32" name="Shape 29"/>
          <p:cNvSpPr/>
          <p:nvPr/>
        </p:nvSpPr>
        <p:spPr>
          <a:xfrm>
            <a:off x="9107195" y="2536952"/>
            <a:ext cx="2352980" cy="0"/>
          </a:xfrm>
          <a:prstGeom prst="line">
            <a:avLst/>
          </a:prstGeom>
          <a:noFill/>
          <a:ln w="9525">
            <a:solidFill>
              <a:srgbClr val="EFF2F5"/>
            </a:solidFill>
            <a:prstDash val="solid"/>
          </a:ln>
        </p:spPr>
      </p:sp>
      <p:sp>
        <p:nvSpPr>
          <p:cNvPr id="33" name="Text 30"/>
          <p:cNvSpPr/>
          <p:nvPr/>
        </p:nvSpPr>
        <p:spPr>
          <a:xfrm>
            <a:off x="9107195" y="2591816"/>
            <a:ext cx="2352980" cy="420624"/>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880" b="1" dirty="0">
                <a:solidFill>
                  <a:srgbClr val="0B1622"/>
                </a:solidFill>
                <a:latin typeface="Calibri" pitchFamily="34" charset="0"/>
                <a:ea typeface="Calibri" pitchFamily="34" charset="-122"/>
                <a:cs typeface="Calibri" pitchFamily="34" charset="-120"/>
              </a:rPr>
              <a:t>Removes the constraint:</a:t>
            </a:r>
            <a:pPr indent="0" marL="0">
              <a:lnSpc>
                <a:spcPct val="110000"/>
              </a:lnSpc>
              <a:buNone/>
            </a:pPr>
            <a:r>
              <a:rPr lang="en-US" sz="880" dirty="0">
                <a:solidFill>
                  <a:srgbClr val="46586B"/>
                </a:solidFill>
                <a:latin typeface="Calibri" pitchFamily="34" charset="0"/>
                <a:ea typeface="Calibri" pitchFamily="34" charset="-122"/>
                <a:cs typeface="Calibri" pitchFamily="34" charset="-120"/>
              </a:rPr>
              <a:t> The next squad no longer needs us — the only definition of success that survives our departure.</a:t>
            </a:r>
            <a:endParaRPr lang="en-US" sz="880" dirty="0"/>
          </a:p>
        </p:txBody>
      </p:sp>
      <p:sp>
        <p:nvSpPr>
          <p:cNvPr id="34" name="Text 31"/>
          <p:cNvSpPr/>
          <p:nvPr/>
        </p:nvSpPr>
        <p:spPr>
          <a:xfrm>
            <a:off x="566928" y="3231896"/>
            <a:ext cx="5486400" cy="164592"/>
          </a:xfrm>
          <a:prstGeom prst="rect">
            <a:avLst/>
          </a:prstGeom>
          <a:noFill/>
          <a:ln/>
        </p:spPr>
        <p:txBody>
          <a:bodyPr wrap="square" lIns="0" tIns="0" rIns="0" bIns="0" rtlCol="0" anchor="ct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BREAKS IF YOU REORDER</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3451352"/>
          <a:ext cx="11057839" cy="914400"/>
        </p:xfrm>
        <a:graphic>
          <a:graphicData uri="http://schemas.openxmlformats.org/drawingml/2006/table">
            <a:tbl>
              <a:tblPr/>
              <a:tblGrid>
                <a:gridCol w="2194560"/>
                <a:gridCol w="2377440"/>
                <a:gridCol w="6483096"/>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TEMPTING REORDER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WHY IT IS TEMPTING</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ACTUALLY HAPPENS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Paved road first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It is the visible deliverable, and platform teams ask for it.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Templates can only encode conventions that already exist. Build the road first and you template guesses — then every squad inherits those guesses, and unpicking them costs more than the road saved.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Sandboxing first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It looks like the safety-critical piece, so it feels responsible.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 sandbox with nothing to grant to is a container with extra steps. Isolation without an authority model bounds the runtime but not the permission — which is the part that actually goes wrong.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Event plane last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It reads as observability, which sounds like a phase-two concern.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 lose the baseline. Improvement claimed without a pre-measured baseline is unfalsifiable, and gate 2 becomes a matter of opinion rather than evidence.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Business capability first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It is the one the board asked about.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You learn the fabric and an unfamiliar business domain simultaneously, with customer exposure. That is how twelve weeks becomes twenty — and the failure gets attributed to the architecture rather than the sequencing.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36" name="Shape 32"/>
          <p:cNvSpPr/>
          <p:nvPr/>
        </p:nvSpPr>
        <p:spPr>
          <a:xfrm>
            <a:off x="566928" y="6382512"/>
            <a:ext cx="11057839" cy="0"/>
          </a:xfrm>
          <a:prstGeom prst="line">
            <a:avLst/>
          </a:prstGeom>
          <a:noFill/>
          <a:ln w="9525">
            <a:solidFill>
              <a:srgbClr val="E2E7EC"/>
            </a:solidFill>
            <a:prstDash val="solid"/>
          </a:ln>
        </p:spPr>
      </p:sp>
      <p:sp>
        <p:nvSpPr>
          <p:cNvPr id="37" name="Text 3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8" name="Text 3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THE PLAN</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Agents review real pull requests in week three; everything after that is widening and hardening.</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Four phases, four one-page gates, circulated 24 hours ahead. Starting [START DATE].</a:t>
            </a:r>
            <a:endParaRPr lang="en-US" sz="1250" dirty="0"/>
          </a:p>
        </p:txBody>
      </p:sp>
      <p:sp>
        <p:nvSpPr>
          <p:cNvPr id="7" name="Shape 4"/>
          <p:cNvSpPr/>
          <p:nvPr/>
        </p:nvSpPr>
        <p:spPr>
          <a:xfrm>
            <a:off x="566928" y="1918462"/>
            <a:ext cx="11057839" cy="2834640"/>
          </a:xfrm>
          <a:prstGeom prst="roundRect">
            <a:avLst>
              <a:gd name="adj" fmla="val 2581"/>
            </a:avLst>
          </a:prstGeom>
          <a:solidFill>
            <a:srgbClr val="FFFFFF"/>
          </a:solidFill>
          <a:ln w="12700">
            <a:solidFill>
              <a:srgbClr val="E2E7EC"/>
            </a:solidFill>
            <a:prstDash val="solid"/>
          </a:ln>
        </p:spPr>
      </p:sp>
      <p:sp>
        <p:nvSpPr>
          <p:cNvPr id="8" name="Text 5"/>
          <p:cNvSpPr/>
          <p:nvPr/>
        </p:nvSpPr>
        <p:spPr>
          <a:xfrm>
            <a:off x="786384"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a:t>
            </a:r>
            <a:endParaRPr lang="en-US" sz="800" dirty="0"/>
          </a:p>
        </p:txBody>
      </p:sp>
      <p:sp>
        <p:nvSpPr>
          <p:cNvPr id="9" name="Text 6"/>
          <p:cNvSpPr/>
          <p:nvPr/>
        </p:nvSpPr>
        <p:spPr>
          <a:xfrm>
            <a:off x="1671295"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W2</a:t>
            </a:r>
            <a:endParaRPr lang="en-US" sz="800" dirty="0"/>
          </a:p>
        </p:txBody>
      </p:sp>
      <p:sp>
        <p:nvSpPr>
          <p:cNvPr id="10" name="Shape 7"/>
          <p:cNvSpPr/>
          <p:nvPr/>
        </p:nvSpPr>
        <p:spPr>
          <a:xfrm>
            <a:off x="1671295" y="2028190"/>
            <a:ext cx="0" cy="2103120"/>
          </a:xfrm>
          <a:prstGeom prst="line">
            <a:avLst/>
          </a:prstGeom>
          <a:noFill/>
          <a:ln w="9525">
            <a:solidFill>
              <a:srgbClr val="EFF2F5"/>
            </a:solidFill>
            <a:prstDash val="solid"/>
          </a:ln>
        </p:spPr>
      </p:sp>
      <p:sp>
        <p:nvSpPr>
          <p:cNvPr id="11" name="Text 8"/>
          <p:cNvSpPr/>
          <p:nvPr/>
        </p:nvSpPr>
        <p:spPr>
          <a:xfrm>
            <a:off x="2556205"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W3</a:t>
            </a:r>
            <a:endParaRPr lang="en-US" sz="800" dirty="0"/>
          </a:p>
        </p:txBody>
      </p:sp>
      <p:sp>
        <p:nvSpPr>
          <p:cNvPr id="12" name="Shape 9"/>
          <p:cNvSpPr/>
          <p:nvPr/>
        </p:nvSpPr>
        <p:spPr>
          <a:xfrm>
            <a:off x="2556205" y="2028190"/>
            <a:ext cx="0" cy="2103120"/>
          </a:xfrm>
          <a:prstGeom prst="line">
            <a:avLst/>
          </a:prstGeom>
          <a:noFill/>
          <a:ln w="9525">
            <a:solidFill>
              <a:srgbClr val="EFF2F5"/>
            </a:solidFill>
            <a:prstDash val="solid"/>
          </a:ln>
        </p:spPr>
      </p:sp>
      <p:sp>
        <p:nvSpPr>
          <p:cNvPr id="13" name="Text 10"/>
          <p:cNvSpPr/>
          <p:nvPr/>
        </p:nvSpPr>
        <p:spPr>
          <a:xfrm>
            <a:off x="3441116"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W4</a:t>
            </a:r>
            <a:endParaRPr lang="en-US" sz="800" dirty="0"/>
          </a:p>
        </p:txBody>
      </p:sp>
      <p:sp>
        <p:nvSpPr>
          <p:cNvPr id="14" name="Shape 11"/>
          <p:cNvSpPr/>
          <p:nvPr/>
        </p:nvSpPr>
        <p:spPr>
          <a:xfrm>
            <a:off x="3441116" y="2028190"/>
            <a:ext cx="0" cy="2103120"/>
          </a:xfrm>
          <a:prstGeom prst="line">
            <a:avLst/>
          </a:prstGeom>
          <a:noFill/>
          <a:ln w="9525">
            <a:solidFill>
              <a:srgbClr val="EFF2F5"/>
            </a:solidFill>
            <a:prstDash val="solid"/>
          </a:ln>
        </p:spPr>
      </p:sp>
      <p:sp>
        <p:nvSpPr>
          <p:cNvPr id="15" name="Text 12"/>
          <p:cNvSpPr/>
          <p:nvPr/>
        </p:nvSpPr>
        <p:spPr>
          <a:xfrm>
            <a:off x="4326026"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W5</a:t>
            </a:r>
            <a:endParaRPr lang="en-US" sz="800" dirty="0"/>
          </a:p>
        </p:txBody>
      </p:sp>
      <p:sp>
        <p:nvSpPr>
          <p:cNvPr id="16" name="Shape 13"/>
          <p:cNvSpPr/>
          <p:nvPr/>
        </p:nvSpPr>
        <p:spPr>
          <a:xfrm>
            <a:off x="4326026" y="2028190"/>
            <a:ext cx="0" cy="2103120"/>
          </a:xfrm>
          <a:prstGeom prst="line">
            <a:avLst/>
          </a:prstGeom>
          <a:noFill/>
          <a:ln w="9525">
            <a:solidFill>
              <a:srgbClr val="EFF2F5"/>
            </a:solidFill>
            <a:prstDash val="solid"/>
          </a:ln>
        </p:spPr>
      </p:sp>
      <p:sp>
        <p:nvSpPr>
          <p:cNvPr id="17" name="Text 14"/>
          <p:cNvSpPr/>
          <p:nvPr/>
        </p:nvSpPr>
        <p:spPr>
          <a:xfrm>
            <a:off x="5210937"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W6</a:t>
            </a:r>
            <a:endParaRPr lang="en-US" sz="800" dirty="0"/>
          </a:p>
        </p:txBody>
      </p:sp>
      <p:sp>
        <p:nvSpPr>
          <p:cNvPr id="18" name="Shape 15"/>
          <p:cNvSpPr/>
          <p:nvPr/>
        </p:nvSpPr>
        <p:spPr>
          <a:xfrm>
            <a:off x="5210937" y="2028190"/>
            <a:ext cx="0" cy="2103120"/>
          </a:xfrm>
          <a:prstGeom prst="line">
            <a:avLst/>
          </a:prstGeom>
          <a:noFill/>
          <a:ln w="9525">
            <a:solidFill>
              <a:srgbClr val="EFF2F5"/>
            </a:solidFill>
            <a:prstDash val="solid"/>
          </a:ln>
        </p:spPr>
      </p:sp>
      <p:sp>
        <p:nvSpPr>
          <p:cNvPr id="19" name="Text 16"/>
          <p:cNvSpPr/>
          <p:nvPr/>
        </p:nvSpPr>
        <p:spPr>
          <a:xfrm>
            <a:off x="6095848"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W7</a:t>
            </a:r>
            <a:endParaRPr lang="en-US" sz="800" dirty="0"/>
          </a:p>
        </p:txBody>
      </p:sp>
      <p:sp>
        <p:nvSpPr>
          <p:cNvPr id="20" name="Shape 17"/>
          <p:cNvSpPr/>
          <p:nvPr/>
        </p:nvSpPr>
        <p:spPr>
          <a:xfrm>
            <a:off x="6095848" y="2028190"/>
            <a:ext cx="0" cy="2103120"/>
          </a:xfrm>
          <a:prstGeom prst="line">
            <a:avLst/>
          </a:prstGeom>
          <a:noFill/>
          <a:ln w="9525">
            <a:solidFill>
              <a:srgbClr val="EFF2F5"/>
            </a:solidFill>
            <a:prstDash val="solid"/>
          </a:ln>
        </p:spPr>
      </p:sp>
      <p:sp>
        <p:nvSpPr>
          <p:cNvPr id="21" name="Text 18"/>
          <p:cNvSpPr/>
          <p:nvPr/>
        </p:nvSpPr>
        <p:spPr>
          <a:xfrm>
            <a:off x="6980758"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W8</a:t>
            </a:r>
            <a:endParaRPr lang="en-US" sz="800" dirty="0"/>
          </a:p>
        </p:txBody>
      </p:sp>
      <p:sp>
        <p:nvSpPr>
          <p:cNvPr id="22" name="Shape 19"/>
          <p:cNvSpPr/>
          <p:nvPr/>
        </p:nvSpPr>
        <p:spPr>
          <a:xfrm>
            <a:off x="6980758" y="2028190"/>
            <a:ext cx="0" cy="2103120"/>
          </a:xfrm>
          <a:prstGeom prst="line">
            <a:avLst/>
          </a:prstGeom>
          <a:noFill/>
          <a:ln w="9525">
            <a:solidFill>
              <a:srgbClr val="EFF2F5"/>
            </a:solidFill>
            <a:prstDash val="solid"/>
          </a:ln>
        </p:spPr>
      </p:sp>
      <p:sp>
        <p:nvSpPr>
          <p:cNvPr id="23" name="Text 20"/>
          <p:cNvSpPr/>
          <p:nvPr/>
        </p:nvSpPr>
        <p:spPr>
          <a:xfrm>
            <a:off x="7865669"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W9</a:t>
            </a:r>
            <a:endParaRPr lang="en-US" sz="800" dirty="0"/>
          </a:p>
        </p:txBody>
      </p:sp>
      <p:sp>
        <p:nvSpPr>
          <p:cNvPr id="24" name="Shape 21"/>
          <p:cNvSpPr/>
          <p:nvPr/>
        </p:nvSpPr>
        <p:spPr>
          <a:xfrm>
            <a:off x="7865669" y="2028190"/>
            <a:ext cx="0" cy="2103120"/>
          </a:xfrm>
          <a:prstGeom prst="line">
            <a:avLst/>
          </a:prstGeom>
          <a:noFill/>
          <a:ln w="9525">
            <a:solidFill>
              <a:srgbClr val="EFF2F5"/>
            </a:solidFill>
            <a:prstDash val="solid"/>
          </a:ln>
        </p:spPr>
      </p:sp>
      <p:sp>
        <p:nvSpPr>
          <p:cNvPr id="25" name="Text 22"/>
          <p:cNvSpPr/>
          <p:nvPr/>
        </p:nvSpPr>
        <p:spPr>
          <a:xfrm>
            <a:off x="8750579"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W10</a:t>
            </a:r>
            <a:endParaRPr lang="en-US" sz="800" dirty="0"/>
          </a:p>
        </p:txBody>
      </p:sp>
      <p:sp>
        <p:nvSpPr>
          <p:cNvPr id="26" name="Shape 23"/>
          <p:cNvSpPr/>
          <p:nvPr/>
        </p:nvSpPr>
        <p:spPr>
          <a:xfrm>
            <a:off x="8750579" y="2028190"/>
            <a:ext cx="0" cy="2103120"/>
          </a:xfrm>
          <a:prstGeom prst="line">
            <a:avLst/>
          </a:prstGeom>
          <a:noFill/>
          <a:ln w="9525">
            <a:solidFill>
              <a:srgbClr val="EFF2F5"/>
            </a:solidFill>
            <a:prstDash val="solid"/>
          </a:ln>
        </p:spPr>
      </p:sp>
      <p:sp>
        <p:nvSpPr>
          <p:cNvPr id="27" name="Text 24"/>
          <p:cNvSpPr/>
          <p:nvPr/>
        </p:nvSpPr>
        <p:spPr>
          <a:xfrm>
            <a:off x="9635490"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W11</a:t>
            </a:r>
            <a:endParaRPr lang="en-US" sz="800" dirty="0"/>
          </a:p>
        </p:txBody>
      </p:sp>
      <p:sp>
        <p:nvSpPr>
          <p:cNvPr id="28" name="Shape 25"/>
          <p:cNvSpPr/>
          <p:nvPr/>
        </p:nvSpPr>
        <p:spPr>
          <a:xfrm>
            <a:off x="9635490" y="2028190"/>
            <a:ext cx="0" cy="2103120"/>
          </a:xfrm>
          <a:prstGeom prst="line">
            <a:avLst/>
          </a:prstGeom>
          <a:noFill/>
          <a:ln w="9525">
            <a:solidFill>
              <a:srgbClr val="EFF2F5"/>
            </a:solidFill>
            <a:prstDash val="solid"/>
          </a:ln>
        </p:spPr>
      </p:sp>
      <p:sp>
        <p:nvSpPr>
          <p:cNvPr id="29" name="Text 26"/>
          <p:cNvSpPr/>
          <p:nvPr/>
        </p:nvSpPr>
        <p:spPr>
          <a:xfrm>
            <a:off x="10520401" y="2028190"/>
            <a:ext cx="884911" cy="182880"/>
          </a:xfrm>
          <a:prstGeom prst="rect">
            <a:avLst/>
          </a:prstGeom>
          <a:noFill/>
          <a:ln/>
        </p:spPr>
        <p:txBody>
          <a:bodyPr wrap="square" lIns="0" tIns="0" rIns="0" bIns="0" rtlCol="0" anchor="ctr"/>
          <a:lstStyle/>
          <a:p>
            <a:pPr algn="ctr" indent="0" marL="0">
              <a:buNone/>
            </a:pPr>
            <a:r>
              <a:rPr lang="en-US" sz="800" dirty="0">
                <a:solidFill>
                  <a:srgbClr val="7E8C9B"/>
                </a:solidFill>
                <a:latin typeface="Consolas" pitchFamily="34" charset="0"/>
                <a:ea typeface="Consolas" pitchFamily="34" charset="-122"/>
                <a:cs typeface="Consolas" pitchFamily="34" charset="-120"/>
              </a:rPr>
              <a:t>W12</a:t>
            </a:r>
            <a:endParaRPr lang="en-US" sz="800" dirty="0"/>
          </a:p>
        </p:txBody>
      </p:sp>
      <p:sp>
        <p:nvSpPr>
          <p:cNvPr id="30" name="Shape 27"/>
          <p:cNvSpPr/>
          <p:nvPr/>
        </p:nvSpPr>
        <p:spPr>
          <a:xfrm>
            <a:off x="10520401" y="2028190"/>
            <a:ext cx="0" cy="2103120"/>
          </a:xfrm>
          <a:prstGeom prst="line">
            <a:avLst/>
          </a:prstGeom>
          <a:noFill/>
          <a:ln w="9525">
            <a:solidFill>
              <a:srgbClr val="EFF2F5"/>
            </a:solidFill>
            <a:prstDash val="solid"/>
          </a:ln>
        </p:spPr>
      </p:sp>
      <p:sp>
        <p:nvSpPr>
          <p:cNvPr id="31" name="Shape 28"/>
          <p:cNvSpPr/>
          <p:nvPr/>
        </p:nvSpPr>
        <p:spPr>
          <a:xfrm>
            <a:off x="786384" y="2320798"/>
            <a:ext cx="1724101" cy="402336"/>
          </a:xfrm>
          <a:prstGeom prst="roundRect">
            <a:avLst>
              <a:gd name="adj" fmla="val 18182"/>
            </a:avLst>
          </a:prstGeom>
          <a:solidFill>
            <a:srgbClr val="256ABF"/>
          </a:solidFill>
          <a:ln w="12700">
            <a:solidFill>
              <a:srgbClr val="256ABF"/>
            </a:solidFill>
            <a:prstDash val="solid"/>
          </a:ln>
        </p:spPr>
      </p:sp>
      <p:sp>
        <p:nvSpPr>
          <p:cNvPr id="32" name="Text 29"/>
          <p:cNvSpPr/>
          <p:nvPr/>
        </p:nvSpPr>
        <p:spPr>
          <a:xfrm>
            <a:off x="877824" y="2375662"/>
            <a:ext cx="1541221"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1 · Frame</a:t>
            </a:r>
            <a:endParaRPr lang="en-US" sz="900" dirty="0"/>
          </a:p>
        </p:txBody>
      </p:sp>
      <p:sp>
        <p:nvSpPr>
          <p:cNvPr id="33" name="Text 30"/>
          <p:cNvSpPr/>
          <p:nvPr/>
        </p:nvSpPr>
        <p:spPr>
          <a:xfrm>
            <a:off x="877824" y="2540254"/>
            <a:ext cx="1541221"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Squad, tiers, baselines, access</a:t>
            </a:r>
            <a:endParaRPr lang="en-US" sz="720" dirty="0"/>
          </a:p>
        </p:txBody>
      </p:sp>
      <p:sp>
        <p:nvSpPr>
          <p:cNvPr id="34" name="Shape 31"/>
          <p:cNvSpPr/>
          <p:nvPr/>
        </p:nvSpPr>
        <p:spPr>
          <a:xfrm>
            <a:off x="2556205" y="2796286"/>
            <a:ext cx="2609012" cy="402336"/>
          </a:xfrm>
          <a:prstGeom prst="roundRect">
            <a:avLst>
              <a:gd name="adj" fmla="val 18182"/>
            </a:avLst>
          </a:prstGeom>
          <a:solidFill>
            <a:srgbClr val="0B6F7D"/>
          </a:solidFill>
          <a:ln w="12700">
            <a:solidFill>
              <a:srgbClr val="0B6F7D"/>
            </a:solidFill>
            <a:prstDash val="solid"/>
          </a:ln>
        </p:spPr>
      </p:sp>
      <p:sp>
        <p:nvSpPr>
          <p:cNvPr id="35" name="Text 32"/>
          <p:cNvSpPr/>
          <p:nvPr/>
        </p:nvSpPr>
        <p:spPr>
          <a:xfrm>
            <a:off x="2647645" y="2851150"/>
            <a:ext cx="2426132"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2 · First agents live</a:t>
            </a:r>
            <a:endParaRPr lang="en-US" sz="900" dirty="0"/>
          </a:p>
        </p:txBody>
      </p:sp>
      <p:sp>
        <p:nvSpPr>
          <p:cNvPr id="36" name="Text 33"/>
          <p:cNvSpPr/>
          <p:nvPr/>
        </p:nvSpPr>
        <p:spPr>
          <a:xfrm>
            <a:off x="2647645" y="3015742"/>
            <a:ext cx="2426132"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Agentic review on a real repo · event plane · registry</a:t>
            </a:r>
            <a:endParaRPr lang="en-US" sz="720" dirty="0"/>
          </a:p>
        </p:txBody>
      </p:sp>
      <p:sp>
        <p:nvSpPr>
          <p:cNvPr id="37" name="Shape 34"/>
          <p:cNvSpPr/>
          <p:nvPr/>
        </p:nvSpPr>
        <p:spPr>
          <a:xfrm>
            <a:off x="5210937" y="3271774"/>
            <a:ext cx="3493922" cy="402336"/>
          </a:xfrm>
          <a:prstGeom prst="roundRect">
            <a:avLst>
              <a:gd name="adj" fmla="val 18182"/>
            </a:avLst>
          </a:prstGeom>
          <a:solidFill>
            <a:srgbClr val="184F95"/>
          </a:solidFill>
          <a:ln w="12700">
            <a:solidFill>
              <a:srgbClr val="184F95"/>
            </a:solidFill>
            <a:prstDash val="solid"/>
          </a:ln>
        </p:spPr>
      </p:sp>
      <p:sp>
        <p:nvSpPr>
          <p:cNvPr id="38" name="Text 35"/>
          <p:cNvSpPr/>
          <p:nvPr/>
        </p:nvSpPr>
        <p:spPr>
          <a:xfrm>
            <a:off x="5302377" y="3326638"/>
            <a:ext cx="3311042"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3 · Build the paved road</a:t>
            </a:r>
            <a:endParaRPr lang="en-US" sz="900" dirty="0"/>
          </a:p>
        </p:txBody>
      </p:sp>
      <p:sp>
        <p:nvSpPr>
          <p:cNvPr id="39" name="Text 36"/>
          <p:cNvSpPr/>
          <p:nvPr/>
        </p:nvSpPr>
        <p:spPr>
          <a:xfrm>
            <a:off x="5302377" y="3491230"/>
            <a:ext cx="3311042"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Templates, grants, sandboxing, dashboards</a:t>
            </a:r>
            <a:endParaRPr lang="en-US" sz="720" dirty="0"/>
          </a:p>
        </p:txBody>
      </p:sp>
      <p:sp>
        <p:nvSpPr>
          <p:cNvPr id="40" name="Shape 37"/>
          <p:cNvSpPr/>
          <p:nvPr/>
        </p:nvSpPr>
        <p:spPr>
          <a:xfrm>
            <a:off x="8750579" y="3747262"/>
            <a:ext cx="2609012" cy="402336"/>
          </a:xfrm>
          <a:prstGeom prst="roundRect">
            <a:avLst>
              <a:gd name="adj" fmla="val 18182"/>
            </a:avLst>
          </a:prstGeom>
          <a:solidFill>
            <a:srgbClr val="0D366B"/>
          </a:solidFill>
          <a:ln w="12700">
            <a:solidFill>
              <a:srgbClr val="0D366B"/>
            </a:solidFill>
            <a:prstDash val="solid"/>
          </a:ln>
        </p:spPr>
      </p:sp>
      <p:sp>
        <p:nvSpPr>
          <p:cNvPr id="41" name="Text 38"/>
          <p:cNvSpPr/>
          <p:nvPr/>
        </p:nvSpPr>
        <p:spPr>
          <a:xfrm>
            <a:off x="8842019" y="3802126"/>
            <a:ext cx="2426132" cy="15544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Phase 4 · Hand over</a:t>
            </a:r>
            <a:endParaRPr lang="en-US" sz="900" dirty="0"/>
          </a:p>
        </p:txBody>
      </p:sp>
      <p:sp>
        <p:nvSpPr>
          <p:cNvPr id="42" name="Text 39"/>
          <p:cNvSpPr/>
          <p:nvPr/>
        </p:nvSpPr>
        <p:spPr>
          <a:xfrm>
            <a:off x="8842019" y="3966718"/>
            <a:ext cx="2426132" cy="146304"/>
          </a:xfrm>
          <a:prstGeom prst="rect">
            <a:avLst/>
          </a:prstGeom>
          <a:noFill/>
          <a:ln/>
        </p:spPr>
        <p:txBody>
          <a:bodyPr wrap="square" lIns="0" tIns="0" rIns="0" bIns="0" rtlCol="0" anchor="ctr"/>
          <a:lstStyle/>
          <a:p>
            <a:pPr indent="0" marL="0">
              <a:buNone/>
            </a:pPr>
            <a:r>
              <a:rPr lang="en-US" sz="720" dirty="0">
                <a:solidFill>
                  <a:srgbClr val="D6E4EE"/>
                </a:solidFill>
                <a:latin typeface="Calibri" pitchFamily="34" charset="0"/>
                <a:ea typeface="Calibri" pitchFamily="34" charset="-122"/>
                <a:cs typeface="Calibri" pitchFamily="34" charset="-120"/>
              </a:rPr>
              <a:t>Second squad onboards unassisted · crosswalk · roadmap</a:t>
            </a:r>
            <a:endParaRPr lang="en-US" sz="720" dirty="0"/>
          </a:p>
        </p:txBody>
      </p:sp>
      <p:sp>
        <p:nvSpPr>
          <p:cNvPr id="43" name="Shape 40"/>
          <p:cNvSpPr/>
          <p:nvPr/>
        </p:nvSpPr>
        <p:spPr>
          <a:xfrm>
            <a:off x="786384" y="4259326"/>
            <a:ext cx="10618927" cy="0"/>
          </a:xfrm>
          <a:prstGeom prst="line">
            <a:avLst/>
          </a:prstGeom>
          <a:noFill/>
          <a:ln w="9525">
            <a:solidFill>
              <a:srgbClr val="E2E7EC"/>
            </a:solidFill>
            <a:prstDash val="solid"/>
          </a:ln>
        </p:spPr>
      </p:sp>
      <p:sp>
        <p:nvSpPr>
          <p:cNvPr id="44" name="Shape 41"/>
          <p:cNvSpPr/>
          <p:nvPr/>
        </p:nvSpPr>
        <p:spPr>
          <a:xfrm>
            <a:off x="2487625" y="4332478"/>
            <a:ext cx="137160" cy="137160"/>
          </a:xfrm>
          <a:prstGeom prst="diamond">
            <a:avLst/>
          </a:prstGeom>
          <a:solidFill>
            <a:srgbClr val="F5C451"/>
          </a:solidFill>
          <a:ln w="12700">
            <a:solidFill>
              <a:srgbClr val="B98C22"/>
            </a:solidFill>
            <a:prstDash val="solid"/>
          </a:ln>
        </p:spPr>
      </p:sp>
      <p:sp>
        <p:nvSpPr>
          <p:cNvPr id="45" name="Text 42"/>
          <p:cNvSpPr/>
          <p:nvPr/>
        </p:nvSpPr>
        <p:spPr>
          <a:xfrm>
            <a:off x="1870405" y="44970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1</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Baselines frozen</a:t>
            </a:r>
            <a:endParaRPr lang="en-US" sz="700" dirty="0"/>
          </a:p>
        </p:txBody>
      </p:sp>
      <p:sp>
        <p:nvSpPr>
          <p:cNvPr id="46" name="Shape 43"/>
          <p:cNvSpPr/>
          <p:nvPr/>
        </p:nvSpPr>
        <p:spPr>
          <a:xfrm>
            <a:off x="5142357" y="4332478"/>
            <a:ext cx="137160" cy="137160"/>
          </a:xfrm>
          <a:prstGeom prst="diamond">
            <a:avLst/>
          </a:prstGeom>
          <a:solidFill>
            <a:srgbClr val="F5C451"/>
          </a:solidFill>
          <a:ln w="12700">
            <a:solidFill>
              <a:srgbClr val="B98C22"/>
            </a:solidFill>
            <a:prstDash val="solid"/>
          </a:ln>
        </p:spPr>
      </p:sp>
      <p:sp>
        <p:nvSpPr>
          <p:cNvPr id="47" name="Text 44"/>
          <p:cNvSpPr/>
          <p:nvPr/>
        </p:nvSpPr>
        <p:spPr>
          <a:xfrm>
            <a:off x="4525137" y="44970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2</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Agents delivering</a:t>
            </a:r>
            <a:endParaRPr lang="en-US" sz="700" dirty="0"/>
          </a:p>
        </p:txBody>
      </p:sp>
      <p:sp>
        <p:nvSpPr>
          <p:cNvPr id="48" name="Shape 45"/>
          <p:cNvSpPr/>
          <p:nvPr/>
        </p:nvSpPr>
        <p:spPr>
          <a:xfrm>
            <a:off x="8681999" y="4332478"/>
            <a:ext cx="137160" cy="137160"/>
          </a:xfrm>
          <a:prstGeom prst="diamond">
            <a:avLst/>
          </a:prstGeom>
          <a:solidFill>
            <a:srgbClr val="F5C451"/>
          </a:solidFill>
          <a:ln w="12700">
            <a:solidFill>
              <a:srgbClr val="B98C22"/>
            </a:solidFill>
            <a:prstDash val="solid"/>
          </a:ln>
        </p:spPr>
      </p:sp>
      <p:sp>
        <p:nvSpPr>
          <p:cNvPr id="49" name="Text 46"/>
          <p:cNvSpPr/>
          <p:nvPr/>
        </p:nvSpPr>
        <p:spPr>
          <a:xfrm>
            <a:off x="8064779" y="44970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3</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Road proven</a:t>
            </a:r>
            <a:endParaRPr lang="en-US" sz="700" dirty="0"/>
          </a:p>
        </p:txBody>
      </p:sp>
      <p:sp>
        <p:nvSpPr>
          <p:cNvPr id="50" name="Shape 47"/>
          <p:cNvSpPr/>
          <p:nvPr/>
        </p:nvSpPr>
        <p:spPr>
          <a:xfrm>
            <a:off x="11336731" y="4332478"/>
            <a:ext cx="137160" cy="137160"/>
          </a:xfrm>
          <a:prstGeom prst="diamond">
            <a:avLst/>
          </a:prstGeom>
          <a:solidFill>
            <a:srgbClr val="F5C451"/>
          </a:solidFill>
          <a:ln w="12700">
            <a:solidFill>
              <a:srgbClr val="B98C22"/>
            </a:solidFill>
            <a:prstDash val="solid"/>
          </a:ln>
        </p:spPr>
      </p:sp>
      <p:sp>
        <p:nvSpPr>
          <p:cNvPr id="51" name="Text 48"/>
          <p:cNvSpPr/>
          <p:nvPr/>
        </p:nvSpPr>
        <p:spPr>
          <a:xfrm>
            <a:off x="10253167" y="4497070"/>
            <a:ext cx="1371600" cy="274320"/>
          </a:xfrm>
          <a:prstGeom prst="rect">
            <a:avLst/>
          </a:prstGeom>
          <a:noFill/>
          <a:ln/>
        </p:spPr>
        <p:txBody>
          <a:bodyPr wrap="square" lIns="0" tIns="0" rIns="0" bIns="0" rtlCol="0" anchor="t"/>
          <a:lstStyle/>
          <a:p>
            <a:pPr algn="ctr" indent="0" marL="0">
              <a:buNone/>
            </a:pPr>
            <a:r>
              <a:rPr lang="en-US" sz="700" dirty="0">
                <a:solidFill>
                  <a:srgbClr val="8A6210"/>
                </a:solidFill>
                <a:latin typeface="Consolas" pitchFamily="34" charset="0"/>
                <a:ea typeface="Consolas" pitchFamily="34" charset="-122"/>
                <a:cs typeface="Consolas" pitchFamily="34" charset="-120"/>
              </a:rPr>
              <a:t>GATE 4</a:t>
            </a:r>
            <a:endParaRPr lang="en-US" sz="700" dirty="0"/>
          </a:p>
          <a:p>
            <a:pPr algn="ctr" indent="0" marL="0">
              <a:buNone/>
            </a:pPr>
            <a:r>
              <a:rPr lang="en-US" sz="700" dirty="0">
                <a:solidFill>
                  <a:srgbClr val="8A6210"/>
                </a:solidFill>
                <a:latin typeface="Consolas" pitchFamily="34" charset="0"/>
                <a:ea typeface="Consolas" pitchFamily="34" charset="-122"/>
                <a:cs typeface="Consolas" pitchFamily="34" charset="-120"/>
              </a:rPr>
              <a:t>Handover accepted</a:t>
            </a:r>
            <a:endParaRPr lang="en-US" sz="700" dirty="0"/>
          </a:p>
        </p:txBody>
      </p:sp>
      <p:sp>
        <p:nvSpPr>
          <p:cNvPr id="52" name="Shape 49"/>
          <p:cNvSpPr/>
          <p:nvPr/>
        </p:nvSpPr>
        <p:spPr>
          <a:xfrm>
            <a:off x="566928" y="4899406"/>
            <a:ext cx="2654732" cy="932688"/>
          </a:xfrm>
          <a:prstGeom prst="roundRect">
            <a:avLst>
              <a:gd name="adj" fmla="val 7843"/>
            </a:avLst>
          </a:prstGeom>
          <a:solidFill>
            <a:srgbClr val="FFFFFF"/>
          </a:solidFill>
          <a:ln w="12700">
            <a:solidFill>
              <a:srgbClr val="E2E7EC"/>
            </a:solidFill>
            <a:prstDash val="solid"/>
          </a:ln>
        </p:spPr>
      </p:sp>
      <p:sp>
        <p:nvSpPr>
          <p:cNvPr id="53" name="Shape 50"/>
          <p:cNvSpPr/>
          <p:nvPr/>
        </p:nvSpPr>
        <p:spPr>
          <a:xfrm>
            <a:off x="749808" y="5063998"/>
            <a:ext cx="1554480" cy="182880"/>
          </a:xfrm>
          <a:prstGeom prst="roundRect">
            <a:avLst>
              <a:gd name="adj" fmla="val 50000"/>
            </a:avLst>
          </a:prstGeom>
          <a:solidFill>
            <a:srgbClr val="EFF2F5"/>
          </a:solidFill>
          <a:ln w="12700">
            <a:solidFill>
              <a:srgbClr val="EFF2F5"/>
            </a:solidFill>
            <a:prstDash val="solid"/>
          </a:ln>
        </p:spPr>
      </p:sp>
      <p:sp>
        <p:nvSpPr>
          <p:cNvPr id="54" name="Text 51"/>
          <p:cNvSpPr/>
          <p:nvPr/>
        </p:nvSpPr>
        <p:spPr>
          <a:xfrm>
            <a:off x="749808" y="5063998"/>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GATE 1 · WEEK 2</a:t>
            </a:r>
            <a:endParaRPr lang="en-US" sz="750" dirty="0"/>
          </a:p>
        </p:txBody>
      </p:sp>
      <p:sp>
        <p:nvSpPr>
          <p:cNvPr id="55" name="Text 52"/>
          <p:cNvSpPr/>
          <p:nvPr/>
        </p:nvSpPr>
        <p:spPr>
          <a:xfrm>
            <a:off x="749808" y="5356606"/>
            <a:ext cx="2288972" cy="420624"/>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Squad named, tiers agreed, value baselines measured and frozen, environments live.</a:t>
            </a:r>
            <a:endParaRPr lang="en-US" sz="950" dirty="0"/>
          </a:p>
        </p:txBody>
      </p:sp>
      <p:sp>
        <p:nvSpPr>
          <p:cNvPr id="56" name="Shape 53"/>
          <p:cNvSpPr/>
          <p:nvPr/>
        </p:nvSpPr>
        <p:spPr>
          <a:xfrm>
            <a:off x="3367964" y="4899406"/>
            <a:ext cx="2654732" cy="932688"/>
          </a:xfrm>
          <a:prstGeom prst="roundRect">
            <a:avLst>
              <a:gd name="adj" fmla="val 7843"/>
            </a:avLst>
          </a:prstGeom>
          <a:solidFill>
            <a:srgbClr val="E6F4F6"/>
          </a:solidFill>
          <a:ln w="12700">
            <a:solidFill>
              <a:srgbClr val="9CCED6"/>
            </a:solidFill>
            <a:prstDash val="solid"/>
          </a:ln>
        </p:spPr>
      </p:sp>
      <p:sp>
        <p:nvSpPr>
          <p:cNvPr id="57" name="Shape 54"/>
          <p:cNvSpPr/>
          <p:nvPr/>
        </p:nvSpPr>
        <p:spPr>
          <a:xfrm>
            <a:off x="3550844" y="5063998"/>
            <a:ext cx="1554480" cy="182880"/>
          </a:xfrm>
          <a:prstGeom prst="roundRect">
            <a:avLst>
              <a:gd name="adj" fmla="val 50000"/>
            </a:avLst>
          </a:prstGeom>
          <a:solidFill>
            <a:srgbClr val="FFFFFF"/>
          </a:solidFill>
          <a:ln w="12700">
            <a:solidFill>
              <a:srgbClr val="FFFFFF"/>
            </a:solidFill>
            <a:prstDash val="solid"/>
          </a:ln>
        </p:spPr>
      </p:sp>
      <p:sp>
        <p:nvSpPr>
          <p:cNvPr id="58" name="Text 55"/>
          <p:cNvSpPr/>
          <p:nvPr/>
        </p:nvSpPr>
        <p:spPr>
          <a:xfrm>
            <a:off x="3550844" y="5063998"/>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GATE 2 · WEEK 5</a:t>
            </a:r>
            <a:endParaRPr lang="en-US" sz="750" dirty="0"/>
          </a:p>
        </p:txBody>
      </p:sp>
      <p:sp>
        <p:nvSpPr>
          <p:cNvPr id="59" name="Text 56"/>
          <p:cNvSpPr/>
          <p:nvPr/>
        </p:nvSpPr>
        <p:spPr>
          <a:xfrm>
            <a:off x="3550844" y="5356606"/>
            <a:ext cx="2288972" cy="56235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The one that matters.</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Agents reviewing real pull requests, first throughput numbers, event plane carrying evidence.</a:t>
            </a:r>
            <a:endParaRPr lang="en-US" sz="950" dirty="0"/>
          </a:p>
        </p:txBody>
      </p:sp>
      <p:sp>
        <p:nvSpPr>
          <p:cNvPr id="60" name="Shape 57"/>
          <p:cNvSpPr/>
          <p:nvPr/>
        </p:nvSpPr>
        <p:spPr>
          <a:xfrm>
            <a:off x="6169000" y="4899406"/>
            <a:ext cx="2654732" cy="932688"/>
          </a:xfrm>
          <a:prstGeom prst="roundRect">
            <a:avLst>
              <a:gd name="adj" fmla="val 7843"/>
            </a:avLst>
          </a:prstGeom>
          <a:solidFill>
            <a:srgbClr val="FFFFFF"/>
          </a:solidFill>
          <a:ln w="12700">
            <a:solidFill>
              <a:srgbClr val="E2E7EC"/>
            </a:solidFill>
            <a:prstDash val="solid"/>
          </a:ln>
        </p:spPr>
      </p:sp>
      <p:sp>
        <p:nvSpPr>
          <p:cNvPr id="61" name="Shape 58"/>
          <p:cNvSpPr/>
          <p:nvPr/>
        </p:nvSpPr>
        <p:spPr>
          <a:xfrm>
            <a:off x="6351880" y="5063998"/>
            <a:ext cx="1554480" cy="182880"/>
          </a:xfrm>
          <a:prstGeom prst="roundRect">
            <a:avLst>
              <a:gd name="adj" fmla="val 50000"/>
            </a:avLst>
          </a:prstGeom>
          <a:solidFill>
            <a:srgbClr val="EFF2F5"/>
          </a:solidFill>
          <a:ln w="12700">
            <a:solidFill>
              <a:srgbClr val="EFF2F5"/>
            </a:solidFill>
            <a:prstDash val="solid"/>
          </a:ln>
        </p:spPr>
      </p:sp>
      <p:sp>
        <p:nvSpPr>
          <p:cNvPr id="62" name="Text 59"/>
          <p:cNvSpPr/>
          <p:nvPr/>
        </p:nvSpPr>
        <p:spPr>
          <a:xfrm>
            <a:off x="6351880" y="5063998"/>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GATE 3 · WEEK 9</a:t>
            </a:r>
            <a:endParaRPr lang="en-US" sz="750" dirty="0"/>
          </a:p>
        </p:txBody>
      </p:sp>
      <p:sp>
        <p:nvSpPr>
          <p:cNvPr id="63" name="Text 60"/>
          <p:cNvSpPr/>
          <p:nvPr/>
        </p:nvSpPr>
        <p:spPr>
          <a:xfrm>
            <a:off x="6351880" y="5356606"/>
            <a:ext cx="2288972" cy="420624"/>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Templates and grants proven on a second capability. Crosswalk drafted with your frameworks.</a:t>
            </a:r>
            <a:endParaRPr lang="en-US" sz="950" dirty="0"/>
          </a:p>
        </p:txBody>
      </p:sp>
      <p:sp>
        <p:nvSpPr>
          <p:cNvPr id="64" name="Shape 61"/>
          <p:cNvSpPr/>
          <p:nvPr/>
        </p:nvSpPr>
        <p:spPr>
          <a:xfrm>
            <a:off x="8970035" y="4899406"/>
            <a:ext cx="2654732" cy="932688"/>
          </a:xfrm>
          <a:prstGeom prst="roundRect">
            <a:avLst>
              <a:gd name="adj" fmla="val 7843"/>
            </a:avLst>
          </a:prstGeom>
          <a:solidFill>
            <a:srgbClr val="FFFFFF"/>
          </a:solidFill>
          <a:ln w="12700">
            <a:solidFill>
              <a:srgbClr val="E2E7EC"/>
            </a:solidFill>
            <a:prstDash val="solid"/>
          </a:ln>
        </p:spPr>
      </p:sp>
      <p:sp>
        <p:nvSpPr>
          <p:cNvPr id="65" name="Shape 62"/>
          <p:cNvSpPr/>
          <p:nvPr/>
        </p:nvSpPr>
        <p:spPr>
          <a:xfrm>
            <a:off x="9152915" y="5063998"/>
            <a:ext cx="1554480" cy="182880"/>
          </a:xfrm>
          <a:prstGeom prst="roundRect">
            <a:avLst>
              <a:gd name="adj" fmla="val 50000"/>
            </a:avLst>
          </a:prstGeom>
          <a:solidFill>
            <a:srgbClr val="EFF2F5"/>
          </a:solidFill>
          <a:ln w="12700">
            <a:solidFill>
              <a:srgbClr val="EFF2F5"/>
            </a:solidFill>
            <a:prstDash val="solid"/>
          </a:ln>
        </p:spPr>
      </p:sp>
      <p:sp>
        <p:nvSpPr>
          <p:cNvPr id="66" name="Text 63"/>
          <p:cNvSpPr/>
          <p:nvPr/>
        </p:nvSpPr>
        <p:spPr>
          <a:xfrm>
            <a:off x="9152915" y="5063998"/>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GATE 4 · WEEK 12</a:t>
            </a:r>
            <a:endParaRPr lang="en-US" sz="750" dirty="0"/>
          </a:p>
        </p:txBody>
      </p:sp>
      <p:sp>
        <p:nvSpPr>
          <p:cNvPr id="67" name="Text 64"/>
          <p:cNvSpPr/>
          <p:nvPr/>
        </p:nvSpPr>
        <p:spPr>
          <a:xfrm>
            <a:off x="9152915" y="5356606"/>
            <a:ext cx="2288972" cy="420624"/>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A second squad onboarded with us out of the room. Ownership transferred, roadmap agreed.</a:t>
            </a:r>
            <a:endParaRPr lang="en-US" sz="950" dirty="0"/>
          </a:p>
        </p:txBody>
      </p:sp>
      <p:sp>
        <p:nvSpPr>
          <p:cNvPr id="68" name="Shape 65"/>
          <p:cNvSpPr/>
          <p:nvPr/>
        </p:nvSpPr>
        <p:spPr>
          <a:xfrm>
            <a:off x="566928" y="6382512"/>
            <a:ext cx="11057839" cy="0"/>
          </a:xfrm>
          <a:prstGeom prst="line">
            <a:avLst/>
          </a:prstGeom>
          <a:noFill/>
          <a:ln w="9525">
            <a:solidFill>
              <a:srgbClr val="E2E7EC"/>
            </a:solidFill>
            <a:prstDash val="solid"/>
          </a:ln>
        </p:spPr>
      </p:sp>
      <p:sp>
        <p:nvSpPr>
          <p:cNvPr id="69" name="Text 66"/>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70" name="Text 67"/>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RISKS, DEPENDENCIES AND STOP CONDITIONS IN APPENDIX A7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WHAT EXISTS WHEN</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Every item below is a noun you can open, run or read.</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No workstreams, no enablement, no alignment. If it cannot be opened, run or read, it is not on this slide.</a:t>
            </a:r>
            <a:endParaRPr lang="en-US" sz="1250" dirty="0"/>
          </a:p>
        </p:txBody>
      </p:sp>
      <p:sp>
        <p:nvSpPr>
          <p:cNvPr id="7" name="Shape 4"/>
          <p:cNvSpPr/>
          <p:nvPr/>
        </p:nvSpPr>
        <p:spPr>
          <a:xfrm>
            <a:off x="566928" y="1517650"/>
            <a:ext cx="3588410" cy="3200400"/>
          </a:xfrm>
          <a:prstGeom prst="roundRect">
            <a:avLst>
              <a:gd name="adj" fmla="val 2286"/>
            </a:avLst>
          </a:prstGeom>
          <a:solidFill>
            <a:srgbClr val="FFFFFF"/>
          </a:solidFill>
          <a:ln w="12700">
            <a:solidFill>
              <a:srgbClr val="E2E7EC"/>
            </a:solidFill>
            <a:prstDash val="solid"/>
          </a:ln>
        </p:spPr>
      </p:sp>
      <p:sp>
        <p:nvSpPr>
          <p:cNvPr id="8" name="Shape 5"/>
          <p:cNvSpPr/>
          <p:nvPr/>
        </p:nvSpPr>
        <p:spPr>
          <a:xfrm>
            <a:off x="749808" y="1682242"/>
            <a:ext cx="1554480" cy="182880"/>
          </a:xfrm>
          <a:prstGeom prst="roundRect">
            <a:avLst>
              <a:gd name="adj" fmla="val 50000"/>
            </a:avLst>
          </a:prstGeom>
          <a:solidFill>
            <a:srgbClr val="EFF2F5"/>
          </a:solidFill>
          <a:ln w="12700">
            <a:solidFill>
              <a:srgbClr val="EFF2F5"/>
            </a:solidFill>
            <a:prstDash val="solid"/>
          </a:ln>
        </p:spPr>
      </p:sp>
      <p:sp>
        <p:nvSpPr>
          <p:cNvPr id="9" name="Text 6"/>
          <p:cNvSpPr/>
          <p:nvPr/>
        </p:nvSpPr>
        <p:spPr>
          <a:xfrm>
            <a:off x="749808"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DAY 1 · END OF WEEK 1</a:t>
            </a:r>
            <a:endParaRPr lang="en-US" sz="750" dirty="0"/>
          </a:p>
        </p:txBody>
      </p:sp>
      <p:sp>
        <p:nvSpPr>
          <p:cNvPr id="10" name="Text 7"/>
          <p:cNvSpPr/>
          <p:nvPr/>
        </p:nvSpPr>
        <p:spPr>
          <a:xfrm>
            <a:off x="749808" y="197485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first squad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named, with a product owner</a:t>
            </a:r>
            <a:endParaRPr lang="en-US" sz="1000" dirty="0"/>
          </a:p>
        </p:txBody>
      </p:sp>
      <p:sp>
        <p:nvSpPr>
          <p:cNvPr id="11" name="Text 8"/>
          <p:cNvSpPr/>
          <p:nvPr/>
        </p:nvSpPr>
        <p:spPr>
          <a:xfrm>
            <a:off x="749808" y="2308606"/>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Three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risk tiers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defined, with an assignment owner</a:t>
            </a:r>
            <a:endParaRPr lang="en-US" sz="1000" dirty="0"/>
          </a:p>
        </p:txBody>
      </p:sp>
      <p:sp>
        <p:nvSpPr>
          <p:cNvPr id="12" name="Text 9"/>
          <p:cNvSpPr/>
          <p:nvPr/>
        </p:nvSpPr>
        <p:spPr>
          <a:xfrm>
            <a:off x="749808" y="2642362"/>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Value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baselines measured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review latency, rework, lead time</a:t>
            </a:r>
            <a:endParaRPr lang="en-US" sz="1000" dirty="0"/>
          </a:p>
        </p:txBody>
      </p:sp>
      <p:sp>
        <p:nvSpPr>
          <p:cNvPr id="13" name="Text 10"/>
          <p:cNvSpPr/>
          <p:nvPr/>
        </p:nvSpPr>
        <p:spPr>
          <a:xfrm>
            <a:off x="749808" y="2976118"/>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Seven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named people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and a fixed weekly slot</a:t>
            </a:r>
            <a:endParaRPr lang="en-US" sz="1000" dirty="0"/>
          </a:p>
        </p:txBody>
      </p:sp>
      <p:sp>
        <p:nvSpPr>
          <p:cNvPr id="14" name="Text 11"/>
          <p:cNvSpPr/>
          <p:nvPr/>
        </p:nvSpPr>
        <p:spPr>
          <a:xfrm>
            <a:off x="749808" y="3309874"/>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decision log</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entries in it</a:t>
            </a:r>
            <a:endParaRPr lang="en-US" sz="1000" dirty="0"/>
          </a:p>
        </p:txBody>
      </p:sp>
      <p:sp>
        <p:nvSpPr>
          <p:cNvPr id="15" name="Text 12"/>
          <p:cNvSpPr/>
          <p:nvPr/>
        </p:nvSpPr>
        <p:spPr>
          <a:xfrm>
            <a:off x="749808" y="364363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Environment and repository access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requested, with dates</a:t>
            </a:r>
            <a:pPr indent="0" marL="0">
              <a:lnSpc>
                <a:spcPct val="110000"/>
              </a:lnSpc>
              <a:buNone/>
            </a:pPr>
            <a:endParaRPr lang="en-US" sz="1000" dirty="0"/>
          </a:p>
        </p:txBody>
      </p:sp>
      <p:sp>
        <p:nvSpPr>
          <p:cNvPr id="16" name="Shape 13"/>
          <p:cNvSpPr/>
          <p:nvPr/>
        </p:nvSpPr>
        <p:spPr>
          <a:xfrm>
            <a:off x="4301642" y="1517650"/>
            <a:ext cx="3588410" cy="3200400"/>
          </a:xfrm>
          <a:prstGeom prst="roundRect">
            <a:avLst>
              <a:gd name="adj" fmla="val 2286"/>
            </a:avLst>
          </a:prstGeom>
          <a:solidFill>
            <a:srgbClr val="E6F4F6"/>
          </a:solidFill>
          <a:ln w="12700">
            <a:solidFill>
              <a:srgbClr val="9CCED6"/>
            </a:solidFill>
            <a:prstDash val="solid"/>
          </a:ln>
        </p:spPr>
      </p:sp>
      <p:sp>
        <p:nvSpPr>
          <p:cNvPr id="17" name="Shape 14"/>
          <p:cNvSpPr/>
          <p:nvPr/>
        </p:nvSpPr>
        <p:spPr>
          <a:xfrm>
            <a:off x="4484522" y="1682242"/>
            <a:ext cx="1554480" cy="182880"/>
          </a:xfrm>
          <a:prstGeom prst="roundRect">
            <a:avLst>
              <a:gd name="adj" fmla="val 50000"/>
            </a:avLst>
          </a:prstGeom>
          <a:solidFill>
            <a:srgbClr val="FFFFFF"/>
          </a:solidFill>
          <a:ln w="12700">
            <a:solidFill>
              <a:srgbClr val="FFFFFF"/>
            </a:solidFill>
            <a:prstDash val="solid"/>
          </a:ln>
        </p:spPr>
      </p:sp>
      <p:sp>
        <p:nvSpPr>
          <p:cNvPr id="18" name="Text 15"/>
          <p:cNvSpPr/>
          <p:nvPr/>
        </p:nvSpPr>
        <p:spPr>
          <a:xfrm>
            <a:off x="4484522"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DAY 30 · END OF WEEK 4</a:t>
            </a:r>
            <a:endParaRPr lang="en-US" sz="750" dirty="0"/>
          </a:p>
        </p:txBody>
      </p:sp>
      <p:sp>
        <p:nvSpPr>
          <p:cNvPr id="19" name="Text 16"/>
          <p:cNvSpPr/>
          <p:nvPr/>
        </p:nvSpPr>
        <p:spPr>
          <a:xfrm>
            <a:off x="4484522" y="1974850"/>
            <a:ext cx="3222650"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Agents reviewing real pull requests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on your repositories</a:t>
            </a:r>
            <a:endParaRPr lang="en-US" sz="1000" dirty="0"/>
          </a:p>
        </p:txBody>
      </p:sp>
      <p:sp>
        <p:nvSpPr>
          <p:cNvPr id="20" name="Text 17"/>
          <p:cNvSpPr/>
          <p:nvPr/>
        </p:nvSpPr>
        <p:spPr>
          <a:xfrm>
            <a:off x="4484522" y="2308606"/>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capability registry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owners, tiers and health</a:t>
            </a:r>
            <a:endParaRPr lang="en-US" sz="1000" dirty="0"/>
          </a:p>
        </p:txBody>
      </p:sp>
      <p:sp>
        <p:nvSpPr>
          <p:cNvPr id="21" name="Text 18"/>
          <p:cNvSpPr/>
          <p:nvPr/>
        </p:nvSpPr>
        <p:spPr>
          <a:xfrm>
            <a:off x="4484522" y="2642362"/>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The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event plane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carrying one correlated context</a:t>
            </a:r>
            <a:endParaRPr lang="en-US" sz="1000" dirty="0"/>
          </a:p>
        </p:txBody>
      </p:sp>
      <p:sp>
        <p:nvSpPr>
          <p:cNvPr id="22" name="Text 19"/>
          <p:cNvSpPr/>
          <p:nvPr/>
        </p:nvSpPr>
        <p:spPr>
          <a:xfrm>
            <a:off x="4484522" y="2976118"/>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First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throughput numbers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against your own baseline</a:t>
            </a:r>
            <a:endParaRPr lang="en-US" sz="1000" dirty="0"/>
          </a:p>
        </p:txBody>
      </p:sp>
      <p:sp>
        <p:nvSpPr>
          <p:cNvPr id="23" name="Text 20"/>
          <p:cNvSpPr/>
          <p:nvPr/>
        </p:nvSpPr>
        <p:spPr>
          <a:xfrm>
            <a:off x="4484522" y="3309874"/>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Sandboxed execution running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tier-1 write actions</a:t>
            </a:r>
            <a:pPr indent="0" marL="0">
              <a:lnSpc>
                <a:spcPct val="110000"/>
              </a:lnSpc>
              <a:buNone/>
            </a:pPr>
            <a:endParaRPr lang="en-US" sz="1000" dirty="0"/>
          </a:p>
        </p:txBody>
      </p:sp>
      <p:sp>
        <p:nvSpPr>
          <p:cNvPr id="24" name="Text 21"/>
          <p:cNvSpPr/>
          <p:nvPr/>
        </p:nvSpPr>
        <p:spPr>
          <a:xfrm>
            <a:off x="4484522" y="364363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frank week-5 gate paper,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including what is not working</a:t>
            </a:r>
            <a:pPr indent="0" marL="0">
              <a:lnSpc>
                <a:spcPct val="110000"/>
              </a:lnSpc>
              <a:buNone/>
            </a:pPr>
            <a:endParaRPr lang="en-US" sz="1000" dirty="0"/>
          </a:p>
        </p:txBody>
      </p:sp>
      <p:sp>
        <p:nvSpPr>
          <p:cNvPr id="25" name="Shape 22"/>
          <p:cNvSpPr/>
          <p:nvPr/>
        </p:nvSpPr>
        <p:spPr>
          <a:xfrm>
            <a:off x="8036357" y="1517650"/>
            <a:ext cx="3588410" cy="3200400"/>
          </a:xfrm>
          <a:prstGeom prst="roundRect">
            <a:avLst>
              <a:gd name="adj" fmla="val 2286"/>
            </a:avLst>
          </a:prstGeom>
          <a:solidFill>
            <a:srgbClr val="FFFFFF"/>
          </a:solidFill>
          <a:ln w="12700">
            <a:solidFill>
              <a:srgbClr val="E2E7EC"/>
            </a:solidFill>
            <a:prstDash val="solid"/>
          </a:ln>
        </p:spPr>
      </p:sp>
      <p:sp>
        <p:nvSpPr>
          <p:cNvPr id="26" name="Shape 23"/>
          <p:cNvSpPr/>
          <p:nvPr/>
        </p:nvSpPr>
        <p:spPr>
          <a:xfrm>
            <a:off x="8219237" y="1682242"/>
            <a:ext cx="1554480" cy="182880"/>
          </a:xfrm>
          <a:prstGeom prst="roundRect">
            <a:avLst>
              <a:gd name="adj" fmla="val 50000"/>
            </a:avLst>
          </a:prstGeom>
          <a:solidFill>
            <a:srgbClr val="EFF2F5"/>
          </a:solidFill>
          <a:ln w="12700">
            <a:solidFill>
              <a:srgbClr val="EFF2F5"/>
            </a:solidFill>
            <a:prstDash val="solid"/>
          </a:ln>
        </p:spPr>
      </p:sp>
      <p:sp>
        <p:nvSpPr>
          <p:cNvPr id="27" name="Text 24"/>
          <p:cNvSpPr/>
          <p:nvPr/>
        </p:nvSpPr>
        <p:spPr>
          <a:xfrm>
            <a:off x="8219237" y="168224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DAY 90 · END OF WEEK 12</a:t>
            </a:r>
            <a:endParaRPr lang="en-US" sz="750" dirty="0"/>
          </a:p>
        </p:txBody>
      </p:sp>
      <p:sp>
        <p:nvSpPr>
          <p:cNvPr id="28" name="Text 25"/>
          <p:cNvSpPr/>
          <p:nvPr/>
        </p:nvSpPr>
        <p:spPr>
          <a:xfrm>
            <a:off x="8219237" y="1974850"/>
            <a:ext cx="3222650"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paved road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templates, registration, policy inheritance, tests, dashboards, off switches</a:t>
            </a:r>
            <a:endParaRPr lang="en-US" sz="1000" dirty="0"/>
          </a:p>
        </p:txBody>
      </p:sp>
      <p:sp>
        <p:nvSpPr>
          <p:cNvPr id="29" name="Text 26"/>
          <p:cNvSpPr/>
          <p:nvPr/>
        </p:nvSpPr>
        <p:spPr>
          <a:xfrm>
            <a:off x="8219237" y="2450338"/>
            <a:ext cx="3222650"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Agentic delivery across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review, tests, dependencies, release notes and deploy gating</a:t>
            </a:r>
            <a:pPr indent="0" marL="0">
              <a:lnSpc>
                <a:spcPct val="110000"/>
              </a:lnSpc>
              <a:buNone/>
            </a:pPr>
            <a:endParaRPr lang="en-US" sz="1000" dirty="0"/>
          </a:p>
        </p:txBody>
      </p:sp>
      <p:sp>
        <p:nvSpPr>
          <p:cNvPr id="30" name="Text 27"/>
          <p:cNvSpPr/>
          <p:nvPr/>
        </p:nvSpPr>
        <p:spPr>
          <a:xfrm>
            <a:off x="8219237" y="2925826"/>
            <a:ext cx="3222650"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capability portal</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showing what exists, who owns it and whether it is healthy</a:t>
            </a:r>
            <a:endParaRPr lang="en-US" sz="1000" dirty="0"/>
          </a:p>
        </p:txBody>
      </p:sp>
      <p:sp>
        <p:nvSpPr>
          <p:cNvPr id="31" name="Text 28"/>
          <p:cNvSpPr/>
          <p:nvPr/>
        </p:nvSpPr>
        <p:spPr>
          <a:xfrm>
            <a:off x="8219237" y="3401314"/>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control crosswalk</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sample evidence, reviewed by your assessors</a:t>
            </a:r>
            <a:endParaRPr lang="en-US" sz="1000" dirty="0"/>
          </a:p>
        </p:txBody>
      </p:sp>
      <p:sp>
        <p:nvSpPr>
          <p:cNvPr id="32" name="Text 29"/>
          <p:cNvSpPr/>
          <p:nvPr/>
        </p:nvSpPr>
        <p:spPr>
          <a:xfrm>
            <a:off x="8219237" y="3735070"/>
            <a:ext cx="3222650" cy="278892"/>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second squad</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that onboarded from documentation alone</a:t>
            </a:r>
            <a:endParaRPr lang="en-US" sz="1000" dirty="0"/>
          </a:p>
        </p:txBody>
      </p:sp>
      <p:sp>
        <p:nvSpPr>
          <p:cNvPr id="33" name="Text 30"/>
          <p:cNvSpPr/>
          <p:nvPr/>
        </p:nvSpPr>
        <p:spPr>
          <a:xfrm>
            <a:off x="8219237" y="4068826"/>
            <a:ext cx="3222650" cy="27889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All of it yours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whether or not you continue with us</a:t>
            </a:r>
            <a:endParaRPr lang="en-US" sz="1000" dirty="0"/>
          </a:p>
        </p:txBody>
      </p:sp>
      <p:sp>
        <p:nvSpPr>
          <p:cNvPr id="34" name="Shape 31"/>
          <p:cNvSpPr/>
          <p:nvPr/>
        </p:nvSpPr>
        <p:spPr>
          <a:xfrm>
            <a:off x="566928" y="6382512"/>
            <a:ext cx="11057839" cy="0"/>
          </a:xfrm>
          <a:prstGeom prst="line">
            <a:avLst/>
          </a:prstGeom>
          <a:noFill/>
          <a:ln w="9525">
            <a:solidFill>
              <a:srgbClr val="E2E7EC"/>
            </a:solidFill>
            <a:prstDash val="solid"/>
          </a:ln>
        </p:spPr>
      </p:sp>
      <p:sp>
        <p:nvSpPr>
          <p:cNvPr id="35" name="Text 3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36" name="Text 3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 CAPABILITY YOU CANNOT OPERATE WITHOUT ITS AUTHORS IS NOT A CAPABILITY</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THE PATH · WHAT WE NEED</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Three dependencies, and the dates that decide whether gate 2 holds.</a:t>
            </a:r>
            <a:endParaRPr lang="en-US" sz="3000" dirty="0"/>
          </a:p>
        </p:txBody>
      </p:sp>
      <p:sp>
        <p:nvSpPr>
          <p:cNvPr id="6" name="Text 3"/>
          <p:cNvSpPr/>
          <p:nvPr/>
        </p:nvSpPr>
        <p:spPr>
          <a:xfrm>
            <a:off x="1389888" y="15697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If access lands in week three instead of week one, gate 2 moves to week seven. That is not a complaint — it is arithmetic, and it is the most common way this plan slips.</a:t>
            </a:r>
            <a:endParaRPr lang="en-US" sz="1250" dirty="0"/>
          </a:p>
        </p:txBody>
      </p:sp>
      <p:sp>
        <p:nvSpPr>
          <p:cNvPr id="7" name="Shape 4"/>
          <p:cNvSpPr/>
          <p:nvPr/>
        </p:nvSpPr>
        <p:spPr>
          <a:xfrm>
            <a:off x="566928" y="2120900"/>
            <a:ext cx="3588410" cy="3383280"/>
          </a:xfrm>
          <a:prstGeom prst="roundRect">
            <a:avLst>
              <a:gd name="adj" fmla="val 2162"/>
            </a:avLst>
          </a:prstGeom>
          <a:solidFill>
            <a:srgbClr val="E6F4F6"/>
          </a:solidFill>
          <a:ln w="12700">
            <a:solidFill>
              <a:srgbClr val="9CCED6"/>
            </a:solidFill>
            <a:prstDash val="solid"/>
          </a:ln>
        </p:spPr>
      </p:sp>
      <p:sp>
        <p:nvSpPr>
          <p:cNvPr id="8" name="Shape 5"/>
          <p:cNvSpPr/>
          <p:nvPr/>
        </p:nvSpPr>
        <p:spPr>
          <a:xfrm>
            <a:off x="749808" y="2285492"/>
            <a:ext cx="1325880" cy="182880"/>
          </a:xfrm>
          <a:prstGeom prst="roundRect">
            <a:avLst>
              <a:gd name="adj" fmla="val 50000"/>
            </a:avLst>
          </a:prstGeom>
          <a:solidFill>
            <a:srgbClr val="FFFFFF"/>
          </a:solidFill>
          <a:ln w="12700">
            <a:solidFill>
              <a:srgbClr val="FFFFFF"/>
            </a:solidFill>
            <a:prstDash val="solid"/>
          </a:ln>
        </p:spPr>
      </p:sp>
      <p:sp>
        <p:nvSpPr>
          <p:cNvPr id="9" name="Text 6"/>
          <p:cNvSpPr/>
          <p:nvPr/>
        </p:nvSpPr>
        <p:spPr>
          <a:xfrm>
            <a:off x="749808" y="2285492"/>
            <a:ext cx="13258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ACCESS</a:t>
            </a:r>
            <a:endParaRPr lang="en-US" sz="750" dirty="0"/>
          </a:p>
        </p:txBody>
      </p:sp>
      <p:sp>
        <p:nvSpPr>
          <p:cNvPr id="10" name="Text 7"/>
          <p:cNvSpPr/>
          <p:nvPr/>
        </p:nvSpPr>
        <p:spPr>
          <a:xfrm>
            <a:off x="749808" y="263296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Repositories for the first squad — read and PR</a:t>
            </a:r>
            <a:endParaRPr lang="en-US" sz="920" dirty="0"/>
          </a:p>
        </p:txBody>
      </p:sp>
      <p:sp>
        <p:nvSpPr>
          <p:cNvPr id="11" name="Text 8"/>
          <p:cNvSpPr/>
          <p:nvPr/>
        </p:nvSpPr>
        <p:spPr>
          <a:xfrm>
            <a:off x="3368954" y="263296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12" name="Shape 9"/>
          <p:cNvSpPr/>
          <p:nvPr/>
        </p:nvSpPr>
        <p:spPr>
          <a:xfrm>
            <a:off x="749808" y="2888996"/>
            <a:ext cx="3222650" cy="0"/>
          </a:xfrm>
          <a:prstGeom prst="line">
            <a:avLst/>
          </a:prstGeom>
          <a:noFill/>
          <a:ln w="9525">
            <a:solidFill>
              <a:srgbClr val="EFF2F5"/>
            </a:solidFill>
            <a:prstDash val="solid"/>
          </a:ln>
        </p:spPr>
      </p:sp>
      <p:sp>
        <p:nvSpPr>
          <p:cNvPr id="13" name="Text 10"/>
          <p:cNvSpPr/>
          <p:nvPr/>
        </p:nvSpPr>
        <p:spPr>
          <a:xfrm>
            <a:off x="749808" y="294386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CI/CD pipeline access for that squad</a:t>
            </a:r>
            <a:endParaRPr lang="en-US" sz="920" dirty="0"/>
          </a:p>
        </p:txBody>
      </p:sp>
      <p:sp>
        <p:nvSpPr>
          <p:cNvPr id="14" name="Text 11"/>
          <p:cNvSpPr/>
          <p:nvPr/>
        </p:nvSpPr>
        <p:spPr>
          <a:xfrm>
            <a:off x="3368954" y="294386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15" name="Shape 12"/>
          <p:cNvSpPr/>
          <p:nvPr/>
        </p:nvSpPr>
        <p:spPr>
          <a:xfrm>
            <a:off x="749808" y="3199892"/>
            <a:ext cx="3222650" cy="0"/>
          </a:xfrm>
          <a:prstGeom prst="line">
            <a:avLst/>
          </a:prstGeom>
          <a:noFill/>
          <a:ln w="9525">
            <a:solidFill>
              <a:srgbClr val="EFF2F5"/>
            </a:solidFill>
            <a:prstDash val="solid"/>
          </a:ln>
        </p:spPr>
      </p:sp>
      <p:sp>
        <p:nvSpPr>
          <p:cNvPr id="16" name="Text 13"/>
          <p:cNvSpPr/>
          <p:nvPr/>
        </p:nvSpPr>
        <p:spPr>
          <a:xfrm>
            <a:off x="749808" y="3254756"/>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Non-production namespace and deploy path</a:t>
            </a:r>
            <a:endParaRPr lang="en-US" sz="920" dirty="0"/>
          </a:p>
        </p:txBody>
      </p:sp>
      <p:sp>
        <p:nvSpPr>
          <p:cNvPr id="17" name="Text 14"/>
          <p:cNvSpPr/>
          <p:nvPr/>
        </p:nvSpPr>
        <p:spPr>
          <a:xfrm>
            <a:off x="3368954" y="3254756"/>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18" name="Shape 15"/>
          <p:cNvSpPr/>
          <p:nvPr/>
        </p:nvSpPr>
        <p:spPr>
          <a:xfrm>
            <a:off x="749808" y="3510788"/>
            <a:ext cx="3222650" cy="0"/>
          </a:xfrm>
          <a:prstGeom prst="line">
            <a:avLst/>
          </a:prstGeom>
          <a:noFill/>
          <a:ln w="9525">
            <a:solidFill>
              <a:srgbClr val="EFF2F5"/>
            </a:solidFill>
            <a:prstDash val="solid"/>
          </a:ln>
        </p:spPr>
      </p:sp>
      <p:sp>
        <p:nvSpPr>
          <p:cNvPr id="19" name="Text 16"/>
          <p:cNvSpPr/>
          <p:nvPr/>
        </p:nvSpPr>
        <p:spPr>
          <a:xfrm>
            <a:off x="749808" y="3565652"/>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Identity provider tenant — non-prod, admin</a:t>
            </a:r>
            <a:endParaRPr lang="en-US" sz="920" dirty="0"/>
          </a:p>
        </p:txBody>
      </p:sp>
      <p:sp>
        <p:nvSpPr>
          <p:cNvPr id="20" name="Text 17"/>
          <p:cNvSpPr/>
          <p:nvPr/>
        </p:nvSpPr>
        <p:spPr>
          <a:xfrm>
            <a:off x="3368954" y="3565652"/>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21" name="Shape 18"/>
          <p:cNvSpPr/>
          <p:nvPr/>
        </p:nvSpPr>
        <p:spPr>
          <a:xfrm>
            <a:off x="749808" y="3821684"/>
            <a:ext cx="3222650" cy="0"/>
          </a:xfrm>
          <a:prstGeom prst="line">
            <a:avLst/>
          </a:prstGeom>
          <a:noFill/>
          <a:ln w="9525">
            <a:solidFill>
              <a:srgbClr val="EFF2F5"/>
            </a:solidFill>
            <a:prstDash val="solid"/>
          </a:ln>
        </p:spPr>
      </p:sp>
      <p:sp>
        <p:nvSpPr>
          <p:cNvPr id="22" name="Text 19"/>
          <p:cNvSpPr/>
          <p:nvPr/>
        </p:nvSpPr>
        <p:spPr>
          <a:xfrm>
            <a:off x="749808" y="3876548"/>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Observability backend — write and query</a:t>
            </a:r>
            <a:endParaRPr lang="en-US" sz="920" dirty="0"/>
          </a:p>
        </p:txBody>
      </p:sp>
      <p:sp>
        <p:nvSpPr>
          <p:cNvPr id="23" name="Text 20"/>
          <p:cNvSpPr/>
          <p:nvPr/>
        </p:nvSpPr>
        <p:spPr>
          <a:xfrm>
            <a:off x="3368954" y="3876548"/>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24" name="Shape 21"/>
          <p:cNvSpPr/>
          <p:nvPr/>
        </p:nvSpPr>
        <p:spPr>
          <a:xfrm>
            <a:off x="749808" y="4132580"/>
            <a:ext cx="3222650" cy="0"/>
          </a:xfrm>
          <a:prstGeom prst="line">
            <a:avLst/>
          </a:prstGeom>
          <a:noFill/>
          <a:ln w="9525">
            <a:solidFill>
              <a:srgbClr val="EFF2F5"/>
            </a:solidFill>
            <a:prstDash val="solid"/>
          </a:ln>
        </p:spPr>
      </p:sp>
      <p:sp>
        <p:nvSpPr>
          <p:cNvPr id="25" name="Text 22"/>
          <p:cNvSpPr/>
          <p:nvPr/>
        </p:nvSpPr>
        <p:spPr>
          <a:xfrm>
            <a:off x="749808" y="418744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Service catalog / CMDB — read</a:t>
            </a:r>
            <a:endParaRPr lang="en-US" sz="920" dirty="0"/>
          </a:p>
        </p:txBody>
      </p:sp>
      <p:sp>
        <p:nvSpPr>
          <p:cNvPr id="26" name="Text 23"/>
          <p:cNvSpPr/>
          <p:nvPr/>
        </p:nvSpPr>
        <p:spPr>
          <a:xfrm>
            <a:off x="3368954" y="418744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27" name="Shape 24"/>
          <p:cNvSpPr/>
          <p:nvPr/>
        </p:nvSpPr>
        <p:spPr>
          <a:xfrm>
            <a:off x="749808" y="4443476"/>
            <a:ext cx="3222650" cy="0"/>
          </a:xfrm>
          <a:prstGeom prst="line">
            <a:avLst/>
          </a:prstGeom>
          <a:noFill/>
          <a:ln w="9525">
            <a:solidFill>
              <a:srgbClr val="EFF2F5"/>
            </a:solidFill>
            <a:prstDash val="solid"/>
          </a:ln>
        </p:spPr>
      </p:sp>
      <p:sp>
        <p:nvSpPr>
          <p:cNvPr id="28" name="Text 25"/>
          <p:cNvSpPr/>
          <p:nvPr/>
        </p:nvSpPr>
        <p:spPr>
          <a:xfrm>
            <a:off x="749808" y="4571492"/>
            <a:ext cx="3222650" cy="8229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20" b="1" dirty="0">
                <a:solidFill>
                  <a:srgbClr val="0B1622"/>
                </a:solidFill>
                <a:latin typeface="Calibri" pitchFamily="34" charset="0"/>
                <a:ea typeface="Calibri" pitchFamily="34" charset="-122"/>
                <a:cs typeface="Calibri" pitchFamily="34" charset="-120"/>
              </a:rPr>
              <a:t>The honest question:</a:t>
            </a:r>
            <a:pPr indent="0" marL="0">
              <a:lnSpc>
                <a:spcPct val="110000"/>
              </a:lnSpc>
              <a:buNone/>
            </a:pPr>
            <a:r>
              <a:rPr lang="en-US" sz="920" dirty="0">
                <a:solidFill>
                  <a:srgbClr val="46586B"/>
                </a:solidFill>
                <a:latin typeface="Calibri" pitchFamily="34" charset="0"/>
                <a:ea typeface="Calibri" pitchFamily="34" charset="-122"/>
                <a:cs typeface="Calibri" pitchFamily="34" charset="-120"/>
              </a:rPr>
              <a:t> how long do these genuinely take here — not the SLA, the reality? If it is six weeks, it starts before the contract is signed.</a:t>
            </a:r>
            <a:endParaRPr lang="en-US" sz="920" dirty="0"/>
          </a:p>
        </p:txBody>
      </p:sp>
      <p:sp>
        <p:nvSpPr>
          <p:cNvPr id="29" name="Shape 26"/>
          <p:cNvSpPr/>
          <p:nvPr/>
        </p:nvSpPr>
        <p:spPr>
          <a:xfrm>
            <a:off x="4301642" y="2120900"/>
            <a:ext cx="3588410" cy="3383280"/>
          </a:xfrm>
          <a:prstGeom prst="roundRect">
            <a:avLst>
              <a:gd name="adj" fmla="val 2162"/>
            </a:avLst>
          </a:prstGeom>
          <a:solidFill>
            <a:srgbClr val="FFFFFF"/>
          </a:solidFill>
          <a:ln w="12700">
            <a:solidFill>
              <a:srgbClr val="E2E7EC"/>
            </a:solidFill>
            <a:prstDash val="solid"/>
          </a:ln>
        </p:spPr>
      </p:sp>
      <p:sp>
        <p:nvSpPr>
          <p:cNvPr id="30" name="Shape 27"/>
          <p:cNvSpPr/>
          <p:nvPr/>
        </p:nvSpPr>
        <p:spPr>
          <a:xfrm>
            <a:off x="4484522" y="2285492"/>
            <a:ext cx="1325880" cy="182880"/>
          </a:xfrm>
          <a:prstGeom prst="roundRect">
            <a:avLst>
              <a:gd name="adj" fmla="val 50000"/>
            </a:avLst>
          </a:prstGeom>
          <a:solidFill>
            <a:srgbClr val="EFF2F5"/>
          </a:solidFill>
          <a:ln w="12700">
            <a:solidFill>
              <a:srgbClr val="EFF2F5"/>
            </a:solidFill>
            <a:prstDash val="solid"/>
          </a:ln>
        </p:spPr>
      </p:sp>
      <p:sp>
        <p:nvSpPr>
          <p:cNvPr id="31" name="Text 28"/>
          <p:cNvSpPr/>
          <p:nvPr/>
        </p:nvSpPr>
        <p:spPr>
          <a:xfrm>
            <a:off x="4484522" y="2285492"/>
            <a:ext cx="13258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DECISIONS</a:t>
            </a:r>
            <a:endParaRPr lang="en-US" sz="750" dirty="0"/>
          </a:p>
        </p:txBody>
      </p:sp>
      <p:sp>
        <p:nvSpPr>
          <p:cNvPr id="32" name="Text 29"/>
          <p:cNvSpPr/>
          <p:nvPr/>
        </p:nvSpPr>
        <p:spPr>
          <a:xfrm>
            <a:off x="4484522" y="263296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First squad and product owner confirmed</a:t>
            </a:r>
            <a:endParaRPr lang="en-US" sz="920" dirty="0"/>
          </a:p>
        </p:txBody>
      </p:sp>
      <p:sp>
        <p:nvSpPr>
          <p:cNvPr id="33" name="Text 30"/>
          <p:cNvSpPr/>
          <p:nvPr/>
        </p:nvSpPr>
        <p:spPr>
          <a:xfrm>
            <a:off x="7103669" y="263296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Today</a:t>
            </a:r>
            <a:endParaRPr lang="en-US" sz="820" dirty="0"/>
          </a:p>
        </p:txBody>
      </p:sp>
      <p:sp>
        <p:nvSpPr>
          <p:cNvPr id="34" name="Shape 31"/>
          <p:cNvSpPr/>
          <p:nvPr/>
        </p:nvSpPr>
        <p:spPr>
          <a:xfrm>
            <a:off x="4484522" y="2888996"/>
            <a:ext cx="3222650" cy="0"/>
          </a:xfrm>
          <a:prstGeom prst="line">
            <a:avLst/>
          </a:prstGeom>
          <a:noFill/>
          <a:ln w="9525">
            <a:solidFill>
              <a:srgbClr val="EFF2F5"/>
            </a:solidFill>
            <a:prstDash val="solid"/>
          </a:ln>
        </p:spPr>
      </p:sp>
      <p:sp>
        <p:nvSpPr>
          <p:cNvPr id="35" name="Text 32"/>
          <p:cNvSpPr/>
          <p:nvPr/>
        </p:nvSpPr>
        <p:spPr>
          <a:xfrm>
            <a:off x="4484522" y="294386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Agentic delivery confirmed as first workload</a:t>
            </a:r>
            <a:endParaRPr lang="en-US" sz="920" dirty="0"/>
          </a:p>
        </p:txBody>
      </p:sp>
      <p:sp>
        <p:nvSpPr>
          <p:cNvPr id="36" name="Text 33"/>
          <p:cNvSpPr/>
          <p:nvPr/>
        </p:nvSpPr>
        <p:spPr>
          <a:xfrm>
            <a:off x="7103669" y="294386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Today</a:t>
            </a:r>
            <a:endParaRPr lang="en-US" sz="820" dirty="0"/>
          </a:p>
        </p:txBody>
      </p:sp>
      <p:sp>
        <p:nvSpPr>
          <p:cNvPr id="37" name="Shape 34"/>
          <p:cNvSpPr/>
          <p:nvPr/>
        </p:nvSpPr>
        <p:spPr>
          <a:xfrm>
            <a:off x="4484522" y="3199892"/>
            <a:ext cx="3222650" cy="0"/>
          </a:xfrm>
          <a:prstGeom prst="line">
            <a:avLst/>
          </a:prstGeom>
          <a:noFill/>
          <a:ln w="9525">
            <a:solidFill>
              <a:srgbClr val="EFF2F5"/>
            </a:solidFill>
            <a:prstDash val="solid"/>
          </a:ln>
        </p:spPr>
      </p:sp>
      <p:sp>
        <p:nvSpPr>
          <p:cNvPr id="38" name="Text 35"/>
          <p:cNvSpPr/>
          <p:nvPr/>
        </p:nvSpPr>
        <p:spPr>
          <a:xfrm>
            <a:off x="4484522" y="3254756"/>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Three risk tiers, and who assigns them</a:t>
            </a:r>
            <a:endParaRPr lang="en-US" sz="920" dirty="0"/>
          </a:p>
        </p:txBody>
      </p:sp>
      <p:sp>
        <p:nvSpPr>
          <p:cNvPr id="39" name="Text 36"/>
          <p:cNvSpPr/>
          <p:nvPr/>
        </p:nvSpPr>
        <p:spPr>
          <a:xfrm>
            <a:off x="7103669" y="3254756"/>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40" name="Shape 37"/>
          <p:cNvSpPr/>
          <p:nvPr/>
        </p:nvSpPr>
        <p:spPr>
          <a:xfrm>
            <a:off x="4484522" y="3510788"/>
            <a:ext cx="3222650" cy="0"/>
          </a:xfrm>
          <a:prstGeom prst="line">
            <a:avLst/>
          </a:prstGeom>
          <a:noFill/>
          <a:ln w="9525">
            <a:solidFill>
              <a:srgbClr val="EFF2F5"/>
            </a:solidFill>
            <a:prstDash val="solid"/>
          </a:ln>
        </p:spPr>
      </p:sp>
      <p:sp>
        <p:nvSpPr>
          <p:cNvPr id="41" name="Text 38"/>
          <p:cNvSpPr/>
          <p:nvPr/>
        </p:nvSpPr>
        <p:spPr>
          <a:xfrm>
            <a:off x="4484522" y="3565652"/>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Incumbent platforms confirmed</a:t>
            </a:r>
            <a:endParaRPr lang="en-US" sz="920" dirty="0"/>
          </a:p>
        </p:txBody>
      </p:sp>
      <p:sp>
        <p:nvSpPr>
          <p:cNvPr id="42" name="Text 39"/>
          <p:cNvSpPr/>
          <p:nvPr/>
        </p:nvSpPr>
        <p:spPr>
          <a:xfrm>
            <a:off x="7103669" y="3565652"/>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43" name="Shape 40"/>
          <p:cNvSpPr/>
          <p:nvPr/>
        </p:nvSpPr>
        <p:spPr>
          <a:xfrm>
            <a:off x="4484522" y="3821684"/>
            <a:ext cx="3222650" cy="0"/>
          </a:xfrm>
          <a:prstGeom prst="line">
            <a:avLst/>
          </a:prstGeom>
          <a:noFill/>
          <a:ln w="9525">
            <a:solidFill>
              <a:srgbClr val="EFF2F5"/>
            </a:solidFill>
            <a:prstDash val="solid"/>
          </a:ln>
        </p:spPr>
      </p:sp>
      <p:sp>
        <p:nvSpPr>
          <p:cNvPr id="44" name="Text 41"/>
          <p:cNvSpPr/>
          <p:nvPr/>
        </p:nvSpPr>
        <p:spPr>
          <a:xfrm>
            <a:off x="4484522" y="3876548"/>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Data class that is out of bounds</a:t>
            </a:r>
            <a:endParaRPr lang="en-US" sz="920" dirty="0"/>
          </a:p>
        </p:txBody>
      </p:sp>
      <p:sp>
        <p:nvSpPr>
          <p:cNvPr id="45" name="Text 42"/>
          <p:cNvSpPr/>
          <p:nvPr/>
        </p:nvSpPr>
        <p:spPr>
          <a:xfrm>
            <a:off x="7103669" y="3876548"/>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46" name="Shape 43"/>
          <p:cNvSpPr/>
          <p:nvPr/>
        </p:nvSpPr>
        <p:spPr>
          <a:xfrm>
            <a:off x="4484522" y="4132580"/>
            <a:ext cx="3222650" cy="0"/>
          </a:xfrm>
          <a:prstGeom prst="line">
            <a:avLst/>
          </a:prstGeom>
          <a:noFill/>
          <a:ln w="9525">
            <a:solidFill>
              <a:srgbClr val="EFF2F5"/>
            </a:solidFill>
            <a:prstDash val="solid"/>
          </a:ln>
        </p:spPr>
      </p:sp>
      <p:sp>
        <p:nvSpPr>
          <p:cNvPr id="47" name="Text 44"/>
          <p:cNvSpPr/>
          <p:nvPr/>
        </p:nvSpPr>
        <p:spPr>
          <a:xfrm>
            <a:off x="4484522" y="418744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Value baselines measured and frozen</a:t>
            </a:r>
            <a:endParaRPr lang="en-US" sz="920" dirty="0"/>
          </a:p>
        </p:txBody>
      </p:sp>
      <p:sp>
        <p:nvSpPr>
          <p:cNvPr id="48" name="Text 45"/>
          <p:cNvSpPr/>
          <p:nvPr/>
        </p:nvSpPr>
        <p:spPr>
          <a:xfrm>
            <a:off x="7103669" y="418744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49" name="Shape 46"/>
          <p:cNvSpPr/>
          <p:nvPr/>
        </p:nvSpPr>
        <p:spPr>
          <a:xfrm>
            <a:off x="4484522" y="4443476"/>
            <a:ext cx="3222650" cy="0"/>
          </a:xfrm>
          <a:prstGeom prst="line">
            <a:avLst/>
          </a:prstGeom>
          <a:noFill/>
          <a:ln w="9525">
            <a:solidFill>
              <a:srgbClr val="EFF2F5"/>
            </a:solidFill>
            <a:prstDash val="solid"/>
          </a:ln>
        </p:spPr>
      </p:sp>
      <p:sp>
        <p:nvSpPr>
          <p:cNvPr id="50" name="Text 47"/>
          <p:cNvSpPr/>
          <p:nvPr/>
        </p:nvSpPr>
        <p:spPr>
          <a:xfrm>
            <a:off x="4484522" y="449834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What "good enough to merge" means here</a:t>
            </a:r>
            <a:endParaRPr lang="en-US" sz="920" dirty="0"/>
          </a:p>
        </p:txBody>
      </p:sp>
      <p:sp>
        <p:nvSpPr>
          <p:cNvPr id="51" name="Text 48"/>
          <p:cNvSpPr/>
          <p:nvPr/>
        </p:nvSpPr>
        <p:spPr>
          <a:xfrm>
            <a:off x="7103669" y="449834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a:t>
            </a:r>
            <a:endParaRPr lang="en-US" sz="820" dirty="0"/>
          </a:p>
        </p:txBody>
      </p:sp>
      <p:sp>
        <p:nvSpPr>
          <p:cNvPr id="52" name="Shape 49"/>
          <p:cNvSpPr/>
          <p:nvPr/>
        </p:nvSpPr>
        <p:spPr>
          <a:xfrm>
            <a:off x="4484522" y="4754372"/>
            <a:ext cx="3222650" cy="0"/>
          </a:xfrm>
          <a:prstGeom prst="line">
            <a:avLst/>
          </a:prstGeom>
          <a:noFill/>
          <a:ln w="9525">
            <a:solidFill>
              <a:srgbClr val="EFF2F5"/>
            </a:solidFill>
            <a:prstDash val="solid"/>
          </a:ln>
        </p:spPr>
      </p:sp>
      <p:sp>
        <p:nvSpPr>
          <p:cNvPr id="53" name="Shape 50"/>
          <p:cNvSpPr/>
          <p:nvPr/>
        </p:nvSpPr>
        <p:spPr>
          <a:xfrm>
            <a:off x="8036357" y="2120900"/>
            <a:ext cx="3588410" cy="3383280"/>
          </a:xfrm>
          <a:prstGeom prst="roundRect">
            <a:avLst>
              <a:gd name="adj" fmla="val 2162"/>
            </a:avLst>
          </a:prstGeom>
          <a:solidFill>
            <a:srgbClr val="FFFFFF"/>
          </a:solidFill>
          <a:ln w="12700">
            <a:solidFill>
              <a:srgbClr val="E2E7EC"/>
            </a:solidFill>
            <a:prstDash val="solid"/>
          </a:ln>
        </p:spPr>
      </p:sp>
      <p:sp>
        <p:nvSpPr>
          <p:cNvPr id="54" name="Shape 51"/>
          <p:cNvSpPr/>
          <p:nvPr/>
        </p:nvSpPr>
        <p:spPr>
          <a:xfrm>
            <a:off x="8219237" y="2285492"/>
            <a:ext cx="1325880" cy="182880"/>
          </a:xfrm>
          <a:prstGeom prst="roundRect">
            <a:avLst>
              <a:gd name="adj" fmla="val 50000"/>
            </a:avLst>
          </a:prstGeom>
          <a:solidFill>
            <a:srgbClr val="EFF2F5"/>
          </a:solidFill>
          <a:ln w="12700">
            <a:solidFill>
              <a:srgbClr val="EFF2F5"/>
            </a:solidFill>
            <a:prstDash val="solid"/>
          </a:ln>
        </p:spPr>
      </p:sp>
      <p:sp>
        <p:nvSpPr>
          <p:cNvPr id="55" name="Text 52"/>
          <p:cNvSpPr/>
          <p:nvPr/>
        </p:nvSpPr>
        <p:spPr>
          <a:xfrm>
            <a:off x="8219237" y="2285492"/>
            <a:ext cx="13258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PEOPLE &amp; RHYTHM</a:t>
            </a:r>
            <a:endParaRPr lang="en-US" sz="750" dirty="0"/>
          </a:p>
        </p:txBody>
      </p:sp>
      <p:sp>
        <p:nvSpPr>
          <p:cNvPr id="56" name="Text 53"/>
          <p:cNvSpPr/>
          <p:nvPr/>
        </p:nvSpPr>
        <p:spPr>
          <a:xfrm>
            <a:off x="8219237" y="2632964"/>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Seven named roles — slide 14</a:t>
            </a:r>
            <a:endParaRPr lang="en-US" sz="920" dirty="0"/>
          </a:p>
        </p:txBody>
      </p:sp>
      <p:sp>
        <p:nvSpPr>
          <p:cNvPr id="57" name="Text 54"/>
          <p:cNvSpPr/>
          <p:nvPr/>
        </p:nvSpPr>
        <p:spPr>
          <a:xfrm>
            <a:off x="10838383" y="2632964"/>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Today</a:t>
            </a:r>
            <a:endParaRPr lang="en-US" sz="820" dirty="0"/>
          </a:p>
        </p:txBody>
      </p:sp>
      <p:sp>
        <p:nvSpPr>
          <p:cNvPr id="58" name="Shape 55"/>
          <p:cNvSpPr/>
          <p:nvPr/>
        </p:nvSpPr>
        <p:spPr>
          <a:xfrm>
            <a:off x="8219237" y="2888996"/>
            <a:ext cx="3222650" cy="0"/>
          </a:xfrm>
          <a:prstGeom prst="line">
            <a:avLst/>
          </a:prstGeom>
          <a:noFill/>
          <a:ln w="9525">
            <a:solidFill>
              <a:srgbClr val="EFF2F5"/>
            </a:solidFill>
            <a:prstDash val="solid"/>
          </a:ln>
        </p:spPr>
      </p:sp>
      <p:sp>
        <p:nvSpPr>
          <p:cNvPr id="59" name="Text 56"/>
          <p:cNvSpPr/>
          <p:nvPr/>
        </p:nvSpPr>
        <p:spPr>
          <a:xfrm>
            <a:off x="8219237" y="2943860"/>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Weekly 45-minute working session, fixed slot</a:t>
            </a:r>
            <a:endParaRPr lang="en-US" sz="920" dirty="0"/>
          </a:p>
        </p:txBody>
      </p:sp>
      <p:sp>
        <p:nvSpPr>
          <p:cNvPr id="60" name="Text 57"/>
          <p:cNvSpPr/>
          <p:nvPr/>
        </p:nvSpPr>
        <p:spPr>
          <a:xfrm>
            <a:off x="10838383" y="2943860"/>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61" name="Shape 58"/>
          <p:cNvSpPr/>
          <p:nvPr/>
        </p:nvSpPr>
        <p:spPr>
          <a:xfrm>
            <a:off x="8219237" y="3199892"/>
            <a:ext cx="3222650" cy="0"/>
          </a:xfrm>
          <a:prstGeom prst="line">
            <a:avLst/>
          </a:prstGeom>
          <a:noFill/>
          <a:ln w="9525">
            <a:solidFill>
              <a:srgbClr val="EFF2F5"/>
            </a:solidFill>
            <a:prstDash val="solid"/>
          </a:ln>
        </p:spPr>
      </p:sp>
      <p:sp>
        <p:nvSpPr>
          <p:cNvPr id="62" name="Text 59"/>
          <p:cNvSpPr/>
          <p:nvPr/>
        </p:nvSpPr>
        <p:spPr>
          <a:xfrm>
            <a:off x="8219237" y="3254756"/>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Gate reviews — 60 min, sponsor present</a:t>
            </a:r>
            <a:endParaRPr lang="en-US" sz="920" dirty="0"/>
          </a:p>
        </p:txBody>
      </p:sp>
      <p:sp>
        <p:nvSpPr>
          <p:cNvPr id="63" name="Text 60"/>
          <p:cNvSpPr/>
          <p:nvPr/>
        </p:nvSpPr>
        <p:spPr>
          <a:xfrm>
            <a:off x="10838383" y="3254756"/>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W2/5/9/12</a:t>
            </a:r>
            <a:endParaRPr lang="en-US" sz="820" dirty="0"/>
          </a:p>
        </p:txBody>
      </p:sp>
      <p:sp>
        <p:nvSpPr>
          <p:cNvPr id="64" name="Shape 61"/>
          <p:cNvSpPr/>
          <p:nvPr/>
        </p:nvSpPr>
        <p:spPr>
          <a:xfrm>
            <a:off x="8219237" y="3510788"/>
            <a:ext cx="3222650" cy="0"/>
          </a:xfrm>
          <a:prstGeom prst="line">
            <a:avLst/>
          </a:prstGeom>
          <a:noFill/>
          <a:ln w="9525">
            <a:solidFill>
              <a:srgbClr val="EFF2F5"/>
            </a:solidFill>
            <a:prstDash val="solid"/>
          </a:ln>
        </p:spPr>
      </p:sp>
      <p:sp>
        <p:nvSpPr>
          <p:cNvPr id="65" name="Text 62"/>
          <p:cNvSpPr/>
          <p:nvPr/>
        </p:nvSpPr>
        <p:spPr>
          <a:xfrm>
            <a:off x="8219237" y="3565652"/>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Shared channel and one written decision log</a:t>
            </a:r>
            <a:endParaRPr lang="en-US" sz="920" dirty="0"/>
          </a:p>
        </p:txBody>
      </p:sp>
      <p:sp>
        <p:nvSpPr>
          <p:cNvPr id="66" name="Text 63"/>
          <p:cNvSpPr/>
          <p:nvPr/>
        </p:nvSpPr>
        <p:spPr>
          <a:xfrm>
            <a:off x="10838383" y="3565652"/>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67" name="Shape 64"/>
          <p:cNvSpPr/>
          <p:nvPr/>
        </p:nvSpPr>
        <p:spPr>
          <a:xfrm>
            <a:off x="8219237" y="3821684"/>
            <a:ext cx="3222650" cy="0"/>
          </a:xfrm>
          <a:prstGeom prst="line">
            <a:avLst/>
          </a:prstGeom>
          <a:noFill/>
          <a:ln w="9525">
            <a:solidFill>
              <a:srgbClr val="EFF2F5"/>
            </a:solidFill>
            <a:prstDash val="solid"/>
          </a:ln>
        </p:spPr>
      </p:sp>
      <p:sp>
        <p:nvSpPr>
          <p:cNvPr id="68" name="Text 65"/>
          <p:cNvSpPr/>
          <p:nvPr/>
        </p:nvSpPr>
        <p:spPr>
          <a:xfrm>
            <a:off x="8219237" y="3876548"/>
            <a:ext cx="2582570" cy="274320"/>
          </a:xfrm>
          <a:prstGeom prst="rect">
            <a:avLst/>
          </a:prstGeom>
          <a:noFill/>
          <a:ln/>
        </p:spPr>
        <p:txBody>
          <a:bodyPr wrap="square" lIns="0" tIns="0" rIns="0" bIns="0" rtlCol="0" anchor="t"/>
          <a:lstStyle/>
          <a:p>
            <a:pPr indent="0" marL="0">
              <a:lnSpc>
                <a:spcPct val="110000"/>
              </a:lnSpc>
              <a:buNone/>
            </a:pPr>
            <a:r>
              <a:rPr lang="en-US" sz="920" dirty="0">
                <a:solidFill>
                  <a:srgbClr val="46586B"/>
                </a:solidFill>
                <a:latin typeface="Calibri" pitchFamily="34" charset="0"/>
                <a:ea typeface="Calibri" pitchFamily="34" charset="-122"/>
                <a:cs typeface="Calibri" pitchFamily="34" charset="-120"/>
              </a:rPr>
              <a:t>Your change-freeze calendar</a:t>
            </a:r>
            <a:endParaRPr lang="en-US" sz="920" dirty="0"/>
          </a:p>
        </p:txBody>
      </p:sp>
      <p:sp>
        <p:nvSpPr>
          <p:cNvPr id="69" name="Text 66"/>
          <p:cNvSpPr/>
          <p:nvPr/>
        </p:nvSpPr>
        <p:spPr>
          <a:xfrm>
            <a:off x="10838383" y="3876548"/>
            <a:ext cx="603504" cy="182880"/>
          </a:xfrm>
          <a:prstGeom prst="rect">
            <a:avLst/>
          </a:prstGeom>
          <a:noFill/>
          <a:ln/>
        </p:spPr>
        <p:txBody>
          <a:bodyPr wrap="square" lIns="0" tIns="0" rIns="0" bIns="0" rtlCol="0" anchor="ctr"/>
          <a:lstStyle/>
          <a:p>
            <a:pPr algn="r" indent="0" marL="0">
              <a:buNone/>
            </a:pPr>
            <a:r>
              <a:rPr lang="en-US" sz="820" dirty="0">
                <a:solidFill>
                  <a:srgbClr val="7E8C9B"/>
                </a:solidFill>
                <a:latin typeface="Consolas" pitchFamily="34" charset="0"/>
                <a:ea typeface="Consolas" pitchFamily="34" charset="-122"/>
                <a:cs typeface="Consolas" pitchFamily="34" charset="-120"/>
              </a:rPr>
              <a:t>W1</a:t>
            </a:r>
            <a:endParaRPr lang="en-US" sz="820" dirty="0"/>
          </a:p>
        </p:txBody>
      </p:sp>
      <p:sp>
        <p:nvSpPr>
          <p:cNvPr id="70" name="Shape 67"/>
          <p:cNvSpPr/>
          <p:nvPr/>
        </p:nvSpPr>
        <p:spPr>
          <a:xfrm>
            <a:off x="8219237" y="4132580"/>
            <a:ext cx="3222650" cy="0"/>
          </a:xfrm>
          <a:prstGeom prst="line">
            <a:avLst/>
          </a:prstGeom>
          <a:noFill/>
          <a:ln w="9525">
            <a:solidFill>
              <a:srgbClr val="EFF2F5"/>
            </a:solidFill>
            <a:prstDash val="solid"/>
          </a:ln>
        </p:spPr>
      </p:sp>
      <p:sp>
        <p:nvSpPr>
          <p:cNvPr id="71" name="Text 68"/>
          <p:cNvSpPr/>
          <p:nvPr/>
        </p:nvSpPr>
        <p:spPr>
          <a:xfrm>
            <a:off x="8219237" y="4260596"/>
            <a:ext cx="3222650" cy="8229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20" b="1" dirty="0">
                <a:solidFill>
                  <a:srgbClr val="0B1622"/>
                </a:solidFill>
                <a:latin typeface="Calibri" pitchFamily="34" charset="0"/>
                <a:ea typeface="Calibri" pitchFamily="34" charset="-122"/>
                <a:cs typeface="Calibri" pitchFamily="34" charset="-120"/>
              </a:rPr>
              <a:t>One question we need answered today:</a:t>
            </a:r>
            <a:pPr indent="0" marL="0">
              <a:lnSpc>
                <a:spcPct val="110000"/>
              </a:lnSpc>
              <a:buNone/>
            </a:pPr>
            <a:r>
              <a:rPr lang="en-US" sz="920" dirty="0">
                <a:solidFill>
                  <a:srgbClr val="46586B"/>
                </a:solidFill>
                <a:latin typeface="Calibri" pitchFamily="34" charset="0"/>
                <a:ea typeface="Calibri" pitchFamily="34" charset="-122"/>
                <a:cs typeface="Calibri" pitchFamily="34" charset="-120"/>
              </a:rPr>
              <a:t> what falls inside this twelve-week window — freezes, audits, quarter close, holidays? Those have derailed more of these than any technical risk.</a:t>
            </a:r>
            <a:endParaRPr lang="en-US" sz="920" dirty="0"/>
          </a:p>
        </p:txBody>
      </p:sp>
      <p:sp>
        <p:nvSpPr>
          <p:cNvPr id="72" name="Shape 69"/>
          <p:cNvSpPr/>
          <p:nvPr/>
        </p:nvSpPr>
        <p:spPr>
          <a:xfrm>
            <a:off x="566928" y="6382512"/>
            <a:ext cx="11057839" cy="0"/>
          </a:xfrm>
          <a:prstGeom prst="line">
            <a:avLst/>
          </a:prstGeom>
          <a:noFill/>
          <a:ln w="9525">
            <a:solidFill>
              <a:srgbClr val="E2E7EC"/>
            </a:solidFill>
            <a:prstDash val="solid"/>
          </a:ln>
        </p:spPr>
      </p:sp>
      <p:sp>
        <p:nvSpPr>
          <p:cNvPr id="73" name="Text 70"/>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74" name="Text 71"/>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06</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CLOSE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Five decisions, and we start Monday.</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Taken one at a time. Where we cannot decide today, we need a name and a date — an undecided item with no owner becomes a slipped gate in week three.</a:t>
            </a: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65224"/>
          <a:ext cx="11057839" cy="914400"/>
        </p:xfrm>
        <a:graphic>
          <a:graphicData uri="http://schemas.openxmlformats.org/drawingml/2006/table">
            <a:tbl>
              <a:tblPr/>
              <a:tblGrid>
                <a:gridCol w="2651760"/>
                <a:gridCol w="5577840"/>
                <a:gridCol w="1600200"/>
                <a:gridCol w="12344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DECISION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WE NEED TO HEAR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OWNER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STATUS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1  The first squad</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A named team, their repositories, and a product owner who can say yes without convening others. Pick the team that wants this, not the tidiest codebase.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2  Agentic delivery first</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Confirmation that we start with code review, test generation and deploy gating — and that business capabilities are path two, designed in week ten.</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3  The incumbent platforms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Which identity provider, observability backend, gateway and event bus we build on rather than replace.</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4  The seven roles and rhythm</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Names against slide 14 — or a date by which we will have them — and a fixed weekly slot starting this week.</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r h="0">
                <a:tc>
                  <a:txBody>
                    <a:bodyPr/>
                    <a:lstStyle/>
                    <a:p>
                      <a:pPr indent="0" marL="0">
                        <a:buNone/>
                      </a:pPr>
                      <a:r>
                        <a:rPr lang="en-US" sz="950" b="1" dirty="0">
                          <a:solidFill>
                            <a:srgbClr val="0B1622"/>
                          </a:solidFill>
                          <a:latin typeface="Calibri" pitchFamily="34" charset="0"/>
                          <a:ea typeface="Calibri" pitchFamily="34" charset="-122"/>
                          <a:cs typeface="Calibri" pitchFamily="34" charset="-120"/>
                        </a:rPr>
                        <a:t>5  The value-tree inputs</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46586B"/>
                          </a:solidFill>
                          <a:latin typeface="Calibri" pitchFamily="34" charset="0"/>
                          <a:ea typeface="Calibri" pitchFamily="34" charset="-122"/>
                          <a:cs typeface="Calibri" pitchFamily="34" charset="-120"/>
                        </a:rPr>
                        <a:t>Which of the four drivers we report against, and who owns measuring the baseline. We measure what you will actually be asked about.</a:t>
                      </a:r>
                      <a:endParaRPr lang="en-US" sz="9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50" dirty="0">
                          <a:solidFill>
                            <a:srgbClr val="7E8C9B"/>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A6210"/>
                          </a:solidFill>
                          <a:latin typeface="Consolas" pitchFamily="34" charset="0"/>
                          <a:ea typeface="Consolas" pitchFamily="34" charset="-122"/>
                          <a:cs typeface="Consolas" pitchFamily="34" charset="-120"/>
                        </a:rPr>
                        <a:t>OPEN</a:t>
                      </a:r>
                      <a:endParaRPr lang="en-US" sz="850" dirty="0">
                        <a:latin typeface="Consolas" charset="0"/>
                        <a:ea typeface="Consolas" charset="0"/>
                        <a:cs typeface="Consolas"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DF3DA"/>
                    </a:solidFill>
                  </a:tcPr>
                </a:tc>
              </a:tr>
            </a:tbl>
          </a:graphicData>
        </a:graphic>
      </p:graphicFrame>
      <p:sp>
        <p:nvSpPr>
          <p:cNvPr id="8" name="Shape 4"/>
          <p:cNvSpPr/>
          <p:nvPr/>
        </p:nvSpPr>
        <p:spPr>
          <a:xfrm>
            <a:off x="566928" y="4572000"/>
            <a:ext cx="5455768" cy="987552"/>
          </a:xfrm>
          <a:prstGeom prst="roundRect">
            <a:avLst>
              <a:gd name="adj" fmla="val 7407"/>
            </a:avLst>
          </a:prstGeom>
          <a:solidFill>
            <a:srgbClr val="E6F4F6"/>
          </a:solidFill>
          <a:ln w="12700">
            <a:solidFill>
              <a:srgbClr val="9CCED6"/>
            </a:solidFill>
            <a:prstDash val="solid"/>
          </a:ln>
        </p:spPr>
      </p:sp>
      <p:sp>
        <p:nvSpPr>
          <p:cNvPr id="9" name="Shape 5"/>
          <p:cNvSpPr/>
          <p:nvPr/>
        </p:nvSpPr>
        <p:spPr>
          <a:xfrm>
            <a:off x="749808" y="4736592"/>
            <a:ext cx="1554480" cy="182880"/>
          </a:xfrm>
          <a:prstGeom prst="roundRect">
            <a:avLst>
              <a:gd name="adj" fmla="val 50000"/>
            </a:avLst>
          </a:prstGeom>
          <a:solidFill>
            <a:srgbClr val="FFFFFF"/>
          </a:solidFill>
          <a:ln w="12700">
            <a:solidFill>
              <a:srgbClr val="FFFFFF"/>
            </a:solidFill>
            <a:prstDash val="solid"/>
          </a:ln>
        </p:spPr>
      </p:sp>
      <p:sp>
        <p:nvSpPr>
          <p:cNvPr id="10" name="Text 6"/>
          <p:cNvSpPr/>
          <p:nvPr/>
        </p:nvSpPr>
        <p:spPr>
          <a:xfrm>
            <a:off x="749808" y="473659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WITHIN 24 HOURS</a:t>
            </a:r>
            <a:endParaRPr lang="en-US" sz="750" dirty="0"/>
          </a:p>
        </p:txBody>
      </p:sp>
      <p:sp>
        <p:nvSpPr>
          <p:cNvPr id="11" name="Text 7"/>
          <p:cNvSpPr/>
          <p:nvPr/>
        </p:nvSpPr>
        <p:spPr>
          <a:xfrm>
            <a:off x="749808" y="502920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Written confirmation of every decision above, access requests raised with dates, and the first weekly session in calendars. Nothing agreed in this room survives on memory alone.</a:t>
            </a:r>
            <a:endParaRPr lang="en-US" sz="1000" dirty="0"/>
          </a:p>
        </p:txBody>
      </p:sp>
      <p:sp>
        <p:nvSpPr>
          <p:cNvPr id="12" name="Shape 8"/>
          <p:cNvSpPr/>
          <p:nvPr/>
        </p:nvSpPr>
        <p:spPr>
          <a:xfrm>
            <a:off x="6169000" y="4572000"/>
            <a:ext cx="5455768" cy="987552"/>
          </a:xfrm>
          <a:prstGeom prst="roundRect">
            <a:avLst>
              <a:gd name="adj" fmla="val 7407"/>
            </a:avLst>
          </a:prstGeom>
          <a:solidFill>
            <a:srgbClr val="FFFFFF"/>
          </a:solidFill>
          <a:ln w="12700">
            <a:solidFill>
              <a:srgbClr val="E2E7EC"/>
            </a:solidFill>
            <a:prstDash val="solid"/>
          </a:ln>
        </p:spPr>
      </p:sp>
      <p:sp>
        <p:nvSpPr>
          <p:cNvPr id="13" name="Shape 9"/>
          <p:cNvSpPr/>
          <p:nvPr/>
        </p:nvSpPr>
        <p:spPr>
          <a:xfrm>
            <a:off x="6351880" y="4736592"/>
            <a:ext cx="1554480" cy="182880"/>
          </a:xfrm>
          <a:prstGeom prst="roundRect">
            <a:avLst>
              <a:gd name="adj" fmla="val 50000"/>
            </a:avLst>
          </a:prstGeom>
          <a:solidFill>
            <a:srgbClr val="EFF2F5"/>
          </a:solidFill>
          <a:ln w="12700">
            <a:solidFill>
              <a:srgbClr val="EFF2F5"/>
            </a:solidFill>
            <a:prstDash val="solid"/>
          </a:ln>
        </p:spPr>
      </p:sp>
      <p:sp>
        <p:nvSpPr>
          <p:cNvPr id="14" name="Text 10"/>
          <p:cNvSpPr/>
          <p:nvPr/>
        </p:nvSpPr>
        <p:spPr>
          <a:xfrm>
            <a:off x="6351880" y="473659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WITHIN 5 WORKING DAYS</a:t>
            </a:r>
            <a:endParaRPr lang="en-US" sz="750" dirty="0"/>
          </a:p>
        </p:txBody>
      </p:sp>
      <p:sp>
        <p:nvSpPr>
          <p:cNvPr id="15" name="Text 11"/>
          <p:cNvSpPr/>
          <p:nvPr/>
        </p:nvSpPr>
        <p:spPr>
          <a:xfrm>
            <a:off x="6351880" y="502920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The week-1 working session — half a day, the seven named people, baselines measured, and the estate map on slide 7 completed properly rather than live-edited.</a:t>
            </a:r>
            <a:endParaRPr lang="en-US" sz="1000" dirty="0"/>
          </a:p>
        </p:txBody>
      </p:sp>
      <p:sp>
        <p:nvSpPr>
          <p:cNvPr id="16" name="Shape 12"/>
          <p:cNvSpPr/>
          <p:nvPr/>
        </p:nvSpPr>
        <p:spPr>
          <a:xfrm>
            <a:off x="566928" y="6382512"/>
            <a:ext cx="11057839" cy="0"/>
          </a:xfrm>
          <a:prstGeom prst="line">
            <a:avLst/>
          </a:prstGeom>
          <a:noFill/>
          <a:ln w="9525">
            <a:solidFill>
              <a:srgbClr val="E2E7EC"/>
            </a:solidFill>
            <a:prstDash val="solid"/>
          </a:ln>
        </p:spPr>
      </p:sp>
      <p:sp>
        <p:nvSpPr>
          <p:cNvPr id="17" name="Text 1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 name="Text 1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ENTERPRISE AI OPERATING MODEL · POC KICKOFF</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8172A"/>
        </a:solidFill>
      </p:bgPr>
    </p:bg>
    <p:spTree>
      <p:nvGrpSpPr>
        <p:cNvPr id="1" name=""/>
        <p:cNvGrpSpPr/>
        <p:nvPr/>
      </p:nvGrpSpPr>
      <p:grpSpPr>
        <a:xfrm>
          <a:off x="0" y="0"/>
          <a:ext cx="0" cy="0"/>
          <a:chOff x="0" y="0"/>
          <a:chExt cx="0" cy="0"/>
        </a:xfrm>
      </p:grpSpPr>
      <p:sp>
        <p:nvSpPr>
          <p:cNvPr id="3" name="Shape 0"/>
          <p:cNvSpPr/>
          <p:nvPr/>
        </p:nvSpPr>
        <p:spPr>
          <a:xfrm>
            <a:off x="566928" y="2194560"/>
            <a:ext cx="41148" cy="2286000"/>
          </a:xfrm>
          <a:prstGeom prst="rect">
            <a:avLst/>
          </a:prstGeom>
          <a:solidFill>
            <a:srgbClr val="5FD8E6"/>
          </a:solidFill>
          <a:ln w="12700">
            <a:solidFill>
              <a:srgbClr val="333333"/>
            </a:solidFill>
            <a:prstDash val="solid"/>
          </a:ln>
        </p:spPr>
      </p:sp>
      <p:sp>
        <p:nvSpPr>
          <p:cNvPr id="4" name="Text 1"/>
          <p:cNvSpPr/>
          <p:nvPr/>
        </p:nvSpPr>
        <p:spPr>
          <a:xfrm>
            <a:off x="896112" y="2194560"/>
            <a:ext cx="10424160" cy="2286000"/>
          </a:xfrm>
          <a:prstGeom prst="rect">
            <a:avLst/>
          </a:prstGeom>
          <a:noFill/>
          <a:ln/>
        </p:spPr>
        <p:txBody>
          <a:bodyPr wrap="square" lIns="0" tIns="0" rIns="0" bIns="0" rtlCol="0" anchor="ctr"/>
          <a:lstStyle/>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Build the fabric once.</a:t>
            </a:r>
            <a:endParaRPr lang="en-US" sz="2700" dirty="0"/>
          </a:p>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Let every team use it.</a:t>
            </a:r>
            <a:endParaRPr lang="en-US" sz="2700" dirty="0"/>
          </a:p>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Start with the software</a:t>
            </a:r>
            <a:endParaRPr lang="en-US" sz="2700" dirty="0"/>
          </a:p>
          <a:p>
            <a:pPr indent="0" marL="0">
              <a:lnSpc>
                <a:spcPct val="122000"/>
              </a:lnSpc>
              <a:buNone/>
            </a:pPr>
            <a:r>
              <a:rPr lang="en-US" sz="2700" b="1" dirty="0">
                <a:solidFill>
                  <a:srgbClr val="FFFFFF"/>
                </a:solidFill>
                <a:latin typeface="Calibri" pitchFamily="34" charset="0"/>
                <a:ea typeface="Calibri" pitchFamily="34" charset="-122"/>
                <a:cs typeface="Calibri" pitchFamily="34" charset="-120"/>
              </a:rPr>
              <a:t>you already know how to judge.</a:t>
            </a:r>
            <a:endParaRPr lang="en-US" sz="2700" dirty="0"/>
          </a:p>
        </p:txBody>
      </p:sp>
      <p:sp>
        <p:nvSpPr>
          <p:cNvPr id="5" name="Shape 2"/>
          <p:cNvSpPr/>
          <p:nvPr/>
        </p:nvSpPr>
        <p:spPr>
          <a:xfrm>
            <a:off x="566928" y="6382512"/>
            <a:ext cx="11057839" cy="0"/>
          </a:xfrm>
          <a:prstGeom prst="line">
            <a:avLst/>
          </a:prstGeom>
          <a:noFill/>
          <a:ln w="9525">
            <a:solidFill>
              <a:srgbClr val="20364C"/>
            </a:solidFill>
            <a:prstDash val="solid"/>
          </a:ln>
        </p:spPr>
      </p:sp>
      <p:sp>
        <p:nvSpPr>
          <p:cNvPr id="6" name="Text 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C7D6E2"/>
                </a:solidFill>
                <a:latin typeface="Consolas" pitchFamily="34" charset="0"/>
                <a:ea typeface="Consolas" pitchFamily="34" charset="-122"/>
                <a:cs typeface="Consolas" pitchFamily="34" charset="-120"/>
              </a:rPr>
              <a:t>AEGISES</a:t>
            </a:r>
            <a:endParaRPr lang="en-US" sz="850" dirty="0"/>
          </a:p>
        </p:txBody>
      </p:sp>
      <p:sp>
        <p:nvSpPr>
          <p:cNvPr id="7" name="Text 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8AA3B8"/>
                </a:solidFill>
                <a:latin typeface="Consolas" pitchFamily="34" charset="0"/>
                <a:ea typeface="Consolas" pitchFamily="34" charset="-122"/>
                <a:cs typeface="Consolas" pitchFamily="34" charset="-120"/>
              </a:rPr>
              <a:t>ONE CANVAS · TWELVE WEEKS · AGENTS REVIEWING REAL CODE IN WEEK THREE · YOURS TO RUN AT WEEK TWELVE</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A1</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REFERENCE ARCHITECTURE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The canvas in architectural form.</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Responsibilities are fixed; product selections are contextual. For an audience that reads architecture faster than infographics.</a:t>
            </a:r>
            <a:endParaRPr lang="en-US" sz="1250" dirty="0"/>
          </a:p>
        </p:txBody>
      </p:sp>
      <p:sp>
        <p:nvSpPr>
          <p:cNvPr id="7" name="Shape 4"/>
          <p:cNvSpPr/>
          <p:nvPr/>
        </p:nvSpPr>
        <p:spPr>
          <a:xfrm>
            <a:off x="566928" y="1517650"/>
            <a:ext cx="1828800" cy="475488"/>
          </a:xfrm>
          <a:prstGeom prst="roundRect">
            <a:avLst>
              <a:gd name="adj" fmla="val 15385"/>
            </a:avLst>
          </a:prstGeom>
          <a:solidFill>
            <a:srgbClr val="256ABF"/>
          </a:solidFill>
          <a:ln w="12700">
            <a:solidFill>
              <a:srgbClr val="256ABF"/>
            </a:solidFill>
            <a:prstDash val="solid"/>
          </a:ln>
        </p:spPr>
      </p:sp>
      <p:sp>
        <p:nvSpPr>
          <p:cNvPr id="8" name="Text 5"/>
          <p:cNvSpPr/>
          <p:nvPr/>
        </p:nvSpPr>
        <p:spPr>
          <a:xfrm>
            <a:off x="676656" y="1581658"/>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Experience &amp; Business</a:t>
            </a:r>
            <a:endParaRPr lang="en-US" sz="1000" dirty="0"/>
          </a:p>
        </p:txBody>
      </p:sp>
      <p:sp>
        <p:nvSpPr>
          <p:cNvPr id="9" name="Text 6"/>
          <p:cNvSpPr/>
          <p:nvPr/>
        </p:nvSpPr>
        <p:spPr>
          <a:xfrm>
            <a:off x="676656" y="1764538"/>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intent is expressed</a:t>
            </a:r>
            <a:endParaRPr lang="en-US" sz="740" dirty="0"/>
          </a:p>
        </p:txBody>
      </p:sp>
      <p:sp>
        <p:nvSpPr>
          <p:cNvPr id="10" name="Shape 7"/>
          <p:cNvSpPr/>
          <p:nvPr/>
        </p:nvSpPr>
        <p:spPr>
          <a:xfrm>
            <a:off x="2459736" y="1517650"/>
            <a:ext cx="1781800" cy="475488"/>
          </a:xfrm>
          <a:prstGeom prst="roundRect">
            <a:avLst>
              <a:gd name="adj" fmla="val 15385"/>
            </a:avLst>
          </a:prstGeom>
          <a:solidFill>
            <a:srgbClr val="FFFFFF"/>
          </a:solidFill>
          <a:ln w="12700">
            <a:solidFill>
              <a:srgbClr val="E2E7EC"/>
            </a:solidFill>
            <a:prstDash val="solid"/>
          </a:ln>
        </p:spPr>
      </p:sp>
      <p:sp>
        <p:nvSpPr>
          <p:cNvPr id="11" name="Text 8"/>
          <p:cNvSpPr/>
          <p:nvPr/>
        </p:nvSpPr>
        <p:spPr>
          <a:xfrm>
            <a:off x="2551176"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Human interfaces</a:t>
            </a:r>
            <a:endParaRPr lang="en-US" sz="900" dirty="0"/>
          </a:p>
        </p:txBody>
      </p:sp>
      <p:sp>
        <p:nvSpPr>
          <p:cNvPr id="12" name="Shape 9"/>
          <p:cNvSpPr/>
          <p:nvPr/>
        </p:nvSpPr>
        <p:spPr>
          <a:xfrm>
            <a:off x="4305544" y="1517650"/>
            <a:ext cx="1781800" cy="475488"/>
          </a:xfrm>
          <a:prstGeom prst="roundRect">
            <a:avLst>
              <a:gd name="adj" fmla="val 15385"/>
            </a:avLst>
          </a:prstGeom>
          <a:solidFill>
            <a:srgbClr val="FFFFFF"/>
          </a:solidFill>
          <a:ln w="12700">
            <a:solidFill>
              <a:srgbClr val="E2E7EC"/>
            </a:solidFill>
            <a:prstDash val="solid"/>
          </a:ln>
        </p:spPr>
      </p:sp>
      <p:sp>
        <p:nvSpPr>
          <p:cNvPr id="13" name="Text 10"/>
          <p:cNvSpPr/>
          <p:nvPr/>
        </p:nvSpPr>
        <p:spPr>
          <a:xfrm>
            <a:off x="4396984"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Agent orchestrators</a:t>
            </a:r>
            <a:endParaRPr lang="en-US" sz="900" dirty="0"/>
          </a:p>
        </p:txBody>
      </p:sp>
      <p:sp>
        <p:nvSpPr>
          <p:cNvPr id="14" name="Shape 11"/>
          <p:cNvSpPr/>
          <p:nvPr/>
        </p:nvSpPr>
        <p:spPr>
          <a:xfrm>
            <a:off x="6151352" y="1517650"/>
            <a:ext cx="1781800" cy="475488"/>
          </a:xfrm>
          <a:prstGeom prst="roundRect">
            <a:avLst>
              <a:gd name="adj" fmla="val 15385"/>
            </a:avLst>
          </a:prstGeom>
          <a:solidFill>
            <a:srgbClr val="FFFFFF"/>
          </a:solidFill>
          <a:ln w="12700">
            <a:solidFill>
              <a:srgbClr val="E2E7EC"/>
            </a:solidFill>
            <a:prstDash val="solid"/>
          </a:ln>
        </p:spPr>
      </p:sp>
      <p:sp>
        <p:nvSpPr>
          <p:cNvPr id="15" name="Text 12"/>
          <p:cNvSpPr/>
          <p:nvPr/>
        </p:nvSpPr>
        <p:spPr>
          <a:xfrm>
            <a:off x="6242792"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Business workflows</a:t>
            </a:r>
            <a:endParaRPr lang="en-US" sz="900" dirty="0"/>
          </a:p>
        </p:txBody>
      </p:sp>
      <p:sp>
        <p:nvSpPr>
          <p:cNvPr id="16" name="Shape 13"/>
          <p:cNvSpPr/>
          <p:nvPr/>
        </p:nvSpPr>
        <p:spPr>
          <a:xfrm>
            <a:off x="7997160" y="1517650"/>
            <a:ext cx="1781800" cy="475488"/>
          </a:xfrm>
          <a:prstGeom prst="roundRect">
            <a:avLst>
              <a:gd name="adj" fmla="val 15385"/>
            </a:avLst>
          </a:prstGeom>
          <a:solidFill>
            <a:srgbClr val="FFFFFF"/>
          </a:solidFill>
          <a:ln w="12700">
            <a:solidFill>
              <a:srgbClr val="E2E7EC"/>
            </a:solidFill>
            <a:prstDash val="solid"/>
          </a:ln>
        </p:spPr>
      </p:sp>
      <p:sp>
        <p:nvSpPr>
          <p:cNvPr id="17" name="Text 14"/>
          <p:cNvSpPr/>
          <p:nvPr/>
        </p:nvSpPr>
        <p:spPr>
          <a:xfrm>
            <a:off x="8088600"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Scheduling</a:t>
            </a:r>
            <a:endParaRPr lang="en-US" sz="900" dirty="0"/>
          </a:p>
        </p:txBody>
      </p:sp>
      <p:sp>
        <p:nvSpPr>
          <p:cNvPr id="18" name="Shape 15"/>
          <p:cNvSpPr/>
          <p:nvPr/>
        </p:nvSpPr>
        <p:spPr>
          <a:xfrm>
            <a:off x="9842967" y="1517650"/>
            <a:ext cx="1781800" cy="475488"/>
          </a:xfrm>
          <a:prstGeom prst="roundRect">
            <a:avLst>
              <a:gd name="adj" fmla="val 15385"/>
            </a:avLst>
          </a:prstGeom>
          <a:solidFill>
            <a:srgbClr val="FFFFFF"/>
          </a:solidFill>
          <a:ln w="12700">
            <a:solidFill>
              <a:srgbClr val="E2E7EC"/>
            </a:solidFill>
            <a:prstDash val="solid"/>
          </a:ln>
        </p:spPr>
      </p:sp>
      <p:sp>
        <p:nvSpPr>
          <p:cNvPr id="19" name="Text 16"/>
          <p:cNvSpPr/>
          <p:nvPr/>
        </p:nvSpPr>
        <p:spPr>
          <a:xfrm>
            <a:off x="9934407" y="166395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Capability registry</a:t>
            </a:r>
            <a:endParaRPr lang="en-US" sz="900" dirty="0"/>
          </a:p>
        </p:txBody>
      </p:sp>
      <p:sp>
        <p:nvSpPr>
          <p:cNvPr id="20" name="Shape 17"/>
          <p:cNvSpPr/>
          <p:nvPr/>
        </p:nvSpPr>
        <p:spPr>
          <a:xfrm>
            <a:off x="566928" y="2057146"/>
            <a:ext cx="1828800" cy="475488"/>
          </a:xfrm>
          <a:prstGeom prst="roundRect">
            <a:avLst>
              <a:gd name="adj" fmla="val 15385"/>
            </a:avLst>
          </a:prstGeom>
          <a:solidFill>
            <a:srgbClr val="0B6F7D"/>
          </a:solidFill>
          <a:ln w="12700">
            <a:solidFill>
              <a:srgbClr val="0B6F7D"/>
            </a:solidFill>
            <a:prstDash val="solid"/>
          </a:ln>
        </p:spPr>
      </p:sp>
      <p:sp>
        <p:nvSpPr>
          <p:cNvPr id="21" name="Text 18"/>
          <p:cNvSpPr/>
          <p:nvPr/>
        </p:nvSpPr>
        <p:spPr>
          <a:xfrm>
            <a:off x="676656" y="2121154"/>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Control Plane</a:t>
            </a:r>
            <a:endParaRPr lang="en-US" sz="1000" dirty="0"/>
          </a:p>
        </p:txBody>
      </p:sp>
      <p:sp>
        <p:nvSpPr>
          <p:cNvPr id="22" name="Text 19"/>
          <p:cNvSpPr/>
          <p:nvPr/>
        </p:nvSpPr>
        <p:spPr>
          <a:xfrm>
            <a:off x="676656" y="2304034"/>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authority is decided</a:t>
            </a:r>
            <a:endParaRPr lang="en-US" sz="740" dirty="0"/>
          </a:p>
        </p:txBody>
      </p:sp>
      <p:sp>
        <p:nvSpPr>
          <p:cNvPr id="23" name="Shape 20"/>
          <p:cNvSpPr/>
          <p:nvPr/>
        </p:nvSpPr>
        <p:spPr>
          <a:xfrm>
            <a:off x="2459736" y="2057146"/>
            <a:ext cx="1781800" cy="475488"/>
          </a:xfrm>
          <a:prstGeom prst="roundRect">
            <a:avLst>
              <a:gd name="adj" fmla="val 15385"/>
            </a:avLst>
          </a:prstGeom>
          <a:solidFill>
            <a:srgbClr val="FFFFFF"/>
          </a:solidFill>
          <a:ln w="12700">
            <a:solidFill>
              <a:srgbClr val="E2E7EC"/>
            </a:solidFill>
            <a:prstDash val="solid"/>
          </a:ln>
        </p:spPr>
      </p:sp>
      <p:sp>
        <p:nvSpPr>
          <p:cNvPr id="24" name="Text 21"/>
          <p:cNvSpPr/>
          <p:nvPr/>
        </p:nvSpPr>
        <p:spPr>
          <a:xfrm>
            <a:off x="2551176"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Identity</a:t>
            </a:r>
            <a:endParaRPr lang="en-US" sz="900" dirty="0"/>
          </a:p>
        </p:txBody>
      </p:sp>
      <p:sp>
        <p:nvSpPr>
          <p:cNvPr id="25" name="Shape 22"/>
          <p:cNvSpPr/>
          <p:nvPr/>
        </p:nvSpPr>
        <p:spPr>
          <a:xfrm>
            <a:off x="4305544" y="2057146"/>
            <a:ext cx="1781800" cy="475488"/>
          </a:xfrm>
          <a:prstGeom prst="roundRect">
            <a:avLst>
              <a:gd name="adj" fmla="val 15385"/>
            </a:avLst>
          </a:prstGeom>
          <a:solidFill>
            <a:srgbClr val="FFFFFF"/>
          </a:solidFill>
          <a:ln w="12700">
            <a:solidFill>
              <a:srgbClr val="E2E7EC"/>
            </a:solidFill>
            <a:prstDash val="solid"/>
          </a:ln>
        </p:spPr>
      </p:sp>
      <p:sp>
        <p:nvSpPr>
          <p:cNvPr id="26" name="Text 23"/>
          <p:cNvSpPr/>
          <p:nvPr/>
        </p:nvSpPr>
        <p:spPr>
          <a:xfrm>
            <a:off x="4396984"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Policy decision</a:t>
            </a:r>
            <a:endParaRPr lang="en-US" sz="900" dirty="0"/>
          </a:p>
        </p:txBody>
      </p:sp>
      <p:sp>
        <p:nvSpPr>
          <p:cNvPr id="27" name="Shape 24"/>
          <p:cNvSpPr/>
          <p:nvPr/>
        </p:nvSpPr>
        <p:spPr>
          <a:xfrm>
            <a:off x="6151352" y="2057146"/>
            <a:ext cx="1781800" cy="475488"/>
          </a:xfrm>
          <a:prstGeom prst="roundRect">
            <a:avLst>
              <a:gd name="adj" fmla="val 15385"/>
            </a:avLst>
          </a:prstGeom>
          <a:solidFill>
            <a:srgbClr val="FFFFFF"/>
          </a:solidFill>
          <a:ln w="12700">
            <a:solidFill>
              <a:srgbClr val="E2E7EC"/>
            </a:solidFill>
            <a:prstDash val="solid"/>
          </a:ln>
        </p:spPr>
      </p:sp>
      <p:sp>
        <p:nvSpPr>
          <p:cNvPr id="28" name="Text 25"/>
          <p:cNvSpPr/>
          <p:nvPr/>
        </p:nvSpPr>
        <p:spPr>
          <a:xfrm>
            <a:off x="6242792"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Capability grants</a:t>
            </a:r>
            <a:endParaRPr lang="en-US" sz="900" dirty="0"/>
          </a:p>
        </p:txBody>
      </p:sp>
      <p:sp>
        <p:nvSpPr>
          <p:cNvPr id="29" name="Shape 26"/>
          <p:cNvSpPr/>
          <p:nvPr/>
        </p:nvSpPr>
        <p:spPr>
          <a:xfrm>
            <a:off x="7997160" y="2057146"/>
            <a:ext cx="1781800" cy="475488"/>
          </a:xfrm>
          <a:prstGeom prst="roundRect">
            <a:avLst>
              <a:gd name="adj" fmla="val 15385"/>
            </a:avLst>
          </a:prstGeom>
          <a:solidFill>
            <a:srgbClr val="FFFFFF"/>
          </a:solidFill>
          <a:ln w="12700">
            <a:solidFill>
              <a:srgbClr val="E2E7EC"/>
            </a:solidFill>
            <a:prstDash val="solid"/>
          </a:ln>
        </p:spPr>
      </p:sp>
      <p:sp>
        <p:nvSpPr>
          <p:cNvPr id="30" name="Text 27"/>
          <p:cNvSpPr/>
          <p:nvPr/>
        </p:nvSpPr>
        <p:spPr>
          <a:xfrm>
            <a:off x="8088600"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Governance</a:t>
            </a:r>
            <a:endParaRPr lang="en-US" sz="900" dirty="0"/>
          </a:p>
        </p:txBody>
      </p:sp>
      <p:sp>
        <p:nvSpPr>
          <p:cNvPr id="31" name="Shape 28"/>
          <p:cNvSpPr/>
          <p:nvPr/>
        </p:nvSpPr>
        <p:spPr>
          <a:xfrm>
            <a:off x="9842967" y="2057146"/>
            <a:ext cx="1781800" cy="475488"/>
          </a:xfrm>
          <a:prstGeom prst="roundRect">
            <a:avLst>
              <a:gd name="adj" fmla="val 15385"/>
            </a:avLst>
          </a:prstGeom>
          <a:solidFill>
            <a:srgbClr val="FFFFFF"/>
          </a:solidFill>
          <a:ln w="12700">
            <a:solidFill>
              <a:srgbClr val="E2E7EC"/>
            </a:solidFill>
            <a:prstDash val="solid"/>
          </a:ln>
        </p:spPr>
      </p:sp>
      <p:sp>
        <p:nvSpPr>
          <p:cNvPr id="32" name="Text 29"/>
          <p:cNvSpPr/>
          <p:nvPr/>
        </p:nvSpPr>
        <p:spPr>
          <a:xfrm>
            <a:off x="9934407" y="2203450"/>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Lifecycle controls</a:t>
            </a:r>
            <a:endParaRPr lang="en-US" sz="900" dirty="0"/>
          </a:p>
        </p:txBody>
      </p:sp>
      <p:sp>
        <p:nvSpPr>
          <p:cNvPr id="33" name="Shape 30"/>
          <p:cNvSpPr/>
          <p:nvPr/>
        </p:nvSpPr>
        <p:spPr>
          <a:xfrm>
            <a:off x="566928" y="2596642"/>
            <a:ext cx="1828800" cy="475488"/>
          </a:xfrm>
          <a:prstGeom prst="roundRect">
            <a:avLst>
              <a:gd name="adj" fmla="val 15385"/>
            </a:avLst>
          </a:prstGeom>
          <a:solidFill>
            <a:srgbClr val="4A3AA7"/>
          </a:solidFill>
          <a:ln w="12700">
            <a:solidFill>
              <a:srgbClr val="4A3AA7"/>
            </a:solidFill>
            <a:prstDash val="solid"/>
          </a:ln>
        </p:spPr>
      </p:sp>
      <p:sp>
        <p:nvSpPr>
          <p:cNvPr id="34" name="Text 31"/>
          <p:cNvSpPr/>
          <p:nvPr/>
        </p:nvSpPr>
        <p:spPr>
          <a:xfrm>
            <a:off x="676656" y="2660650"/>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Knowledge &amp; Ontology</a:t>
            </a:r>
            <a:endParaRPr lang="en-US" sz="1000" dirty="0"/>
          </a:p>
        </p:txBody>
      </p:sp>
      <p:sp>
        <p:nvSpPr>
          <p:cNvPr id="35" name="Text 32"/>
          <p:cNvSpPr/>
          <p:nvPr/>
        </p:nvSpPr>
        <p:spPr>
          <a:xfrm>
            <a:off x="676656" y="2843530"/>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Provenance now · vocabulary later</a:t>
            </a:r>
            <a:endParaRPr lang="en-US" sz="740" dirty="0"/>
          </a:p>
        </p:txBody>
      </p:sp>
      <p:sp>
        <p:nvSpPr>
          <p:cNvPr id="36" name="Shape 33"/>
          <p:cNvSpPr/>
          <p:nvPr/>
        </p:nvSpPr>
        <p:spPr>
          <a:xfrm>
            <a:off x="2459736" y="2596642"/>
            <a:ext cx="1781800" cy="475488"/>
          </a:xfrm>
          <a:prstGeom prst="roundRect">
            <a:avLst>
              <a:gd name="adj" fmla="val 15385"/>
            </a:avLst>
          </a:prstGeom>
          <a:solidFill>
            <a:srgbClr val="FFFFFF"/>
          </a:solidFill>
          <a:ln w="12700">
            <a:solidFill>
              <a:srgbClr val="E2E7EC"/>
            </a:solidFill>
            <a:prstDash val="solid"/>
          </a:ln>
        </p:spPr>
      </p:sp>
      <p:sp>
        <p:nvSpPr>
          <p:cNvPr id="37" name="Text 34"/>
          <p:cNvSpPr/>
          <p:nvPr/>
        </p:nvSpPr>
        <p:spPr>
          <a:xfrm>
            <a:off x="2551176"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Business ontology</a:t>
            </a:r>
            <a:endParaRPr lang="en-US" sz="900" dirty="0"/>
          </a:p>
        </p:txBody>
      </p:sp>
      <p:sp>
        <p:nvSpPr>
          <p:cNvPr id="38" name="Shape 35"/>
          <p:cNvSpPr/>
          <p:nvPr/>
        </p:nvSpPr>
        <p:spPr>
          <a:xfrm>
            <a:off x="4305544" y="2596642"/>
            <a:ext cx="1781800" cy="475488"/>
          </a:xfrm>
          <a:prstGeom prst="roundRect">
            <a:avLst>
              <a:gd name="adj" fmla="val 15385"/>
            </a:avLst>
          </a:prstGeom>
          <a:solidFill>
            <a:srgbClr val="FFFFFF"/>
          </a:solidFill>
          <a:ln w="12700">
            <a:solidFill>
              <a:srgbClr val="E2E7EC"/>
            </a:solidFill>
            <a:prstDash val="solid"/>
          </a:ln>
        </p:spPr>
      </p:sp>
      <p:sp>
        <p:nvSpPr>
          <p:cNvPr id="39" name="Text 36"/>
          <p:cNvSpPr/>
          <p:nvPr/>
        </p:nvSpPr>
        <p:spPr>
          <a:xfrm>
            <a:off x="4396984"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Retrieval &amp; search</a:t>
            </a:r>
            <a:endParaRPr lang="en-US" sz="900" dirty="0"/>
          </a:p>
        </p:txBody>
      </p:sp>
      <p:sp>
        <p:nvSpPr>
          <p:cNvPr id="40" name="Shape 37"/>
          <p:cNvSpPr/>
          <p:nvPr/>
        </p:nvSpPr>
        <p:spPr>
          <a:xfrm>
            <a:off x="6151352" y="2596642"/>
            <a:ext cx="1781800" cy="475488"/>
          </a:xfrm>
          <a:prstGeom prst="roundRect">
            <a:avLst>
              <a:gd name="adj" fmla="val 15385"/>
            </a:avLst>
          </a:prstGeom>
          <a:solidFill>
            <a:srgbClr val="FFFFFF"/>
          </a:solidFill>
          <a:ln w="12700">
            <a:solidFill>
              <a:srgbClr val="E2E7EC"/>
            </a:solidFill>
            <a:prstDash val="solid"/>
          </a:ln>
        </p:spPr>
      </p:sp>
      <p:sp>
        <p:nvSpPr>
          <p:cNvPr id="41" name="Text 38"/>
          <p:cNvSpPr/>
          <p:nvPr/>
        </p:nvSpPr>
        <p:spPr>
          <a:xfrm>
            <a:off x="6242792"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Memory &amp; state</a:t>
            </a:r>
            <a:endParaRPr lang="en-US" sz="900" dirty="0"/>
          </a:p>
        </p:txBody>
      </p:sp>
      <p:sp>
        <p:nvSpPr>
          <p:cNvPr id="42" name="Shape 39"/>
          <p:cNvSpPr/>
          <p:nvPr/>
        </p:nvSpPr>
        <p:spPr>
          <a:xfrm>
            <a:off x="7997160" y="2596642"/>
            <a:ext cx="1781800" cy="475488"/>
          </a:xfrm>
          <a:prstGeom prst="roundRect">
            <a:avLst>
              <a:gd name="adj" fmla="val 15385"/>
            </a:avLst>
          </a:prstGeom>
          <a:solidFill>
            <a:srgbClr val="FFFFFF"/>
          </a:solidFill>
          <a:ln w="12700">
            <a:solidFill>
              <a:srgbClr val="E2E7EC"/>
            </a:solidFill>
            <a:prstDash val="solid"/>
          </a:ln>
        </p:spPr>
      </p:sp>
      <p:sp>
        <p:nvSpPr>
          <p:cNvPr id="43" name="Text 40"/>
          <p:cNvSpPr/>
          <p:nvPr/>
        </p:nvSpPr>
        <p:spPr>
          <a:xfrm>
            <a:off x="8088600"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Provenance &amp; lineage</a:t>
            </a:r>
            <a:endParaRPr lang="en-US" sz="900" dirty="0"/>
          </a:p>
        </p:txBody>
      </p:sp>
      <p:sp>
        <p:nvSpPr>
          <p:cNvPr id="44" name="Shape 41"/>
          <p:cNvSpPr/>
          <p:nvPr/>
        </p:nvSpPr>
        <p:spPr>
          <a:xfrm>
            <a:off x="9842967" y="2596642"/>
            <a:ext cx="1781800" cy="475488"/>
          </a:xfrm>
          <a:prstGeom prst="roundRect">
            <a:avLst>
              <a:gd name="adj" fmla="val 15385"/>
            </a:avLst>
          </a:prstGeom>
          <a:solidFill>
            <a:srgbClr val="FFFFFF"/>
          </a:solidFill>
          <a:ln w="12700">
            <a:solidFill>
              <a:srgbClr val="E2E7EC"/>
            </a:solidFill>
            <a:prstDash val="solid"/>
          </a:ln>
        </p:spPr>
      </p:sp>
      <p:sp>
        <p:nvSpPr>
          <p:cNvPr id="45" name="Text 42"/>
          <p:cNvSpPr/>
          <p:nvPr/>
        </p:nvSpPr>
        <p:spPr>
          <a:xfrm>
            <a:off x="9934407" y="2742946"/>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Semantic metadata</a:t>
            </a:r>
            <a:endParaRPr lang="en-US" sz="900" dirty="0"/>
          </a:p>
        </p:txBody>
      </p:sp>
      <p:sp>
        <p:nvSpPr>
          <p:cNvPr id="46" name="Shape 43"/>
          <p:cNvSpPr/>
          <p:nvPr/>
        </p:nvSpPr>
        <p:spPr>
          <a:xfrm>
            <a:off x="566928" y="3136138"/>
            <a:ext cx="1828800" cy="475488"/>
          </a:xfrm>
          <a:prstGeom prst="roundRect">
            <a:avLst>
              <a:gd name="adj" fmla="val 15385"/>
            </a:avLst>
          </a:prstGeom>
          <a:solidFill>
            <a:srgbClr val="184F95"/>
          </a:solidFill>
          <a:ln w="12700">
            <a:solidFill>
              <a:srgbClr val="184F95"/>
            </a:solidFill>
            <a:prstDash val="solid"/>
          </a:ln>
        </p:spPr>
      </p:sp>
      <p:sp>
        <p:nvSpPr>
          <p:cNvPr id="47" name="Text 44"/>
          <p:cNvSpPr/>
          <p:nvPr/>
        </p:nvSpPr>
        <p:spPr>
          <a:xfrm>
            <a:off x="676656" y="3200146"/>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Execution Plane</a:t>
            </a:r>
            <a:endParaRPr lang="en-US" sz="1000" dirty="0"/>
          </a:p>
        </p:txBody>
      </p:sp>
      <p:sp>
        <p:nvSpPr>
          <p:cNvPr id="48" name="Text 45"/>
          <p:cNvSpPr/>
          <p:nvPr/>
        </p:nvSpPr>
        <p:spPr>
          <a:xfrm>
            <a:off x="676656" y="3383026"/>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authorized work runs</a:t>
            </a:r>
            <a:endParaRPr lang="en-US" sz="740" dirty="0"/>
          </a:p>
        </p:txBody>
      </p:sp>
      <p:sp>
        <p:nvSpPr>
          <p:cNvPr id="49" name="Shape 46"/>
          <p:cNvSpPr/>
          <p:nvPr/>
        </p:nvSpPr>
        <p:spPr>
          <a:xfrm>
            <a:off x="2459736" y="3136138"/>
            <a:ext cx="1781800" cy="475488"/>
          </a:xfrm>
          <a:prstGeom prst="roundRect">
            <a:avLst>
              <a:gd name="adj" fmla="val 15385"/>
            </a:avLst>
          </a:prstGeom>
          <a:solidFill>
            <a:srgbClr val="FFFFFF"/>
          </a:solidFill>
          <a:ln w="12700">
            <a:solidFill>
              <a:srgbClr val="E2E7EC"/>
            </a:solidFill>
            <a:prstDash val="solid"/>
          </a:ln>
        </p:spPr>
      </p:sp>
      <p:sp>
        <p:nvSpPr>
          <p:cNvPr id="50" name="Text 47"/>
          <p:cNvSpPr/>
          <p:nvPr/>
        </p:nvSpPr>
        <p:spPr>
          <a:xfrm>
            <a:off x="2551176"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Software calls</a:t>
            </a:r>
            <a:endParaRPr lang="en-US" sz="900" dirty="0"/>
          </a:p>
        </p:txBody>
      </p:sp>
      <p:sp>
        <p:nvSpPr>
          <p:cNvPr id="51" name="Shape 48"/>
          <p:cNvSpPr/>
          <p:nvPr/>
        </p:nvSpPr>
        <p:spPr>
          <a:xfrm>
            <a:off x="4305544" y="3136138"/>
            <a:ext cx="1781800" cy="475488"/>
          </a:xfrm>
          <a:prstGeom prst="roundRect">
            <a:avLst>
              <a:gd name="adj" fmla="val 15385"/>
            </a:avLst>
          </a:prstGeom>
          <a:solidFill>
            <a:srgbClr val="FFFFFF"/>
          </a:solidFill>
          <a:ln w="12700">
            <a:solidFill>
              <a:srgbClr val="E2E7EC"/>
            </a:solidFill>
            <a:prstDash val="solid"/>
          </a:ln>
        </p:spPr>
      </p:sp>
      <p:sp>
        <p:nvSpPr>
          <p:cNvPr id="52" name="Text 49"/>
          <p:cNvSpPr/>
          <p:nvPr/>
        </p:nvSpPr>
        <p:spPr>
          <a:xfrm>
            <a:off x="4396984"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Agent calls</a:t>
            </a:r>
            <a:endParaRPr lang="en-US" sz="900" dirty="0"/>
          </a:p>
        </p:txBody>
      </p:sp>
      <p:sp>
        <p:nvSpPr>
          <p:cNvPr id="53" name="Shape 50"/>
          <p:cNvSpPr/>
          <p:nvPr/>
        </p:nvSpPr>
        <p:spPr>
          <a:xfrm>
            <a:off x="6151352" y="3136138"/>
            <a:ext cx="1781800" cy="475488"/>
          </a:xfrm>
          <a:prstGeom prst="roundRect">
            <a:avLst>
              <a:gd name="adj" fmla="val 15385"/>
            </a:avLst>
          </a:prstGeom>
          <a:solidFill>
            <a:srgbClr val="FFFFFF"/>
          </a:solidFill>
          <a:ln w="12700">
            <a:solidFill>
              <a:srgbClr val="E2E7EC"/>
            </a:solidFill>
            <a:prstDash val="solid"/>
          </a:ln>
        </p:spPr>
      </p:sp>
      <p:sp>
        <p:nvSpPr>
          <p:cNvPr id="54" name="Text 51"/>
          <p:cNvSpPr/>
          <p:nvPr/>
        </p:nvSpPr>
        <p:spPr>
          <a:xfrm>
            <a:off x="6242792"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WASI mediation</a:t>
            </a:r>
            <a:endParaRPr lang="en-US" sz="900" dirty="0"/>
          </a:p>
        </p:txBody>
      </p:sp>
      <p:sp>
        <p:nvSpPr>
          <p:cNvPr id="55" name="Shape 52"/>
          <p:cNvSpPr/>
          <p:nvPr/>
        </p:nvSpPr>
        <p:spPr>
          <a:xfrm>
            <a:off x="7997160" y="3136138"/>
            <a:ext cx="1781800" cy="475488"/>
          </a:xfrm>
          <a:prstGeom prst="roundRect">
            <a:avLst>
              <a:gd name="adj" fmla="val 15385"/>
            </a:avLst>
          </a:prstGeom>
          <a:solidFill>
            <a:srgbClr val="FFFFFF"/>
          </a:solidFill>
          <a:ln w="12700">
            <a:solidFill>
              <a:srgbClr val="E2E7EC"/>
            </a:solidFill>
            <a:prstDash val="solid"/>
          </a:ln>
        </p:spPr>
      </p:sp>
      <p:sp>
        <p:nvSpPr>
          <p:cNvPr id="56" name="Text 53"/>
          <p:cNvSpPr/>
          <p:nvPr/>
        </p:nvSpPr>
        <p:spPr>
          <a:xfrm>
            <a:off x="8088600"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Workflow runtime</a:t>
            </a:r>
            <a:endParaRPr lang="en-US" sz="900" dirty="0"/>
          </a:p>
        </p:txBody>
      </p:sp>
      <p:sp>
        <p:nvSpPr>
          <p:cNvPr id="57" name="Shape 54"/>
          <p:cNvSpPr/>
          <p:nvPr/>
        </p:nvSpPr>
        <p:spPr>
          <a:xfrm>
            <a:off x="9842967" y="3136138"/>
            <a:ext cx="1781800" cy="475488"/>
          </a:xfrm>
          <a:prstGeom prst="roundRect">
            <a:avLst>
              <a:gd name="adj" fmla="val 15385"/>
            </a:avLst>
          </a:prstGeom>
          <a:solidFill>
            <a:srgbClr val="FFFFFF"/>
          </a:solidFill>
          <a:ln w="12700">
            <a:solidFill>
              <a:srgbClr val="E2E7EC"/>
            </a:solidFill>
            <a:prstDash val="solid"/>
          </a:ln>
        </p:spPr>
      </p:sp>
      <p:sp>
        <p:nvSpPr>
          <p:cNvPr id="58" name="Text 55"/>
          <p:cNvSpPr/>
          <p:nvPr/>
        </p:nvSpPr>
        <p:spPr>
          <a:xfrm>
            <a:off x="9934407" y="3282442"/>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Event processing</a:t>
            </a:r>
            <a:endParaRPr lang="en-US" sz="900" dirty="0"/>
          </a:p>
        </p:txBody>
      </p:sp>
      <p:sp>
        <p:nvSpPr>
          <p:cNvPr id="59" name="Shape 56"/>
          <p:cNvSpPr/>
          <p:nvPr/>
        </p:nvSpPr>
        <p:spPr>
          <a:xfrm>
            <a:off x="566928" y="3675634"/>
            <a:ext cx="1828800" cy="475488"/>
          </a:xfrm>
          <a:prstGeom prst="roundRect">
            <a:avLst>
              <a:gd name="adj" fmla="val 15385"/>
            </a:avLst>
          </a:prstGeom>
          <a:solidFill>
            <a:srgbClr val="0D366B"/>
          </a:solidFill>
          <a:ln w="12700">
            <a:solidFill>
              <a:srgbClr val="0D366B"/>
            </a:solidFill>
            <a:prstDash val="solid"/>
          </a:ln>
        </p:spPr>
      </p:sp>
      <p:sp>
        <p:nvSpPr>
          <p:cNvPr id="60" name="Text 57"/>
          <p:cNvSpPr/>
          <p:nvPr/>
        </p:nvSpPr>
        <p:spPr>
          <a:xfrm>
            <a:off x="676656" y="3739642"/>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Platform Plane</a:t>
            </a:r>
            <a:endParaRPr lang="en-US" sz="1000" dirty="0"/>
          </a:p>
        </p:txBody>
      </p:sp>
      <p:sp>
        <p:nvSpPr>
          <p:cNvPr id="61" name="Text 58"/>
          <p:cNvSpPr/>
          <p:nvPr/>
        </p:nvSpPr>
        <p:spPr>
          <a:xfrm>
            <a:off x="676656" y="3922522"/>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How workloads scale</a:t>
            </a:r>
            <a:endParaRPr lang="en-US" sz="740" dirty="0"/>
          </a:p>
        </p:txBody>
      </p:sp>
      <p:sp>
        <p:nvSpPr>
          <p:cNvPr id="62" name="Shape 59"/>
          <p:cNvSpPr/>
          <p:nvPr/>
        </p:nvSpPr>
        <p:spPr>
          <a:xfrm>
            <a:off x="2459736" y="3675634"/>
            <a:ext cx="1781800" cy="475488"/>
          </a:xfrm>
          <a:prstGeom prst="roundRect">
            <a:avLst>
              <a:gd name="adj" fmla="val 15385"/>
            </a:avLst>
          </a:prstGeom>
          <a:solidFill>
            <a:srgbClr val="FFFFFF"/>
          </a:solidFill>
          <a:ln w="12700">
            <a:solidFill>
              <a:srgbClr val="E2E7EC"/>
            </a:solidFill>
            <a:prstDash val="solid"/>
          </a:ln>
        </p:spPr>
      </p:sp>
      <p:sp>
        <p:nvSpPr>
          <p:cNvPr id="63" name="Text 60"/>
          <p:cNvSpPr/>
          <p:nvPr/>
        </p:nvSpPr>
        <p:spPr>
          <a:xfrm>
            <a:off x="2551176"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Compute platform</a:t>
            </a:r>
            <a:endParaRPr lang="en-US" sz="900" dirty="0"/>
          </a:p>
        </p:txBody>
      </p:sp>
      <p:sp>
        <p:nvSpPr>
          <p:cNvPr id="64" name="Shape 61"/>
          <p:cNvSpPr/>
          <p:nvPr/>
        </p:nvSpPr>
        <p:spPr>
          <a:xfrm>
            <a:off x="4305544" y="3675634"/>
            <a:ext cx="1781800" cy="475488"/>
          </a:xfrm>
          <a:prstGeom prst="roundRect">
            <a:avLst>
              <a:gd name="adj" fmla="val 15385"/>
            </a:avLst>
          </a:prstGeom>
          <a:solidFill>
            <a:srgbClr val="FFFFFF"/>
          </a:solidFill>
          <a:ln w="12700">
            <a:solidFill>
              <a:srgbClr val="E2E7EC"/>
            </a:solidFill>
            <a:prstDash val="solid"/>
          </a:ln>
        </p:spPr>
      </p:sp>
      <p:sp>
        <p:nvSpPr>
          <p:cNvPr id="65" name="Text 62"/>
          <p:cNvSpPr/>
          <p:nvPr/>
        </p:nvSpPr>
        <p:spPr>
          <a:xfrm>
            <a:off x="4396984"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Messaging fabric</a:t>
            </a:r>
            <a:endParaRPr lang="en-US" sz="900" dirty="0"/>
          </a:p>
        </p:txBody>
      </p:sp>
      <p:sp>
        <p:nvSpPr>
          <p:cNvPr id="66" name="Shape 63"/>
          <p:cNvSpPr/>
          <p:nvPr/>
        </p:nvSpPr>
        <p:spPr>
          <a:xfrm>
            <a:off x="6151352" y="3675634"/>
            <a:ext cx="1781800" cy="475488"/>
          </a:xfrm>
          <a:prstGeom prst="roundRect">
            <a:avLst>
              <a:gd name="adj" fmla="val 15385"/>
            </a:avLst>
          </a:prstGeom>
          <a:solidFill>
            <a:srgbClr val="FFFFFF"/>
          </a:solidFill>
          <a:ln w="12700">
            <a:solidFill>
              <a:srgbClr val="E2E7EC"/>
            </a:solidFill>
            <a:prstDash val="solid"/>
          </a:ln>
        </p:spPr>
      </p:sp>
      <p:sp>
        <p:nvSpPr>
          <p:cNvPr id="67" name="Text 64"/>
          <p:cNvSpPr/>
          <p:nvPr/>
        </p:nvSpPr>
        <p:spPr>
          <a:xfrm>
            <a:off x="6242792"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API management</a:t>
            </a:r>
            <a:endParaRPr lang="en-US" sz="900" dirty="0"/>
          </a:p>
        </p:txBody>
      </p:sp>
      <p:sp>
        <p:nvSpPr>
          <p:cNvPr id="68" name="Shape 65"/>
          <p:cNvSpPr/>
          <p:nvPr/>
        </p:nvSpPr>
        <p:spPr>
          <a:xfrm>
            <a:off x="7997160" y="3675634"/>
            <a:ext cx="1781800" cy="475488"/>
          </a:xfrm>
          <a:prstGeom prst="roundRect">
            <a:avLst>
              <a:gd name="adj" fmla="val 15385"/>
            </a:avLst>
          </a:prstGeom>
          <a:solidFill>
            <a:srgbClr val="FFFFFF"/>
          </a:solidFill>
          <a:ln w="12700">
            <a:solidFill>
              <a:srgbClr val="E2E7EC"/>
            </a:solidFill>
            <a:prstDash val="solid"/>
          </a:ln>
        </p:spPr>
      </p:sp>
      <p:sp>
        <p:nvSpPr>
          <p:cNvPr id="69" name="Text 66"/>
          <p:cNvSpPr/>
          <p:nvPr/>
        </p:nvSpPr>
        <p:spPr>
          <a:xfrm>
            <a:off x="8088600"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Network controls</a:t>
            </a:r>
            <a:endParaRPr lang="en-US" sz="900" dirty="0"/>
          </a:p>
        </p:txBody>
      </p:sp>
      <p:sp>
        <p:nvSpPr>
          <p:cNvPr id="70" name="Shape 67"/>
          <p:cNvSpPr/>
          <p:nvPr/>
        </p:nvSpPr>
        <p:spPr>
          <a:xfrm>
            <a:off x="9842967" y="3675634"/>
            <a:ext cx="1781800" cy="475488"/>
          </a:xfrm>
          <a:prstGeom prst="roundRect">
            <a:avLst>
              <a:gd name="adj" fmla="val 15385"/>
            </a:avLst>
          </a:prstGeom>
          <a:solidFill>
            <a:srgbClr val="FFFFFF"/>
          </a:solidFill>
          <a:ln w="12700">
            <a:solidFill>
              <a:srgbClr val="E2E7EC"/>
            </a:solidFill>
            <a:prstDash val="solid"/>
          </a:ln>
        </p:spPr>
      </p:sp>
      <p:sp>
        <p:nvSpPr>
          <p:cNvPr id="71" name="Text 68"/>
          <p:cNvSpPr/>
          <p:nvPr/>
        </p:nvSpPr>
        <p:spPr>
          <a:xfrm>
            <a:off x="9934407" y="3821938"/>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Agentic CI/CD</a:t>
            </a:r>
            <a:endParaRPr lang="en-US" sz="900" dirty="0"/>
          </a:p>
        </p:txBody>
      </p:sp>
      <p:sp>
        <p:nvSpPr>
          <p:cNvPr id="72" name="Shape 69"/>
          <p:cNvSpPr/>
          <p:nvPr/>
        </p:nvSpPr>
        <p:spPr>
          <a:xfrm>
            <a:off x="566928" y="4215130"/>
            <a:ext cx="1828800" cy="475488"/>
          </a:xfrm>
          <a:prstGeom prst="roundRect">
            <a:avLst>
              <a:gd name="adj" fmla="val 15385"/>
            </a:avLst>
          </a:prstGeom>
          <a:solidFill>
            <a:srgbClr val="08223F"/>
          </a:solidFill>
          <a:ln w="12700">
            <a:solidFill>
              <a:srgbClr val="08223F"/>
            </a:solidFill>
            <a:prstDash val="solid"/>
          </a:ln>
        </p:spPr>
      </p:sp>
      <p:sp>
        <p:nvSpPr>
          <p:cNvPr id="73" name="Text 70"/>
          <p:cNvSpPr/>
          <p:nvPr/>
        </p:nvSpPr>
        <p:spPr>
          <a:xfrm>
            <a:off x="676656" y="4279138"/>
            <a:ext cx="1609344"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Resource Plane</a:t>
            </a:r>
            <a:endParaRPr lang="en-US" sz="1000" dirty="0"/>
          </a:p>
        </p:txBody>
      </p:sp>
      <p:sp>
        <p:nvSpPr>
          <p:cNvPr id="74" name="Text 71"/>
          <p:cNvSpPr/>
          <p:nvPr/>
        </p:nvSpPr>
        <p:spPr>
          <a:xfrm>
            <a:off x="676656" y="4462018"/>
            <a:ext cx="1609344" cy="182880"/>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Where value and risk reside</a:t>
            </a:r>
            <a:endParaRPr lang="en-US" sz="740" dirty="0"/>
          </a:p>
        </p:txBody>
      </p:sp>
      <p:sp>
        <p:nvSpPr>
          <p:cNvPr id="75" name="Shape 72"/>
          <p:cNvSpPr/>
          <p:nvPr/>
        </p:nvSpPr>
        <p:spPr>
          <a:xfrm>
            <a:off x="2459736" y="4215130"/>
            <a:ext cx="1781800" cy="475488"/>
          </a:xfrm>
          <a:prstGeom prst="roundRect">
            <a:avLst>
              <a:gd name="adj" fmla="val 15385"/>
            </a:avLst>
          </a:prstGeom>
          <a:solidFill>
            <a:srgbClr val="FFFFFF"/>
          </a:solidFill>
          <a:ln w="12700">
            <a:solidFill>
              <a:srgbClr val="E2E7EC"/>
            </a:solidFill>
            <a:prstDash val="solid"/>
          </a:ln>
        </p:spPr>
      </p:sp>
      <p:sp>
        <p:nvSpPr>
          <p:cNvPr id="76" name="Text 73"/>
          <p:cNvSpPr/>
          <p:nvPr/>
        </p:nvSpPr>
        <p:spPr>
          <a:xfrm>
            <a:off x="2551176"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AI &amp; inference</a:t>
            </a:r>
            <a:endParaRPr lang="en-US" sz="900" dirty="0"/>
          </a:p>
        </p:txBody>
      </p:sp>
      <p:sp>
        <p:nvSpPr>
          <p:cNvPr id="77" name="Shape 74"/>
          <p:cNvSpPr/>
          <p:nvPr/>
        </p:nvSpPr>
        <p:spPr>
          <a:xfrm>
            <a:off x="4305544" y="4215130"/>
            <a:ext cx="1781800" cy="475488"/>
          </a:xfrm>
          <a:prstGeom prst="roundRect">
            <a:avLst>
              <a:gd name="adj" fmla="val 15385"/>
            </a:avLst>
          </a:prstGeom>
          <a:solidFill>
            <a:srgbClr val="FFFFFF"/>
          </a:solidFill>
          <a:ln w="12700">
            <a:solidFill>
              <a:srgbClr val="E2E7EC"/>
            </a:solidFill>
            <a:prstDash val="solid"/>
          </a:ln>
        </p:spPr>
      </p:sp>
      <p:sp>
        <p:nvSpPr>
          <p:cNvPr id="78" name="Text 75"/>
          <p:cNvSpPr/>
          <p:nvPr/>
        </p:nvSpPr>
        <p:spPr>
          <a:xfrm>
            <a:off x="4396984"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Enterprise SaaS</a:t>
            </a:r>
            <a:endParaRPr lang="en-US" sz="900" dirty="0"/>
          </a:p>
        </p:txBody>
      </p:sp>
      <p:sp>
        <p:nvSpPr>
          <p:cNvPr id="79" name="Shape 76"/>
          <p:cNvSpPr/>
          <p:nvPr/>
        </p:nvSpPr>
        <p:spPr>
          <a:xfrm>
            <a:off x="6151352" y="4215130"/>
            <a:ext cx="1781800" cy="475488"/>
          </a:xfrm>
          <a:prstGeom prst="roundRect">
            <a:avLst>
              <a:gd name="adj" fmla="val 15385"/>
            </a:avLst>
          </a:prstGeom>
          <a:solidFill>
            <a:srgbClr val="FFFFFF"/>
          </a:solidFill>
          <a:ln w="12700">
            <a:solidFill>
              <a:srgbClr val="E2E7EC"/>
            </a:solidFill>
            <a:prstDash val="solid"/>
          </a:ln>
        </p:spPr>
      </p:sp>
      <p:sp>
        <p:nvSpPr>
          <p:cNvPr id="80" name="Text 77"/>
          <p:cNvSpPr/>
          <p:nvPr/>
        </p:nvSpPr>
        <p:spPr>
          <a:xfrm>
            <a:off x="6242792"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Data platforms</a:t>
            </a:r>
            <a:endParaRPr lang="en-US" sz="900" dirty="0"/>
          </a:p>
        </p:txBody>
      </p:sp>
      <p:sp>
        <p:nvSpPr>
          <p:cNvPr id="81" name="Shape 78"/>
          <p:cNvSpPr/>
          <p:nvPr/>
        </p:nvSpPr>
        <p:spPr>
          <a:xfrm>
            <a:off x="7997160" y="4215130"/>
            <a:ext cx="1781800" cy="475488"/>
          </a:xfrm>
          <a:prstGeom prst="roundRect">
            <a:avLst>
              <a:gd name="adj" fmla="val 15385"/>
            </a:avLst>
          </a:prstGeom>
          <a:solidFill>
            <a:srgbClr val="FFFFFF"/>
          </a:solidFill>
          <a:ln w="12700">
            <a:solidFill>
              <a:srgbClr val="E2E7EC"/>
            </a:solidFill>
            <a:prstDash val="solid"/>
          </a:ln>
        </p:spPr>
      </p:sp>
      <p:sp>
        <p:nvSpPr>
          <p:cNvPr id="82" name="Text 79"/>
          <p:cNvSpPr/>
          <p:nvPr/>
        </p:nvSpPr>
        <p:spPr>
          <a:xfrm>
            <a:off x="8088600"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Cloud resources</a:t>
            </a:r>
            <a:endParaRPr lang="en-US" sz="900" dirty="0"/>
          </a:p>
        </p:txBody>
      </p:sp>
      <p:sp>
        <p:nvSpPr>
          <p:cNvPr id="83" name="Shape 80"/>
          <p:cNvSpPr/>
          <p:nvPr/>
        </p:nvSpPr>
        <p:spPr>
          <a:xfrm>
            <a:off x="9842967" y="4215130"/>
            <a:ext cx="1781800" cy="475488"/>
          </a:xfrm>
          <a:prstGeom prst="roundRect">
            <a:avLst>
              <a:gd name="adj" fmla="val 15385"/>
            </a:avLst>
          </a:prstGeom>
          <a:solidFill>
            <a:srgbClr val="FFFFFF"/>
          </a:solidFill>
          <a:ln w="12700">
            <a:solidFill>
              <a:srgbClr val="E2E7EC"/>
            </a:solidFill>
            <a:prstDash val="solid"/>
          </a:ln>
        </p:spPr>
      </p:sp>
      <p:sp>
        <p:nvSpPr>
          <p:cNvPr id="84" name="Text 81"/>
          <p:cNvSpPr/>
          <p:nvPr/>
        </p:nvSpPr>
        <p:spPr>
          <a:xfrm>
            <a:off x="9934407" y="4361434"/>
            <a:ext cx="1598920" cy="219456"/>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Custom &amp; legacy</a:t>
            </a:r>
            <a:endParaRPr lang="en-US" sz="900" dirty="0"/>
          </a:p>
        </p:txBody>
      </p:sp>
      <p:sp>
        <p:nvSpPr>
          <p:cNvPr id="85" name="Shape 82"/>
          <p:cNvSpPr/>
          <p:nvPr/>
        </p:nvSpPr>
        <p:spPr>
          <a:xfrm>
            <a:off x="566928" y="4754626"/>
            <a:ext cx="11057839" cy="457200"/>
          </a:xfrm>
          <a:prstGeom prst="roundRect">
            <a:avLst>
              <a:gd name="adj" fmla="val 16000"/>
            </a:avLst>
          </a:prstGeom>
          <a:solidFill>
            <a:srgbClr val="0D366B"/>
          </a:solidFill>
          <a:ln w="12700">
            <a:solidFill>
              <a:srgbClr val="0D366B"/>
            </a:solidFill>
            <a:prstDash val="solid"/>
          </a:ln>
        </p:spPr>
      </p:sp>
      <p:sp>
        <p:nvSpPr>
          <p:cNvPr id="86" name="Text 83"/>
          <p:cNvSpPr/>
          <p:nvPr/>
        </p:nvSpPr>
        <p:spPr>
          <a:xfrm>
            <a:off x="676656" y="4818634"/>
            <a:ext cx="1828800" cy="18288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Event &amp; Telemetry Fabric</a:t>
            </a:r>
            <a:endParaRPr lang="en-US" sz="1000" dirty="0"/>
          </a:p>
        </p:txBody>
      </p:sp>
      <p:sp>
        <p:nvSpPr>
          <p:cNvPr id="87" name="Text 84"/>
          <p:cNvSpPr/>
          <p:nvPr/>
        </p:nvSpPr>
        <p:spPr>
          <a:xfrm>
            <a:off x="676656" y="5001514"/>
            <a:ext cx="1828800" cy="164592"/>
          </a:xfrm>
          <a:prstGeom prst="rect">
            <a:avLst/>
          </a:prstGeom>
          <a:noFill/>
          <a:ln/>
        </p:spPr>
        <p:txBody>
          <a:bodyPr wrap="square" lIns="0" tIns="0" rIns="0" bIns="0" rtlCol="0" anchor="ctr"/>
          <a:lstStyle/>
          <a:p>
            <a:pPr indent="0" marL="0">
              <a:buNone/>
            </a:pPr>
            <a:r>
              <a:rPr lang="en-US" sz="740" dirty="0">
                <a:solidFill>
                  <a:srgbClr val="D9E7EF"/>
                </a:solidFill>
                <a:latin typeface="Calibri" pitchFamily="34" charset="0"/>
                <a:ea typeface="Calibri" pitchFamily="34" charset="-122"/>
                <a:cs typeface="Calibri" pitchFamily="34" charset="-120"/>
              </a:rPr>
              <a:t>One spine, three payoffs</a:t>
            </a:r>
            <a:endParaRPr lang="en-US" sz="740" dirty="0"/>
          </a:p>
        </p:txBody>
      </p:sp>
      <p:sp>
        <p:nvSpPr>
          <p:cNvPr id="88" name="Text 85"/>
          <p:cNvSpPr/>
          <p:nvPr/>
        </p:nvSpPr>
        <p:spPr>
          <a:xfrm>
            <a:off x="2459736" y="4754626"/>
            <a:ext cx="9073591" cy="457200"/>
          </a:xfrm>
          <a:prstGeom prst="rect">
            <a:avLst/>
          </a:prstGeom>
          <a:noFill/>
          <a:ln/>
        </p:spPr>
        <p:txBody>
          <a:bodyPr wrap="square" lIns="0" tIns="0" rIns="0" bIns="0" rtlCol="0" anchor="ctr"/>
          <a:lstStyle/>
          <a:p>
            <a:pPr indent="0" marL="0">
              <a:buNone/>
            </a:pPr>
            <a:r>
              <a:rPr lang="en-US" sz="820" dirty="0">
                <a:solidFill>
                  <a:srgbClr val="E4EFF5"/>
                </a:solidFill>
                <a:latin typeface="Consolas" pitchFamily="34" charset="0"/>
                <a:ea typeface="Consolas" pitchFamily="34" charset="-122"/>
                <a:cs typeface="Consolas" pitchFamily="34" charset="-120"/>
              </a:rPr>
              <a:t>OpenTelemetry context → traces · metrics · logs · decision evidence → event bus → triggers · alerts · remediation · approvals</a:t>
            </a:r>
            <a:endParaRPr lang="en-US" sz="820" dirty="0"/>
          </a:p>
        </p:txBody>
      </p:sp>
      <p:sp>
        <p:nvSpPr>
          <p:cNvPr id="89" name="Shape 86"/>
          <p:cNvSpPr/>
          <p:nvPr/>
        </p:nvSpPr>
        <p:spPr>
          <a:xfrm>
            <a:off x="566928" y="6382512"/>
            <a:ext cx="11057839" cy="0"/>
          </a:xfrm>
          <a:prstGeom prst="line">
            <a:avLst/>
          </a:prstGeom>
          <a:noFill/>
          <a:ln w="9525">
            <a:solidFill>
              <a:srgbClr val="E2E7EC"/>
            </a:solidFill>
            <a:prstDash val="solid"/>
          </a:ln>
        </p:spPr>
      </p:sp>
      <p:sp>
        <p:nvSpPr>
          <p:cNvPr id="90" name="Text 8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91" name="Text 8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A2</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THE CONTROL CONTRACT</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Five responsibilities, four of which you already have.</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Standardize these; keep every product underneath them replaceable. The one usually genuinely new is capability grants.</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499362"/>
          <a:ext cx="5852160" cy="914400"/>
        </p:xfrm>
        <a:graphic>
          <a:graphicData uri="http://schemas.openxmlformats.org/drawingml/2006/table">
            <a:tbl>
              <a:tblPr/>
              <a:tblGrid>
                <a:gridCol w="2240280"/>
                <a:gridCol w="2560320"/>
                <a:gridCol w="105156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RESPONSIBILITY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ANSWERS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IN ESTATE?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Identity</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Human, workload, agent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Who or what is acting, and on whose behalf?</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Policy decision</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Actor × action × resource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May this actor perform this action, right now?</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7A5510"/>
                          </a:solidFill>
                          <a:latin typeface="Calibri" pitchFamily="34" charset="0"/>
                          <a:ea typeface="Calibri" pitchFamily="34" charset="-122"/>
                          <a:cs typeface="Calibri" pitchFamily="34" charset="-120"/>
                        </a:rPr>
                        <a:t>EXTEND</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Capability grants</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Scoped, short-lived, attenuable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How is that decision carried to the thing enforcing it?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32D2D"/>
                          </a:solidFill>
                          <a:latin typeface="Calibri" pitchFamily="34" charset="0"/>
                          <a:ea typeface="Calibri" pitchFamily="34" charset="-122"/>
                          <a:cs typeface="Calibri" pitchFamily="34" charset="-120"/>
                        </a:rPr>
                        <a:t>NEW</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AE6E6"/>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Governance</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Tiers, approvals, exceptions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Who decided this action class was acceptable, and when?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006300"/>
                          </a:solidFill>
                          <a:latin typeface="Calibri" pitchFamily="34" charset="0"/>
                          <a:ea typeface="Calibri" pitchFamily="34" charset="-122"/>
                          <a:cs typeface="Calibri" pitchFamily="34" charset="-120"/>
                        </a:rPr>
                        <a:t>REUSE</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E6F4E6"/>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Lifecycle controls</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Version, rollout, breaker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How do we stop it — in seconds, without a deploy?</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7A5510"/>
                          </a:solidFill>
                          <a:latin typeface="Calibri" pitchFamily="34" charset="0"/>
                          <a:ea typeface="Calibri" pitchFamily="34" charset="-122"/>
                          <a:cs typeface="Calibri" pitchFamily="34" charset="-120"/>
                        </a:rPr>
                        <a:t>EXTEND</a:t>
                      </a:r>
                      <a:endParaRPr lang="en-US" sz="85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EF3DC"/>
                    </a:solidFill>
                  </a:tcPr>
                </a:tc>
              </a:tr>
            </a:tbl>
          </a:graphicData>
        </a:graphic>
      </p:graphicFrame>
      <p:sp>
        <p:nvSpPr>
          <p:cNvPr id="8" name="Shape 4"/>
          <p:cNvSpPr/>
          <p:nvPr/>
        </p:nvSpPr>
        <p:spPr>
          <a:xfrm>
            <a:off x="6638544" y="1499362"/>
            <a:ext cx="4986223" cy="2103120"/>
          </a:xfrm>
          <a:prstGeom prst="roundRect">
            <a:avLst>
              <a:gd name="adj" fmla="val 3478"/>
            </a:avLst>
          </a:prstGeom>
          <a:solidFill>
            <a:srgbClr val="E6F4F6"/>
          </a:solidFill>
          <a:ln w="12700">
            <a:solidFill>
              <a:srgbClr val="9CCED6"/>
            </a:solidFill>
            <a:prstDash val="solid"/>
          </a:ln>
        </p:spPr>
      </p:sp>
      <p:sp>
        <p:nvSpPr>
          <p:cNvPr id="9" name="Text 5"/>
          <p:cNvSpPr/>
          <p:nvPr/>
        </p:nvSpPr>
        <p:spPr>
          <a:xfrm>
            <a:off x="6839712" y="1663954"/>
            <a:ext cx="4206240" cy="182880"/>
          </a:xfrm>
          <a:prstGeom prst="rect">
            <a:avLst/>
          </a:prstGeom>
          <a:noFill/>
          <a:ln/>
        </p:spPr>
        <p:txBody>
          <a:bodyPr wrap="square" lIns="0" tIns="0" rIns="0" bIns="0" rtlCol="0" anchor="ctr"/>
          <a:lstStyle/>
          <a:p>
            <a:pPr indent="0" marL="0">
              <a:buNone/>
            </a:pPr>
            <a:r>
              <a:rPr lang="en-US" sz="850" b="1" spc="140" kern="0" dirty="0">
                <a:solidFill>
                  <a:srgbClr val="0B6F7D"/>
                </a:solidFill>
                <a:latin typeface="Consolas" pitchFamily="34" charset="0"/>
                <a:ea typeface="Consolas" pitchFamily="34" charset="-122"/>
                <a:cs typeface="Consolas" pitchFamily="34" charset="-120"/>
              </a:rPr>
              <a:t>A GRANT IS NOT A ROLE</a:t>
            </a:r>
            <a:endParaRPr lang="en-US" sz="850" dirty="0"/>
          </a:p>
        </p:txBody>
      </p:sp>
      <p:sp>
        <p:nvSpPr>
          <p:cNvPr id="10" name="Text 6"/>
          <p:cNvSpPr/>
          <p:nvPr/>
        </p:nvSpPr>
        <p:spPr>
          <a:xfrm>
            <a:off x="6839712" y="1919986"/>
            <a:ext cx="4389120" cy="548640"/>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 role describes what an actor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is</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and persists. A grant describes what an actor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may do</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 bound to audience, action, scope and expiry — and is designed to die.</a:t>
            </a:r>
            <a:endParaRPr lang="en-US" sz="1000" dirty="0"/>
          </a:p>
        </p:txBody>
      </p:sp>
      <p:sp>
        <p:nvSpPr>
          <p:cNvPr id="11" name="Text 7"/>
          <p:cNvSpPr/>
          <p:nvPr/>
        </p:nvSpPr>
        <p:spPr>
          <a:xfrm>
            <a:off x="6839712" y="25600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Audience-bound</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usable only at the intended resource</a:t>
            </a:r>
            <a:endParaRPr lang="en-US" sz="950" dirty="0"/>
          </a:p>
        </p:txBody>
      </p:sp>
      <p:sp>
        <p:nvSpPr>
          <p:cNvPr id="12" name="Text 8"/>
          <p:cNvSpPr/>
          <p:nvPr/>
        </p:nvSpPr>
        <p:spPr>
          <a:xfrm>
            <a:off x="6839712" y="27886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Attenuable</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a holder can narrow it, never widen it</a:t>
            </a:r>
            <a:endParaRPr lang="en-US" sz="950" dirty="0"/>
          </a:p>
        </p:txBody>
      </p:sp>
      <p:sp>
        <p:nvSpPr>
          <p:cNvPr id="13" name="Text 9"/>
          <p:cNvSpPr/>
          <p:nvPr/>
        </p:nvSpPr>
        <p:spPr>
          <a:xfrm>
            <a:off x="6839712" y="30172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Short-lived</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expiry is the default revocation mechanism</a:t>
            </a:r>
            <a:endParaRPr lang="en-US" sz="950" dirty="0"/>
          </a:p>
        </p:txBody>
      </p:sp>
      <p:sp>
        <p:nvSpPr>
          <p:cNvPr id="14" name="Text 10"/>
          <p:cNvSpPr/>
          <p:nvPr/>
        </p:nvSpPr>
        <p:spPr>
          <a:xfrm>
            <a:off x="6839712" y="3245866"/>
            <a:ext cx="4389120" cy="201168"/>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a:t>
            </a: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Verifiable offline</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 routine work needs no round trip</a:t>
            </a:r>
            <a:endParaRPr lang="en-US" sz="950" dirty="0"/>
          </a:p>
        </p:txBody>
      </p:sp>
      <p:sp>
        <p:nvSpPr>
          <p:cNvPr id="15" name="Shape 11"/>
          <p:cNvSpPr/>
          <p:nvPr/>
        </p:nvSpPr>
        <p:spPr>
          <a:xfrm>
            <a:off x="6638544" y="3712210"/>
            <a:ext cx="4986223" cy="1042416"/>
          </a:xfrm>
          <a:prstGeom prst="roundRect">
            <a:avLst>
              <a:gd name="adj" fmla="val 7018"/>
            </a:avLst>
          </a:prstGeom>
          <a:solidFill>
            <a:srgbClr val="FFFFFF"/>
          </a:solidFill>
          <a:ln w="12700">
            <a:solidFill>
              <a:srgbClr val="E2E7EC"/>
            </a:solidFill>
            <a:prstDash val="solid"/>
          </a:ln>
        </p:spPr>
      </p:sp>
      <p:sp>
        <p:nvSpPr>
          <p:cNvPr id="16" name="Text 12"/>
          <p:cNvSpPr/>
          <p:nvPr/>
        </p:nvSpPr>
        <p:spPr>
          <a:xfrm>
            <a:off x="6839712" y="3840226"/>
            <a:ext cx="4389120" cy="8229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50" b="1" dirty="0">
                <a:solidFill>
                  <a:srgbClr val="0B1622"/>
                </a:solidFill>
                <a:latin typeface="Calibri" pitchFamily="34" charset="0"/>
                <a:ea typeface="Calibri" pitchFamily="34" charset="-122"/>
                <a:cs typeface="Calibri" pitchFamily="34" charset="-120"/>
              </a:rPr>
              <a:t>The design tension, resolved in week 4:</a:t>
            </a:r>
            <a:pPr indent="0" marL="0">
              <a:lnSpc>
                <a:spcPct val="110000"/>
              </a:lnSpc>
              <a:buNone/>
            </a:pPr>
            <a:r>
              <a:rPr lang="en-US" sz="950" dirty="0">
                <a:solidFill>
                  <a:srgbClr val="46586B"/>
                </a:solidFill>
                <a:latin typeface="Calibri" pitchFamily="34" charset="0"/>
                <a:ea typeface="Calibri" pitchFamily="34" charset="-122"/>
                <a:cs typeface="Calibri" pitchFamily="34" charset="-120"/>
              </a:rPr>
              <a:t> offline verification gives you latency; online decisions give you instant revocation. High-risk actions get the round trip; routine actions get local verification with a short TTL. Where [CLIENT] draws that line is a governance decision, not an engineering one.</a:t>
            </a:r>
            <a:endParaRPr lang="en-US" sz="950" dirty="0"/>
          </a:p>
        </p:txBody>
      </p:sp>
      <p:sp>
        <p:nvSpPr>
          <p:cNvPr id="17" name="Shape 13"/>
          <p:cNvSpPr/>
          <p:nvPr/>
        </p:nvSpPr>
        <p:spPr>
          <a:xfrm>
            <a:off x="566928" y="6382512"/>
            <a:ext cx="11057839" cy="0"/>
          </a:xfrm>
          <a:prstGeom prst="line">
            <a:avLst/>
          </a:prstGeom>
          <a:noFill/>
          <a:ln w="9525">
            <a:solidFill>
              <a:srgbClr val="E2E7EC"/>
            </a:solidFill>
            <a:prstDash val="solid"/>
          </a:ln>
        </p:spPr>
      </p:sp>
      <p:sp>
        <p:nvSpPr>
          <p:cNvPr id="18" name="Text 14"/>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9" name="Text 15"/>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A3</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RUNTIME MODEL IN FULL</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Eight steps, and the record they produce.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Implementation varies by risk tier; the logical sequence does not. Steps 4 and 5 are the crux — the decision, and the conveyance of that decision.</a:t>
            </a:r>
            <a:endParaRPr lang="en-US" sz="1250" dirty="0"/>
          </a:p>
        </p:txBody>
      </p:sp>
      <p:sp>
        <p:nvSpPr>
          <p:cNvPr id="7" name="Shape 4"/>
          <p:cNvSpPr/>
          <p:nvPr/>
        </p:nvSpPr>
        <p:spPr>
          <a:xfrm>
            <a:off x="566928" y="1701800"/>
            <a:ext cx="1302220" cy="1481328"/>
          </a:xfrm>
          <a:prstGeom prst="roundRect">
            <a:avLst>
              <a:gd name="adj" fmla="val 5617"/>
            </a:avLst>
          </a:prstGeom>
          <a:solidFill>
            <a:srgbClr val="FFFFFF"/>
          </a:solidFill>
          <a:ln w="12700">
            <a:solidFill>
              <a:srgbClr val="E2E7EC"/>
            </a:solidFill>
            <a:prstDash val="solid"/>
          </a:ln>
        </p:spPr>
      </p:sp>
      <p:sp>
        <p:nvSpPr>
          <p:cNvPr id="8" name="Shape 5"/>
          <p:cNvSpPr/>
          <p:nvPr/>
        </p:nvSpPr>
        <p:spPr>
          <a:xfrm>
            <a:off x="676656" y="1811528"/>
            <a:ext cx="201168" cy="201168"/>
          </a:xfrm>
          <a:prstGeom prst="ellipse">
            <a:avLst/>
          </a:prstGeom>
          <a:solidFill>
            <a:srgbClr val="08172A"/>
          </a:solidFill>
          <a:ln w="12700">
            <a:solidFill>
              <a:srgbClr val="08172A"/>
            </a:solidFill>
            <a:prstDash val="solid"/>
          </a:ln>
        </p:spPr>
      </p:sp>
      <p:sp>
        <p:nvSpPr>
          <p:cNvPr id="9" name="Text 6"/>
          <p:cNvSpPr/>
          <p:nvPr/>
        </p:nvSpPr>
        <p:spPr>
          <a:xfrm>
            <a:off x="67665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0" name="Text 7"/>
          <p:cNvSpPr/>
          <p:nvPr/>
        </p:nvSpPr>
        <p:spPr>
          <a:xfrm>
            <a:off x="67665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Express intent</a:t>
            </a:r>
            <a:endParaRPr lang="en-US" sz="900" dirty="0"/>
          </a:p>
        </p:txBody>
      </p:sp>
      <p:sp>
        <p:nvSpPr>
          <p:cNvPr id="11" name="Text 8"/>
          <p:cNvSpPr/>
          <p:nvPr/>
        </p:nvSpPr>
        <p:spPr>
          <a:xfrm>
            <a:off x="67665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A human, workflow, event or agent requests a capability.</a:t>
            </a:r>
            <a:endParaRPr lang="en-US" sz="740" dirty="0"/>
          </a:p>
        </p:txBody>
      </p:sp>
      <p:sp>
        <p:nvSpPr>
          <p:cNvPr id="12" name="Shape 9"/>
          <p:cNvSpPr/>
          <p:nvPr/>
        </p:nvSpPr>
        <p:spPr>
          <a:xfrm>
            <a:off x="1960588" y="1701800"/>
            <a:ext cx="1302220" cy="1481328"/>
          </a:xfrm>
          <a:prstGeom prst="roundRect">
            <a:avLst>
              <a:gd name="adj" fmla="val 5617"/>
            </a:avLst>
          </a:prstGeom>
          <a:solidFill>
            <a:srgbClr val="FFFFFF"/>
          </a:solidFill>
          <a:ln w="12700">
            <a:solidFill>
              <a:srgbClr val="E2E7EC"/>
            </a:solidFill>
            <a:prstDash val="solid"/>
          </a:ln>
        </p:spPr>
      </p:sp>
      <p:sp>
        <p:nvSpPr>
          <p:cNvPr id="13" name="Shape 10"/>
          <p:cNvSpPr/>
          <p:nvPr/>
        </p:nvSpPr>
        <p:spPr>
          <a:xfrm>
            <a:off x="2070316" y="1811528"/>
            <a:ext cx="201168" cy="201168"/>
          </a:xfrm>
          <a:prstGeom prst="ellipse">
            <a:avLst/>
          </a:prstGeom>
          <a:solidFill>
            <a:srgbClr val="08172A"/>
          </a:solidFill>
          <a:ln w="12700">
            <a:solidFill>
              <a:srgbClr val="08172A"/>
            </a:solidFill>
            <a:prstDash val="solid"/>
          </a:ln>
        </p:spPr>
      </p:sp>
      <p:sp>
        <p:nvSpPr>
          <p:cNvPr id="14" name="Text 11"/>
          <p:cNvSpPr/>
          <p:nvPr/>
        </p:nvSpPr>
        <p:spPr>
          <a:xfrm>
            <a:off x="207031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15" name="Text 12"/>
          <p:cNvSpPr/>
          <p:nvPr/>
        </p:nvSpPr>
        <p:spPr>
          <a:xfrm>
            <a:off x="207031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Establish identity</a:t>
            </a:r>
            <a:endParaRPr lang="en-US" sz="900" dirty="0"/>
          </a:p>
        </p:txBody>
      </p:sp>
      <p:sp>
        <p:nvSpPr>
          <p:cNvPr id="16" name="Text 13"/>
          <p:cNvSpPr/>
          <p:nvPr/>
        </p:nvSpPr>
        <p:spPr>
          <a:xfrm>
            <a:off x="207031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Resolve human, workload, agent type, delegated authority.</a:t>
            </a:r>
            <a:endParaRPr lang="en-US" sz="740" dirty="0"/>
          </a:p>
        </p:txBody>
      </p:sp>
      <p:sp>
        <p:nvSpPr>
          <p:cNvPr id="17" name="Shape 14"/>
          <p:cNvSpPr/>
          <p:nvPr/>
        </p:nvSpPr>
        <p:spPr>
          <a:xfrm>
            <a:off x="3354248" y="1701800"/>
            <a:ext cx="1302220" cy="1481328"/>
          </a:xfrm>
          <a:prstGeom prst="roundRect">
            <a:avLst>
              <a:gd name="adj" fmla="val 5617"/>
            </a:avLst>
          </a:prstGeom>
          <a:solidFill>
            <a:srgbClr val="FFFFFF"/>
          </a:solidFill>
          <a:ln w="12700">
            <a:solidFill>
              <a:srgbClr val="E2E7EC"/>
            </a:solidFill>
            <a:prstDash val="solid"/>
          </a:ln>
        </p:spPr>
      </p:sp>
      <p:sp>
        <p:nvSpPr>
          <p:cNvPr id="18" name="Shape 15"/>
          <p:cNvSpPr/>
          <p:nvPr/>
        </p:nvSpPr>
        <p:spPr>
          <a:xfrm>
            <a:off x="3463976" y="1811528"/>
            <a:ext cx="201168" cy="201168"/>
          </a:xfrm>
          <a:prstGeom prst="ellipse">
            <a:avLst/>
          </a:prstGeom>
          <a:solidFill>
            <a:srgbClr val="08172A"/>
          </a:solidFill>
          <a:ln w="12700">
            <a:solidFill>
              <a:srgbClr val="08172A"/>
            </a:solidFill>
            <a:prstDash val="solid"/>
          </a:ln>
        </p:spPr>
      </p:sp>
      <p:sp>
        <p:nvSpPr>
          <p:cNvPr id="19" name="Text 16"/>
          <p:cNvSpPr/>
          <p:nvPr/>
        </p:nvSpPr>
        <p:spPr>
          <a:xfrm>
            <a:off x="346397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0" name="Text 17"/>
          <p:cNvSpPr/>
          <p:nvPr/>
        </p:nvSpPr>
        <p:spPr>
          <a:xfrm>
            <a:off x="346397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Discover</a:t>
            </a:r>
            <a:endParaRPr lang="en-US" sz="900" dirty="0"/>
          </a:p>
        </p:txBody>
      </p:sp>
      <p:sp>
        <p:nvSpPr>
          <p:cNvPr id="21" name="Text 18"/>
          <p:cNvSpPr/>
          <p:nvPr/>
        </p:nvSpPr>
        <p:spPr>
          <a:xfrm>
            <a:off x="346397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Find eligible services by capability, health, version.</a:t>
            </a:r>
            <a:endParaRPr lang="en-US" sz="740" dirty="0"/>
          </a:p>
        </p:txBody>
      </p:sp>
      <p:sp>
        <p:nvSpPr>
          <p:cNvPr id="22" name="Shape 19"/>
          <p:cNvSpPr/>
          <p:nvPr/>
        </p:nvSpPr>
        <p:spPr>
          <a:xfrm>
            <a:off x="4747908" y="1701800"/>
            <a:ext cx="1302220" cy="1481328"/>
          </a:xfrm>
          <a:prstGeom prst="roundRect">
            <a:avLst>
              <a:gd name="adj" fmla="val 5617"/>
            </a:avLst>
          </a:prstGeom>
          <a:solidFill>
            <a:srgbClr val="E6F4F6"/>
          </a:solidFill>
          <a:ln w="12700">
            <a:solidFill>
              <a:srgbClr val="9CCED6"/>
            </a:solidFill>
            <a:prstDash val="solid"/>
          </a:ln>
        </p:spPr>
      </p:sp>
      <p:sp>
        <p:nvSpPr>
          <p:cNvPr id="23" name="Shape 20"/>
          <p:cNvSpPr/>
          <p:nvPr/>
        </p:nvSpPr>
        <p:spPr>
          <a:xfrm>
            <a:off x="4857636" y="1811528"/>
            <a:ext cx="201168" cy="201168"/>
          </a:xfrm>
          <a:prstGeom prst="ellipse">
            <a:avLst/>
          </a:prstGeom>
          <a:solidFill>
            <a:srgbClr val="0B6F7D"/>
          </a:solidFill>
          <a:ln w="12700">
            <a:solidFill>
              <a:srgbClr val="0B6F7D"/>
            </a:solidFill>
            <a:prstDash val="solid"/>
          </a:ln>
        </p:spPr>
      </p:sp>
      <p:sp>
        <p:nvSpPr>
          <p:cNvPr id="24" name="Text 21"/>
          <p:cNvSpPr/>
          <p:nvPr/>
        </p:nvSpPr>
        <p:spPr>
          <a:xfrm>
            <a:off x="485763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4</a:t>
            </a:r>
            <a:endParaRPr lang="en-US" sz="900" dirty="0"/>
          </a:p>
        </p:txBody>
      </p:sp>
      <p:sp>
        <p:nvSpPr>
          <p:cNvPr id="25" name="Text 22"/>
          <p:cNvSpPr/>
          <p:nvPr/>
        </p:nvSpPr>
        <p:spPr>
          <a:xfrm>
            <a:off x="485763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Decide policy</a:t>
            </a:r>
            <a:endParaRPr lang="en-US" sz="900" dirty="0"/>
          </a:p>
        </p:txBody>
      </p:sp>
      <p:sp>
        <p:nvSpPr>
          <p:cNvPr id="26" name="Text 23"/>
          <p:cNvSpPr/>
          <p:nvPr/>
        </p:nvSpPr>
        <p:spPr>
          <a:xfrm>
            <a:off x="485763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Actor, action, resource, context, risk, breaker state.</a:t>
            </a:r>
            <a:endParaRPr lang="en-US" sz="740" dirty="0"/>
          </a:p>
        </p:txBody>
      </p:sp>
      <p:sp>
        <p:nvSpPr>
          <p:cNvPr id="27" name="Shape 24"/>
          <p:cNvSpPr/>
          <p:nvPr/>
        </p:nvSpPr>
        <p:spPr>
          <a:xfrm>
            <a:off x="6141568" y="1701800"/>
            <a:ext cx="1302220" cy="1481328"/>
          </a:xfrm>
          <a:prstGeom prst="roundRect">
            <a:avLst>
              <a:gd name="adj" fmla="val 5617"/>
            </a:avLst>
          </a:prstGeom>
          <a:solidFill>
            <a:srgbClr val="E6F4F6"/>
          </a:solidFill>
          <a:ln w="12700">
            <a:solidFill>
              <a:srgbClr val="9CCED6"/>
            </a:solidFill>
            <a:prstDash val="solid"/>
          </a:ln>
        </p:spPr>
      </p:sp>
      <p:sp>
        <p:nvSpPr>
          <p:cNvPr id="28" name="Shape 25"/>
          <p:cNvSpPr/>
          <p:nvPr/>
        </p:nvSpPr>
        <p:spPr>
          <a:xfrm>
            <a:off x="6251296" y="1811528"/>
            <a:ext cx="201168" cy="201168"/>
          </a:xfrm>
          <a:prstGeom prst="ellipse">
            <a:avLst/>
          </a:prstGeom>
          <a:solidFill>
            <a:srgbClr val="0B6F7D"/>
          </a:solidFill>
          <a:ln w="12700">
            <a:solidFill>
              <a:srgbClr val="0B6F7D"/>
            </a:solidFill>
            <a:prstDash val="solid"/>
          </a:ln>
        </p:spPr>
      </p:sp>
      <p:sp>
        <p:nvSpPr>
          <p:cNvPr id="29" name="Text 26"/>
          <p:cNvSpPr/>
          <p:nvPr/>
        </p:nvSpPr>
        <p:spPr>
          <a:xfrm>
            <a:off x="6251296"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5</a:t>
            </a:r>
            <a:endParaRPr lang="en-US" sz="900" dirty="0"/>
          </a:p>
        </p:txBody>
      </p:sp>
      <p:sp>
        <p:nvSpPr>
          <p:cNvPr id="30" name="Text 27"/>
          <p:cNvSpPr/>
          <p:nvPr/>
        </p:nvSpPr>
        <p:spPr>
          <a:xfrm>
            <a:off x="6251296"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Convey authority</a:t>
            </a:r>
            <a:endParaRPr lang="en-US" sz="900" dirty="0"/>
          </a:p>
        </p:txBody>
      </p:sp>
      <p:sp>
        <p:nvSpPr>
          <p:cNvPr id="31" name="Text 28"/>
          <p:cNvSpPr/>
          <p:nvPr/>
        </p:nvSpPr>
        <p:spPr>
          <a:xfrm>
            <a:off x="6251296"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Issue a short-lived grant bound to audience and expiry.</a:t>
            </a:r>
            <a:endParaRPr lang="en-US" sz="740" dirty="0"/>
          </a:p>
        </p:txBody>
      </p:sp>
      <p:sp>
        <p:nvSpPr>
          <p:cNvPr id="32" name="Shape 29"/>
          <p:cNvSpPr/>
          <p:nvPr/>
        </p:nvSpPr>
        <p:spPr>
          <a:xfrm>
            <a:off x="7535228" y="1701800"/>
            <a:ext cx="1302220" cy="1481328"/>
          </a:xfrm>
          <a:prstGeom prst="roundRect">
            <a:avLst>
              <a:gd name="adj" fmla="val 5617"/>
            </a:avLst>
          </a:prstGeom>
          <a:solidFill>
            <a:srgbClr val="FFFFFF"/>
          </a:solidFill>
          <a:ln w="12700">
            <a:solidFill>
              <a:srgbClr val="E2E7EC"/>
            </a:solidFill>
            <a:prstDash val="solid"/>
          </a:ln>
        </p:spPr>
      </p:sp>
      <p:sp>
        <p:nvSpPr>
          <p:cNvPr id="33" name="Shape 30"/>
          <p:cNvSpPr/>
          <p:nvPr/>
        </p:nvSpPr>
        <p:spPr>
          <a:xfrm>
            <a:off x="7644955" y="1811528"/>
            <a:ext cx="201168" cy="201168"/>
          </a:xfrm>
          <a:prstGeom prst="ellipse">
            <a:avLst/>
          </a:prstGeom>
          <a:solidFill>
            <a:srgbClr val="08172A"/>
          </a:solidFill>
          <a:ln w="12700">
            <a:solidFill>
              <a:srgbClr val="08172A"/>
            </a:solidFill>
            <a:prstDash val="solid"/>
          </a:ln>
        </p:spPr>
      </p:sp>
      <p:sp>
        <p:nvSpPr>
          <p:cNvPr id="34" name="Text 31"/>
          <p:cNvSpPr/>
          <p:nvPr/>
        </p:nvSpPr>
        <p:spPr>
          <a:xfrm>
            <a:off x="7644955"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6</a:t>
            </a:r>
            <a:endParaRPr lang="en-US" sz="900" dirty="0"/>
          </a:p>
        </p:txBody>
      </p:sp>
      <p:sp>
        <p:nvSpPr>
          <p:cNvPr id="35" name="Text 32"/>
          <p:cNvSpPr/>
          <p:nvPr/>
        </p:nvSpPr>
        <p:spPr>
          <a:xfrm>
            <a:off x="7644955"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Enforce</a:t>
            </a:r>
            <a:endParaRPr lang="en-US" sz="900" dirty="0"/>
          </a:p>
        </p:txBody>
      </p:sp>
      <p:sp>
        <p:nvSpPr>
          <p:cNvPr id="36" name="Text 33"/>
          <p:cNvSpPr/>
          <p:nvPr/>
        </p:nvSpPr>
        <p:spPr>
          <a:xfrm>
            <a:off x="7644955"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The sandbox verifies the grant and exposes declared capabilities only.</a:t>
            </a:r>
            <a:endParaRPr lang="en-US" sz="740" dirty="0"/>
          </a:p>
        </p:txBody>
      </p:sp>
      <p:sp>
        <p:nvSpPr>
          <p:cNvPr id="37" name="Shape 34"/>
          <p:cNvSpPr/>
          <p:nvPr/>
        </p:nvSpPr>
        <p:spPr>
          <a:xfrm>
            <a:off x="8928887" y="1701800"/>
            <a:ext cx="1302220" cy="1481328"/>
          </a:xfrm>
          <a:prstGeom prst="roundRect">
            <a:avLst>
              <a:gd name="adj" fmla="val 5617"/>
            </a:avLst>
          </a:prstGeom>
          <a:solidFill>
            <a:srgbClr val="FFFFFF"/>
          </a:solidFill>
          <a:ln w="12700">
            <a:solidFill>
              <a:srgbClr val="E2E7EC"/>
            </a:solidFill>
            <a:prstDash val="solid"/>
          </a:ln>
        </p:spPr>
      </p:sp>
      <p:sp>
        <p:nvSpPr>
          <p:cNvPr id="38" name="Shape 35"/>
          <p:cNvSpPr/>
          <p:nvPr/>
        </p:nvSpPr>
        <p:spPr>
          <a:xfrm>
            <a:off x="9038615" y="1811528"/>
            <a:ext cx="201168" cy="201168"/>
          </a:xfrm>
          <a:prstGeom prst="ellipse">
            <a:avLst/>
          </a:prstGeom>
          <a:solidFill>
            <a:srgbClr val="08172A"/>
          </a:solidFill>
          <a:ln w="12700">
            <a:solidFill>
              <a:srgbClr val="08172A"/>
            </a:solidFill>
            <a:prstDash val="solid"/>
          </a:ln>
        </p:spPr>
      </p:sp>
      <p:sp>
        <p:nvSpPr>
          <p:cNvPr id="39" name="Text 36"/>
          <p:cNvSpPr/>
          <p:nvPr/>
        </p:nvSpPr>
        <p:spPr>
          <a:xfrm>
            <a:off x="9038615"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7</a:t>
            </a:r>
            <a:endParaRPr lang="en-US" sz="900" dirty="0"/>
          </a:p>
        </p:txBody>
      </p:sp>
      <p:sp>
        <p:nvSpPr>
          <p:cNvPr id="40" name="Text 37"/>
          <p:cNvSpPr/>
          <p:nvPr/>
        </p:nvSpPr>
        <p:spPr>
          <a:xfrm>
            <a:off x="9038615"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Execute</a:t>
            </a:r>
            <a:endParaRPr lang="en-US" sz="900" dirty="0"/>
          </a:p>
        </p:txBody>
      </p:sp>
      <p:sp>
        <p:nvSpPr>
          <p:cNvPr id="41" name="Text 38"/>
          <p:cNvSpPr/>
          <p:nvPr/>
        </p:nvSpPr>
        <p:spPr>
          <a:xfrm>
            <a:off x="9038615"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Run with the isolation the risk tier requires.</a:t>
            </a:r>
            <a:endParaRPr lang="en-US" sz="740" dirty="0"/>
          </a:p>
        </p:txBody>
      </p:sp>
      <p:sp>
        <p:nvSpPr>
          <p:cNvPr id="42" name="Shape 39"/>
          <p:cNvSpPr/>
          <p:nvPr/>
        </p:nvSpPr>
        <p:spPr>
          <a:xfrm>
            <a:off x="10322547" y="1701800"/>
            <a:ext cx="1302220" cy="1481328"/>
          </a:xfrm>
          <a:prstGeom prst="roundRect">
            <a:avLst>
              <a:gd name="adj" fmla="val 5617"/>
            </a:avLst>
          </a:prstGeom>
          <a:solidFill>
            <a:srgbClr val="FFFFFF"/>
          </a:solidFill>
          <a:ln w="12700">
            <a:solidFill>
              <a:srgbClr val="E2E7EC"/>
            </a:solidFill>
            <a:prstDash val="solid"/>
          </a:ln>
        </p:spPr>
      </p:sp>
      <p:sp>
        <p:nvSpPr>
          <p:cNvPr id="43" name="Shape 40"/>
          <p:cNvSpPr/>
          <p:nvPr/>
        </p:nvSpPr>
        <p:spPr>
          <a:xfrm>
            <a:off x="10432275" y="1811528"/>
            <a:ext cx="201168" cy="201168"/>
          </a:xfrm>
          <a:prstGeom prst="ellipse">
            <a:avLst/>
          </a:prstGeom>
          <a:solidFill>
            <a:srgbClr val="08172A"/>
          </a:solidFill>
          <a:ln w="12700">
            <a:solidFill>
              <a:srgbClr val="08172A"/>
            </a:solidFill>
            <a:prstDash val="solid"/>
          </a:ln>
        </p:spPr>
      </p:sp>
      <p:sp>
        <p:nvSpPr>
          <p:cNvPr id="44" name="Text 41"/>
          <p:cNvSpPr/>
          <p:nvPr/>
        </p:nvSpPr>
        <p:spPr>
          <a:xfrm>
            <a:off x="10432275" y="18115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8</a:t>
            </a:r>
            <a:endParaRPr lang="en-US" sz="900" dirty="0"/>
          </a:p>
        </p:txBody>
      </p:sp>
      <p:sp>
        <p:nvSpPr>
          <p:cNvPr id="45" name="Text 42"/>
          <p:cNvSpPr/>
          <p:nvPr/>
        </p:nvSpPr>
        <p:spPr>
          <a:xfrm>
            <a:off x="10432275" y="2085848"/>
            <a:ext cx="1082764" cy="274320"/>
          </a:xfrm>
          <a:prstGeom prst="rect">
            <a:avLst/>
          </a:prstGeom>
          <a:noFill/>
          <a:ln/>
        </p:spPr>
        <p:txBody>
          <a:bodyPr wrap="square" lIns="0" tIns="0" rIns="0" bIns="0" rtlCol="0" anchor="ctr"/>
          <a:lstStyle/>
          <a:p>
            <a:pPr indent="0" marL="0">
              <a:buNone/>
            </a:pPr>
            <a:r>
              <a:rPr lang="en-US" sz="900" b="1" dirty="0">
                <a:solidFill>
                  <a:srgbClr val="0B1622"/>
                </a:solidFill>
                <a:latin typeface="Calibri" pitchFamily="34" charset="0"/>
                <a:ea typeface="Calibri" pitchFamily="34" charset="-122"/>
                <a:cs typeface="Calibri" pitchFamily="34" charset="-120"/>
              </a:rPr>
              <a:t>Produce evidence</a:t>
            </a:r>
            <a:endParaRPr lang="en-US" sz="900" dirty="0"/>
          </a:p>
        </p:txBody>
      </p:sp>
      <p:sp>
        <p:nvSpPr>
          <p:cNvPr id="46" name="Text 43"/>
          <p:cNvSpPr/>
          <p:nvPr/>
        </p:nvSpPr>
        <p:spPr>
          <a:xfrm>
            <a:off x="10432275" y="2378456"/>
            <a:ext cx="1082764" cy="694944"/>
          </a:xfrm>
          <a:prstGeom prst="rect">
            <a:avLst/>
          </a:prstGeom>
          <a:noFill/>
          <a:ln/>
        </p:spPr>
        <p:txBody>
          <a:bodyPr wrap="square" lIns="0" tIns="0" rIns="0" bIns="0" rtlCol="0" anchor="t"/>
          <a:lstStyle/>
          <a:p>
            <a:pPr indent="0" marL="0">
              <a:lnSpc>
                <a:spcPct val="106000"/>
              </a:lnSpc>
              <a:buNone/>
            </a:pPr>
            <a:r>
              <a:rPr lang="en-US" sz="740" dirty="0">
                <a:solidFill>
                  <a:srgbClr val="7E8C9B"/>
                </a:solidFill>
                <a:latin typeface="Calibri" pitchFamily="34" charset="0"/>
                <a:ea typeface="Calibri" pitchFamily="34" charset="-122"/>
                <a:cs typeface="Calibri" pitchFamily="34" charset="-120"/>
              </a:rPr>
              <a:t>Correlate decision, grant, runtime, side effects, outcome.</a:t>
            </a:r>
            <a:endParaRPr lang="en-US" sz="740" dirty="0"/>
          </a:p>
        </p:txBody>
      </p:sp>
      <p:sp>
        <p:nvSpPr>
          <p:cNvPr id="47" name="Shape 44"/>
          <p:cNvSpPr/>
          <p:nvPr/>
        </p:nvSpPr>
        <p:spPr>
          <a:xfrm>
            <a:off x="566928" y="3329432"/>
            <a:ext cx="11057839" cy="932688"/>
          </a:xfrm>
          <a:prstGeom prst="roundRect">
            <a:avLst>
              <a:gd name="adj" fmla="val 7843"/>
            </a:avLst>
          </a:prstGeom>
          <a:solidFill>
            <a:srgbClr val="F5F8FA"/>
          </a:solidFill>
          <a:ln w="12700">
            <a:solidFill>
              <a:srgbClr val="E2E7EC"/>
            </a:solidFill>
            <a:prstDash val="solid"/>
          </a:ln>
        </p:spPr>
      </p:sp>
      <p:sp>
        <p:nvSpPr>
          <p:cNvPr id="48" name="Text 45"/>
          <p:cNvSpPr/>
          <p:nvPr/>
        </p:nvSpPr>
        <p:spPr>
          <a:xfrm>
            <a:off x="768096" y="3457448"/>
            <a:ext cx="10655503" cy="694944"/>
          </a:xfrm>
          <a:prstGeom prst="rect">
            <a:avLst/>
          </a:prstGeom>
          <a:noFill/>
          <a:ln/>
        </p:spPr>
        <p:txBody>
          <a:bodyPr wrap="square" lIns="0" tIns="0" rIns="0" bIns="0" rtlCol="0" anchor="t"/>
          <a:lstStyle/>
          <a:p>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trace_id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4f2a…c81b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on_behalf_of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user:[EMPLOYEE]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actor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agent:pr-reviewer/v3.1   </a:t>
            </a:r>
            <a:pPr indent="0" marL="0">
              <a:lnSpc>
                <a:spcPct val="128000"/>
              </a:lnSpc>
              <a:buNone/>
            </a:pPr>
            <a:r>
              <a:rPr lang="en-US" sz="840" dirty="0">
                <a:solidFill>
                  <a:srgbClr val="000000"/>
                </a:solidFill>
                <a:latin typeface="Consolas" pitchFamily="34" charset="0"/>
                <a:ea typeface="Consolas" pitchFamily="34" charset="-122"/>
                <a:cs typeface="Consolas" pitchFamily="34" charset="-120"/>
              </a:rPr>
              <a: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capability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repo.pr.comment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decision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permit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policy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tier1-delivery@v11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grant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aud=scm scope=pr:comment ttl=90s   </a:t>
            </a:r>
            <a:pPr indent="0" marL="0">
              <a:lnSpc>
                <a:spcPct val="128000"/>
              </a:lnSpc>
              <a:buNone/>
            </a:pPr>
            <a:r>
              <a:rPr lang="en-US" sz="840" dirty="0">
                <a:solidFill>
                  <a:srgbClr val="000000"/>
                </a:solidFill>
                <a:latin typeface="Consolas" pitchFamily="34" charset="0"/>
                <a:ea typeface="Consolas" pitchFamily="34" charset="-122"/>
                <a:cs typeface="Consolas" pitchFamily="34" charset="-120"/>
              </a:rPr>
              <a:t>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enforced_at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wasi-sandbox/v2.4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manifest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net:scm-api · fs:none · env:none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side_effects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1 comment · reversible   </a:t>
            </a:r>
            <a:pPr indent="0" marL="0">
              <a:lnSpc>
                <a:spcPct val="128000"/>
              </a:lnSpc>
              <a:buNone/>
            </a:pPr>
            <a:r>
              <a:rPr lang="en-US" sz="840" b="1" dirty="0">
                <a:solidFill>
                  <a:srgbClr val="0B6F7D"/>
                </a:solidFill>
                <a:latin typeface="Consolas" pitchFamily="34" charset="0"/>
                <a:ea typeface="Consolas" pitchFamily="34" charset="-122"/>
                <a:cs typeface="Consolas" pitchFamily="34" charset="-120"/>
              </a:rPr>
              <a:t>outcome </a:t>
            </a:r>
            <a:pPr indent="0" marL="0">
              <a:lnSpc>
                <a:spcPct val="128000"/>
              </a:lnSpc>
              <a:buNone/>
            </a:pPr>
            <a:r>
              <a:rPr lang="en-US" sz="840" dirty="0">
                <a:solidFill>
                  <a:srgbClr val="0B1622"/>
                </a:solidFill>
                <a:latin typeface="Consolas" pitchFamily="34" charset="0"/>
                <a:ea typeface="Consolas" pitchFamily="34" charset="-122"/>
                <a:cs typeface="Consolas" pitchFamily="34" charset="-120"/>
              </a:rPr>
              <a:t>ok · 214ms   </a:t>
            </a:r>
            <a:endParaRPr lang="en-US" sz="840" dirty="0"/>
          </a:p>
        </p:txBody>
      </p:sp>
      <p:sp>
        <p:nvSpPr>
          <p:cNvPr id="49" name="Shape 46"/>
          <p:cNvSpPr/>
          <p:nvPr/>
        </p:nvSpPr>
        <p:spPr>
          <a:xfrm>
            <a:off x="566928" y="4390136"/>
            <a:ext cx="11057839" cy="512064"/>
          </a:xfrm>
          <a:prstGeom prst="roundRect">
            <a:avLst>
              <a:gd name="adj" fmla="val 14286"/>
            </a:avLst>
          </a:prstGeom>
          <a:solidFill>
            <a:srgbClr val="E6F4F6"/>
          </a:solidFill>
          <a:ln w="12700">
            <a:solidFill>
              <a:srgbClr val="9CCED6"/>
            </a:solidFill>
            <a:prstDash val="solid"/>
          </a:ln>
        </p:spPr>
      </p:sp>
      <p:sp>
        <p:nvSpPr>
          <p:cNvPr id="50" name="Text 47"/>
          <p:cNvSpPr/>
          <p:nvPr/>
        </p:nvSpPr>
        <p:spPr>
          <a:xfrm>
            <a:off x="749808" y="4518152"/>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This record is the assurance deliverable.</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If an auditor can read it without a human narrating what the agent "was trying to do", every claim on the crosswalk becomes checkable rather than asserted.</a:t>
            </a:r>
            <a:endParaRPr lang="en-US" sz="1000" dirty="0"/>
          </a:p>
        </p:txBody>
      </p:sp>
      <p:sp>
        <p:nvSpPr>
          <p:cNvPr id="51" name="Shape 48"/>
          <p:cNvSpPr/>
          <p:nvPr/>
        </p:nvSpPr>
        <p:spPr>
          <a:xfrm>
            <a:off x="566928" y="6382512"/>
            <a:ext cx="11057839" cy="0"/>
          </a:xfrm>
          <a:prstGeom prst="line">
            <a:avLst/>
          </a:prstGeom>
          <a:noFill/>
          <a:ln w="9525">
            <a:solidFill>
              <a:srgbClr val="E2E7EC"/>
            </a:solidFill>
            <a:prstDash val="solid"/>
          </a:ln>
        </p:spPr>
      </p:sp>
      <p:sp>
        <p:nvSpPr>
          <p:cNvPr id="52" name="Text 49"/>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53" name="Text 50"/>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A4</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INVARIANTS</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Five invariants, each with a test we run in week nine.</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Principles are cheap; principles with a stated test are an engineering commitment. Your security and SRE teams are invited to design the adversarial cases.</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665224"/>
          <a:ext cx="11057839" cy="914400"/>
        </p:xfrm>
        <a:graphic>
          <a:graphicData uri="http://schemas.openxmlformats.org/drawingml/2006/table">
            <a:tbl>
              <a:tblPr/>
              <a:tblGrid>
                <a:gridCol w="1920240"/>
                <a:gridCol w="2834640"/>
                <a:gridCol w="630936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INVARIANT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WHAT IT MEANS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HOW YOU TEST IT — AND WHAT A PASS LOOKS LIKE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1  Authority is explicit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No ambient access. Every action attributable to an identity and a decision.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Pick any action from the last 24 hours at random. Produce actor, human principal, decision, grant and expiry in under 60 seconds, without asking an engineer.</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2  Delegation only narrows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Sub-agents receive subsets of authority — never amplification.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Have a sub-agent attempt an action its parent could not perform. It must fail closed, and the denial must appear in evidence with the attenuation reason.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3  Execution is bounded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The capability manifest is the blast radius, and it is reviewable.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Attempt an action outside the declared manifest — an egress or file read never wired in. It must be impossible, not merely refused.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4  Everything is observable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Policy, routing, runtime and business outcome share one correlated context.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One trace identifier joins intent → decision → grant → runtime → backend → outcome across at least three systems, with no manual stitching.</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5  Technology is replaceable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Interfaces and responsibilities standardized; products chosen by context.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Swap the policy engine — or the gateway — behind the same contract. Zero service code changes, and evidence continuity preserved across the swap.</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4956048"/>
            <a:ext cx="11057839" cy="603504"/>
          </a:xfrm>
          <a:prstGeom prst="roundRect">
            <a:avLst>
              <a:gd name="adj" fmla="val 12121"/>
            </a:avLst>
          </a:prstGeom>
          <a:solidFill>
            <a:srgbClr val="E6F4F6"/>
          </a:solidFill>
          <a:ln w="12700">
            <a:solidFill>
              <a:srgbClr val="9CCED6"/>
            </a:solidFill>
            <a:prstDash val="solid"/>
          </a:ln>
        </p:spPr>
      </p:sp>
      <p:sp>
        <p:nvSpPr>
          <p:cNvPr id="9" name="Text 5"/>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Open invitation:</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your security and SRE teams design the adversarial cases for tests 2, 3 and 5. We would rather be broken by you in week nine than by an incident in month nine. If you want a sixth invariant, we will add it.</a:t>
            </a:r>
            <a:endParaRPr lang="en-US" sz="1050" dirty="0"/>
          </a:p>
        </p:txBody>
      </p:sp>
      <p:sp>
        <p:nvSpPr>
          <p:cNvPr id="10" name="Shape 6"/>
          <p:cNvSpPr/>
          <p:nvPr/>
        </p:nvSpPr>
        <p:spPr>
          <a:xfrm>
            <a:off x="566928" y="6382512"/>
            <a:ext cx="11057839" cy="0"/>
          </a:xfrm>
          <a:prstGeom prst="line">
            <a:avLst/>
          </a:prstGeom>
          <a:noFill/>
          <a:ln w="9525">
            <a:solidFill>
              <a:srgbClr val="E2E7EC"/>
            </a:solidFill>
            <a:prstDash val="solid"/>
          </a:ln>
        </p:spPr>
      </p:sp>
      <p:sp>
        <p:nvSpPr>
          <p:cNvPr id="11"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2"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A5</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RISK TIERS AND ISOLATION</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Isolation cost matched to consequence, not applied uniformly.</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Tiers are set with [CLIENT] in week one. These are the shapes we start the conversation from — not a standard we impose.</a:t>
            </a:r>
            <a:endParaRPr lang="en-US" sz="12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900174"/>
          <a:ext cx="11057839" cy="914400"/>
        </p:xfrm>
        <a:graphic>
          <a:graphicData uri="http://schemas.openxmlformats.org/drawingml/2006/table">
            <a:tbl>
              <a:tblPr/>
              <a:tblGrid>
                <a:gridCol w="1371600"/>
                <a:gridCol w="2468880"/>
                <a:gridCol w="2651760"/>
                <a:gridCol w="2286000"/>
                <a:gridCol w="228600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TIER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CHARACTERISTIC</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EXAMPLES IN DELIVERY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ISOLATION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APPROVAL PATH</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Tier 1</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Self-service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Reversible, internal, no personal or regulated data, bounded output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PR comments, test generation, release notes, documentation</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WASI sandbox, declared manifest, short-lived grant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Manifest reviewed in the pull request. No separate approval.</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Tier 2</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Owner approves</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Reversible writes to systems of record, or reads of classified data</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Dependency upgrades, branch creation, ticket updates, grounded answers on customer data</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WASI sandbox plus online policy decision for the write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Capability owner approves the tier assignment once, not each use.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0B1622"/>
                          </a:solidFill>
                          <a:latin typeface="Calibri" pitchFamily="34" charset="0"/>
                          <a:ea typeface="Calibri" pitchFamily="34" charset="-122"/>
                          <a:cs typeface="Calibri" pitchFamily="34" charset="-120"/>
                        </a:rPr>
                        <a:t>Tier 3</a:t>
                      </a:r>
                      <a:endParaRPr lang="en-US" sz="900" dirty="0">
                        <a:latin typeface="Calibri" charset="0"/>
                        <a:ea typeface="Calibri" charset="0"/>
                        <a:cs typeface="Calibri" charset="0"/>
                      </a:endParaRPr>
                    </a:p>
                    <a:p>
                      <a:pPr indent="0" marL="0">
                        <a:buNone/>
                      </a:pPr>
                      <a:r>
                        <a:rPr lang="en-US" sz="900" b="1" dirty="0">
                          <a:solidFill>
                            <a:srgbClr val="0B1622"/>
                          </a:solidFill>
                          <a:latin typeface="Calibri" pitchFamily="34" charset="0"/>
                          <a:ea typeface="Calibri" pitchFamily="34" charset="-122"/>
                          <a:cs typeface="Calibri" pitchFamily="34" charset="-120"/>
                        </a:rPr>
                        <a:t>Governed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Irreversible, customer-facing, financially material, or regulated</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Production deploys to regulated systems, anything touching money or customers directly</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Sandbox, online decision, human in the loop, staged rollout</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900" dirty="0">
                          <a:solidFill>
                            <a:srgbClr val="46586B"/>
                          </a:solidFill>
                          <a:latin typeface="Calibri" pitchFamily="34" charset="0"/>
                          <a:ea typeface="Calibri" pitchFamily="34" charset="-122"/>
                          <a:cs typeface="Calibri" pitchFamily="34" charset="-120"/>
                        </a:rPr>
                        <a:t>Named human approval per action or per batch, recorded as evidence.</a:t>
                      </a:r>
                      <a:endParaRPr lang="en-US" sz="90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4480560"/>
            <a:ext cx="5455768" cy="1078992"/>
          </a:xfrm>
          <a:prstGeom prst="roundRect">
            <a:avLst>
              <a:gd name="adj" fmla="val 6780"/>
            </a:avLst>
          </a:prstGeom>
          <a:solidFill>
            <a:srgbClr val="FFFFFF"/>
          </a:solidFill>
          <a:ln w="12700">
            <a:solidFill>
              <a:srgbClr val="E2E7EC"/>
            </a:solidFill>
            <a:prstDash val="solid"/>
          </a:ln>
        </p:spPr>
      </p:sp>
      <p:sp>
        <p:nvSpPr>
          <p:cNvPr id="9" name="Shape 5"/>
          <p:cNvSpPr/>
          <p:nvPr/>
        </p:nvSpPr>
        <p:spPr>
          <a:xfrm>
            <a:off x="749808" y="4645152"/>
            <a:ext cx="1554480" cy="182880"/>
          </a:xfrm>
          <a:prstGeom prst="roundRect">
            <a:avLst>
              <a:gd name="adj" fmla="val 50000"/>
            </a:avLst>
          </a:prstGeom>
          <a:solidFill>
            <a:srgbClr val="EFF2F5"/>
          </a:solidFill>
          <a:ln w="12700">
            <a:solidFill>
              <a:srgbClr val="EFF2F5"/>
            </a:solidFill>
            <a:prstDash val="solid"/>
          </a:ln>
        </p:spPr>
      </p:sp>
      <p:sp>
        <p:nvSpPr>
          <p:cNvPr id="10" name="Text 6"/>
          <p:cNvSpPr/>
          <p:nvPr/>
        </p:nvSpPr>
        <p:spPr>
          <a:xfrm>
            <a:off x="749808" y="4645152"/>
            <a:ext cx="1554480" cy="182880"/>
          </a:xfrm>
          <a:prstGeom prst="rect">
            <a:avLst/>
          </a:prstGeom>
          <a:noFill/>
          <a:ln/>
        </p:spPr>
        <p:txBody>
          <a:bodyPr wrap="square" lIns="0" tIns="0" rIns="0" bIns="0" rtlCol="0" anchor="ctr"/>
          <a:lstStyle/>
          <a:p>
            <a:pPr algn="ctr" indent="0" marL="0">
              <a:buNone/>
            </a:pPr>
            <a:r>
              <a:rPr lang="en-US" sz="750" b="1" spc="100" kern="0" dirty="0">
                <a:solidFill>
                  <a:srgbClr val="46586B"/>
                </a:solidFill>
                <a:latin typeface="Consolas" pitchFamily="34" charset="0"/>
                <a:ea typeface="Consolas" pitchFamily="34" charset="-122"/>
                <a:cs typeface="Consolas" pitchFamily="34" charset="-120"/>
              </a:rPr>
              <a:t>WHY NOT ISOLATE EVERYTHING AT TIER 3</a:t>
            </a:r>
            <a:endParaRPr lang="en-US" sz="750" dirty="0"/>
          </a:p>
        </p:txBody>
      </p:sp>
      <p:sp>
        <p:nvSpPr>
          <p:cNvPr id="11" name="Text 7"/>
          <p:cNvSpPr/>
          <p:nvPr/>
        </p:nvSpPr>
        <p:spPr>
          <a:xfrm>
            <a:off x="749808" y="493776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Uniform maximum isolation is either unaffordable everywhere or quietly bypassed where it hurts. Tiering keeps the strong controls credible in the places they actually matter.</a:t>
            </a:r>
            <a:endParaRPr lang="en-US" sz="1000" dirty="0"/>
          </a:p>
        </p:txBody>
      </p:sp>
      <p:sp>
        <p:nvSpPr>
          <p:cNvPr id="12" name="Shape 8"/>
          <p:cNvSpPr/>
          <p:nvPr/>
        </p:nvSpPr>
        <p:spPr>
          <a:xfrm>
            <a:off x="6169000" y="4480560"/>
            <a:ext cx="5455768" cy="1078992"/>
          </a:xfrm>
          <a:prstGeom prst="roundRect">
            <a:avLst>
              <a:gd name="adj" fmla="val 6780"/>
            </a:avLst>
          </a:prstGeom>
          <a:solidFill>
            <a:srgbClr val="E6F4F6"/>
          </a:solidFill>
          <a:ln w="12700">
            <a:solidFill>
              <a:srgbClr val="9CCED6"/>
            </a:solidFill>
            <a:prstDash val="solid"/>
          </a:ln>
        </p:spPr>
      </p:sp>
      <p:sp>
        <p:nvSpPr>
          <p:cNvPr id="13" name="Shape 9"/>
          <p:cNvSpPr/>
          <p:nvPr/>
        </p:nvSpPr>
        <p:spPr>
          <a:xfrm>
            <a:off x="6351880" y="4645152"/>
            <a:ext cx="1554480" cy="182880"/>
          </a:xfrm>
          <a:prstGeom prst="roundRect">
            <a:avLst>
              <a:gd name="adj" fmla="val 50000"/>
            </a:avLst>
          </a:prstGeom>
          <a:solidFill>
            <a:srgbClr val="FFFFFF"/>
          </a:solidFill>
          <a:ln w="12700">
            <a:solidFill>
              <a:srgbClr val="FFFFFF"/>
            </a:solidFill>
            <a:prstDash val="solid"/>
          </a:ln>
        </p:spPr>
      </p:sp>
      <p:sp>
        <p:nvSpPr>
          <p:cNvPr id="14" name="Text 10"/>
          <p:cNvSpPr/>
          <p:nvPr/>
        </p:nvSpPr>
        <p:spPr>
          <a:xfrm>
            <a:off x="6351880" y="4645152"/>
            <a:ext cx="1554480" cy="182880"/>
          </a:xfrm>
          <a:prstGeom prst="rect">
            <a:avLst/>
          </a:prstGeom>
          <a:noFill/>
          <a:ln/>
        </p:spPr>
        <p:txBody>
          <a:bodyPr wrap="square" lIns="0" tIns="0" rIns="0" bIns="0" rtlCol="0" anchor="ctr"/>
          <a:lstStyle/>
          <a:p>
            <a:pPr algn="ctr" indent="0" marL="0">
              <a:buNone/>
            </a:pPr>
            <a:r>
              <a:rPr lang="en-US" sz="750" b="1" spc="100" kern="0" dirty="0">
                <a:solidFill>
                  <a:srgbClr val="0B6F7D"/>
                </a:solidFill>
                <a:latin typeface="Consolas" pitchFamily="34" charset="0"/>
                <a:ea typeface="Consolas" pitchFamily="34" charset="-122"/>
                <a:cs typeface="Consolas" pitchFamily="34" charset="-120"/>
              </a:rPr>
              <a:t>WHERE THE POC SITS</a:t>
            </a:r>
            <a:endParaRPr lang="en-US" sz="750" dirty="0"/>
          </a:p>
        </p:txBody>
      </p:sp>
      <p:sp>
        <p:nvSpPr>
          <p:cNvPr id="15" name="Text 11"/>
          <p:cNvSpPr/>
          <p:nvPr/>
        </p:nvSpPr>
        <p:spPr>
          <a:xfrm>
            <a:off x="6351880" y="4937760"/>
            <a:ext cx="5090008" cy="420624"/>
          </a:xfrm>
          <a:prstGeom prst="rect">
            <a:avLst/>
          </a:prstGeom>
          <a:noFill/>
          <a:ln/>
        </p:spPr>
        <p:txBody>
          <a:bodyPr wrap="square" lIns="0" tIns="0" rIns="0" bIns="0" rtlCol="0" anchor="t"/>
          <a:lstStyle/>
          <a:p>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Agentic delivery is almost entirely </a:t>
            </a: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tier 1</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with a small tier-2 surface for dependency upgrades and branch writes. That is precisely why it is the right first workload — real writes, bounded consequence.</a:t>
            </a:r>
            <a:endParaRPr lang="en-US" sz="1000" dirty="0"/>
          </a:p>
        </p:txBody>
      </p:sp>
      <p:sp>
        <p:nvSpPr>
          <p:cNvPr id="16" name="Shape 12"/>
          <p:cNvSpPr/>
          <p:nvPr/>
        </p:nvSpPr>
        <p:spPr>
          <a:xfrm>
            <a:off x="566928" y="6382512"/>
            <a:ext cx="11057839" cy="0"/>
          </a:xfrm>
          <a:prstGeom prst="line">
            <a:avLst/>
          </a:prstGeom>
          <a:noFill/>
          <a:ln w="9525">
            <a:solidFill>
              <a:srgbClr val="E2E7EC"/>
            </a:solidFill>
            <a:prstDash val="solid"/>
          </a:ln>
        </p:spPr>
      </p:sp>
      <p:sp>
        <p:nvSpPr>
          <p:cNvPr id="17" name="Text 1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 name="Text 1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A6</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CONTROL CROSSWALK</a:t>
            </a:r>
            <a:endParaRPr lang="en-US" sz="1000" dirty="0"/>
          </a:p>
        </p:txBody>
      </p:sp>
      <p:sp>
        <p:nvSpPr>
          <p:cNvPr id="5" name="Text 2"/>
          <p:cNvSpPr/>
          <p:nvPr/>
        </p:nvSpPr>
        <p:spPr>
          <a:xfrm>
            <a:off x="1389888" y="621792"/>
            <a:ext cx="10234879" cy="8930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Evidence in a shape your existing frameworks already accept.</a:t>
            </a:r>
            <a:endParaRPr lang="en-US" sz="3000" dirty="0"/>
          </a:p>
        </p:txBody>
      </p:sp>
      <p:sp>
        <p:nvSpPr>
          <p:cNvPr id="6" name="Text 3"/>
          <p:cNvSpPr/>
          <p:nvPr/>
        </p:nvSpPr>
        <p:spPr>
          <a:xfrm>
            <a:off x="1389888" y="15697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Which of these bind [CLIENT]? Mark them and we scope the week-9 crosswalk accordingly.</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900174"/>
          <a:ext cx="11057839" cy="914400"/>
        </p:xfrm>
        <a:graphic>
          <a:graphicData uri="http://schemas.openxmlformats.org/drawingml/2006/table">
            <a:tbl>
              <a:tblPr/>
              <a:tblGrid>
                <a:gridCol w="2606040"/>
                <a:gridCol w="1691640"/>
                <a:gridCol w="2148840"/>
                <a:gridCol w="2194560"/>
                <a:gridCol w="242316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ARCHITECTURE EVIDENCE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NIST AI RMF</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ZERO TRUST · SP 800-207</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ISO/IEC 42001</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SOC 2 · EU AI ACT</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Attribution record</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Actor, human principal, decision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MAP · 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Policy decision point logging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Operational planning &amp; control</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CC6 logical access · Art. 12 record-keeping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Grant scope &amp; expiry</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Audience, action, TTL, attenuation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GOVERN · 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Per-session least privilege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Resource &amp; access control</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CC6 logical access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Capability manifest</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Declared, reviewed, diffed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MAP · MEASURE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Asset &amp; resource classification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AI system impact assessment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CC6 · Art. 9 risk management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Denial evidence</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Refused attempts and reasons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MEASURE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Continuous verification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Performance evaluation</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CC7 system operations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Correlated invocation trace</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Intent → outcome, ≥3 systems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MEASURE · 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Monitoring &amp; diagnostics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Monitoring, measurement, analysis</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CC7 · Art. 12 logging</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80" b="1" dirty="0">
                          <a:solidFill>
                            <a:srgbClr val="0B1622"/>
                          </a:solidFill>
                          <a:latin typeface="Calibri" pitchFamily="34" charset="0"/>
                          <a:ea typeface="Calibri" pitchFamily="34" charset="-122"/>
                          <a:cs typeface="Calibri" pitchFamily="34" charset="-120"/>
                        </a:rPr>
                        <a:t>Circuit breaker &amp; revocation</a:t>
                      </a:r>
                      <a:endParaRPr lang="en-US" sz="880" dirty="0">
                        <a:latin typeface="Calibri" charset="0"/>
                        <a:ea typeface="Calibri" charset="0"/>
                        <a:cs typeface="Calibri" charset="0"/>
                      </a:endParaRPr>
                    </a:p>
                    <a:p>
                      <a:pPr indent="0" marL="0">
                        <a:buNone/>
                      </a:pPr>
                      <a:r>
                        <a:rPr lang="en-US" sz="880" b="1" dirty="0">
                          <a:solidFill>
                            <a:srgbClr val="0B1622"/>
                          </a:solidFill>
                          <a:latin typeface="Calibri" pitchFamily="34" charset="0"/>
                          <a:ea typeface="Calibri" pitchFamily="34" charset="-122"/>
                          <a:cs typeface="Calibri" pitchFamily="34" charset="-120"/>
                        </a:rPr>
                        <a:t>Time-to-stop, measured</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MANAGE</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Dynamic policy enforcement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Incident &amp; nonconformity</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80" dirty="0">
                          <a:solidFill>
                            <a:srgbClr val="46586B"/>
                          </a:solidFill>
                          <a:latin typeface="Calibri" pitchFamily="34" charset="0"/>
                          <a:ea typeface="Calibri" pitchFamily="34" charset="-122"/>
                          <a:cs typeface="Calibri" pitchFamily="34" charset="-120"/>
                        </a:rPr>
                        <a:t>CC7 · Art. 14 human oversight</a:t>
                      </a:r>
                      <a:endParaRPr lang="en-US" sz="88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566928" y="4974336"/>
            <a:ext cx="11057839" cy="585216"/>
          </a:xfrm>
          <a:prstGeom prst="roundRect">
            <a:avLst>
              <a:gd name="adj" fmla="val 12500"/>
            </a:avLst>
          </a:prstGeom>
          <a:solidFill>
            <a:srgbClr val="FFFBF2"/>
          </a:solidFill>
          <a:ln w="12700">
            <a:solidFill>
              <a:srgbClr val="F2E3C4"/>
            </a:solidFill>
            <a:prstDash val="solid"/>
          </a:ln>
        </p:spPr>
      </p:sp>
      <p:sp>
        <p:nvSpPr>
          <p:cNvPr id="9" name="Text 5"/>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00" b="1" dirty="0">
                <a:solidFill>
                  <a:srgbClr val="0B1622"/>
                </a:solidFill>
                <a:latin typeface="Calibri" pitchFamily="34" charset="0"/>
                <a:ea typeface="Calibri" pitchFamily="34" charset="-122"/>
                <a:cs typeface="Calibri" pitchFamily="34" charset="-120"/>
              </a:rPr>
              <a:t>Stated plainly:</a:t>
            </a:r>
            <a:pPr indent="0" marL="0">
              <a:lnSpc>
                <a:spcPct val="110000"/>
              </a:lnSpc>
              <a:buNone/>
            </a:pPr>
            <a:r>
              <a:rPr lang="en-US" sz="1000" dirty="0">
                <a:solidFill>
                  <a:srgbClr val="46586B"/>
                </a:solidFill>
                <a:latin typeface="Calibri" pitchFamily="34" charset="0"/>
                <a:ea typeface="Calibri" pitchFamily="34" charset="-122"/>
                <a:cs typeface="Calibri" pitchFamily="34" charset="-120"/>
              </a:rPr>
              <a:t> a twelve-week proof of concept produces evidence samples mapped to these controls. It does not produce a certified control, an audit pass or a compliance assertion. What it produces is a defensible case that the evidence a full implementation generates is the evidence your assessors need.</a:t>
            </a:r>
            <a:endParaRPr lang="en-US" sz="1000" dirty="0"/>
          </a:p>
        </p:txBody>
      </p:sp>
      <p:sp>
        <p:nvSpPr>
          <p:cNvPr id="10" name="Shape 6"/>
          <p:cNvSpPr/>
          <p:nvPr/>
        </p:nvSpPr>
        <p:spPr>
          <a:xfrm>
            <a:off x="566928" y="6382512"/>
            <a:ext cx="11057839" cy="0"/>
          </a:xfrm>
          <a:prstGeom prst="line">
            <a:avLst/>
          </a:prstGeom>
          <a:noFill/>
          <a:ln w="9525">
            <a:solidFill>
              <a:srgbClr val="E2E7EC"/>
            </a:solidFill>
            <a:prstDash val="solid"/>
          </a:ln>
        </p:spPr>
      </p:sp>
      <p:sp>
        <p:nvSpPr>
          <p:cNvPr id="11" name="Text 7"/>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2" name="Text 8"/>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DELIVERED AS A DOCUMENT IN WEEK 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A7</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RISKS AND STOP CONDITIONS</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What could go wrong, and when we would tell you to stop.</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Almost every mitigation below is early detection rather than clever engineering. We are happy to write the stop conditions into the statement of work.</a:t>
            </a:r>
            <a:endParaRPr 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65224"/>
          <a:ext cx="6949440" cy="914400"/>
        </p:xfrm>
        <a:graphic>
          <a:graphicData uri="http://schemas.openxmlformats.org/drawingml/2006/table">
            <a:tbl>
              <a:tblPr/>
              <a:tblGrid>
                <a:gridCol w="2286000"/>
                <a:gridCol w="3657600"/>
                <a:gridCol w="10058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RISK</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MITIGATION</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OWNER</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1  Access slips beyond week 2</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Requests raised day 1, tracked in the decision log, escalated weekly. Gate 1 is not complete without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Sponsor</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2  The first squad does not want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Pick the team that asked, not the one assigned. A named fallback squad costs nothing before week 3.</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Joint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3  Agent review quality is poor here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Measured from week 3 with accept/reject rates. Tuning is expected; if still poor at gate 2, we say so.</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Us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4  Review fatigue erodes trust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Signal-to-noise tracked explicitly. Agents stay quiet by default and earn the right to comment.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Joint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5  A change freeze falls in the window</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Freeze calendar reviewed week 1; phases shifted around it rather than compressed into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Platform</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6  Key people pulled to an incident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Named deputy per role. A written decision log means context survives an absence.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Sponsor</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7  Scope widens after a good demo</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Every addition displaces something of equal size, recorded in the gate note with both names on it.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Joint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8" name="Shape 4"/>
          <p:cNvSpPr/>
          <p:nvPr/>
        </p:nvSpPr>
        <p:spPr>
          <a:xfrm>
            <a:off x="7717536" y="1665224"/>
            <a:ext cx="3907231" cy="3566160"/>
          </a:xfrm>
          <a:prstGeom prst="roundRect">
            <a:avLst>
              <a:gd name="adj" fmla="val 2051"/>
            </a:avLst>
          </a:prstGeom>
          <a:solidFill>
            <a:srgbClr val="FDF3DA"/>
          </a:solidFill>
          <a:ln w="12700">
            <a:solidFill>
              <a:srgbClr val="E8D5A8"/>
            </a:solidFill>
            <a:prstDash val="solid"/>
          </a:ln>
        </p:spPr>
      </p:sp>
      <p:sp>
        <p:nvSpPr>
          <p:cNvPr id="9" name="Text 5"/>
          <p:cNvSpPr/>
          <p:nvPr/>
        </p:nvSpPr>
        <p:spPr>
          <a:xfrm>
            <a:off x="7918704" y="1829816"/>
            <a:ext cx="3291840" cy="182880"/>
          </a:xfrm>
          <a:prstGeom prst="rect">
            <a:avLst/>
          </a:prstGeom>
          <a:noFill/>
          <a:ln/>
        </p:spPr>
        <p:txBody>
          <a:bodyPr wrap="square" lIns="0" tIns="0" rIns="0" bIns="0" rtlCol="0" anchor="ctr"/>
          <a:lstStyle/>
          <a:p>
            <a:pPr indent="0" marL="0">
              <a:buNone/>
            </a:pPr>
            <a:r>
              <a:rPr lang="en-US" sz="800" b="1" spc="140" kern="0" dirty="0">
                <a:solidFill>
                  <a:srgbClr val="8A6210"/>
                </a:solidFill>
                <a:latin typeface="Consolas" pitchFamily="34" charset="0"/>
                <a:ea typeface="Consolas" pitchFamily="34" charset="-122"/>
                <a:cs typeface="Consolas" pitchFamily="34" charset="-120"/>
              </a:rPr>
              <a:t>STOP CONDITIONS</a:t>
            </a:r>
            <a:endParaRPr lang="en-US" sz="800" dirty="0"/>
          </a:p>
        </p:txBody>
      </p:sp>
      <p:sp>
        <p:nvSpPr>
          <p:cNvPr id="10" name="Text 6"/>
          <p:cNvSpPr/>
          <p:nvPr/>
        </p:nvSpPr>
        <p:spPr>
          <a:xfrm>
            <a:off x="7918704" y="2067560"/>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1 · No measurable throughput signal by gate 2.</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If agentic delivery cannot move review latency or rework on a willing squad in five weeks, the workload choice is wrong.</a:t>
            </a:r>
            <a:endParaRPr lang="en-US" sz="900" dirty="0"/>
          </a:p>
        </p:txBody>
      </p:sp>
      <p:sp>
        <p:nvSpPr>
          <p:cNvPr id="11" name="Text 7"/>
          <p:cNvSpPr/>
          <p:nvPr/>
        </p:nvSpPr>
        <p:spPr>
          <a:xfrm>
            <a:off x="7918704" y="2634488"/>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2 · Enforcement cost is unaffordable.</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If policy and sandboxing exceed the agreed budget and cannot be tiered down, the model does not fit this estate.</a:t>
            </a:r>
            <a:endParaRPr lang="en-US" sz="900" dirty="0"/>
          </a:p>
        </p:txBody>
      </p:sp>
      <p:sp>
        <p:nvSpPr>
          <p:cNvPr id="12" name="Text 8"/>
          <p:cNvSpPr/>
          <p:nvPr/>
        </p:nvSpPr>
        <p:spPr>
          <a:xfrm>
            <a:off x="7918704" y="3201416"/>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3 · Evidence cannot be correlated.</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If a trace cannot be joined across three systems without manual stitching, every assurance claim rests on sand.</a:t>
            </a:r>
            <a:endParaRPr lang="en-US" sz="900" dirty="0"/>
          </a:p>
        </p:txBody>
      </p:sp>
      <p:sp>
        <p:nvSpPr>
          <p:cNvPr id="13" name="Text 9"/>
          <p:cNvSpPr/>
          <p:nvPr/>
        </p:nvSpPr>
        <p:spPr>
          <a:xfrm>
            <a:off x="7918704" y="3768344"/>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4 · The squad will not adopt without us in the room.</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The failure mode that kills programmes six months after the consultants leave.</a:t>
            </a:r>
            <a:endParaRPr lang="en-US" sz="900" dirty="0"/>
          </a:p>
        </p:txBody>
      </p:sp>
      <p:sp>
        <p:nvSpPr>
          <p:cNvPr id="14" name="Text 10"/>
          <p:cNvSpPr/>
          <p:nvPr/>
        </p:nvSpPr>
        <p:spPr>
          <a:xfrm>
            <a:off x="7918704" y="4335272"/>
            <a:ext cx="3291840" cy="530352"/>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5 · [YOUR FIFTH]</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 proposed by the client. We will write it in.</a:t>
            </a:r>
            <a:endParaRPr lang="en-US" sz="900" dirty="0"/>
          </a:p>
        </p:txBody>
      </p:sp>
      <p:sp>
        <p:nvSpPr>
          <p:cNvPr id="15" name="Text 11"/>
          <p:cNvSpPr/>
          <p:nvPr/>
        </p:nvSpPr>
        <p:spPr>
          <a:xfrm>
            <a:off x="7918704" y="4847336"/>
            <a:ext cx="3291840" cy="365760"/>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How a stop works:</a:t>
            </a:r>
            <a:pPr indent="0" marL="0">
              <a:lnSpc>
                <a:spcPct val="110000"/>
              </a:lnSpc>
              <a:buNone/>
            </a:pPr>
            <a:r>
              <a:rPr lang="en-US" sz="900" dirty="0">
                <a:solidFill>
                  <a:srgbClr val="46586B"/>
                </a:solidFill>
                <a:latin typeface="Calibri" pitchFamily="34" charset="0"/>
                <a:ea typeface="Calibri" pitchFamily="34" charset="-122"/>
                <a:cs typeface="Calibri" pitchFamily="34" charset="-120"/>
              </a:rPr>
              <a:t> written finding within 48 hours, joint review inside a week, then remediate, re-scope or stop. </a:t>
            </a:r>
            <a:pPr indent="0" marL="0">
              <a:lnSpc>
                <a:spcPct val="110000"/>
              </a:lnSpc>
              <a:buNone/>
            </a:pPr>
            <a:r>
              <a:rPr lang="en-US" sz="900" b="1" dirty="0">
                <a:solidFill>
                  <a:srgbClr val="0B1622"/>
                </a:solidFill>
                <a:latin typeface="Calibri" pitchFamily="34" charset="0"/>
                <a:ea typeface="Calibri" pitchFamily="34" charset="-122"/>
                <a:cs typeface="Calibri" pitchFamily="34" charset="-120"/>
              </a:rPr>
              <a:t>You keep the artefacts in all three cases.</a:t>
            </a:r>
            <a:pPr indent="0" marL="0">
              <a:lnSpc>
                <a:spcPct val="110000"/>
              </a:lnSpc>
              <a:buNone/>
            </a:pPr>
            <a:endParaRPr lang="en-US" sz="900" dirty="0"/>
          </a:p>
        </p:txBody>
      </p:sp>
      <p:sp>
        <p:nvSpPr>
          <p:cNvPr id="16" name="Shape 12"/>
          <p:cNvSpPr/>
          <p:nvPr/>
        </p:nvSpPr>
        <p:spPr>
          <a:xfrm>
            <a:off x="566928" y="6382512"/>
            <a:ext cx="11057839" cy="0"/>
          </a:xfrm>
          <a:prstGeom prst="line">
            <a:avLst/>
          </a:prstGeom>
          <a:noFill/>
          <a:ln w="9525">
            <a:solidFill>
              <a:srgbClr val="E2E7EC"/>
            </a:solidFill>
            <a:prstDash val="solid"/>
          </a:ln>
        </p:spPr>
      </p:sp>
      <p:sp>
        <p:nvSpPr>
          <p:cNvPr id="17" name="Text 1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8" name="Text 1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A8</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DECISION FRAMEWORK</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Choose technology by responsibility, not by category.</a:t>
            </a:r>
            <a:endParaRPr lang="en-US" sz="3000" dirty="0"/>
          </a:p>
        </p:txBody>
      </p:sp>
      <p:sp>
        <p:nvSpPr>
          <p:cNvPr id="6" name="Text 3"/>
          <p:cNvSpPr/>
          <p:nvPr/>
        </p:nvSpPr>
        <p:spPr>
          <a:xfrm>
            <a:off x="1389888" y="1150620"/>
            <a:ext cx="10051999" cy="40487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We hold no commercial relationship with anything named here. If your incumbent is missing, that is a gap in our knowledge rather than a judgement on your choice.</a:t>
            </a:r>
            <a:endParaRPr lang="en-US" sz="1250" dirty="0"/>
          </a:p>
        </p:txBody>
      </p:sp>
      <p:sp>
        <p:nvSpPr>
          <p:cNvPr id="7" name="Text 4"/>
          <p:cNvSpPr/>
          <p:nvPr/>
        </p:nvSpPr>
        <p:spPr>
          <a:xfrm>
            <a:off x="566928" y="1665224"/>
            <a:ext cx="548640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CONTROL &amp; IDENTITY</a:t>
            </a:r>
            <a:endParaRPr lang="en-US" sz="800" dirty="0"/>
          </a:p>
        </p:txBody>
      </p:sp>
      <p:sp>
        <p:nvSpPr>
          <p:cNvPr id="8" name="Text 5"/>
          <p:cNvSpPr/>
          <p:nvPr/>
        </p:nvSpPr>
        <p:spPr>
          <a:xfrm>
            <a:off x="6190488" y="1665224"/>
            <a:ext cx="5486400" cy="182880"/>
          </a:xfrm>
          <a:prstGeom prst="rect">
            <a:avLst/>
          </a:prstGeom>
          <a:noFill/>
          <a:ln/>
        </p:spPr>
        <p:txBody>
          <a:bodyPr wrap="square" lIns="0" tIns="0" rIns="0" bIns="0" rtlCol="0" anchor="ctr"/>
          <a:lstStyle/>
          <a:p>
            <a:pPr indent="0" marL="0">
              <a:buNone/>
            </a:pPr>
            <a:r>
              <a:rPr lang="en-US" sz="800" b="1" spc="140" kern="0" dirty="0">
                <a:solidFill>
                  <a:srgbClr val="7E8C9B"/>
                </a:solidFill>
                <a:latin typeface="Consolas" pitchFamily="34" charset="0"/>
                <a:ea typeface="Consolas" pitchFamily="34" charset="-122"/>
                <a:cs typeface="Consolas" pitchFamily="34" charset="-120"/>
              </a:rPr>
              <a:t>EXECUTION, PLATFORM &amp; EVIDENCE</a:t>
            </a:r>
            <a:endParaRPr lang="en-US" sz="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902968"/>
          <a:ext cx="5440680" cy="914400"/>
        </p:xfrm>
        <a:graphic>
          <a:graphicData uri="http://schemas.openxmlformats.org/drawingml/2006/table">
            <a:tbl>
              <a:tblPr/>
              <a:tblGrid>
                <a:gridCol w="1417320"/>
                <a:gridCol w="2103120"/>
                <a:gridCol w="19202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RESPONSIBILITY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REPRESENTATIVE OPTIONS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WORKING POSTURE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Enterprise identity</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Entra, Okta, Keycloak, cloud IAM</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REUSE FIRST — no parallel identity estate for agents.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Workload identity</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SPIFFE/SPIRE, mesh identity, cloud workload identity</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ADD WHERE NEEDED — where service accounts are too blunt.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Policy decision</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OPA/Rego, Cedar, OpenFGA, IAM-native ABAC</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SMALL VOCABULARY — business concepts, not engine syntax.</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Authority conveyance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Signed tokens, caveated credentials, mTLS-bound grants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HYBRID — local for routine; online for high risk.</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6190488" y="1902968"/>
          <a:ext cx="5440680" cy="914400"/>
        </p:xfrm>
        <a:graphic>
          <a:graphicData uri="http://schemas.openxmlformats.org/drawingml/2006/table">
            <a:tbl>
              <a:tblPr/>
              <a:tblGrid>
                <a:gridCol w="1417320"/>
                <a:gridCol w="2103120"/>
                <a:gridCol w="1920240"/>
              </a:tblGrid>
              <a:tr h="0">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RESPONSIBILITY</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REPRESENTATIVE OPTIONS</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c>
                  <a:txBody>
                    <a:bodyPr/>
                    <a:lstStyle/>
                    <a:p>
                      <a:pPr indent="0" marL="0">
                        <a:buNone/>
                      </a:pPr>
                      <a:r>
                        <a:rPr lang="en-US" sz="750" b="1" spc="140" kern="0" dirty="0">
                          <a:solidFill>
                            <a:srgbClr val="7E8C9B"/>
                          </a:solidFill>
                          <a:latin typeface="Consolas" pitchFamily="34" charset="0"/>
                          <a:ea typeface="Consolas" pitchFamily="34" charset="-122"/>
                          <a:cs typeface="Consolas" pitchFamily="34" charset="-120"/>
                        </a:rPr>
                        <a:t>WORKING POSTURE</a:t>
                      </a:r>
                      <a:endParaRPr lang="en-US" sz="750" dirty="0">
                        <a:latin typeface="Consolas" charset="0"/>
                        <a:ea typeface="Consolas" charset="0"/>
                        <a:cs typeface="Consolas" charset="0"/>
                      </a:endParaRPr>
                    </a:p>
                  </a:txBody>
                  <a:tcPr marL="76200" marR="76200" marT="25400" marB="63500" anchor="b">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BFBFA"/>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Agent isolation</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WASI runtimes, sandboxed containers, microVMs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RISK TIERED — match isolation cost to consequence.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Event fabric</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Kafka, NATS, Pulsar, cloud event services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REUSE FIRST — one spine; conventions, not new infrastructure.</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Telemetry contract</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OpenTelemetry APIs, SDKs, collectors, conventions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STANDARDIZE — one invocation context, end to end.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r h="0">
                <a:tc>
                  <a:txBody>
                    <a:bodyPr/>
                    <a:lstStyle/>
                    <a:p>
                      <a:pPr indent="0" marL="0">
                        <a:buNone/>
                      </a:pPr>
                      <a:r>
                        <a:rPr lang="en-US" sz="860" b="1" dirty="0">
                          <a:solidFill>
                            <a:srgbClr val="0B1622"/>
                          </a:solidFill>
                          <a:latin typeface="Calibri" pitchFamily="34" charset="0"/>
                          <a:ea typeface="Calibri" pitchFamily="34" charset="-122"/>
                          <a:cs typeface="Calibri" pitchFamily="34" charset="-120"/>
                        </a:rPr>
                        <a:t>Observability backend</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Grafana, Datadog, Splunk, Elastic, cloud APM, SIEM</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c>
                  <a:txBody>
                    <a:bodyPr/>
                    <a:lstStyle/>
                    <a:p>
                      <a:pPr indent="0" marL="0">
                        <a:buNone/>
                      </a:pPr>
                      <a:r>
                        <a:rPr lang="en-US" sz="860" dirty="0">
                          <a:solidFill>
                            <a:srgbClr val="46586B"/>
                          </a:solidFill>
                          <a:latin typeface="Calibri" pitchFamily="34" charset="0"/>
                          <a:ea typeface="Calibri" pitchFamily="34" charset="-122"/>
                          <a:cs typeface="Calibri" pitchFamily="34" charset="-120"/>
                        </a:rPr>
                        <a:t>REUSE FIRST — no separate estate solely for agents.</a:t>
                      </a:r>
                      <a:endParaRPr lang="en-US" sz="860" dirty="0">
                        <a:latin typeface="Calibri" charset="0"/>
                        <a:ea typeface="Calibri" charset="0"/>
                        <a:cs typeface="Calibri" charset="0"/>
                      </a:endParaRPr>
                    </a:p>
                  </a:txBody>
                  <a:tcPr marL="76200" marR="76200" marT="63500" marB="63500" anchor="t">
                    <a:lnL w="6350" cap="flat" cmpd="sng" algn="ctr">
                      <a:solidFill>
                        <a:srgbClr val="EFF2F5"/>
                      </a:solidFill>
                      <a:prstDash val="solid"/>
                      <a:round/>
                      <a:headEnd type="none" w="med" len="med"/>
                      <a:tailEnd type="none" w="med" len="med"/>
                    </a:lnL>
                    <a:lnR w="6350" cap="flat" cmpd="sng" algn="ctr">
                      <a:solidFill>
                        <a:srgbClr val="EFF2F5"/>
                      </a:solidFill>
                      <a:prstDash val="solid"/>
                      <a:round/>
                      <a:headEnd type="none" w="med" len="med"/>
                      <a:tailEnd type="none" w="med" len="med"/>
                    </a:lnR>
                    <a:lnT w="6350" cap="flat" cmpd="sng" algn="ctr">
                      <a:solidFill>
                        <a:srgbClr val="EFF2F5"/>
                      </a:solidFill>
                      <a:prstDash val="solid"/>
                      <a:round/>
                      <a:headEnd type="none" w="med" len="med"/>
                      <a:tailEnd type="none" w="med" len="med"/>
                    </a:lnT>
                    <a:lnB w="6350" cap="flat" cmpd="sng" algn="ctr">
                      <a:solidFill>
                        <a:srgbClr val="EFF2F5"/>
                      </a:solidFill>
                      <a:prstDash val="solid"/>
                      <a:round/>
                      <a:headEnd type="none" w="med" len="med"/>
                      <a:tailEnd type="none" w="med" len="med"/>
                    </a:lnB>
                    <a:solidFill>
                      <a:srgbClr val="FFFFFF"/>
                    </a:solidFill>
                  </a:tcPr>
                </a:tc>
              </a:tr>
            </a:tbl>
          </a:graphicData>
        </a:graphic>
      </p:graphicFrame>
      <p:sp>
        <p:nvSpPr>
          <p:cNvPr id="11" name="Shape 6"/>
          <p:cNvSpPr/>
          <p:nvPr/>
        </p:nvSpPr>
        <p:spPr>
          <a:xfrm>
            <a:off x="566928" y="5029200"/>
            <a:ext cx="11057839" cy="530352"/>
          </a:xfrm>
          <a:prstGeom prst="roundRect">
            <a:avLst>
              <a:gd name="adj" fmla="val 13793"/>
            </a:avLst>
          </a:prstGeom>
          <a:solidFill>
            <a:srgbClr val="E6F4F6"/>
          </a:solidFill>
          <a:ln w="12700">
            <a:solidFill>
              <a:srgbClr val="9CCED6"/>
            </a:solidFill>
            <a:prstDash val="solid"/>
          </a:ln>
        </p:spPr>
      </p:sp>
      <p:sp>
        <p:nvSpPr>
          <p:cNvPr id="12" name="Text 7"/>
          <p:cNvSpPr/>
          <p:nvPr/>
        </p:nvSpPr>
        <p:spPr>
          <a:xfrm>
            <a:off x="749808" y="5157216"/>
            <a:ext cx="10692079" cy="31089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Selection criteria applied throughout:</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explainability of decisions · deterministic evaluation · attenuation and audience binding · offline verifiability · blast-radius containment · operational maturity in your hands, not ours.</a:t>
            </a:r>
            <a:endParaRPr lang="en-US" sz="1050" dirty="0"/>
          </a:p>
        </p:txBody>
      </p:sp>
      <p:sp>
        <p:nvSpPr>
          <p:cNvPr id="13" name="Shape 8"/>
          <p:cNvSpPr/>
          <p:nvPr/>
        </p:nvSpPr>
        <p:spPr>
          <a:xfrm>
            <a:off x="566928" y="6382512"/>
            <a:ext cx="11057839" cy="0"/>
          </a:xfrm>
          <a:prstGeom prst="line">
            <a:avLst/>
          </a:prstGeom>
          <a:noFill/>
          <a:ln w="9525">
            <a:solidFill>
              <a:srgbClr val="E2E7EC"/>
            </a:solidFill>
            <a:prstDash val="solid"/>
          </a:ln>
        </p:spPr>
      </p:sp>
      <p:sp>
        <p:nvSpPr>
          <p:cNvPr id="14" name="Text 9"/>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15" name="Text 10"/>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A9</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VOCABULARY</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Six terms this deck uses precisely.</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Each is commonly used loosely. Where a definitional argument starts, it usually ends here.</a:t>
            </a:r>
            <a:endParaRPr lang="en-US" sz="1250" dirty="0"/>
          </a:p>
        </p:txBody>
      </p:sp>
      <p:sp>
        <p:nvSpPr>
          <p:cNvPr id="7" name="Shape 4"/>
          <p:cNvSpPr/>
          <p:nvPr/>
        </p:nvSpPr>
        <p:spPr>
          <a:xfrm>
            <a:off x="566928" y="1517650"/>
            <a:ext cx="5437480" cy="969264"/>
          </a:xfrm>
          <a:prstGeom prst="roundRect">
            <a:avLst>
              <a:gd name="adj" fmla="val 7547"/>
            </a:avLst>
          </a:prstGeom>
          <a:solidFill>
            <a:srgbClr val="FFFFFF"/>
          </a:solidFill>
          <a:ln w="12700">
            <a:solidFill>
              <a:srgbClr val="E2E7EC"/>
            </a:solidFill>
            <a:prstDash val="solid"/>
          </a:ln>
        </p:spPr>
      </p:sp>
      <p:sp>
        <p:nvSpPr>
          <p:cNvPr id="8" name="Text 5"/>
          <p:cNvSpPr/>
          <p:nvPr/>
        </p:nvSpPr>
        <p:spPr>
          <a:xfrm>
            <a:off x="749808" y="164566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Agent fabric</a:t>
            </a:r>
            <a:endParaRPr lang="en-US" sz="1300" dirty="0"/>
          </a:p>
        </p:txBody>
      </p:sp>
      <p:sp>
        <p:nvSpPr>
          <p:cNvPr id="9" name="Text 6"/>
          <p:cNvSpPr/>
          <p:nvPr/>
        </p:nvSpPr>
        <p:spPr>
          <a:xfrm>
            <a:off x="749808" y="190169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shared substrate that makes the second, tenth and hundredth agent cheap to build and safe to run: registry, orchestration, delegation, identity, policy, event spine and paved road.</a:t>
            </a:r>
            <a:endParaRPr lang="en-US" sz="980" dirty="0"/>
          </a:p>
        </p:txBody>
      </p:sp>
      <p:sp>
        <p:nvSpPr>
          <p:cNvPr id="10" name="Shape 7"/>
          <p:cNvSpPr/>
          <p:nvPr/>
        </p:nvSpPr>
        <p:spPr>
          <a:xfrm>
            <a:off x="6187288" y="1517650"/>
            <a:ext cx="5437480" cy="969264"/>
          </a:xfrm>
          <a:prstGeom prst="roundRect">
            <a:avLst>
              <a:gd name="adj" fmla="val 7547"/>
            </a:avLst>
          </a:prstGeom>
          <a:solidFill>
            <a:srgbClr val="FFFFFF"/>
          </a:solidFill>
          <a:ln w="12700">
            <a:solidFill>
              <a:srgbClr val="E2E7EC"/>
            </a:solidFill>
            <a:prstDash val="solid"/>
          </a:ln>
        </p:spPr>
      </p:sp>
      <p:sp>
        <p:nvSpPr>
          <p:cNvPr id="11" name="Text 8"/>
          <p:cNvSpPr/>
          <p:nvPr/>
        </p:nvSpPr>
        <p:spPr>
          <a:xfrm>
            <a:off x="6370168" y="164566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Capability</a:t>
            </a:r>
            <a:endParaRPr lang="en-US" sz="1300" dirty="0"/>
          </a:p>
        </p:txBody>
      </p:sp>
      <p:sp>
        <p:nvSpPr>
          <p:cNvPr id="12" name="Text 9"/>
          <p:cNvSpPr/>
          <p:nvPr/>
        </p:nvSpPr>
        <p:spPr>
          <a:xfrm>
            <a:off x="6370168" y="190169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A named, owned, tiered thing an agent or service can do, described in business terms rather than as an endpoint. The unit of registration, policy and reuse.</a:t>
            </a:r>
            <a:endParaRPr lang="en-US" sz="980" dirty="0"/>
          </a:p>
        </p:txBody>
      </p:sp>
      <p:sp>
        <p:nvSpPr>
          <p:cNvPr id="13" name="Shape 10"/>
          <p:cNvSpPr/>
          <p:nvPr/>
        </p:nvSpPr>
        <p:spPr>
          <a:xfrm>
            <a:off x="566928" y="2614930"/>
            <a:ext cx="5437480" cy="969264"/>
          </a:xfrm>
          <a:prstGeom prst="roundRect">
            <a:avLst>
              <a:gd name="adj" fmla="val 7547"/>
            </a:avLst>
          </a:prstGeom>
          <a:solidFill>
            <a:srgbClr val="FFFFFF"/>
          </a:solidFill>
          <a:ln w="12700">
            <a:solidFill>
              <a:srgbClr val="E2E7EC"/>
            </a:solidFill>
            <a:prstDash val="solid"/>
          </a:ln>
        </p:spPr>
      </p:sp>
      <p:sp>
        <p:nvSpPr>
          <p:cNvPr id="14" name="Text 11"/>
          <p:cNvSpPr/>
          <p:nvPr/>
        </p:nvSpPr>
        <p:spPr>
          <a:xfrm>
            <a:off x="749808" y="274294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Capability grant</a:t>
            </a:r>
            <a:endParaRPr lang="en-US" sz="1300" dirty="0"/>
          </a:p>
        </p:txBody>
      </p:sp>
      <p:sp>
        <p:nvSpPr>
          <p:cNvPr id="15" name="Text 12"/>
          <p:cNvSpPr/>
          <p:nvPr/>
        </p:nvSpPr>
        <p:spPr>
          <a:xfrm>
            <a:off x="749808" y="299897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A short-lived, audience-bound, attenuable credential conveying a specific authorization decision to the point that enforces it. Distinct from a role, which persists.</a:t>
            </a:r>
            <a:endParaRPr lang="en-US" sz="980" dirty="0"/>
          </a:p>
        </p:txBody>
      </p:sp>
      <p:sp>
        <p:nvSpPr>
          <p:cNvPr id="16" name="Shape 13"/>
          <p:cNvSpPr/>
          <p:nvPr/>
        </p:nvSpPr>
        <p:spPr>
          <a:xfrm>
            <a:off x="6187288" y="2614930"/>
            <a:ext cx="5437480" cy="969264"/>
          </a:xfrm>
          <a:prstGeom prst="roundRect">
            <a:avLst>
              <a:gd name="adj" fmla="val 7547"/>
            </a:avLst>
          </a:prstGeom>
          <a:solidFill>
            <a:srgbClr val="FFFFFF"/>
          </a:solidFill>
          <a:ln w="12700">
            <a:solidFill>
              <a:srgbClr val="E2E7EC"/>
            </a:solidFill>
            <a:prstDash val="solid"/>
          </a:ln>
        </p:spPr>
      </p:sp>
      <p:sp>
        <p:nvSpPr>
          <p:cNvPr id="17" name="Text 14"/>
          <p:cNvSpPr/>
          <p:nvPr/>
        </p:nvSpPr>
        <p:spPr>
          <a:xfrm>
            <a:off x="6370168" y="274294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Capability manifest</a:t>
            </a:r>
            <a:endParaRPr lang="en-US" sz="1300" dirty="0"/>
          </a:p>
        </p:txBody>
      </p:sp>
      <p:sp>
        <p:nvSpPr>
          <p:cNvPr id="18" name="Text 15"/>
          <p:cNvSpPr/>
          <p:nvPr/>
        </p:nvSpPr>
        <p:spPr>
          <a:xfrm>
            <a:off x="6370168" y="299897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declaration of exactly which doors an agent’s sandbox opens — network, filesystem, credentials. Reviewed and diffed like code; it is the blast radius.</a:t>
            </a:r>
            <a:endParaRPr lang="en-US" sz="980" dirty="0"/>
          </a:p>
        </p:txBody>
      </p:sp>
      <p:sp>
        <p:nvSpPr>
          <p:cNvPr id="19" name="Shape 16"/>
          <p:cNvSpPr/>
          <p:nvPr/>
        </p:nvSpPr>
        <p:spPr>
          <a:xfrm>
            <a:off x="566928" y="3712210"/>
            <a:ext cx="5437480" cy="969264"/>
          </a:xfrm>
          <a:prstGeom prst="roundRect">
            <a:avLst>
              <a:gd name="adj" fmla="val 7547"/>
            </a:avLst>
          </a:prstGeom>
          <a:solidFill>
            <a:srgbClr val="FFFFFF"/>
          </a:solidFill>
          <a:ln w="12700">
            <a:solidFill>
              <a:srgbClr val="E2E7EC"/>
            </a:solidFill>
            <a:prstDash val="solid"/>
          </a:ln>
        </p:spPr>
      </p:sp>
      <p:sp>
        <p:nvSpPr>
          <p:cNvPr id="20" name="Text 17"/>
          <p:cNvSpPr/>
          <p:nvPr/>
        </p:nvSpPr>
        <p:spPr>
          <a:xfrm>
            <a:off x="749808" y="384022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Event plane</a:t>
            </a:r>
            <a:endParaRPr lang="en-US" sz="1300" dirty="0"/>
          </a:p>
        </p:txBody>
      </p:sp>
      <p:sp>
        <p:nvSpPr>
          <p:cNvPr id="21" name="Text 18"/>
          <p:cNvSpPr/>
          <p:nvPr/>
        </p:nvSpPr>
        <p:spPr>
          <a:xfrm>
            <a:off x="749808" y="409625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One spine carrying both telemetry and triggers, so observability, agent activation and evidence come from a single investment rather than three.</a:t>
            </a:r>
            <a:endParaRPr lang="en-US" sz="980" dirty="0"/>
          </a:p>
        </p:txBody>
      </p:sp>
      <p:sp>
        <p:nvSpPr>
          <p:cNvPr id="22" name="Shape 19"/>
          <p:cNvSpPr/>
          <p:nvPr/>
        </p:nvSpPr>
        <p:spPr>
          <a:xfrm>
            <a:off x="6187288" y="3712210"/>
            <a:ext cx="5437480" cy="969264"/>
          </a:xfrm>
          <a:prstGeom prst="roundRect">
            <a:avLst>
              <a:gd name="adj" fmla="val 7547"/>
            </a:avLst>
          </a:prstGeom>
          <a:solidFill>
            <a:srgbClr val="FFFFFF"/>
          </a:solidFill>
          <a:ln w="12700">
            <a:solidFill>
              <a:srgbClr val="E2E7EC"/>
            </a:solidFill>
            <a:prstDash val="solid"/>
          </a:ln>
        </p:spPr>
      </p:sp>
      <p:sp>
        <p:nvSpPr>
          <p:cNvPr id="23" name="Text 20"/>
          <p:cNvSpPr/>
          <p:nvPr/>
        </p:nvSpPr>
        <p:spPr>
          <a:xfrm>
            <a:off x="6370168" y="3840226"/>
            <a:ext cx="5071720" cy="219456"/>
          </a:xfrm>
          <a:prstGeom prst="rect">
            <a:avLst/>
          </a:prstGeom>
          <a:noFill/>
          <a:ln/>
        </p:spPr>
        <p:txBody>
          <a:bodyPr wrap="square" lIns="0" tIns="0" rIns="0" bIns="0" rtlCol="0" anchor="t"/>
          <a:lstStyle/>
          <a:p>
            <a:pPr indent="0" marL="0">
              <a:buNone/>
            </a:pPr>
            <a:r>
              <a:rPr lang="en-US" sz="1300" b="1" dirty="0">
                <a:solidFill>
                  <a:srgbClr val="0B1622"/>
                </a:solidFill>
                <a:latin typeface="Calibri" pitchFamily="34" charset="0"/>
                <a:ea typeface="Calibri" pitchFamily="34" charset="-122"/>
                <a:cs typeface="Calibri" pitchFamily="34" charset="-120"/>
              </a:rPr>
              <a:t>Paved road</a:t>
            </a:r>
            <a:endParaRPr lang="en-US" sz="1300" dirty="0"/>
          </a:p>
        </p:txBody>
      </p:sp>
      <p:sp>
        <p:nvSpPr>
          <p:cNvPr id="24" name="Text 21"/>
          <p:cNvSpPr/>
          <p:nvPr/>
        </p:nvSpPr>
        <p:spPr>
          <a:xfrm>
            <a:off x="6370168" y="4096258"/>
            <a:ext cx="5071720" cy="512064"/>
          </a:xfrm>
          <a:prstGeom prst="rect">
            <a:avLst/>
          </a:prstGeom>
          <a:noFill/>
          <a:ln/>
        </p:spPr>
        <p:txBody>
          <a:bodyPr wrap="square" lIns="0" tIns="0" rIns="0" bIns="0" rtlCol="0" anchor="t"/>
          <a:lstStyle/>
          <a:p>
            <a:pPr indent="0" marL="0">
              <a:lnSpc>
                <a:spcPct val="110000"/>
              </a:lnSpc>
              <a:buNone/>
            </a:pPr>
            <a:r>
              <a:rPr lang="en-US" sz="980" dirty="0">
                <a:solidFill>
                  <a:srgbClr val="46586B"/>
                </a:solidFill>
                <a:latin typeface="Calibri" pitchFamily="34" charset="0"/>
                <a:ea typeface="Calibri" pitchFamily="34" charset="-122"/>
                <a:cs typeface="Calibri" pitchFamily="34" charset="-120"/>
              </a:rPr>
              <a:t>The supported, templated, instrumented route by which a team registers and operates a capability. Its quality is measured by adoption without its authors present.</a:t>
            </a:r>
            <a:endParaRPr lang="en-US" sz="980" dirty="0"/>
          </a:p>
        </p:txBody>
      </p:sp>
      <p:sp>
        <p:nvSpPr>
          <p:cNvPr id="25" name="Shape 22"/>
          <p:cNvSpPr/>
          <p:nvPr/>
        </p:nvSpPr>
        <p:spPr>
          <a:xfrm>
            <a:off x="566928" y="6382512"/>
            <a:ext cx="11057839" cy="0"/>
          </a:xfrm>
          <a:prstGeom prst="line">
            <a:avLst/>
          </a:prstGeom>
          <a:noFill/>
          <a:ln w="9525">
            <a:solidFill>
              <a:srgbClr val="E2E7EC"/>
            </a:solidFill>
            <a:prstDash val="solid"/>
          </a:ln>
        </p:spPr>
      </p:sp>
      <p:sp>
        <p:nvSpPr>
          <p:cNvPr id="26" name="Text 23"/>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27" name="Text 24"/>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BFBFA"/>
        </a:solidFill>
      </p:bgPr>
    </p:bg>
    <p:spTree>
      <p:nvGrpSpPr>
        <p:cNvPr id="1" name=""/>
        <p:cNvGrpSpPr/>
        <p:nvPr/>
      </p:nvGrpSpPr>
      <p:grpSpPr>
        <a:xfrm>
          <a:off x="0" y="0"/>
          <a:ext cx="0" cy="0"/>
          <a:chOff x="0" y="0"/>
          <a:chExt cx="0" cy="0"/>
        </a:xfrm>
      </p:grpSpPr>
      <p:sp>
        <p:nvSpPr>
          <p:cNvPr id="3" name="Text 0"/>
          <p:cNvSpPr/>
          <p:nvPr/>
        </p:nvSpPr>
        <p:spPr>
          <a:xfrm>
            <a:off x="566928" y="384048"/>
            <a:ext cx="731520" cy="219456"/>
          </a:xfrm>
          <a:prstGeom prst="rect">
            <a:avLst/>
          </a:prstGeom>
          <a:noFill/>
          <a:ln/>
        </p:spPr>
        <p:txBody>
          <a:bodyPr wrap="square" lIns="0" tIns="0" rIns="0" bIns="0" rtlCol="0" anchor="ctr"/>
          <a:lstStyle/>
          <a:p>
            <a:pPr indent="0" marL="0">
              <a:buNone/>
            </a:pPr>
            <a:r>
              <a:rPr lang="en-US" sz="1000" b="1" spc="160" kern="0" dirty="0">
                <a:solidFill>
                  <a:srgbClr val="0B6F7D"/>
                </a:solidFill>
                <a:latin typeface="Consolas" pitchFamily="34" charset="0"/>
                <a:ea typeface="Consolas" pitchFamily="34" charset="-122"/>
                <a:cs typeface="Consolas" pitchFamily="34" charset="-120"/>
              </a:rPr>
              <a:t>A10</a:t>
            </a:r>
            <a:endParaRPr lang="en-US" sz="1000" dirty="0"/>
          </a:p>
        </p:txBody>
      </p:sp>
      <p:sp>
        <p:nvSpPr>
          <p:cNvPr id="4" name="Text 1"/>
          <p:cNvSpPr/>
          <p:nvPr/>
        </p:nvSpPr>
        <p:spPr>
          <a:xfrm>
            <a:off x="1389888" y="384048"/>
            <a:ext cx="10234879" cy="219456"/>
          </a:xfrm>
          <a:prstGeom prst="rect">
            <a:avLst/>
          </a:prstGeom>
          <a:noFill/>
          <a:ln/>
        </p:spPr>
        <p:txBody>
          <a:bodyPr wrap="square" lIns="0" tIns="0" rIns="0" bIns="0" rtlCol="0" anchor="ctr"/>
          <a:lstStyle/>
          <a:p>
            <a:pPr indent="0" marL="0">
              <a:buNone/>
            </a:pPr>
            <a:r>
              <a:rPr lang="en-US" sz="1000" b="1" spc="220" kern="0" dirty="0">
                <a:solidFill>
                  <a:srgbClr val="0B6F7D"/>
                </a:solidFill>
                <a:latin typeface="Consolas" pitchFamily="34" charset="0"/>
                <a:ea typeface="Consolas" pitchFamily="34" charset="-122"/>
                <a:cs typeface="Consolas" pitchFamily="34" charset="-120"/>
              </a:rPr>
              <a:t>APPENDIX · TEMPLATE</a:t>
            </a:r>
            <a:endParaRPr lang="en-US" sz="1000" dirty="0"/>
          </a:p>
        </p:txBody>
      </p:sp>
      <p:sp>
        <p:nvSpPr>
          <p:cNvPr id="5" name="Text 2"/>
          <p:cNvSpPr/>
          <p:nvPr/>
        </p:nvSpPr>
        <p:spPr>
          <a:xfrm>
            <a:off x="1389888" y="621792"/>
            <a:ext cx="10234879" cy="473964"/>
          </a:xfrm>
          <a:prstGeom prst="rect">
            <a:avLst/>
          </a:prstGeom>
          <a:noFill/>
          <a:ln/>
        </p:spPr>
        <p:txBody>
          <a:bodyPr wrap="square" lIns="0" tIns="0" rIns="0" bIns="0" rtlCol="0" anchor="t"/>
          <a:lstStyle/>
          <a:p>
            <a:pPr indent="0" marL="0">
              <a:buNone/>
            </a:pPr>
            <a:r>
              <a:rPr lang="en-US" sz="3000" b="1" dirty="0">
                <a:solidFill>
                  <a:srgbClr val="0B1622"/>
                </a:solidFill>
                <a:latin typeface="Calibri" pitchFamily="34" charset="0"/>
                <a:ea typeface="Calibri" pitchFamily="34" charset="-122"/>
                <a:cs typeface="Calibri" pitchFamily="34" charset="-120"/>
              </a:rPr>
              <a:t>Week-0 intake — the fields this deck is parameterised on.</a:t>
            </a:r>
            <a:endParaRPr lang="en-US" sz="3000" dirty="0"/>
          </a:p>
        </p:txBody>
      </p:sp>
      <p:sp>
        <p:nvSpPr>
          <p:cNvPr id="6" name="Text 3"/>
          <p:cNvSpPr/>
          <p:nvPr/>
        </p:nvSpPr>
        <p:spPr>
          <a:xfrm>
            <a:off x="1389888" y="1150620"/>
            <a:ext cx="10051999" cy="220726"/>
          </a:xfrm>
          <a:prstGeom prst="rect">
            <a:avLst/>
          </a:prstGeom>
          <a:noFill/>
          <a:ln/>
        </p:spPr>
        <p:txBody>
          <a:bodyPr wrap="square" lIns="0" tIns="0" rIns="0" bIns="0" rtlCol="0" anchor="t"/>
          <a:lstStyle/>
          <a:p>
            <a:pPr indent="0" marL="0">
              <a:lnSpc>
                <a:spcPct val="112000"/>
              </a:lnSpc>
              <a:buNone/>
            </a:pPr>
            <a:r>
              <a:rPr lang="en-US" sz="1250" dirty="0">
                <a:solidFill>
                  <a:srgbClr val="46586B"/>
                </a:solidFill>
                <a:latin typeface="Calibri" pitchFamily="34" charset="0"/>
                <a:ea typeface="Calibri" pitchFamily="34" charset="-122"/>
                <a:cs typeface="Calibri" pitchFamily="34" charset="-120"/>
              </a:rPr>
              <a:t>Every bracketed field resolves from this sheet. Filled in before the session, the kickoff runs thirty minutes shorter.</a:t>
            </a:r>
            <a:endParaRPr lang="en-US" sz="1250" dirty="0"/>
          </a:p>
        </p:txBody>
      </p:sp>
      <p:sp>
        <p:nvSpPr>
          <p:cNvPr id="7" name="Shape 4"/>
          <p:cNvSpPr/>
          <p:nvPr/>
        </p:nvSpPr>
        <p:spPr>
          <a:xfrm>
            <a:off x="566928" y="1517650"/>
            <a:ext cx="3588410" cy="3108960"/>
          </a:xfrm>
          <a:prstGeom prst="roundRect">
            <a:avLst>
              <a:gd name="adj" fmla="val 2353"/>
            </a:avLst>
          </a:prstGeom>
          <a:solidFill>
            <a:srgbClr val="FFFFFF"/>
          </a:solidFill>
          <a:ln w="12700">
            <a:solidFill>
              <a:srgbClr val="E2E7EC"/>
            </a:solidFill>
            <a:prstDash val="solid"/>
          </a:ln>
        </p:spPr>
      </p:sp>
      <p:sp>
        <p:nvSpPr>
          <p:cNvPr id="8" name="Text 5"/>
          <p:cNvSpPr/>
          <p:nvPr/>
        </p:nvSpPr>
        <p:spPr>
          <a:xfrm>
            <a:off x="749808" y="1682242"/>
            <a:ext cx="3222650" cy="182880"/>
          </a:xfrm>
          <a:prstGeom prst="rect">
            <a:avLst/>
          </a:prstGeom>
          <a:noFill/>
          <a:ln/>
        </p:spPr>
        <p:txBody>
          <a:bodyPr wrap="square" lIns="0" tIns="0" rIns="0" bIns="0" rtlCol="0" anchor="ctr"/>
          <a:lstStyle/>
          <a:p>
            <a:pPr indent="0" marL="0">
              <a:buNone/>
            </a:pPr>
            <a:r>
              <a:rPr lang="en-US" sz="800" b="1" spc="140" kern="0" dirty="0">
                <a:solidFill>
                  <a:srgbClr val="0B6F7D"/>
                </a:solidFill>
                <a:latin typeface="Consolas" pitchFamily="34" charset="0"/>
                <a:ea typeface="Consolas" pitchFamily="34" charset="-122"/>
                <a:cs typeface="Consolas" pitchFamily="34" charset="-120"/>
              </a:rPr>
              <a:t>ENGAGEMENT</a:t>
            </a:r>
            <a:endParaRPr lang="en-US" sz="800" dirty="0"/>
          </a:p>
        </p:txBody>
      </p:sp>
      <p:sp>
        <p:nvSpPr>
          <p:cNvPr id="9" name="Text 6"/>
          <p:cNvSpPr/>
          <p:nvPr/>
        </p:nvSpPr>
        <p:spPr>
          <a:xfrm>
            <a:off x="749808" y="197485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[CLIENT]</a:t>
            </a:r>
            <a:endParaRPr lang="en-US" sz="950" dirty="0"/>
          </a:p>
        </p:txBody>
      </p:sp>
      <p:sp>
        <p:nvSpPr>
          <p:cNvPr id="10" name="Text 7"/>
          <p:cNvSpPr/>
          <p:nvPr/>
        </p:nvSpPr>
        <p:spPr>
          <a:xfrm>
            <a:off x="3496970" y="197485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11" name="Shape 8"/>
          <p:cNvSpPr/>
          <p:nvPr/>
        </p:nvSpPr>
        <p:spPr>
          <a:xfrm>
            <a:off x="749808" y="2212594"/>
            <a:ext cx="3222650" cy="0"/>
          </a:xfrm>
          <a:prstGeom prst="line">
            <a:avLst/>
          </a:prstGeom>
          <a:noFill/>
          <a:ln w="9525">
            <a:solidFill>
              <a:srgbClr val="EFF2F5"/>
            </a:solidFill>
            <a:prstDash val="solid"/>
          </a:ln>
        </p:spPr>
      </p:sp>
      <p:sp>
        <p:nvSpPr>
          <p:cNvPr id="12" name="Text 9"/>
          <p:cNvSpPr/>
          <p:nvPr/>
        </p:nvSpPr>
        <p:spPr>
          <a:xfrm>
            <a:off x="749808" y="228574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[DATE] · kickoff</a:t>
            </a:r>
            <a:endParaRPr lang="en-US" sz="950" dirty="0"/>
          </a:p>
        </p:txBody>
      </p:sp>
      <p:sp>
        <p:nvSpPr>
          <p:cNvPr id="13" name="Text 10"/>
          <p:cNvSpPr/>
          <p:nvPr/>
        </p:nvSpPr>
        <p:spPr>
          <a:xfrm>
            <a:off x="3496970" y="228574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14" name="Shape 11"/>
          <p:cNvSpPr/>
          <p:nvPr/>
        </p:nvSpPr>
        <p:spPr>
          <a:xfrm>
            <a:off x="749808" y="2523490"/>
            <a:ext cx="3222650" cy="0"/>
          </a:xfrm>
          <a:prstGeom prst="line">
            <a:avLst/>
          </a:prstGeom>
          <a:noFill/>
          <a:ln w="9525">
            <a:solidFill>
              <a:srgbClr val="EFF2F5"/>
            </a:solidFill>
            <a:prstDash val="solid"/>
          </a:ln>
        </p:spPr>
      </p:sp>
      <p:sp>
        <p:nvSpPr>
          <p:cNvPr id="15" name="Text 12"/>
          <p:cNvSpPr/>
          <p:nvPr/>
        </p:nvSpPr>
        <p:spPr>
          <a:xfrm>
            <a:off x="749808" y="259664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[START DATE] · week 1</a:t>
            </a:r>
            <a:endParaRPr lang="en-US" sz="950" dirty="0"/>
          </a:p>
        </p:txBody>
      </p:sp>
      <p:sp>
        <p:nvSpPr>
          <p:cNvPr id="16" name="Text 13"/>
          <p:cNvSpPr/>
          <p:nvPr/>
        </p:nvSpPr>
        <p:spPr>
          <a:xfrm>
            <a:off x="3496970" y="259664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17" name="Shape 14"/>
          <p:cNvSpPr/>
          <p:nvPr/>
        </p:nvSpPr>
        <p:spPr>
          <a:xfrm>
            <a:off x="749808" y="2834386"/>
            <a:ext cx="3222650" cy="0"/>
          </a:xfrm>
          <a:prstGeom prst="line">
            <a:avLst/>
          </a:prstGeom>
          <a:noFill/>
          <a:ln w="9525">
            <a:solidFill>
              <a:srgbClr val="EFF2F5"/>
            </a:solidFill>
            <a:prstDash val="solid"/>
          </a:ln>
        </p:spPr>
      </p:sp>
      <p:sp>
        <p:nvSpPr>
          <p:cNvPr id="18" name="Text 15"/>
          <p:cNvSpPr/>
          <p:nvPr/>
        </p:nvSpPr>
        <p:spPr>
          <a:xfrm>
            <a:off x="749808" y="2907538"/>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[ENGAGEMENT ID]</a:t>
            </a:r>
            <a:endParaRPr lang="en-US" sz="950" dirty="0"/>
          </a:p>
        </p:txBody>
      </p:sp>
      <p:sp>
        <p:nvSpPr>
          <p:cNvPr id="19" name="Text 16"/>
          <p:cNvSpPr/>
          <p:nvPr/>
        </p:nvSpPr>
        <p:spPr>
          <a:xfrm>
            <a:off x="3496970" y="2907538"/>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0" name="Shape 17"/>
          <p:cNvSpPr/>
          <p:nvPr/>
        </p:nvSpPr>
        <p:spPr>
          <a:xfrm>
            <a:off x="749808" y="3145282"/>
            <a:ext cx="3222650" cy="0"/>
          </a:xfrm>
          <a:prstGeom prst="line">
            <a:avLst/>
          </a:prstGeom>
          <a:noFill/>
          <a:ln w="9525">
            <a:solidFill>
              <a:srgbClr val="EFF2F5"/>
            </a:solidFill>
            <a:prstDash val="solid"/>
          </a:ln>
        </p:spPr>
      </p:sp>
      <p:sp>
        <p:nvSpPr>
          <p:cNvPr id="21" name="Text 18"/>
          <p:cNvSpPr/>
          <p:nvPr/>
        </p:nvSpPr>
        <p:spPr>
          <a:xfrm>
            <a:off x="749808" y="3218434"/>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Binding assessment frameworks</a:t>
            </a:r>
            <a:endParaRPr lang="en-US" sz="950" dirty="0"/>
          </a:p>
        </p:txBody>
      </p:sp>
      <p:sp>
        <p:nvSpPr>
          <p:cNvPr id="22" name="Text 19"/>
          <p:cNvSpPr/>
          <p:nvPr/>
        </p:nvSpPr>
        <p:spPr>
          <a:xfrm>
            <a:off x="3496970" y="3218434"/>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3" name="Shape 20"/>
          <p:cNvSpPr/>
          <p:nvPr/>
        </p:nvSpPr>
        <p:spPr>
          <a:xfrm>
            <a:off x="749808" y="3456178"/>
            <a:ext cx="3222650" cy="0"/>
          </a:xfrm>
          <a:prstGeom prst="line">
            <a:avLst/>
          </a:prstGeom>
          <a:noFill/>
          <a:ln w="9525">
            <a:solidFill>
              <a:srgbClr val="EFF2F5"/>
            </a:solidFill>
            <a:prstDash val="solid"/>
          </a:ln>
        </p:spPr>
      </p:sp>
      <p:sp>
        <p:nvSpPr>
          <p:cNvPr id="24" name="Text 21"/>
          <p:cNvSpPr/>
          <p:nvPr/>
        </p:nvSpPr>
        <p:spPr>
          <a:xfrm>
            <a:off x="749808" y="352933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Change freezes in window</a:t>
            </a:r>
            <a:endParaRPr lang="en-US" sz="950" dirty="0"/>
          </a:p>
        </p:txBody>
      </p:sp>
      <p:sp>
        <p:nvSpPr>
          <p:cNvPr id="25" name="Text 22"/>
          <p:cNvSpPr/>
          <p:nvPr/>
        </p:nvSpPr>
        <p:spPr>
          <a:xfrm>
            <a:off x="3496970" y="352933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6" name="Shape 23"/>
          <p:cNvSpPr/>
          <p:nvPr/>
        </p:nvSpPr>
        <p:spPr>
          <a:xfrm>
            <a:off x="749808" y="3767074"/>
            <a:ext cx="3222650" cy="0"/>
          </a:xfrm>
          <a:prstGeom prst="line">
            <a:avLst/>
          </a:prstGeom>
          <a:noFill/>
          <a:ln w="9525">
            <a:solidFill>
              <a:srgbClr val="EFF2F5"/>
            </a:solidFill>
            <a:prstDash val="solid"/>
          </a:ln>
        </p:spPr>
      </p:sp>
      <p:sp>
        <p:nvSpPr>
          <p:cNvPr id="27" name="Text 24"/>
          <p:cNvSpPr/>
          <p:nvPr/>
        </p:nvSpPr>
        <p:spPr>
          <a:xfrm>
            <a:off x="749808" y="384022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Executive sponsor</a:t>
            </a:r>
            <a:endParaRPr lang="en-US" sz="950" dirty="0"/>
          </a:p>
        </p:txBody>
      </p:sp>
      <p:sp>
        <p:nvSpPr>
          <p:cNvPr id="28" name="Text 25"/>
          <p:cNvSpPr/>
          <p:nvPr/>
        </p:nvSpPr>
        <p:spPr>
          <a:xfrm>
            <a:off x="3496970" y="384022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29" name="Shape 26"/>
          <p:cNvSpPr/>
          <p:nvPr/>
        </p:nvSpPr>
        <p:spPr>
          <a:xfrm>
            <a:off x="749808" y="4077970"/>
            <a:ext cx="3222650" cy="0"/>
          </a:xfrm>
          <a:prstGeom prst="line">
            <a:avLst/>
          </a:prstGeom>
          <a:noFill/>
          <a:ln w="9525">
            <a:solidFill>
              <a:srgbClr val="EFF2F5"/>
            </a:solidFill>
            <a:prstDash val="solid"/>
          </a:ln>
        </p:spPr>
      </p:sp>
      <p:sp>
        <p:nvSpPr>
          <p:cNvPr id="30" name="Shape 27"/>
          <p:cNvSpPr/>
          <p:nvPr/>
        </p:nvSpPr>
        <p:spPr>
          <a:xfrm>
            <a:off x="4301642" y="1517650"/>
            <a:ext cx="3588410" cy="3108960"/>
          </a:xfrm>
          <a:prstGeom prst="roundRect">
            <a:avLst>
              <a:gd name="adj" fmla="val 2353"/>
            </a:avLst>
          </a:prstGeom>
          <a:solidFill>
            <a:srgbClr val="FFFFFF"/>
          </a:solidFill>
          <a:ln w="12700">
            <a:solidFill>
              <a:srgbClr val="E2E7EC"/>
            </a:solidFill>
            <a:prstDash val="solid"/>
          </a:ln>
        </p:spPr>
      </p:sp>
      <p:sp>
        <p:nvSpPr>
          <p:cNvPr id="31" name="Text 28"/>
          <p:cNvSpPr/>
          <p:nvPr/>
        </p:nvSpPr>
        <p:spPr>
          <a:xfrm>
            <a:off x="4484522" y="1682242"/>
            <a:ext cx="3222650" cy="182880"/>
          </a:xfrm>
          <a:prstGeom prst="rect">
            <a:avLst/>
          </a:prstGeom>
          <a:noFill/>
          <a:ln/>
        </p:spPr>
        <p:txBody>
          <a:bodyPr wrap="square" lIns="0" tIns="0" rIns="0" bIns="0" rtlCol="0" anchor="ctr"/>
          <a:lstStyle/>
          <a:p>
            <a:pPr indent="0" marL="0">
              <a:buNone/>
            </a:pPr>
            <a:r>
              <a:rPr lang="en-US" sz="800" b="1" spc="140" kern="0" dirty="0">
                <a:solidFill>
                  <a:srgbClr val="0B6F7D"/>
                </a:solidFill>
                <a:latin typeface="Consolas" pitchFamily="34" charset="0"/>
                <a:ea typeface="Consolas" pitchFamily="34" charset="-122"/>
                <a:cs typeface="Consolas" pitchFamily="34" charset="-120"/>
              </a:rPr>
              <a:t>FIRST SQUAD &amp; MEASURES</a:t>
            </a:r>
            <a:endParaRPr lang="en-US" sz="800" dirty="0"/>
          </a:p>
        </p:txBody>
      </p:sp>
      <p:sp>
        <p:nvSpPr>
          <p:cNvPr id="32" name="Text 29"/>
          <p:cNvSpPr/>
          <p:nvPr/>
        </p:nvSpPr>
        <p:spPr>
          <a:xfrm>
            <a:off x="4484522" y="197485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Squad name and product owner</a:t>
            </a:r>
            <a:endParaRPr lang="en-US" sz="950" dirty="0"/>
          </a:p>
        </p:txBody>
      </p:sp>
      <p:sp>
        <p:nvSpPr>
          <p:cNvPr id="33" name="Text 30"/>
          <p:cNvSpPr/>
          <p:nvPr/>
        </p:nvSpPr>
        <p:spPr>
          <a:xfrm>
            <a:off x="7231685" y="197485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34" name="Shape 31"/>
          <p:cNvSpPr/>
          <p:nvPr/>
        </p:nvSpPr>
        <p:spPr>
          <a:xfrm>
            <a:off x="4484522" y="2212594"/>
            <a:ext cx="3222650" cy="0"/>
          </a:xfrm>
          <a:prstGeom prst="line">
            <a:avLst/>
          </a:prstGeom>
          <a:noFill/>
          <a:ln w="9525">
            <a:solidFill>
              <a:srgbClr val="EFF2F5"/>
            </a:solidFill>
            <a:prstDash val="solid"/>
          </a:ln>
        </p:spPr>
      </p:sp>
      <p:sp>
        <p:nvSpPr>
          <p:cNvPr id="35" name="Text 32"/>
          <p:cNvSpPr/>
          <p:nvPr/>
        </p:nvSpPr>
        <p:spPr>
          <a:xfrm>
            <a:off x="4484522" y="228574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Repositories in scope</a:t>
            </a:r>
            <a:endParaRPr lang="en-US" sz="950" dirty="0"/>
          </a:p>
        </p:txBody>
      </p:sp>
      <p:sp>
        <p:nvSpPr>
          <p:cNvPr id="36" name="Text 33"/>
          <p:cNvSpPr/>
          <p:nvPr/>
        </p:nvSpPr>
        <p:spPr>
          <a:xfrm>
            <a:off x="7231685" y="228574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37" name="Shape 34"/>
          <p:cNvSpPr/>
          <p:nvPr/>
        </p:nvSpPr>
        <p:spPr>
          <a:xfrm>
            <a:off x="4484522" y="2523490"/>
            <a:ext cx="3222650" cy="0"/>
          </a:xfrm>
          <a:prstGeom prst="line">
            <a:avLst/>
          </a:prstGeom>
          <a:noFill/>
          <a:ln w="9525">
            <a:solidFill>
              <a:srgbClr val="EFF2F5"/>
            </a:solidFill>
            <a:prstDash val="solid"/>
          </a:ln>
        </p:spPr>
      </p:sp>
      <p:sp>
        <p:nvSpPr>
          <p:cNvPr id="38" name="Text 35"/>
          <p:cNvSpPr/>
          <p:nvPr/>
        </p:nvSpPr>
        <p:spPr>
          <a:xfrm>
            <a:off x="4484522" y="259664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Fallback squad</a:t>
            </a:r>
            <a:endParaRPr lang="en-US" sz="950" dirty="0"/>
          </a:p>
        </p:txBody>
      </p:sp>
      <p:sp>
        <p:nvSpPr>
          <p:cNvPr id="39" name="Text 36"/>
          <p:cNvSpPr/>
          <p:nvPr/>
        </p:nvSpPr>
        <p:spPr>
          <a:xfrm>
            <a:off x="7231685" y="259664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0" name="Shape 37"/>
          <p:cNvSpPr/>
          <p:nvPr/>
        </p:nvSpPr>
        <p:spPr>
          <a:xfrm>
            <a:off x="4484522" y="2834386"/>
            <a:ext cx="3222650" cy="0"/>
          </a:xfrm>
          <a:prstGeom prst="line">
            <a:avLst/>
          </a:prstGeom>
          <a:noFill/>
          <a:ln w="9525">
            <a:solidFill>
              <a:srgbClr val="EFF2F5"/>
            </a:solidFill>
            <a:prstDash val="solid"/>
          </a:ln>
        </p:spPr>
      </p:sp>
      <p:sp>
        <p:nvSpPr>
          <p:cNvPr id="41" name="Text 38"/>
          <p:cNvSpPr/>
          <p:nvPr/>
        </p:nvSpPr>
        <p:spPr>
          <a:xfrm>
            <a:off x="4484522" y="2907538"/>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Review latency baseline</a:t>
            </a:r>
            <a:endParaRPr lang="en-US" sz="950" dirty="0"/>
          </a:p>
        </p:txBody>
      </p:sp>
      <p:sp>
        <p:nvSpPr>
          <p:cNvPr id="42" name="Text 39"/>
          <p:cNvSpPr/>
          <p:nvPr/>
        </p:nvSpPr>
        <p:spPr>
          <a:xfrm>
            <a:off x="7231685" y="2907538"/>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3" name="Shape 40"/>
          <p:cNvSpPr/>
          <p:nvPr/>
        </p:nvSpPr>
        <p:spPr>
          <a:xfrm>
            <a:off x="4484522" y="3145282"/>
            <a:ext cx="3222650" cy="0"/>
          </a:xfrm>
          <a:prstGeom prst="line">
            <a:avLst/>
          </a:prstGeom>
          <a:noFill/>
          <a:ln w="9525">
            <a:solidFill>
              <a:srgbClr val="EFF2F5"/>
            </a:solidFill>
            <a:prstDash val="solid"/>
          </a:ln>
        </p:spPr>
      </p:sp>
      <p:sp>
        <p:nvSpPr>
          <p:cNvPr id="44" name="Text 41"/>
          <p:cNvSpPr/>
          <p:nvPr/>
        </p:nvSpPr>
        <p:spPr>
          <a:xfrm>
            <a:off x="4484522" y="3218434"/>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Rework rate baseline</a:t>
            </a:r>
            <a:endParaRPr lang="en-US" sz="950" dirty="0"/>
          </a:p>
        </p:txBody>
      </p:sp>
      <p:sp>
        <p:nvSpPr>
          <p:cNvPr id="45" name="Text 42"/>
          <p:cNvSpPr/>
          <p:nvPr/>
        </p:nvSpPr>
        <p:spPr>
          <a:xfrm>
            <a:off x="7231685" y="3218434"/>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6" name="Shape 43"/>
          <p:cNvSpPr/>
          <p:nvPr/>
        </p:nvSpPr>
        <p:spPr>
          <a:xfrm>
            <a:off x="4484522" y="3456178"/>
            <a:ext cx="3222650" cy="0"/>
          </a:xfrm>
          <a:prstGeom prst="line">
            <a:avLst/>
          </a:prstGeom>
          <a:noFill/>
          <a:ln w="9525">
            <a:solidFill>
              <a:srgbClr val="EFF2F5"/>
            </a:solidFill>
            <a:prstDash val="solid"/>
          </a:ln>
        </p:spPr>
      </p:sp>
      <p:sp>
        <p:nvSpPr>
          <p:cNvPr id="47" name="Text 44"/>
          <p:cNvSpPr/>
          <p:nvPr/>
        </p:nvSpPr>
        <p:spPr>
          <a:xfrm>
            <a:off x="4484522" y="352933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Change lead time baseline</a:t>
            </a:r>
            <a:endParaRPr lang="en-US" sz="950" dirty="0"/>
          </a:p>
        </p:txBody>
      </p:sp>
      <p:sp>
        <p:nvSpPr>
          <p:cNvPr id="48" name="Text 45"/>
          <p:cNvSpPr/>
          <p:nvPr/>
        </p:nvSpPr>
        <p:spPr>
          <a:xfrm>
            <a:off x="7231685" y="352933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49" name="Shape 46"/>
          <p:cNvSpPr/>
          <p:nvPr/>
        </p:nvSpPr>
        <p:spPr>
          <a:xfrm>
            <a:off x="4484522" y="3767074"/>
            <a:ext cx="3222650" cy="0"/>
          </a:xfrm>
          <a:prstGeom prst="line">
            <a:avLst/>
          </a:prstGeom>
          <a:noFill/>
          <a:ln w="9525">
            <a:solidFill>
              <a:srgbClr val="EFF2F5"/>
            </a:solidFill>
            <a:prstDash val="solid"/>
          </a:ln>
        </p:spPr>
      </p:sp>
      <p:sp>
        <p:nvSpPr>
          <p:cNvPr id="50" name="Text 47"/>
          <p:cNvSpPr/>
          <p:nvPr/>
        </p:nvSpPr>
        <p:spPr>
          <a:xfrm>
            <a:off x="4484522" y="384022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[$X] run cost ceiling</a:t>
            </a:r>
            <a:endParaRPr lang="en-US" sz="950" dirty="0"/>
          </a:p>
        </p:txBody>
      </p:sp>
      <p:sp>
        <p:nvSpPr>
          <p:cNvPr id="51" name="Text 48"/>
          <p:cNvSpPr/>
          <p:nvPr/>
        </p:nvSpPr>
        <p:spPr>
          <a:xfrm>
            <a:off x="7231685" y="384022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52" name="Shape 49"/>
          <p:cNvSpPr/>
          <p:nvPr/>
        </p:nvSpPr>
        <p:spPr>
          <a:xfrm>
            <a:off x="4484522" y="4077970"/>
            <a:ext cx="3222650" cy="0"/>
          </a:xfrm>
          <a:prstGeom prst="line">
            <a:avLst/>
          </a:prstGeom>
          <a:noFill/>
          <a:ln w="9525">
            <a:solidFill>
              <a:srgbClr val="EFF2F5"/>
            </a:solidFill>
            <a:prstDash val="solid"/>
          </a:ln>
        </p:spPr>
      </p:sp>
      <p:sp>
        <p:nvSpPr>
          <p:cNvPr id="53" name="Text 50"/>
          <p:cNvSpPr/>
          <p:nvPr/>
        </p:nvSpPr>
        <p:spPr>
          <a:xfrm>
            <a:off x="4484522" y="415112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Which value drivers we report</a:t>
            </a:r>
            <a:endParaRPr lang="en-US" sz="950" dirty="0"/>
          </a:p>
        </p:txBody>
      </p:sp>
      <p:sp>
        <p:nvSpPr>
          <p:cNvPr id="54" name="Text 51"/>
          <p:cNvSpPr/>
          <p:nvPr/>
        </p:nvSpPr>
        <p:spPr>
          <a:xfrm>
            <a:off x="7231685" y="415112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55" name="Shape 52"/>
          <p:cNvSpPr/>
          <p:nvPr/>
        </p:nvSpPr>
        <p:spPr>
          <a:xfrm>
            <a:off x="4484522" y="4388866"/>
            <a:ext cx="3222650" cy="0"/>
          </a:xfrm>
          <a:prstGeom prst="line">
            <a:avLst/>
          </a:prstGeom>
          <a:noFill/>
          <a:ln w="9525">
            <a:solidFill>
              <a:srgbClr val="EFF2F5"/>
            </a:solidFill>
            <a:prstDash val="solid"/>
          </a:ln>
        </p:spPr>
      </p:sp>
      <p:sp>
        <p:nvSpPr>
          <p:cNvPr id="56" name="Shape 53"/>
          <p:cNvSpPr/>
          <p:nvPr/>
        </p:nvSpPr>
        <p:spPr>
          <a:xfrm>
            <a:off x="8036357" y="1517650"/>
            <a:ext cx="3588410" cy="3108960"/>
          </a:xfrm>
          <a:prstGeom prst="roundRect">
            <a:avLst>
              <a:gd name="adj" fmla="val 2353"/>
            </a:avLst>
          </a:prstGeom>
          <a:solidFill>
            <a:srgbClr val="FFFFFF"/>
          </a:solidFill>
          <a:ln w="12700">
            <a:solidFill>
              <a:srgbClr val="E2E7EC"/>
            </a:solidFill>
            <a:prstDash val="solid"/>
          </a:ln>
        </p:spPr>
      </p:sp>
      <p:sp>
        <p:nvSpPr>
          <p:cNvPr id="57" name="Text 54"/>
          <p:cNvSpPr/>
          <p:nvPr/>
        </p:nvSpPr>
        <p:spPr>
          <a:xfrm>
            <a:off x="8219237" y="1682242"/>
            <a:ext cx="3222650" cy="182880"/>
          </a:xfrm>
          <a:prstGeom prst="rect">
            <a:avLst/>
          </a:prstGeom>
          <a:noFill/>
          <a:ln/>
        </p:spPr>
        <p:txBody>
          <a:bodyPr wrap="square" lIns="0" tIns="0" rIns="0" bIns="0" rtlCol="0" anchor="ctr"/>
          <a:lstStyle/>
          <a:p>
            <a:pPr indent="0" marL="0">
              <a:buNone/>
            </a:pPr>
            <a:r>
              <a:rPr lang="en-US" sz="800" b="1" spc="140" kern="0" dirty="0">
                <a:solidFill>
                  <a:srgbClr val="0B6F7D"/>
                </a:solidFill>
                <a:latin typeface="Consolas" pitchFamily="34" charset="0"/>
                <a:ea typeface="Consolas" pitchFamily="34" charset="-122"/>
                <a:cs typeface="Consolas" pitchFamily="34" charset="-120"/>
              </a:rPr>
              <a:t>ESTATE &amp; PEOPLE</a:t>
            </a:r>
            <a:endParaRPr lang="en-US" sz="800" dirty="0"/>
          </a:p>
        </p:txBody>
      </p:sp>
      <p:sp>
        <p:nvSpPr>
          <p:cNvPr id="58" name="Text 55"/>
          <p:cNvSpPr/>
          <p:nvPr/>
        </p:nvSpPr>
        <p:spPr>
          <a:xfrm>
            <a:off x="8219237" y="197485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Identity provider</a:t>
            </a:r>
            <a:endParaRPr lang="en-US" sz="950" dirty="0"/>
          </a:p>
        </p:txBody>
      </p:sp>
      <p:sp>
        <p:nvSpPr>
          <p:cNvPr id="59" name="Text 56"/>
          <p:cNvSpPr/>
          <p:nvPr/>
        </p:nvSpPr>
        <p:spPr>
          <a:xfrm>
            <a:off x="10966399" y="197485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0" name="Shape 57"/>
          <p:cNvSpPr/>
          <p:nvPr/>
        </p:nvSpPr>
        <p:spPr>
          <a:xfrm>
            <a:off x="8219237" y="2212594"/>
            <a:ext cx="3222650" cy="0"/>
          </a:xfrm>
          <a:prstGeom prst="line">
            <a:avLst/>
          </a:prstGeom>
          <a:noFill/>
          <a:ln w="9525">
            <a:solidFill>
              <a:srgbClr val="EFF2F5"/>
            </a:solidFill>
            <a:prstDash val="solid"/>
          </a:ln>
        </p:spPr>
      </p:sp>
      <p:sp>
        <p:nvSpPr>
          <p:cNvPr id="61" name="Text 58"/>
          <p:cNvSpPr/>
          <p:nvPr/>
        </p:nvSpPr>
        <p:spPr>
          <a:xfrm>
            <a:off x="8219237" y="228574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CI/CD platform</a:t>
            </a:r>
            <a:endParaRPr lang="en-US" sz="950" dirty="0"/>
          </a:p>
        </p:txBody>
      </p:sp>
      <p:sp>
        <p:nvSpPr>
          <p:cNvPr id="62" name="Text 59"/>
          <p:cNvSpPr/>
          <p:nvPr/>
        </p:nvSpPr>
        <p:spPr>
          <a:xfrm>
            <a:off x="10966399" y="228574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3" name="Shape 60"/>
          <p:cNvSpPr/>
          <p:nvPr/>
        </p:nvSpPr>
        <p:spPr>
          <a:xfrm>
            <a:off x="8219237" y="2523490"/>
            <a:ext cx="3222650" cy="0"/>
          </a:xfrm>
          <a:prstGeom prst="line">
            <a:avLst/>
          </a:prstGeom>
          <a:noFill/>
          <a:ln w="9525">
            <a:solidFill>
              <a:srgbClr val="EFF2F5"/>
            </a:solidFill>
            <a:prstDash val="solid"/>
          </a:ln>
        </p:spPr>
      </p:sp>
      <p:sp>
        <p:nvSpPr>
          <p:cNvPr id="64" name="Text 61"/>
          <p:cNvSpPr/>
          <p:nvPr/>
        </p:nvSpPr>
        <p:spPr>
          <a:xfrm>
            <a:off x="8219237" y="259664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Observability backend</a:t>
            </a:r>
            <a:endParaRPr lang="en-US" sz="950" dirty="0"/>
          </a:p>
        </p:txBody>
      </p:sp>
      <p:sp>
        <p:nvSpPr>
          <p:cNvPr id="65" name="Text 62"/>
          <p:cNvSpPr/>
          <p:nvPr/>
        </p:nvSpPr>
        <p:spPr>
          <a:xfrm>
            <a:off x="10966399" y="259664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6" name="Shape 63"/>
          <p:cNvSpPr/>
          <p:nvPr/>
        </p:nvSpPr>
        <p:spPr>
          <a:xfrm>
            <a:off x="8219237" y="2834386"/>
            <a:ext cx="3222650" cy="0"/>
          </a:xfrm>
          <a:prstGeom prst="line">
            <a:avLst/>
          </a:prstGeom>
          <a:noFill/>
          <a:ln w="9525">
            <a:solidFill>
              <a:srgbClr val="EFF2F5"/>
            </a:solidFill>
            <a:prstDash val="solid"/>
          </a:ln>
        </p:spPr>
      </p:sp>
      <p:sp>
        <p:nvSpPr>
          <p:cNvPr id="67" name="Text 64"/>
          <p:cNvSpPr/>
          <p:nvPr/>
        </p:nvSpPr>
        <p:spPr>
          <a:xfrm>
            <a:off x="8219237" y="2907538"/>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Event bus / messaging</a:t>
            </a:r>
            <a:endParaRPr lang="en-US" sz="950" dirty="0"/>
          </a:p>
        </p:txBody>
      </p:sp>
      <p:sp>
        <p:nvSpPr>
          <p:cNvPr id="68" name="Text 65"/>
          <p:cNvSpPr/>
          <p:nvPr/>
        </p:nvSpPr>
        <p:spPr>
          <a:xfrm>
            <a:off x="10966399" y="2907538"/>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69" name="Shape 66"/>
          <p:cNvSpPr/>
          <p:nvPr/>
        </p:nvSpPr>
        <p:spPr>
          <a:xfrm>
            <a:off x="8219237" y="3145282"/>
            <a:ext cx="3222650" cy="0"/>
          </a:xfrm>
          <a:prstGeom prst="line">
            <a:avLst/>
          </a:prstGeom>
          <a:noFill/>
          <a:ln w="9525">
            <a:solidFill>
              <a:srgbClr val="EFF2F5"/>
            </a:solidFill>
            <a:prstDash val="solid"/>
          </a:ln>
        </p:spPr>
      </p:sp>
      <p:sp>
        <p:nvSpPr>
          <p:cNvPr id="70" name="Text 67"/>
          <p:cNvSpPr/>
          <p:nvPr/>
        </p:nvSpPr>
        <p:spPr>
          <a:xfrm>
            <a:off x="8219237" y="3218434"/>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Compute platform</a:t>
            </a:r>
            <a:endParaRPr lang="en-US" sz="950" dirty="0"/>
          </a:p>
        </p:txBody>
      </p:sp>
      <p:sp>
        <p:nvSpPr>
          <p:cNvPr id="71" name="Text 68"/>
          <p:cNvSpPr/>
          <p:nvPr/>
        </p:nvSpPr>
        <p:spPr>
          <a:xfrm>
            <a:off x="10966399" y="3218434"/>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72" name="Shape 69"/>
          <p:cNvSpPr/>
          <p:nvPr/>
        </p:nvSpPr>
        <p:spPr>
          <a:xfrm>
            <a:off x="8219237" y="3456178"/>
            <a:ext cx="3222650" cy="0"/>
          </a:xfrm>
          <a:prstGeom prst="line">
            <a:avLst/>
          </a:prstGeom>
          <a:noFill/>
          <a:ln w="9525">
            <a:solidFill>
              <a:srgbClr val="EFF2F5"/>
            </a:solidFill>
            <a:prstDash val="solid"/>
          </a:ln>
        </p:spPr>
      </p:sp>
      <p:sp>
        <p:nvSpPr>
          <p:cNvPr id="73" name="Text 70"/>
          <p:cNvSpPr/>
          <p:nvPr/>
        </p:nvSpPr>
        <p:spPr>
          <a:xfrm>
            <a:off x="8219237" y="3529330"/>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Service catalog / CMDB</a:t>
            </a:r>
            <a:endParaRPr lang="en-US" sz="950" dirty="0"/>
          </a:p>
        </p:txBody>
      </p:sp>
      <p:sp>
        <p:nvSpPr>
          <p:cNvPr id="74" name="Text 71"/>
          <p:cNvSpPr/>
          <p:nvPr/>
        </p:nvSpPr>
        <p:spPr>
          <a:xfrm>
            <a:off x="10966399" y="3529330"/>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75" name="Shape 72"/>
          <p:cNvSpPr/>
          <p:nvPr/>
        </p:nvSpPr>
        <p:spPr>
          <a:xfrm>
            <a:off x="8219237" y="3767074"/>
            <a:ext cx="3222650" cy="0"/>
          </a:xfrm>
          <a:prstGeom prst="line">
            <a:avLst/>
          </a:prstGeom>
          <a:noFill/>
          <a:ln w="9525">
            <a:solidFill>
              <a:srgbClr val="EFF2F5"/>
            </a:solidFill>
            <a:prstDash val="solid"/>
          </a:ln>
        </p:spPr>
      </p:sp>
      <p:sp>
        <p:nvSpPr>
          <p:cNvPr id="76" name="Text 73"/>
          <p:cNvSpPr/>
          <p:nvPr/>
        </p:nvSpPr>
        <p:spPr>
          <a:xfrm>
            <a:off x="8219237" y="3840226"/>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Data class out of bounds</a:t>
            </a:r>
            <a:endParaRPr lang="en-US" sz="950" dirty="0"/>
          </a:p>
        </p:txBody>
      </p:sp>
      <p:sp>
        <p:nvSpPr>
          <p:cNvPr id="77" name="Text 74"/>
          <p:cNvSpPr/>
          <p:nvPr/>
        </p:nvSpPr>
        <p:spPr>
          <a:xfrm>
            <a:off x="10966399" y="3840226"/>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78" name="Shape 75"/>
          <p:cNvSpPr/>
          <p:nvPr/>
        </p:nvSpPr>
        <p:spPr>
          <a:xfrm>
            <a:off x="8219237" y="4077970"/>
            <a:ext cx="3222650" cy="0"/>
          </a:xfrm>
          <a:prstGeom prst="line">
            <a:avLst/>
          </a:prstGeom>
          <a:noFill/>
          <a:ln w="9525">
            <a:solidFill>
              <a:srgbClr val="EFF2F5"/>
            </a:solidFill>
            <a:prstDash val="solid"/>
          </a:ln>
        </p:spPr>
      </p:sp>
      <p:sp>
        <p:nvSpPr>
          <p:cNvPr id="79" name="Text 76"/>
          <p:cNvSpPr/>
          <p:nvPr/>
        </p:nvSpPr>
        <p:spPr>
          <a:xfrm>
            <a:off x="8219237" y="4151122"/>
            <a:ext cx="2674010" cy="219456"/>
          </a:xfrm>
          <a:prstGeom prst="rect">
            <a:avLst/>
          </a:prstGeom>
          <a:noFill/>
          <a:ln/>
        </p:spPr>
        <p:txBody>
          <a:bodyPr wrap="square" lIns="0" tIns="0" rIns="0" bIns="0" rtlCol="0" anchor="t"/>
          <a:lstStyle/>
          <a:p>
            <a:pPr indent="0" marL="0">
              <a:lnSpc>
                <a:spcPct val="110000"/>
              </a:lnSpc>
              <a:buNone/>
            </a:pPr>
            <a:r>
              <a:rPr lang="en-US" sz="950" dirty="0">
                <a:solidFill>
                  <a:srgbClr val="46586B"/>
                </a:solidFill>
                <a:latin typeface="Calibri" pitchFamily="34" charset="0"/>
                <a:ea typeface="Calibri" pitchFamily="34" charset="-122"/>
                <a:cs typeface="Calibri" pitchFamily="34" charset="-120"/>
              </a:rPr>
              <a:t>Seven named roles · slide 14</a:t>
            </a:r>
            <a:endParaRPr lang="en-US" sz="950" dirty="0"/>
          </a:p>
        </p:txBody>
      </p:sp>
      <p:sp>
        <p:nvSpPr>
          <p:cNvPr id="80" name="Text 77"/>
          <p:cNvSpPr/>
          <p:nvPr/>
        </p:nvSpPr>
        <p:spPr>
          <a:xfrm>
            <a:off x="10966399" y="4151122"/>
            <a:ext cx="475488" cy="182880"/>
          </a:xfrm>
          <a:prstGeom prst="rect">
            <a:avLst/>
          </a:prstGeom>
          <a:noFill/>
          <a:ln/>
        </p:spPr>
        <p:txBody>
          <a:bodyPr wrap="square" lIns="0" tIns="0" rIns="0" bIns="0" rtlCol="0" anchor="ctr"/>
          <a:lstStyle/>
          <a:p>
            <a:pPr algn="r" indent="0" marL="0">
              <a:buNone/>
            </a:pPr>
            <a:r>
              <a:rPr lang="en-US" sz="900" dirty="0">
                <a:solidFill>
                  <a:srgbClr val="7E8C9B"/>
                </a:solidFill>
                <a:latin typeface="Consolas" pitchFamily="34" charset="0"/>
                <a:ea typeface="Consolas" pitchFamily="34" charset="-122"/>
                <a:cs typeface="Consolas" pitchFamily="34" charset="-120"/>
              </a:rPr>
              <a:t>—</a:t>
            </a:r>
            <a:endParaRPr lang="en-US" sz="900" dirty="0"/>
          </a:p>
        </p:txBody>
      </p:sp>
      <p:sp>
        <p:nvSpPr>
          <p:cNvPr id="81" name="Shape 78"/>
          <p:cNvSpPr/>
          <p:nvPr/>
        </p:nvSpPr>
        <p:spPr>
          <a:xfrm>
            <a:off x="8219237" y="4388866"/>
            <a:ext cx="3222650" cy="0"/>
          </a:xfrm>
          <a:prstGeom prst="line">
            <a:avLst/>
          </a:prstGeom>
          <a:noFill/>
          <a:ln w="9525">
            <a:solidFill>
              <a:srgbClr val="EFF2F5"/>
            </a:solidFill>
            <a:prstDash val="solid"/>
          </a:ln>
        </p:spPr>
      </p:sp>
      <p:sp>
        <p:nvSpPr>
          <p:cNvPr id="82" name="Shape 79"/>
          <p:cNvSpPr/>
          <p:nvPr/>
        </p:nvSpPr>
        <p:spPr>
          <a:xfrm>
            <a:off x="566928" y="4956048"/>
            <a:ext cx="11057839" cy="603504"/>
          </a:xfrm>
          <a:prstGeom prst="roundRect">
            <a:avLst>
              <a:gd name="adj" fmla="val 12121"/>
            </a:avLst>
          </a:prstGeom>
          <a:solidFill>
            <a:srgbClr val="E6F4F6"/>
          </a:solidFill>
          <a:ln w="12700">
            <a:solidFill>
              <a:srgbClr val="9CCED6"/>
            </a:solidFill>
            <a:prstDash val="solid"/>
          </a:ln>
        </p:spPr>
      </p:sp>
      <p:sp>
        <p:nvSpPr>
          <p:cNvPr id="83" name="Text 80"/>
          <p:cNvSpPr/>
          <p:nvPr/>
        </p:nvSpPr>
        <p:spPr>
          <a:xfrm>
            <a:off x="749808" y="5084064"/>
            <a:ext cx="10692079" cy="402336"/>
          </a:xfrm>
          <a:prstGeom prst="rect">
            <a:avLst/>
          </a:prstGeom>
          <a:noFill/>
          <a:ln/>
        </p:spPr>
        <p:txBody>
          <a:bodyPr wrap="square" lIns="0" tIns="0" rIns="0" bIns="0" rtlCol="0" anchor="t"/>
          <a:lstStyle/>
          <a:p>
            <a:pPr indent="0" marL="0">
              <a:lnSpc>
                <a:spcPct val="110000"/>
              </a:lnSpc>
              <a:buNone/>
            </a:pPr>
            <a:pPr indent="0" marL="0">
              <a:lnSpc>
                <a:spcPct val="110000"/>
              </a:lnSpc>
              <a:buNone/>
            </a:pPr>
            <a:r>
              <a:rPr lang="en-US" sz="1050" b="1" dirty="0">
                <a:solidFill>
                  <a:srgbClr val="0B1622"/>
                </a:solidFill>
                <a:latin typeface="Calibri" pitchFamily="34" charset="0"/>
                <a:ea typeface="Calibri" pitchFamily="34" charset="-122"/>
                <a:cs typeface="Calibri" pitchFamily="34" charset="-120"/>
              </a:rPr>
              <a:t>Where this arrives filled in before the session</a:t>
            </a:r>
            <a:pPr indent="0" marL="0">
              <a:lnSpc>
                <a:spcPct val="110000"/>
              </a:lnSpc>
              <a:buNone/>
            </a:pPr>
            <a:r>
              <a:rPr lang="en-US" sz="1050" dirty="0">
                <a:solidFill>
                  <a:srgbClr val="46586B"/>
                </a:solidFill>
                <a:latin typeface="Calibri" pitchFamily="34" charset="0"/>
                <a:ea typeface="Calibri" pitchFamily="34" charset="-122"/>
                <a:cs typeface="Calibri" pitchFamily="34" charset="-120"/>
              </a:rPr>
              <a:t>, the kickoff runs thirty minutes shorter and slide 7 becomes a review rather than a live exercise. That is the single highest-leverage piece of preparation available.</a:t>
            </a:r>
            <a:endParaRPr lang="en-US" sz="1050" dirty="0"/>
          </a:p>
        </p:txBody>
      </p:sp>
      <p:sp>
        <p:nvSpPr>
          <p:cNvPr id="84" name="Shape 81"/>
          <p:cNvSpPr/>
          <p:nvPr/>
        </p:nvSpPr>
        <p:spPr>
          <a:xfrm>
            <a:off x="566928" y="6382512"/>
            <a:ext cx="11057839" cy="0"/>
          </a:xfrm>
          <a:prstGeom prst="line">
            <a:avLst/>
          </a:prstGeom>
          <a:noFill/>
          <a:ln w="9525">
            <a:solidFill>
              <a:srgbClr val="E2E7EC"/>
            </a:solidFill>
            <a:prstDash val="solid"/>
          </a:ln>
        </p:spPr>
      </p:sp>
      <p:sp>
        <p:nvSpPr>
          <p:cNvPr id="85" name="Text 82"/>
          <p:cNvSpPr/>
          <p:nvPr/>
        </p:nvSpPr>
        <p:spPr>
          <a:xfrm>
            <a:off x="566928" y="6455664"/>
            <a:ext cx="1828800" cy="219456"/>
          </a:xfrm>
          <a:prstGeom prst="rect">
            <a:avLst/>
          </a:prstGeom>
          <a:noFill/>
          <a:ln/>
        </p:spPr>
        <p:txBody>
          <a:bodyPr wrap="square" lIns="0" tIns="0" rIns="0" bIns="0" rtlCol="0" anchor="ctr"/>
          <a:lstStyle/>
          <a:p>
            <a:pPr indent="0" marL="0">
              <a:buNone/>
            </a:pPr>
            <a:r>
              <a:rPr lang="en-US" sz="850" b="1" spc="240" kern="0" dirty="0">
                <a:solidFill>
                  <a:srgbClr val="46586B"/>
                </a:solidFill>
                <a:latin typeface="Consolas" pitchFamily="34" charset="0"/>
                <a:ea typeface="Consolas" pitchFamily="34" charset="-122"/>
                <a:cs typeface="Consolas" pitchFamily="34" charset="-120"/>
              </a:rPr>
              <a:t>AEGISES</a:t>
            </a:r>
            <a:endParaRPr lang="en-US" sz="850" dirty="0"/>
          </a:p>
        </p:txBody>
      </p:sp>
      <p:sp>
        <p:nvSpPr>
          <p:cNvPr id="86" name="Text 83"/>
          <p:cNvSpPr/>
          <p:nvPr/>
        </p:nvSpPr>
        <p:spPr>
          <a:xfrm>
            <a:off x="2395728" y="6455664"/>
            <a:ext cx="9229039" cy="219456"/>
          </a:xfrm>
          <a:prstGeom prst="rect">
            <a:avLst/>
          </a:prstGeom>
          <a:noFill/>
          <a:ln/>
        </p:spPr>
        <p:txBody>
          <a:bodyPr wrap="square" lIns="0" tIns="0" rIns="0" bIns="0" rtlCol="0" anchor="ctr"/>
          <a:lstStyle/>
          <a:p>
            <a:pPr algn="r" indent="0" marL="0">
              <a:buNone/>
            </a:pPr>
            <a:r>
              <a:rPr lang="en-US" sz="850" spc="160" kern="0" dirty="0">
                <a:solidFill>
                  <a:srgbClr val="7E8C9B"/>
                </a:solidFill>
                <a:latin typeface="Consolas" pitchFamily="34" charset="0"/>
                <a:ea typeface="Consolas" pitchFamily="34" charset="-122"/>
                <a:cs typeface="Consolas" pitchFamily="34" charset="-120"/>
              </a:rPr>
              <a:t>APPENDIX · NOT PRESENTED</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AI Operating Model — POC Kickoff</dc:title>
  <dc:subject>PptxGenJS Presentation</dc:subject>
  <dc:creator>AEGISES</dc:creator>
  <cp:lastModifiedBy>AEGISES</cp:lastModifiedBy>
  <cp:revision>1</cp:revision>
  <dcterms:created xsi:type="dcterms:W3CDTF">2026-07-31T03:47:27Z</dcterms:created>
  <dcterms:modified xsi:type="dcterms:W3CDTF">2026-07-31T03:47:27Z</dcterms:modified>
</cp:coreProperties>
</file>